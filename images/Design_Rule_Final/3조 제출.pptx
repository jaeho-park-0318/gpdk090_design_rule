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3"/>
  </p:notesMasterIdLst>
  <p:sldIdLst>
    <p:sldId id="256" r:id="rId2"/>
    <p:sldId id="377" r:id="rId3"/>
    <p:sldId id="37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79" r:id="rId109"/>
    <p:sldId id="257" r:id="rId110"/>
    <p:sldId id="380" r:id="rId111"/>
    <p:sldId id="381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0303085-00F8-480F-B401-9EFD05B799E1}">
  <a:tblStyle styleId="{20303085-00F8-480F-B401-9EFD05B799E1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ABACEDC-ABF0-48E9-9B52-88C65D75F6D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8">
            <a:extLst>
              <a:ext uri="{FF2B5EF4-FFF2-40B4-BE49-F238E27FC236}">
                <a16:creationId xmlns:a16="http://schemas.microsoft.com/office/drawing/2014/main" id="{9D1078AC-A5A4-4B63-B306-B9B765815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8">
            <a:extLst>
              <a:ext uri="{FF2B5EF4-FFF2-40B4-BE49-F238E27FC236}">
                <a16:creationId xmlns:a16="http://schemas.microsoft.com/office/drawing/2014/main" id="{59D3590C-3245-4BE6-B23C-90772EC34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18">
            <a:extLst>
              <a:ext uri="{FF2B5EF4-FFF2-40B4-BE49-F238E27FC236}">
                <a16:creationId xmlns:a16="http://schemas.microsoft.com/office/drawing/2014/main" id="{66339382-8F77-418F-8C50-8C700C5F58A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8">
            <a:extLst>
              <a:ext uri="{FF2B5EF4-FFF2-40B4-BE49-F238E27FC236}">
                <a16:creationId xmlns:a16="http://schemas.microsoft.com/office/drawing/2014/main" id="{69E392E1-7962-4E6C-874B-D57F9EC5404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8">
            <a:extLst>
              <a:ext uri="{FF2B5EF4-FFF2-40B4-BE49-F238E27FC236}">
                <a16:creationId xmlns:a16="http://schemas.microsoft.com/office/drawing/2014/main" id="{A221D914-DDCF-42A3-893B-04762D7E06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9">
            <a:extLst>
              <a:ext uri="{FF2B5EF4-FFF2-40B4-BE49-F238E27FC236}">
                <a16:creationId xmlns:a16="http://schemas.microsoft.com/office/drawing/2014/main" id="{972E8D22-42A0-46CC-9F23-1E52EDBE3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9">
            <a:extLst>
              <a:ext uri="{FF2B5EF4-FFF2-40B4-BE49-F238E27FC236}">
                <a16:creationId xmlns:a16="http://schemas.microsoft.com/office/drawing/2014/main" id="{0162C727-04D6-42FD-9087-97B872661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19">
            <a:extLst>
              <a:ext uri="{FF2B5EF4-FFF2-40B4-BE49-F238E27FC236}">
                <a16:creationId xmlns:a16="http://schemas.microsoft.com/office/drawing/2014/main" id="{6C212583-64C4-4636-9AB0-0F9298EC59B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9">
            <a:extLst>
              <a:ext uri="{FF2B5EF4-FFF2-40B4-BE49-F238E27FC236}">
                <a16:creationId xmlns:a16="http://schemas.microsoft.com/office/drawing/2014/main" id="{0065346B-2D0A-4E9A-BF88-1B57437F3F7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9">
            <a:extLst>
              <a:ext uri="{FF2B5EF4-FFF2-40B4-BE49-F238E27FC236}">
                <a16:creationId xmlns:a16="http://schemas.microsoft.com/office/drawing/2014/main" id="{84F8E91A-02F5-45A0-99F9-6705822EEE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0">
            <a:extLst>
              <a:ext uri="{FF2B5EF4-FFF2-40B4-BE49-F238E27FC236}">
                <a16:creationId xmlns:a16="http://schemas.microsoft.com/office/drawing/2014/main" id="{5648000C-D384-4468-983F-31FADF62F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0">
            <a:extLst>
              <a:ext uri="{FF2B5EF4-FFF2-40B4-BE49-F238E27FC236}">
                <a16:creationId xmlns:a16="http://schemas.microsoft.com/office/drawing/2014/main" id="{10AFAEDB-2A09-4496-876E-37FCABF20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0">
            <a:extLst>
              <a:ext uri="{FF2B5EF4-FFF2-40B4-BE49-F238E27FC236}">
                <a16:creationId xmlns:a16="http://schemas.microsoft.com/office/drawing/2014/main" id="{23445AE6-86C0-43D3-AAAB-9BD2FB8F961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0">
            <a:extLst>
              <a:ext uri="{FF2B5EF4-FFF2-40B4-BE49-F238E27FC236}">
                <a16:creationId xmlns:a16="http://schemas.microsoft.com/office/drawing/2014/main" id="{B562DB09-DAF9-44A5-A8D3-150894ECC31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0">
            <a:extLst>
              <a:ext uri="{FF2B5EF4-FFF2-40B4-BE49-F238E27FC236}">
                <a16:creationId xmlns:a16="http://schemas.microsoft.com/office/drawing/2014/main" id="{1E30C6B4-AD5A-4025-9C86-183F9EE559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1">
            <a:extLst>
              <a:ext uri="{FF2B5EF4-FFF2-40B4-BE49-F238E27FC236}">
                <a16:creationId xmlns:a16="http://schemas.microsoft.com/office/drawing/2014/main" id="{C400CC2B-DF8D-4BEC-9111-A7DE9A282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1">
            <a:extLst>
              <a:ext uri="{FF2B5EF4-FFF2-40B4-BE49-F238E27FC236}">
                <a16:creationId xmlns:a16="http://schemas.microsoft.com/office/drawing/2014/main" id="{30372A7A-8700-41C7-B89C-5C8A4CB08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1">
            <a:extLst>
              <a:ext uri="{FF2B5EF4-FFF2-40B4-BE49-F238E27FC236}">
                <a16:creationId xmlns:a16="http://schemas.microsoft.com/office/drawing/2014/main" id="{10044DFC-9E20-4115-802F-90678341FF3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1">
            <a:extLst>
              <a:ext uri="{FF2B5EF4-FFF2-40B4-BE49-F238E27FC236}">
                <a16:creationId xmlns:a16="http://schemas.microsoft.com/office/drawing/2014/main" id="{1B1F2216-4363-4528-B000-670F5F9D8CC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1">
            <a:extLst>
              <a:ext uri="{FF2B5EF4-FFF2-40B4-BE49-F238E27FC236}">
                <a16:creationId xmlns:a16="http://schemas.microsoft.com/office/drawing/2014/main" id="{AEA73C50-D721-48B3-8A20-2CB42722210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1">
            <a:extLst>
              <a:ext uri="{FF2B5EF4-FFF2-40B4-BE49-F238E27FC236}">
                <a16:creationId xmlns:a16="http://schemas.microsoft.com/office/drawing/2014/main" id="{45FB56D2-D164-474A-B28A-59B8B579565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2">
            <a:extLst>
              <a:ext uri="{FF2B5EF4-FFF2-40B4-BE49-F238E27FC236}">
                <a16:creationId xmlns:a16="http://schemas.microsoft.com/office/drawing/2014/main" id="{802B19F9-030A-4656-9CA4-940016892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2">
            <a:extLst>
              <a:ext uri="{FF2B5EF4-FFF2-40B4-BE49-F238E27FC236}">
                <a16:creationId xmlns:a16="http://schemas.microsoft.com/office/drawing/2014/main" id="{0EE63386-0DF5-4AFA-9729-97C9A550D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2">
            <a:extLst>
              <a:ext uri="{FF2B5EF4-FFF2-40B4-BE49-F238E27FC236}">
                <a16:creationId xmlns:a16="http://schemas.microsoft.com/office/drawing/2014/main" id="{11EBE72E-33B2-4CC6-AD4B-B1232845AF8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2">
            <a:extLst>
              <a:ext uri="{FF2B5EF4-FFF2-40B4-BE49-F238E27FC236}">
                <a16:creationId xmlns:a16="http://schemas.microsoft.com/office/drawing/2014/main" id="{65DA2830-82A0-44B6-981B-53368F5EAF4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2">
            <a:extLst>
              <a:ext uri="{FF2B5EF4-FFF2-40B4-BE49-F238E27FC236}">
                <a16:creationId xmlns:a16="http://schemas.microsoft.com/office/drawing/2014/main" id="{A73C8ACE-6C53-43B9-8DB4-59FA56410B1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2">
            <a:extLst>
              <a:ext uri="{FF2B5EF4-FFF2-40B4-BE49-F238E27FC236}">
                <a16:creationId xmlns:a16="http://schemas.microsoft.com/office/drawing/2014/main" id="{B013602C-E14E-4F77-B160-9481BD47196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2">
            <a:extLst>
              <a:ext uri="{FF2B5EF4-FFF2-40B4-BE49-F238E27FC236}">
                <a16:creationId xmlns:a16="http://schemas.microsoft.com/office/drawing/2014/main" id="{D652731B-3D99-4E9D-932B-E8BA797E366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2">
            <a:extLst>
              <a:ext uri="{FF2B5EF4-FFF2-40B4-BE49-F238E27FC236}">
                <a16:creationId xmlns:a16="http://schemas.microsoft.com/office/drawing/2014/main" id="{CD9C5B39-B678-453C-9EAC-B85D9EE02E5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3">
            <a:extLst>
              <a:ext uri="{FF2B5EF4-FFF2-40B4-BE49-F238E27FC236}">
                <a16:creationId xmlns:a16="http://schemas.microsoft.com/office/drawing/2014/main" id="{1889994D-CC82-4681-AB4A-8FF208694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3">
            <a:extLst>
              <a:ext uri="{FF2B5EF4-FFF2-40B4-BE49-F238E27FC236}">
                <a16:creationId xmlns:a16="http://schemas.microsoft.com/office/drawing/2014/main" id="{B9446F67-01C8-4E96-9C1D-84F6ECAA0A6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3">
            <a:extLst>
              <a:ext uri="{FF2B5EF4-FFF2-40B4-BE49-F238E27FC236}">
                <a16:creationId xmlns:a16="http://schemas.microsoft.com/office/drawing/2014/main" id="{54584FF0-0389-4C1C-B453-4E193435002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3">
            <a:extLst>
              <a:ext uri="{FF2B5EF4-FFF2-40B4-BE49-F238E27FC236}">
                <a16:creationId xmlns:a16="http://schemas.microsoft.com/office/drawing/2014/main" id="{413E941D-4C93-44F0-978E-6848FC4009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4">
            <a:extLst>
              <a:ext uri="{FF2B5EF4-FFF2-40B4-BE49-F238E27FC236}">
                <a16:creationId xmlns:a16="http://schemas.microsoft.com/office/drawing/2014/main" id="{DA98949A-3B01-4E4E-9B64-DE98ADFFFD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4">
            <a:extLst>
              <a:ext uri="{FF2B5EF4-FFF2-40B4-BE49-F238E27FC236}">
                <a16:creationId xmlns:a16="http://schemas.microsoft.com/office/drawing/2014/main" id="{FB08C9C6-C9BE-44D3-A3F1-CCFA502C7AD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4">
            <a:extLst>
              <a:ext uri="{FF2B5EF4-FFF2-40B4-BE49-F238E27FC236}">
                <a16:creationId xmlns:a16="http://schemas.microsoft.com/office/drawing/2014/main" id="{319D009B-489D-4900-80E4-76A1E32B54C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5">
            <a:extLst>
              <a:ext uri="{FF2B5EF4-FFF2-40B4-BE49-F238E27FC236}">
                <a16:creationId xmlns:a16="http://schemas.microsoft.com/office/drawing/2014/main" id="{00CE9BCB-3C10-49C1-8141-7E52107AF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5">
            <a:extLst>
              <a:ext uri="{FF2B5EF4-FFF2-40B4-BE49-F238E27FC236}">
                <a16:creationId xmlns:a16="http://schemas.microsoft.com/office/drawing/2014/main" id="{3D238B98-414F-4FFD-B26D-12872F938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5">
            <a:extLst>
              <a:ext uri="{FF2B5EF4-FFF2-40B4-BE49-F238E27FC236}">
                <a16:creationId xmlns:a16="http://schemas.microsoft.com/office/drawing/2014/main" id="{0441A458-8D89-4C25-A116-E19FF9C03FD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5">
            <a:extLst>
              <a:ext uri="{FF2B5EF4-FFF2-40B4-BE49-F238E27FC236}">
                <a16:creationId xmlns:a16="http://schemas.microsoft.com/office/drawing/2014/main" id="{4F4D8368-5966-46FC-9673-DF03572E286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5">
            <a:extLst>
              <a:ext uri="{FF2B5EF4-FFF2-40B4-BE49-F238E27FC236}">
                <a16:creationId xmlns:a16="http://schemas.microsoft.com/office/drawing/2014/main" id="{7628B84F-0F97-4D80-9EAC-39A0FD99098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5">
            <a:extLst>
              <a:ext uri="{FF2B5EF4-FFF2-40B4-BE49-F238E27FC236}">
                <a16:creationId xmlns:a16="http://schemas.microsoft.com/office/drawing/2014/main" id="{B6020607-2ACF-4928-B213-5D9920F57B1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6">
            <a:extLst>
              <a:ext uri="{FF2B5EF4-FFF2-40B4-BE49-F238E27FC236}">
                <a16:creationId xmlns:a16="http://schemas.microsoft.com/office/drawing/2014/main" id="{25200D8F-0C4B-48F9-8F77-FBE7AA862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6">
            <a:extLst>
              <a:ext uri="{FF2B5EF4-FFF2-40B4-BE49-F238E27FC236}">
                <a16:creationId xmlns:a16="http://schemas.microsoft.com/office/drawing/2014/main" id="{12F596B5-A257-4ED5-99D6-7DAA2AB1AB83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6">
            <a:extLst>
              <a:ext uri="{FF2B5EF4-FFF2-40B4-BE49-F238E27FC236}">
                <a16:creationId xmlns:a16="http://schemas.microsoft.com/office/drawing/2014/main" id="{823AE448-547E-41A2-A632-4D46CB217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6">
            <a:extLst>
              <a:ext uri="{FF2B5EF4-FFF2-40B4-BE49-F238E27FC236}">
                <a16:creationId xmlns:a16="http://schemas.microsoft.com/office/drawing/2014/main" id="{1E15EEE8-CFB5-4943-8044-489024CC7F3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6">
            <a:extLst>
              <a:ext uri="{FF2B5EF4-FFF2-40B4-BE49-F238E27FC236}">
                <a16:creationId xmlns:a16="http://schemas.microsoft.com/office/drawing/2014/main" id="{6E89B9B0-F9D5-497E-8233-51F3321E104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6">
            <a:extLst>
              <a:ext uri="{FF2B5EF4-FFF2-40B4-BE49-F238E27FC236}">
                <a16:creationId xmlns:a16="http://schemas.microsoft.com/office/drawing/2014/main" id="{E4CCCBB6-262F-4A11-9D02-0D2D1B08E1A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7">
            <a:extLst>
              <a:ext uri="{FF2B5EF4-FFF2-40B4-BE49-F238E27FC236}">
                <a16:creationId xmlns:a16="http://schemas.microsoft.com/office/drawing/2014/main" id="{6AD3C13F-0009-4CFB-87B4-FF0C12386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7">
            <a:extLst>
              <a:ext uri="{FF2B5EF4-FFF2-40B4-BE49-F238E27FC236}">
                <a16:creationId xmlns:a16="http://schemas.microsoft.com/office/drawing/2014/main" id="{82B00770-6CB5-44EE-B32F-4F69601F6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7">
            <a:extLst>
              <a:ext uri="{FF2B5EF4-FFF2-40B4-BE49-F238E27FC236}">
                <a16:creationId xmlns:a16="http://schemas.microsoft.com/office/drawing/2014/main" id="{E1E1C9DA-2E16-46A3-9895-2FF687E5493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7">
            <a:extLst>
              <a:ext uri="{FF2B5EF4-FFF2-40B4-BE49-F238E27FC236}">
                <a16:creationId xmlns:a16="http://schemas.microsoft.com/office/drawing/2014/main" id="{CF1F3AB9-A06C-4C05-A8E2-E4CC91C2541D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7">
            <a:extLst>
              <a:ext uri="{FF2B5EF4-FFF2-40B4-BE49-F238E27FC236}">
                <a16:creationId xmlns:a16="http://schemas.microsoft.com/office/drawing/2014/main" id="{8E456A6B-8F16-47D4-85E4-44032072E4D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8">
            <a:extLst>
              <a:ext uri="{FF2B5EF4-FFF2-40B4-BE49-F238E27FC236}">
                <a16:creationId xmlns:a16="http://schemas.microsoft.com/office/drawing/2014/main" id="{B9702568-1CAF-4B2D-9E0A-ECD572CDB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8">
            <a:extLst>
              <a:ext uri="{FF2B5EF4-FFF2-40B4-BE49-F238E27FC236}">
                <a16:creationId xmlns:a16="http://schemas.microsoft.com/office/drawing/2014/main" id="{3BD97CC1-8066-4D1A-83D5-78AA5B418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8">
            <a:extLst>
              <a:ext uri="{FF2B5EF4-FFF2-40B4-BE49-F238E27FC236}">
                <a16:creationId xmlns:a16="http://schemas.microsoft.com/office/drawing/2014/main" id="{1F608025-20F7-4CDD-B308-0B971530542B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8">
            <a:extLst>
              <a:ext uri="{FF2B5EF4-FFF2-40B4-BE49-F238E27FC236}">
                <a16:creationId xmlns:a16="http://schemas.microsoft.com/office/drawing/2014/main" id="{0C3707FD-1E65-4AA5-96F4-9C3396289FE9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8">
            <a:extLst>
              <a:ext uri="{FF2B5EF4-FFF2-40B4-BE49-F238E27FC236}">
                <a16:creationId xmlns:a16="http://schemas.microsoft.com/office/drawing/2014/main" id="{95975F55-427F-4F71-92E9-77582949F01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7">
            <a:extLst>
              <a:ext uri="{FF2B5EF4-FFF2-40B4-BE49-F238E27FC236}">
                <a16:creationId xmlns:a16="http://schemas.microsoft.com/office/drawing/2014/main" id="{E5B1499C-D54D-42EF-895A-78A45C13F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7">
            <a:extLst>
              <a:ext uri="{FF2B5EF4-FFF2-40B4-BE49-F238E27FC236}">
                <a16:creationId xmlns:a16="http://schemas.microsoft.com/office/drawing/2014/main" id="{A4CC5932-479C-4BD6-B025-D302ECD6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17">
            <a:extLst>
              <a:ext uri="{FF2B5EF4-FFF2-40B4-BE49-F238E27FC236}">
                <a16:creationId xmlns:a16="http://schemas.microsoft.com/office/drawing/2014/main" id="{9E5B8CB9-165A-4267-976C-700E8B9017A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17">
            <a:extLst>
              <a:ext uri="{FF2B5EF4-FFF2-40B4-BE49-F238E27FC236}">
                <a16:creationId xmlns:a16="http://schemas.microsoft.com/office/drawing/2014/main" id="{CDE33234-0CAC-473A-99EB-E812285B892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17">
            <a:extLst>
              <a:ext uri="{FF2B5EF4-FFF2-40B4-BE49-F238E27FC236}">
                <a16:creationId xmlns:a16="http://schemas.microsoft.com/office/drawing/2014/main" id="{1F2A59BB-84F8-4433-85EA-0203F3870F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9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1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5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7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9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1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3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1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3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8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2.png"/><Relationship Id="rId4" Type="http://schemas.openxmlformats.org/officeDocument/2006/relationships/image" Target="../media/image19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5.png"/><Relationship Id="rId4" Type="http://schemas.openxmlformats.org/officeDocument/2006/relationships/image" Target="../media/image194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8.png"/><Relationship Id="rId4" Type="http://schemas.openxmlformats.org/officeDocument/2006/relationships/image" Target="../media/image197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2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4" Type="http://schemas.openxmlformats.org/officeDocument/2006/relationships/image" Target="../media/image212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7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9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3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0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E57718AD-6BC1-40EE-8683-BC56C18A6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4057" y="1392395"/>
            <a:ext cx="2301143" cy="245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/>
              <a:t>3조</a:t>
            </a:r>
          </a:p>
        </p:txBody>
      </p:sp>
      <p:graphicFrame>
        <p:nvGraphicFramePr>
          <p:cNvPr id="91" name="Google Shape;89;p1"/>
          <p:cNvGraphicFramePr/>
          <p:nvPr/>
        </p:nvGraphicFramePr>
        <p:xfrm>
          <a:off x="3119526" y="3849200"/>
          <a:ext cx="5952950" cy="146308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297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>
                          <a:solidFill>
                            <a:schemeClr val="dk1"/>
                          </a:solidFill>
                        </a:rPr>
                        <a:t>조장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C55A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>
                          <a:solidFill>
                            <a:schemeClr val="dk1"/>
                          </a:solidFill>
                        </a:rPr>
                        <a:t>유경환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C55A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/>
                        <a:t>곽대현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/>
                        <a:t>전제현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/>
                        <a:t>김규민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/>
                        <a:t>박재호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/>
                        <a:t>전민석</a:t>
                      </a:r>
                    </a:p>
                  </a:txBody>
                  <a:tcPr marL="91450" marR="91450" marT="45725" marB="45725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7CA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/>
                        <a:t>이준민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7CA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338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38BDF-8138-4370-BD3F-F0E3D0FE6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178" y="301917"/>
            <a:ext cx="7995449" cy="815438"/>
          </a:xfrm>
        </p:spPr>
        <p:txBody>
          <a:bodyPr>
            <a:normAutofit/>
          </a:bodyPr>
          <a:lstStyle/>
          <a:p>
            <a:pPr algn="l"/>
            <a:r>
              <a:rPr lang="en-US" altLang="ko-KR" sz="4800" dirty="0">
                <a:solidFill>
                  <a:schemeClr val="accent2">
                    <a:alpha val="56000"/>
                  </a:schemeClr>
                </a:solidFill>
              </a:rPr>
              <a:t>Definition</a:t>
            </a:r>
            <a:endParaRPr lang="ko-KR" altLang="en-US" sz="4800" dirty="0">
              <a:solidFill>
                <a:schemeClr val="accent2">
                  <a:alpha val="56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BDB9494-C06C-4D0E-BA9E-14C5E0637174}"/>
              </a:ext>
            </a:extLst>
          </p:cNvPr>
          <p:cNvCxnSpPr>
            <a:cxnSpLocks/>
          </p:cNvCxnSpPr>
          <p:nvPr/>
        </p:nvCxnSpPr>
        <p:spPr>
          <a:xfrm>
            <a:off x="609249" y="1161022"/>
            <a:ext cx="10875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502920F5-8AB1-4FFD-B182-520A8F94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571" y="3035289"/>
            <a:ext cx="4515733" cy="7463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984595-37FD-459A-97C2-C78C4CA10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868" y="2761957"/>
            <a:ext cx="1873266" cy="9907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137F54-BFEF-4D09-A215-050BEFB93411}"/>
              </a:ext>
            </a:extLst>
          </p:cNvPr>
          <p:cNvSpPr txBox="1"/>
          <p:nvPr/>
        </p:nvSpPr>
        <p:spPr>
          <a:xfrm>
            <a:off x="844810" y="4012243"/>
            <a:ext cx="20811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accent2"/>
                </a:solidFill>
              </a:rPr>
              <a:t>Enclosure</a:t>
            </a:r>
            <a:endParaRPr lang="ko-KR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8C799D-E800-4008-8DAF-A60A3A8E120D}"/>
              </a:ext>
            </a:extLst>
          </p:cNvPr>
          <p:cNvSpPr txBox="1"/>
          <p:nvPr/>
        </p:nvSpPr>
        <p:spPr>
          <a:xfrm>
            <a:off x="6303131" y="1424719"/>
            <a:ext cx="1815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accent2"/>
                </a:solidFill>
              </a:rPr>
              <a:t>Overlap</a:t>
            </a:r>
            <a:endParaRPr lang="ko-KR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2FCEB8-ED6A-4A21-B967-59FA06C1520F}"/>
              </a:ext>
            </a:extLst>
          </p:cNvPr>
          <p:cNvSpPr txBox="1"/>
          <p:nvPr/>
        </p:nvSpPr>
        <p:spPr>
          <a:xfrm>
            <a:off x="844810" y="1425932"/>
            <a:ext cx="1815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accent2"/>
                </a:solidFill>
              </a:rPr>
              <a:t>Spacing</a:t>
            </a:r>
            <a:endParaRPr lang="ko-KR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BB39DE-C581-4B6E-BFEA-448935168355}"/>
              </a:ext>
            </a:extLst>
          </p:cNvPr>
          <p:cNvSpPr txBox="1"/>
          <p:nvPr/>
        </p:nvSpPr>
        <p:spPr>
          <a:xfrm>
            <a:off x="6303131" y="4012242"/>
            <a:ext cx="2848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ko-KR" sz="2400" b="1" dirty="0">
                <a:solidFill>
                  <a:schemeClr val="accent2"/>
                </a:solidFill>
              </a:rPr>
              <a:t>Parallel length</a:t>
            </a:r>
            <a:endParaRPr lang="ko-KR" altLang="en-US" sz="2400" b="1" dirty="0">
              <a:solidFill>
                <a:schemeClr val="accent2"/>
              </a:solidFill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26D210F-A7B3-4F4F-B1C5-9A99DA7825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380" t="1" r="33848" b="-3"/>
          <a:stretch/>
        </p:blipFill>
        <p:spPr>
          <a:xfrm>
            <a:off x="7542868" y="5142885"/>
            <a:ext cx="598725" cy="107248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8970710-7D41-4202-A964-A601D1A7F2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8480" b="2053"/>
          <a:stretch/>
        </p:blipFill>
        <p:spPr>
          <a:xfrm>
            <a:off x="8600308" y="5632404"/>
            <a:ext cx="598725" cy="1072489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69BFD3F-F990-4F98-9DC7-98F6AB518EF6}"/>
              </a:ext>
            </a:extLst>
          </p:cNvPr>
          <p:cNvCxnSpPr>
            <a:cxnSpLocks/>
          </p:cNvCxnSpPr>
          <p:nvPr/>
        </p:nvCxnSpPr>
        <p:spPr>
          <a:xfrm>
            <a:off x="8376030" y="5743090"/>
            <a:ext cx="0" cy="452889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B205996-D09A-4D4B-86B9-9595B589A6FE}"/>
              </a:ext>
            </a:extLst>
          </p:cNvPr>
          <p:cNvCxnSpPr>
            <a:cxnSpLocks/>
          </p:cNvCxnSpPr>
          <p:nvPr/>
        </p:nvCxnSpPr>
        <p:spPr>
          <a:xfrm>
            <a:off x="8600308" y="5713564"/>
            <a:ext cx="0" cy="9101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E038884-9EF8-4A45-BF45-642E4A6330D5}"/>
              </a:ext>
            </a:extLst>
          </p:cNvPr>
          <p:cNvSpPr txBox="1"/>
          <p:nvPr/>
        </p:nvSpPr>
        <p:spPr>
          <a:xfrm>
            <a:off x="1028572" y="2042886"/>
            <a:ext cx="4091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한 도형의 외곽경계에서 다른 도형의 외곽까지의 거리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8712A27-1702-4DF2-91F5-06A6DFA6C232}"/>
              </a:ext>
            </a:extLst>
          </p:cNvPr>
          <p:cNvSpPr/>
          <p:nvPr/>
        </p:nvSpPr>
        <p:spPr>
          <a:xfrm>
            <a:off x="6645558" y="2042886"/>
            <a:ext cx="45519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두 도형이 서로 겹쳐 있는 영역의 거리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D0966A-86F9-4BB4-8F93-DB42DC6A0C26}"/>
              </a:ext>
            </a:extLst>
          </p:cNvPr>
          <p:cNvSpPr txBox="1"/>
          <p:nvPr/>
        </p:nvSpPr>
        <p:spPr>
          <a:xfrm>
            <a:off x="1028571" y="4473907"/>
            <a:ext cx="4515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한 도형이 다른 도형을 얼마나 감싸고 있는지를 나타내는 거리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DEF9A1F-23C3-4533-994E-03A739A95AEB}"/>
              </a:ext>
            </a:extLst>
          </p:cNvPr>
          <p:cNvSpPr/>
          <p:nvPr/>
        </p:nvSpPr>
        <p:spPr>
          <a:xfrm>
            <a:off x="6645558" y="4458314"/>
            <a:ext cx="43417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두 도형의 서로 마주보는</a:t>
            </a:r>
            <a:r>
              <a:rPr lang="en-US" altLang="ko-KR" b="1" dirty="0"/>
              <a:t> </a:t>
            </a:r>
            <a:r>
              <a:rPr lang="ko-KR" altLang="en-US" b="1" dirty="0"/>
              <a:t>가장자리가 겹쳐 있는 길이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94A5D5-47E0-CDB9-F882-F05B3F819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068" y="5191508"/>
            <a:ext cx="4798737" cy="122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268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5126C8D-58A4-03F2-0A00-2DE6F6E9466C}"/>
              </a:ext>
            </a:extLst>
          </p:cNvPr>
          <p:cNvSpPr/>
          <p:nvPr/>
        </p:nvSpPr>
        <p:spPr>
          <a:xfrm>
            <a:off x="689178" y="1735358"/>
            <a:ext cx="3200455" cy="57883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STI</a:t>
            </a:r>
            <a:endParaRPr lang="ko-KR" altLang="en-US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EE4BA29-AB85-1BF4-89AD-D514C1F2A015}"/>
              </a:ext>
            </a:extLst>
          </p:cNvPr>
          <p:cNvSpPr/>
          <p:nvPr/>
        </p:nvSpPr>
        <p:spPr>
          <a:xfrm>
            <a:off x="4627446" y="2800468"/>
            <a:ext cx="3200454" cy="57883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METAL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4E2AFC5-FAA0-9DA1-FEA9-022E6FFAB8D2}"/>
              </a:ext>
            </a:extLst>
          </p:cNvPr>
          <p:cNvSpPr/>
          <p:nvPr/>
        </p:nvSpPr>
        <p:spPr>
          <a:xfrm>
            <a:off x="689178" y="2800987"/>
            <a:ext cx="3200454" cy="5788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POLY / Gate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37E07F-91EF-3151-0723-A9C3D0A9709B}"/>
              </a:ext>
            </a:extLst>
          </p:cNvPr>
          <p:cNvSpPr/>
          <p:nvPr/>
        </p:nvSpPr>
        <p:spPr>
          <a:xfrm>
            <a:off x="8668078" y="4775883"/>
            <a:ext cx="3200454" cy="578839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ysClr val="windowText" lastClr="000000"/>
                </a:solidFill>
              </a:rPr>
              <a:t>CONTACT</a:t>
            </a:r>
            <a:r>
              <a:rPr lang="en-US" altLang="ko-KR" b="1" dirty="0" err="1"/>
              <a:t>t</a:t>
            </a:r>
            <a:endParaRPr lang="ko-KR" altLang="en-US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A803CB-A8CA-2768-CD17-F25758E1E71B}"/>
              </a:ext>
            </a:extLst>
          </p:cNvPr>
          <p:cNvSpPr/>
          <p:nvPr/>
        </p:nvSpPr>
        <p:spPr>
          <a:xfrm>
            <a:off x="4627446" y="4775883"/>
            <a:ext cx="3200454" cy="5788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N+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37ED94-238E-7D31-A391-7A107EBEF89A}"/>
              </a:ext>
            </a:extLst>
          </p:cNvPr>
          <p:cNvSpPr/>
          <p:nvPr/>
        </p:nvSpPr>
        <p:spPr>
          <a:xfrm>
            <a:off x="689178" y="4775883"/>
            <a:ext cx="3200454" cy="5788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</a:rPr>
              <a:t>P+</a:t>
            </a:r>
            <a:endParaRPr lang="ko-KR" altLang="en-US" b="1" dirty="0">
              <a:solidFill>
                <a:sysClr val="windowText" lastClr="00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6819D84-4736-2F52-3C69-0FE8BACD84B1}"/>
              </a:ext>
            </a:extLst>
          </p:cNvPr>
          <p:cNvSpPr/>
          <p:nvPr/>
        </p:nvSpPr>
        <p:spPr>
          <a:xfrm>
            <a:off x="8668079" y="1735358"/>
            <a:ext cx="3200455" cy="578839"/>
          </a:xfrm>
          <a:prstGeom prst="rect">
            <a:avLst/>
          </a:prstGeom>
          <a:solidFill>
            <a:srgbClr val="CDACE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rgbClr val="7030A0"/>
                </a:solidFill>
              </a:rPr>
              <a:t>Nwell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436930F-2C0F-FEEC-FD9A-75ADD1768CAE}"/>
              </a:ext>
            </a:extLst>
          </p:cNvPr>
          <p:cNvSpPr/>
          <p:nvPr/>
        </p:nvSpPr>
        <p:spPr>
          <a:xfrm>
            <a:off x="689179" y="5696977"/>
            <a:ext cx="3200453" cy="57883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OXIDE</a:t>
            </a:r>
            <a:endParaRPr lang="ko-KR" altLang="en-US" b="1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A2EA6D5-012A-D4E9-4555-2F3543DE4882}"/>
              </a:ext>
            </a:extLst>
          </p:cNvPr>
          <p:cNvSpPr/>
          <p:nvPr/>
        </p:nvSpPr>
        <p:spPr>
          <a:xfrm>
            <a:off x="4627446" y="1735358"/>
            <a:ext cx="3200454" cy="57883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Substrate</a:t>
            </a:r>
            <a:endParaRPr lang="ko-KR" altLang="en-US" b="1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B1EE465-0CEB-3A80-E1E2-8A132AECC513}"/>
              </a:ext>
            </a:extLst>
          </p:cNvPr>
          <p:cNvSpPr/>
          <p:nvPr/>
        </p:nvSpPr>
        <p:spPr>
          <a:xfrm>
            <a:off x="4627446" y="5696977"/>
            <a:ext cx="3200454" cy="5788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Thick OXIDE</a:t>
            </a:r>
            <a:endParaRPr lang="ko-KR" altLang="en-US" b="1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6A28ABD-9187-F121-6C77-6A50EE4995F2}"/>
              </a:ext>
            </a:extLst>
          </p:cNvPr>
          <p:cNvSpPr/>
          <p:nvPr/>
        </p:nvSpPr>
        <p:spPr>
          <a:xfrm>
            <a:off x="689178" y="3823144"/>
            <a:ext cx="3200454" cy="578839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IMD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E2809CC-44DF-9567-4DB4-6446761C8B64}"/>
              </a:ext>
            </a:extLst>
          </p:cNvPr>
          <p:cNvSpPr/>
          <p:nvPr/>
        </p:nvSpPr>
        <p:spPr>
          <a:xfrm>
            <a:off x="8668079" y="2800469"/>
            <a:ext cx="3200453" cy="57793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VIA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A515510-A23B-D6B1-3AE8-59BDC3B8522E}"/>
              </a:ext>
            </a:extLst>
          </p:cNvPr>
          <p:cNvSpPr/>
          <p:nvPr/>
        </p:nvSpPr>
        <p:spPr>
          <a:xfrm>
            <a:off x="4627446" y="3823144"/>
            <a:ext cx="3200454" cy="578839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ILD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7AF9B35-08F9-F05D-C144-B56E195F7516}"/>
              </a:ext>
            </a:extLst>
          </p:cNvPr>
          <p:cNvSpPr/>
          <p:nvPr/>
        </p:nvSpPr>
        <p:spPr>
          <a:xfrm>
            <a:off x="8668078" y="3823144"/>
            <a:ext cx="3200454" cy="578839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Sillicide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8930FC1A-11CE-410B-BB13-A49057854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9178" y="301917"/>
            <a:ext cx="7995449" cy="815438"/>
          </a:xfrm>
        </p:spPr>
        <p:txBody>
          <a:bodyPr>
            <a:normAutofit/>
          </a:bodyPr>
          <a:lstStyle/>
          <a:p>
            <a:pPr algn="l"/>
            <a:r>
              <a:rPr lang="en-US" altLang="ko-KR" sz="4800" dirty="0">
                <a:solidFill>
                  <a:schemeClr val="accent2">
                    <a:alpha val="56000"/>
                  </a:schemeClr>
                </a:solidFill>
              </a:rPr>
              <a:t>Layer colors</a:t>
            </a:r>
            <a:endParaRPr lang="ko-KR" altLang="en-US" sz="4800" dirty="0">
              <a:solidFill>
                <a:schemeClr val="accent2">
                  <a:alpha val="56000"/>
                </a:schemeClr>
              </a:solidFill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982371C-A674-4A0D-956E-44900C060325}"/>
              </a:ext>
            </a:extLst>
          </p:cNvPr>
          <p:cNvCxnSpPr>
            <a:cxnSpLocks/>
          </p:cNvCxnSpPr>
          <p:nvPr/>
        </p:nvCxnSpPr>
        <p:spPr>
          <a:xfrm>
            <a:off x="609249" y="1161022"/>
            <a:ext cx="10875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240573A-90EA-4A94-8637-BD14BDE4465E}"/>
              </a:ext>
            </a:extLst>
          </p:cNvPr>
          <p:cNvSpPr/>
          <p:nvPr/>
        </p:nvSpPr>
        <p:spPr>
          <a:xfrm>
            <a:off x="8684627" y="5696977"/>
            <a:ext cx="3200454" cy="5788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SIPROT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337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0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>
            <a:extLst>
              <a:ext uri="{FF2B5EF4-FFF2-40B4-BE49-F238E27FC236}">
                <a16:creationId xmlns:a16="http://schemas.microsoft.com/office/drawing/2014/main" id="{19030D8E-1946-4EB1-8325-5D279F5B3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3523" y="2291910"/>
            <a:ext cx="3704954" cy="2274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/>
              <a:t>Nwell</a:t>
            </a:r>
          </a:p>
        </p:txBody>
      </p:sp>
    </p:spTree>
    <p:extLst>
      <p:ext uri="{BB962C8B-B14F-4D97-AF65-F5344CB8AC3E}">
        <p14:creationId xmlns:p14="http://schemas.microsoft.com/office/powerpoint/2010/main" val="1061836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>
            <a:extLst>
              <a:ext uri="{FF2B5EF4-FFF2-40B4-BE49-F238E27FC236}">
                <a16:creationId xmlns:a16="http://schemas.microsoft.com/office/drawing/2014/main" id="{B79096CA-337F-45ED-86A3-7642F567C6B7}"/>
              </a:ext>
            </a:extLst>
          </p:cNvPr>
          <p:cNvSpPr>
            <a:spLocks noGrp="1"/>
          </p:cNvSpPr>
          <p:nvPr/>
        </p:nvSpPr>
        <p:spPr>
          <a:xfrm>
            <a:off x="8338458" y="5483832"/>
            <a:ext cx="1970177" cy="111839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141" name="Google Shape;141;p5">
            <a:extLst>
              <a:ext uri="{FF2B5EF4-FFF2-40B4-BE49-F238E27FC236}">
                <a16:creationId xmlns:a16="http://schemas.microsoft.com/office/drawing/2014/main" id="{E461E676-871F-49D0-9193-1792AFFFA517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</a:pPr>
            <a:r>
              <a:rPr sz="16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sp>
        <p:nvSpPr>
          <p:cNvPr id="142" name="Google Shape;142;p5">
            <a:extLst>
              <a:ext uri="{FF2B5EF4-FFF2-40B4-BE49-F238E27FC236}">
                <a16:creationId xmlns:a16="http://schemas.microsoft.com/office/drawing/2014/main" id="{96B38167-F68B-4DB1-84B1-4F8B4B3997AA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</a:pPr>
            <a:r>
              <a:rPr sz="1600" b="0" i="0" u="non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cxnSp>
        <p:nvCxnSpPr>
          <p:cNvPr id="236" name="Google Shape;143;p5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37" name="Google Shape;144;p5"/>
          <p:cNvGraphicFramePr/>
          <p:nvPr>
            <p:extLst>
              <p:ext uri="{D42A27DB-BD31-4B8C-83A1-F6EECF244321}">
                <p14:modId xmlns:p14="http://schemas.microsoft.com/office/powerpoint/2010/main" val="85841375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 dirty="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NW.W.1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0.6um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u="none" cap="none" dirty="0">
                          <a:solidFill>
                            <a:schemeClr val="dk1"/>
                          </a:solidFill>
                        </a:rPr>
                        <a:t>Minimum </a:t>
                      </a:r>
                      <a:r>
                        <a:rPr sz="1400" b="0" u="none" cap="none" dirty="0" err="1">
                          <a:solidFill>
                            <a:schemeClr val="dk1"/>
                          </a:solidFill>
                        </a:rPr>
                        <a:t>Nwell</a:t>
                      </a:r>
                      <a:r>
                        <a:rPr sz="1400" b="0" u="none" cap="none" dirty="0">
                          <a:solidFill>
                            <a:schemeClr val="dk1"/>
                          </a:solidFill>
                        </a:rPr>
                        <a:t> width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38" name="Google Shape;145;p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996" y="1557070"/>
            <a:ext cx="1371280" cy="1475867"/>
          </a:xfrm>
          <a:prstGeom prst="rect">
            <a:avLst/>
          </a:prstGeom>
          <a:ln>
            <a:noFill/>
          </a:ln>
        </p:spPr>
      </p:pic>
      <p:cxnSp>
        <p:nvCxnSpPr>
          <p:cNvPr id="243" name="Google Shape;150;p5"/>
          <p:cNvCxnSpPr/>
          <p:nvPr/>
        </p:nvCxnSpPr>
        <p:spPr>
          <a:xfrm flipH="1">
            <a:off x="8497729" y="2981391"/>
            <a:ext cx="8204" cy="252673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44" name="Google Shape;151;p5"/>
          <p:cNvCxnSpPr/>
          <p:nvPr/>
        </p:nvCxnSpPr>
        <p:spPr>
          <a:xfrm>
            <a:off x="10034883" y="2587709"/>
            <a:ext cx="0" cy="285354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245" name="Google Shape;152;p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38464" y="1864732"/>
            <a:ext cx="1970177" cy="1891457"/>
          </a:xfrm>
          <a:prstGeom prst="rect">
            <a:avLst/>
          </a:prstGeom>
          <a:ln>
            <a:noFill/>
          </a:ln>
        </p:spPr>
      </p:pic>
      <p:cxnSp>
        <p:nvCxnSpPr>
          <p:cNvPr id="246" name="Google Shape;153;p5"/>
          <p:cNvCxnSpPr/>
          <p:nvPr/>
        </p:nvCxnSpPr>
        <p:spPr>
          <a:xfrm>
            <a:off x="8497729" y="4815647"/>
            <a:ext cx="1537154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54" name="Google Shape;154;p5">
            <a:extLst>
              <a:ext uri="{FF2B5EF4-FFF2-40B4-BE49-F238E27FC236}">
                <a16:creationId xmlns:a16="http://schemas.microsoft.com/office/drawing/2014/main" id="{52DCEE74-BAD9-41B6-953D-1FACFD935953}"/>
              </a:ext>
            </a:extLst>
          </p:cNvPr>
          <p:cNvSpPr>
            <a:spLocks noGrp="1"/>
          </p:cNvSpPr>
          <p:nvPr/>
        </p:nvSpPr>
        <p:spPr>
          <a:xfrm>
            <a:off x="8869316" y="4407810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0.6um</a:t>
            </a:r>
          </a:p>
        </p:txBody>
      </p:sp>
      <p:sp>
        <p:nvSpPr>
          <p:cNvPr id="155" name="Google Shape;155;p5">
            <a:extLst>
              <a:ext uri="{FF2B5EF4-FFF2-40B4-BE49-F238E27FC236}">
                <a16:creationId xmlns:a16="http://schemas.microsoft.com/office/drawing/2014/main" id="{914B30BB-20BF-481B-A3AE-91BCBF889806}"/>
              </a:ext>
            </a:extLst>
          </p:cNvPr>
          <p:cNvSpPr>
            <a:spLocks noGrp="1"/>
          </p:cNvSpPr>
          <p:nvPr/>
        </p:nvSpPr>
        <p:spPr>
          <a:xfrm>
            <a:off x="8497730" y="5494700"/>
            <a:ext cx="1537154" cy="330868"/>
          </a:xfrm>
          <a:prstGeom prst="rect">
            <a:avLst/>
          </a:prstGeom>
          <a:solidFill>
            <a:srgbClr val="CDACE6"/>
          </a:solidFill>
          <a:ln w="12700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Nwell</a:t>
            </a:r>
          </a:p>
        </p:txBody>
      </p:sp>
      <p:pic>
        <p:nvPicPr>
          <p:cNvPr id="249" name="Google Shape;156;p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33467" y="4103524"/>
            <a:ext cx="2547852" cy="2446050"/>
          </a:xfrm>
          <a:prstGeom prst="rect">
            <a:avLst/>
          </a:prstGeom>
          <a:ln>
            <a:noFill/>
          </a:ln>
        </p:spPr>
      </p:pic>
      <p:sp>
        <p:nvSpPr>
          <p:cNvPr id="157" name="Google Shape;157;p5">
            <a:extLst>
              <a:ext uri="{FF2B5EF4-FFF2-40B4-BE49-F238E27FC236}">
                <a16:creationId xmlns:a16="http://schemas.microsoft.com/office/drawing/2014/main" id="{82C3B227-3F56-4FD0-8FB8-DFB375FE400A}"/>
              </a:ext>
            </a:extLst>
          </p:cNvPr>
          <p:cNvSpPr>
            <a:spLocks noGrp="1"/>
          </p:cNvSpPr>
          <p:nvPr/>
        </p:nvSpPr>
        <p:spPr>
          <a:xfrm>
            <a:off x="6457384" y="2606400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cxnSp>
        <p:nvCxnSpPr>
          <p:cNvPr id="251" name="Google Shape;158;p5"/>
          <p:cNvCxnSpPr/>
          <p:nvPr/>
        </p:nvCxnSpPr>
        <p:spPr>
          <a:xfrm>
            <a:off x="6874984" y="2815200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59" name="Google Shape;159;p5">
            <a:extLst>
              <a:ext uri="{FF2B5EF4-FFF2-40B4-BE49-F238E27FC236}">
                <a16:creationId xmlns:a16="http://schemas.microsoft.com/office/drawing/2014/main" id="{586A02AD-9738-443E-B641-7369AB4F7F50}"/>
              </a:ext>
            </a:extLst>
          </p:cNvPr>
          <p:cNvSpPr>
            <a:spLocks noGrp="1"/>
          </p:cNvSpPr>
          <p:nvPr/>
        </p:nvSpPr>
        <p:spPr>
          <a:xfrm>
            <a:off x="466223" y="3031369"/>
            <a:ext cx="376962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Nwell의 폭이 너무 좁으면 공정 오차로 인해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well이 정상적으로 형성되지 않을 수 있다.</a:t>
            </a:r>
          </a:p>
        </p:txBody>
      </p:sp>
      <p:cxnSp>
        <p:nvCxnSpPr>
          <p:cNvPr id="2" name="Google Shape;146;p5">
            <a:extLst>
              <a:ext uri="{FF2B5EF4-FFF2-40B4-BE49-F238E27FC236}">
                <a16:creationId xmlns:a16="http://schemas.microsoft.com/office/drawing/2014/main" id="{8852A397-8DE6-A9F9-63DD-29940F2ECD62}"/>
              </a:ext>
            </a:extLst>
          </p:cNvPr>
          <p:cNvCxnSpPr/>
          <p:nvPr/>
        </p:nvCxnSpPr>
        <p:spPr>
          <a:xfrm rot="10800000">
            <a:off x="1712269" y="4008095"/>
            <a:ext cx="2042416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3" name="Google Shape;147;p5">
            <a:extLst>
              <a:ext uri="{FF2B5EF4-FFF2-40B4-BE49-F238E27FC236}">
                <a16:creationId xmlns:a16="http://schemas.microsoft.com/office/drawing/2014/main" id="{0E8E2D9B-9F71-EF20-92BC-126B38D3886B}"/>
              </a:ext>
            </a:extLst>
          </p:cNvPr>
          <p:cNvCxnSpPr/>
          <p:nvPr/>
        </p:nvCxnSpPr>
        <p:spPr>
          <a:xfrm rot="10800000">
            <a:off x="4200861" y="4261556"/>
            <a:ext cx="0" cy="2029165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4" name="Google Shape;148;p5">
            <a:extLst>
              <a:ext uri="{FF2B5EF4-FFF2-40B4-BE49-F238E27FC236}">
                <a16:creationId xmlns:a16="http://schemas.microsoft.com/office/drawing/2014/main" id="{22CE4FCC-2906-7CE9-5012-28C81A357AD4}"/>
              </a:ext>
            </a:extLst>
          </p:cNvPr>
          <p:cNvSpPr>
            <a:spLocks noGrp="1"/>
          </p:cNvSpPr>
          <p:nvPr/>
        </p:nvSpPr>
        <p:spPr>
          <a:xfrm>
            <a:off x="2252473" y="3610941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0.6um</a:t>
            </a:r>
          </a:p>
        </p:txBody>
      </p:sp>
      <p:sp>
        <p:nvSpPr>
          <p:cNvPr id="5" name="Google Shape;149;p5">
            <a:extLst>
              <a:ext uri="{FF2B5EF4-FFF2-40B4-BE49-F238E27FC236}">
                <a16:creationId xmlns:a16="http://schemas.microsoft.com/office/drawing/2014/main" id="{6CA31C35-EC9C-D58A-3DB5-6840788B574C}"/>
              </a:ext>
            </a:extLst>
          </p:cNvPr>
          <p:cNvSpPr>
            <a:spLocks noGrp="1"/>
          </p:cNvSpPr>
          <p:nvPr/>
        </p:nvSpPr>
        <p:spPr>
          <a:xfrm rot="5400000">
            <a:off x="3916159" y="5168947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0.6um</a:t>
            </a:r>
          </a:p>
        </p:txBody>
      </p:sp>
    </p:spTree>
    <p:extLst>
      <p:ext uri="{BB962C8B-B14F-4D97-AF65-F5344CB8AC3E}">
        <p14:creationId xmlns:p14="http://schemas.microsoft.com/office/powerpoint/2010/main" val="967519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164;p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307" y="4267392"/>
            <a:ext cx="4690376" cy="1720347"/>
          </a:xfrm>
          <a:prstGeom prst="rect">
            <a:avLst/>
          </a:prstGeom>
          <a:ln>
            <a:noFill/>
          </a:ln>
        </p:spPr>
      </p:pic>
      <p:cxnSp>
        <p:nvCxnSpPr>
          <p:cNvPr id="256" name="Google Shape;165;p6"/>
          <p:cNvCxnSpPr/>
          <p:nvPr/>
        </p:nvCxnSpPr>
        <p:spPr>
          <a:xfrm flipH="1">
            <a:off x="8780666" y="3035354"/>
            <a:ext cx="26676" cy="245986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57" name="Google Shape;166;p6"/>
          <p:cNvCxnSpPr/>
          <p:nvPr/>
        </p:nvCxnSpPr>
        <p:spPr>
          <a:xfrm flipH="1">
            <a:off x="10018134" y="2580718"/>
            <a:ext cx="16236" cy="306538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67" name="Google Shape;167;p6">
            <a:extLst>
              <a:ext uri="{FF2B5EF4-FFF2-40B4-BE49-F238E27FC236}">
                <a16:creationId xmlns:a16="http://schemas.microsoft.com/office/drawing/2014/main" id="{ABDC2263-DD0C-410C-9DB2-B1F1E3A11794}"/>
              </a:ext>
            </a:extLst>
          </p:cNvPr>
          <p:cNvSpPr>
            <a:spLocks noGrp="1"/>
          </p:cNvSpPr>
          <p:nvPr/>
        </p:nvSpPr>
        <p:spPr>
          <a:xfrm>
            <a:off x="6823833" y="5474705"/>
            <a:ext cx="4690375" cy="111839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cxnSp>
        <p:nvCxnSpPr>
          <p:cNvPr id="259" name="Google Shape;170;p6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60" name="Google Shape;171;p6"/>
          <p:cNvGraphicFramePr/>
          <p:nvPr>
            <p:extLst>
              <p:ext uri="{D42A27DB-BD31-4B8C-83A1-F6EECF244321}">
                <p14:modId xmlns:p14="http://schemas.microsoft.com/office/powerpoint/2010/main" val="929054240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NW.SP.1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0.6um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u="none" cap="none" dirty="0"/>
                        <a:t>Minimum </a:t>
                      </a:r>
                      <a:r>
                        <a:rPr sz="1400" u="none" cap="none" dirty="0" err="1"/>
                        <a:t>Nwell</a:t>
                      </a:r>
                      <a:r>
                        <a:rPr sz="1400" u="none" cap="none" dirty="0"/>
                        <a:t> spacing to </a:t>
                      </a:r>
                      <a:r>
                        <a:rPr sz="1400" u="none" cap="none" dirty="0" err="1"/>
                        <a:t>Nwell</a:t>
                      </a:r>
                      <a:r>
                        <a:rPr sz="1400" u="none" cap="none" dirty="0"/>
                        <a:t> (same potential)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61" name="Google Shape;172;p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004" y="1525437"/>
            <a:ext cx="2529624" cy="1386897"/>
          </a:xfrm>
          <a:prstGeom prst="rect">
            <a:avLst/>
          </a:prstGeom>
          <a:ln>
            <a:noFill/>
          </a:ln>
        </p:spPr>
      </p:pic>
      <p:cxnSp>
        <p:nvCxnSpPr>
          <p:cNvPr id="264" name="Google Shape;175;p6"/>
          <p:cNvCxnSpPr/>
          <p:nvPr/>
        </p:nvCxnSpPr>
        <p:spPr>
          <a:xfrm>
            <a:off x="8807342" y="4869610"/>
            <a:ext cx="1210792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76" name="Google Shape;176;p6">
            <a:extLst>
              <a:ext uri="{FF2B5EF4-FFF2-40B4-BE49-F238E27FC236}">
                <a16:creationId xmlns:a16="http://schemas.microsoft.com/office/drawing/2014/main" id="{C59D5E67-B4EE-40DC-89B7-A37F290898C1}"/>
              </a:ext>
            </a:extLst>
          </p:cNvPr>
          <p:cNvSpPr>
            <a:spLocks noGrp="1"/>
          </p:cNvSpPr>
          <p:nvPr/>
        </p:nvSpPr>
        <p:spPr>
          <a:xfrm>
            <a:off x="8995821" y="4461773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0.6um</a:t>
            </a:r>
          </a:p>
        </p:txBody>
      </p:sp>
      <p:sp>
        <p:nvSpPr>
          <p:cNvPr id="177" name="Google Shape;177;p6">
            <a:extLst>
              <a:ext uri="{FF2B5EF4-FFF2-40B4-BE49-F238E27FC236}">
                <a16:creationId xmlns:a16="http://schemas.microsoft.com/office/drawing/2014/main" id="{D4DBEEA4-92F8-417D-904F-86E2C73A56F6}"/>
              </a:ext>
            </a:extLst>
          </p:cNvPr>
          <p:cNvSpPr>
            <a:spLocks noGrp="1"/>
          </p:cNvSpPr>
          <p:nvPr/>
        </p:nvSpPr>
        <p:spPr>
          <a:xfrm>
            <a:off x="6874841" y="5470156"/>
            <a:ext cx="1919163" cy="330868"/>
          </a:xfrm>
          <a:prstGeom prst="rect">
            <a:avLst/>
          </a:prstGeom>
          <a:solidFill>
            <a:srgbClr val="CDACE6"/>
          </a:solidFill>
          <a:ln w="12700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Nwell</a:t>
            </a:r>
          </a:p>
        </p:txBody>
      </p:sp>
      <p:sp>
        <p:nvSpPr>
          <p:cNvPr id="178" name="Google Shape;178;p6">
            <a:extLst>
              <a:ext uri="{FF2B5EF4-FFF2-40B4-BE49-F238E27FC236}">
                <a16:creationId xmlns:a16="http://schemas.microsoft.com/office/drawing/2014/main" id="{13AF602F-89F2-43BC-B86F-E3C5FDEEA2E7}"/>
              </a:ext>
            </a:extLst>
          </p:cNvPr>
          <p:cNvSpPr>
            <a:spLocks noGrp="1"/>
          </p:cNvSpPr>
          <p:nvPr/>
        </p:nvSpPr>
        <p:spPr>
          <a:xfrm>
            <a:off x="10018134" y="5480666"/>
            <a:ext cx="1342463" cy="330868"/>
          </a:xfrm>
          <a:prstGeom prst="rect">
            <a:avLst/>
          </a:prstGeom>
          <a:solidFill>
            <a:srgbClr val="CDACE6"/>
          </a:solidFill>
          <a:ln w="12700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Nwell</a:t>
            </a:r>
          </a:p>
        </p:txBody>
      </p:sp>
      <p:pic>
        <p:nvPicPr>
          <p:cNvPr id="268" name="Google Shape;179;p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27632" y="1899153"/>
            <a:ext cx="4690376" cy="1720347"/>
          </a:xfrm>
          <a:prstGeom prst="rect">
            <a:avLst/>
          </a:prstGeom>
          <a:ln>
            <a:noFill/>
          </a:ln>
        </p:spPr>
      </p:pic>
      <p:sp>
        <p:nvSpPr>
          <p:cNvPr id="180" name="Google Shape;180;p6">
            <a:extLst>
              <a:ext uri="{FF2B5EF4-FFF2-40B4-BE49-F238E27FC236}">
                <a16:creationId xmlns:a16="http://schemas.microsoft.com/office/drawing/2014/main" id="{2B8616F3-5EC9-48B0-BC28-8920B800130B}"/>
              </a:ext>
            </a:extLst>
          </p:cNvPr>
          <p:cNvSpPr>
            <a:spLocks noGrp="1"/>
          </p:cNvSpPr>
          <p:nvPr/>
        </p:nvSpPr>
        <p:spPr>
          <a:xfrm>
            <a:off x="6395292" y="2572536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cxnSp>
        <p:nvCxnSpPr>
          <p:cNvPr id="270" name="Google Shape;181;p6"/>
          <p:cNvCxnSpPr/>
          <p:nvPr/>
        </p:nvCxnSpPr>
        <p:spPr>
          <a:xfrm>
            <a:off x="6812892" y="2781336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82" name="Google Shape;182;p6">
            <a:extLst>
              <a:ext uri="{FF2B5EF4-FFF2-40B4-BE49-F238E27FC236}">
                <a16:creationId xmlns:a16="http://schemas.microsoft.com/office/drawing/2014/main" id="{918F7945-8C67-4E49-A7B7-BFF1D5458AB0}"/>
              </a:ext>
            </a:extLst>
          </p:cNvPr>
          <p:cNvSpPr>
            <a:spLocks noGrp="1"/>
          </p:cNvSpPr>
          <p:nvPr/>
        </p:nvSpPr>
        <p:spPr>
          <a:xfrm>
            <a:off x="466223" y="3031200"/>
            <a:ext cx="550699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Nwell의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간격이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너무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좁으면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오차로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인해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well이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서로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붙거나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형상이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변형돼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punch-through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현상이나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latch-up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현상이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일어날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있다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53" name="Slide 5 copied left comparison heading">
            <a:extLst>
              <a:ext uri="{FF2B5EF4-FFF2-40B4-BE49-F238E27FC236}">
                <a16:creationId xmlns:a16="http://schemas.microsoft.com/office/drawing/2014/main" id="{26096376-D2F1-4453-9515-6F12D08817B9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254" name="Slide 5 copied right comparison heading">
            <a:extLst>
              <a:ext uri="{FF2B5EF4-FFF2-40B4-BE49-F238E27FC236}">
                <a16:creationId xmlns:a16="http://schemas.microsoft.com/office/drawing/2014/main" id="{0EBDA0CD-4C05-46A1-911D-3A88FF1BE3F8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Google Shape;173;p6">
            <a:extLst>
              <a:ext uri="{FF2B5EF4-FFF2-40B4-BE49-F238E27FC236}">
                <a16:creationId xmlns:a16="http://schemas.microsoft.com/office/drawing/2014/main" id="{A1335B54-A2CB-6937-5703-3366C023EDBB}"/>
              </a:ext>
            </a:extLst>
          </p:cNvPr>
          <p:cNvCxnSpPr/>
          <p:nvPr/>
        </p:nvCxnSpPr>
        <p:spPr>
          <a:xfrm rot="10800000">
            <a:off x="2638301" y="4946509"/>
            <a:ext cx="1220286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" name="Google Shape;174;p6">
            <a:extLst>
              <a:ext uri="{FF2B5EF4-FFF2-40B4-BE49-F238E27FC236}">
                <a16:creationId xmlns:a16="http://schemas.microsoft.com/office/drawing/2014/main" id="{EC1EB346-2C3C-2224-D866-DC01E49DFC30}"/>
              </a:ext>
            </a:extLst>
          </p:cNvPr>
          <p:cNvSpPr>
            <a:spLocks noGrp="1"/>
          </p:cNvSpPr>
          <p:nvPr/>
        </p:nvSpPr>
        <p:spPr>
          <a:xfrm>
            <a:off x="2842123" y="4572332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0.6um</a:t>
            </a:r>
          </a:p>
        </p:txBody>
      </p:sp>
    </p:spTree>
    <p:extLst>
      <p:ext uri="{BB962C8B-B14F-4D97-AF65-F5344CB8AC3E}">
        <p14:creationId xmlns:p14="http://schemas.microsoft.com/office/powerpoint/2010/main" val="970934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187;p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980" y="4105069"/>
            <a:ext cx="5020376" cy="2039287"/>
          </a:xfrm>
          <a:prstGeom prst="rect">
            <a:avLst/>
          </a:prstGeom>
          <a:ln>
            <a:noFill/>
          </a:ln>
        </p:spPr>
      </p:pic>
      <p:sp>
        <p:nvSpPr>
          <p:cNvPr id="188" name="Google Shape;188;p7">
            <a:extLst>
              <a:ext uri="{FF2B5EF4-FFF2-40B4-BE49-F238E27FC236}">
                <a16:creationId xmlns:a16="http://schemas.microsoft.com/office/drawing/2014/main" id="{A9DCA959-C21A-4BE7-8B84-39452620A636}"/>
              </a:ext>
            </a:extLst>
          </p:cNvPr>
          <p:cNvSpPr>
            <a:spLocks noGrp="1"/>
          </p:cNvSpPr>
          <p:nvPr/>
        </p:nvSpPr>
        <p:spPr>
          <a:xfrm>
            <a:off x="6758735" y="5479410"/>
            <a:ext cx="5020373" cy="111839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cxnSp>
        <p:nvCxnSpPr>
          <p:cNvPr id="280" name="Google Shape;191;p7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81" name="Google Shape;192;p7"/>
          <p:cNvGraphicFramePr/>
          <p:nvPr>
            <p:extLst>
              <p:ext uri="{D42A27DB-BD31-4B8C-83A1-F6EECF244321}">
                <p14:modId xmlns:p14="http://schemas.microsoft.com/office/powerpoint/2010/main" val="4059168832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NW.SP.2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1.2um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u="none" cap="none" dirty="0"/>
                        <a:t>Minimum </a:t>
                      </a:r>
                      <a:r>
                        <a:rPr sz="1400" u="none" cap="none" dirty="0" err="1"/>
                        <a:t>Nwell</a:t>
                      </a:r>
                      <a:r>
                        <a:rPr sz="1400" u="none" cap="none" dirty="0"/>
                        <a:t> spacing to </a:t>
                      </a:r>
                      <a:r>
                        <a:rPr sz="1400" u="none" cap="none" dirty="0" err="1"/>
                        <a:t>Nwell</a:t>
                      </a:r>
                      <a:r>
                        <a:rPr sz="1400" u="none" cap="none" dirty="0"/>
                        <a:t> (different potential)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84" name="Google Shape;195;p7"/>
          <p:cNvCxnSpPr/>
          <p:nvPr/>
        </p:nvCxnSpPr>
        <p:spPr>
          <a:xfrm flipH="1">
            <a:off x="8522562" y="3058713"/>
            <a:ext cx="26676" cy="245986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5" name="Google Shape;196;p7"/>
          <p:cNvCxnSpPr/>
          <p:nvPr/>
        </p:nvCxnSpPr>
        <p:spPr>
          <a:xfrm flipH="1">
            <a:off x="10541618" y="2624170"/>
            <a:ext cx="16236" cy="306538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6" name="Google Shape;197;p7"/>
          <p:cNvCxnSpPr/>
          <p:nvPr/>
        </p:nvCxnSpPr>
        <p:spPr>
          <a:xfrm>
            <a:off x="8549238" y="4869610"/>
            <a:ext cx="1992380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98" name="Google Shape;198;p7">
            <a:extLst>
              <a:ext uri="{FF2B5EF4-FFF2-40B4-BE49-F238E27FC236}">
                <a16:creationId xmlns:a16="http://schemas.microsoft.com/office/drawing/2014/main" id="{D38F79EF-8A11-43A5-BE87-5A226D815A62}"/>
              </a:ext>
            </a:extLst>
          </p:cNvPr>
          <p:cNvSpPr>
            <a:spLocks noGrp="1"/>
          </p:cNvSpPr>
          <p:nvPr/>
        </p:nvSpPr>
        <p:spPr>
          <a:xfrm>
            <a:off x="9159566" y="4461530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1.2um</a:t>
            </a:r>
          </a:p>
        </p:txBody>
      </p:sp>
      <p:pic>
        <p:nvPicPr>
          <p:cNvPr id="288" name="Google Shape;199;p7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521" y="1588276"/>
            <a:ext cx="4515293" cy="1360912"/>
          </a:xfrm>
          <a:prstGeom prst="rect">
            <a:avLst/>
          </a:prstGeom>
          <a:ln>
            <a:noFill/>
          </a:ln>
        </p:spPr>
      </p:pic>
      <p:sp>
        <p:nvSpPr>
          <p:cNvPr id="200" name="Google Shape;200;p7">
            <a:extLst>
              <a:ext uri="{FF2B5EF4-FFF2-40B4-BE49-F238E27FC236}">
                <a16:creationId xmlns:a16="http://schemas.microsoft.com/office/drawing/2014/main" id="{B00EC5C1-6C10-4963-B6F0-6EA518C403A6}"/>
              </a:ext>
            </a:extLst>
          </p:cNvPr>
          <p:cNvSpPr>
            <a:spLocks noGrp="1"/>
          </p:cNvSpPr>
          <p:nvPr/>
        </p:nvSpPr>
        <p:spPr>
          <a:xfrm>
            <a:off x="6998810" y="5479410"/>
            <a:ext cx="1523752" cy="330868"/>
          </a:xfrm>
          <a:prstGeom prst="rect">
            <a:avLst/>
          </a:prstGeom>
          <a:solidFill>
            <a:srgbClr val="CDACE6"/>
          </a:solidFill>
          <a:ln w="12700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Nwell</a:t>
            </a:r>
          </a:p>
        </p:txBody>
      </p:sp>
      <p:sp>
        <p:nvSpPr>
          <p:cNvPr id="201" name="Google Shape;201;p7">
            <a:extLst>
              <a:ext uri="{FF2B5EF4-FFF2-40B4-BE49-F238E27FC236}">
                <a16:creationId xmlns:a16="http://schemas.microsoft.com/office/drawing/2014/main" id="{93B8D504-9958-4485-BA0A-905C5BEDD3C7}"/>
              </a:ext>
            </a:extLst>
          </p:cNvPr>
          <p:cNvSpPr>
            <a:spLocks noGrp="1"/>
          </p:cNvSpPr>
          <p:nvPr/>
        </p:nvSpPr>
        <p:spPr>
          <a:xfrm>
            <a:off x="10533790" y="5480073"/>
            <a:ext cx="1024352" cy="330868"/>
          </a:xfrm>
          <a:prstGeom prst="rect">
            <a:avLst/>
          </a:prstGeom>
          <a:solidFill>
            <a:srgbClr val="CDACE6"/>
          </a:solidFill>
          <a:ln w="12700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Nwell</a:t>
            </a:r>
          </a:p>
        </p:txBody>
      </p:sp>
      <p:pic>
        <p:nvPicPr>
          <p:cNvPr id="291" name="Google Shape;202;p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97980" y="1887734"/>
            <a:ext cx="5020376" cy="1752845"/>
          </a:xfrm>
          <a:prstGeom prst="rect">
            <a:avLst/>
          </a:prstGeom>
          <a:ln>
            <a:noFill/>
          </a:ln>
        </p:spPr>
      </p:pic>
      <p:sp>
        <p:nvSpPr>
          <p:cNvPr id="203" name="Google Shape;203;p7">
            <a:extLst>
              <a:ext uri="{FF2B5EF4-FFF2-40B4-BE49-F238E27FC236}">
                <a16:creationId xmlns:a16="http://schemas.microsoft.com/office/drawing/2014/main" id="{7CC0DE0C-2DCD-442A-849D-51B4E741B9AD}"/>
              </a:ext>
            </a:extLst>
          </p:cNvPr>
          <p:cNvSpPr>
            <a:spLocks noGrp="1"/>
          </p:cNvSpPr>
          <p:nvPr/>
        </p:nvSpPr>
        <p:spPr>
          <a:xfrm>
            <a:off x="6271104" y="2612044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cxnSp>
        <p:nvCxnSpPr>
          <p:cNvPr id="293" name="Google Shape;204;p7"/>
          <p:cNvCxnSpPr/>
          <p:nvPr/>
        </p:nvCxnSpPr>
        <p:spPr>
          <a:xfrm>
            <a:off x="6688704" y="2820844"/>
            <a:ext cx="5362185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05" name="Google Shape;205;p7">
            <a:extLst>
              <a:ext uri="{FF2B5EF4-FFF2-40B4-BE49-F238E27FC236}">
                <a16:creationId xmlns:a16="http://schemas.microsoft.com/office/drawing/2014/main" id="{BF7D9682-E503-4608-ABC9-CED66E4DD20B}"/>
              </a:ext>
            </a:extLst>
          </p:cNvPr>
          <p:cNvSpPr>
            <a:spLocks noGrp="1"/>
          </p:cNvSpPr>
          <p:nvPr/>
        </p:nvSpPr>
        <p:spPr>
          <a:xfrm>
            <a:off x="466223" y="3031200"/>
            <a:ext cx="550699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서로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다른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전압이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인가되면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넓어지는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depletion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영역으로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인해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leakage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path가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발생할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가능성이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더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커지므로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더 큰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간격이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필요하다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276" name="Slide 5 copied left comparison heading">
            <a:extLst>
              <a:ext uri="{FF2B5EF4-FFF2-40B4-BE49-F238E27FC236}">
                <a16:creationId xmlns:a16="http://schemas.microsoft.com/office/drawing/2014/main" id="{7522F6D1-0B64-49A6-9C0D-B5324A0CF7A9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277" name="Slide 5 copied right comparison heading">
            <a:extLst>
              <a:ext uri="{FF2B5EF4-FFF2-40B4-BE49-F238E27FC236}">
                <a16:creationId xmlns:a16="http://schemas.microsoft.com/office/drawing/2014/main" id="{7AE57B36-F5A8-4F9F-8145-CCE07E5E0E0C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Google Shape;193;p7">
            <a:extLst>
              <a:ext uri="{FF2B5EF4-FFF2-40B4-BE49-F238E27FC236}">
                <a16:creationId xmlns:a16="http://schemas.microsoft.com/office/drawing/2014/main" id="{68A1F5BA-975E-523A-9CA8-DD7229A5527F}"/>
              </a:ext>
            </a:extLst>
          </p:cNvPr>
          <p:cNvCxnSpPr>
            <a:cxnSpLocks/>
          </p:cNvCxnSpPr>
          <p:nvPr/>
        </p:nvCxnSpPr>
        <p:spPr>
          <a:xfrm flipH="1">
            <a:off x="2297875" y="4706562"/>
            <a:ext cx="1989117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" name="Google Shape;194;p7">
            <a:extLst>
              <a:ext uri="{FF2B5EF4-FFF2-40B4-BE49-F238E27FC236}">
                <a16:creationId xmlns:a16="http://schemas.microsoft.com/office/drawing/2014/main" id="{02C1BD6E-1689-35D1-DA62-EDD9D0EDF65D}"/>
              </a:ext>
            </a:extLst>
          </p:cNvPr>
          <p:cNvSpPr>
            <a:spLocks noGrp="1"/>
          </p:cNvSpPr>
          <p:nvPr/>
        </p:nvSpPr>
        <p:spPr>
          <a:xfrm>
            <a:off x="2921661" y="4326466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1.2um</a:t>
            </a:r>
          </a:p>
        </p:txBody>
      </p:sp>
    </p:spTree>
    <p:extLst>
      <p:ext uri="{BB962C8B-B14F-4D97-AF65-F5344CB8AC3E}">
        <p14:creationId xmlns:p14="http://schemas.microsoft.com/office/powerpoint/2010/main" val="662594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210;p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946" y="4108641"/>
            <a:ext cx="4658614" cy="2051457"/>
          </a:xfrm>
          <a:prstGeom prst="rect">
            <a:avLst/>
          </a:prstGeom>
          <a:ln>
            <a:noFill/>
          </a:ln>
        </p:spPr>
      </p:pic>
      <p:sp>
        <p:nvSpPr>
          <p:cNvPr id="211" name="Google Shape;211;p8">
            <a:extLst>
              <a:ext uri="{FF2B5EF4-FFF2-40B4-BE49-F238E27FC236}">
                <a16:creationId xmlns:a16="http://schemas.microsoft.com/office/drawing/2014/main" id="{9EEEEE64-3C60-419C-B4F1-E54AB3DCE93A}"/>
              </a:ext>
            </a:extLst>
          </p:cNvPr>
          <p:cNvSpPr>
            <a:spLocks noGrp="1"/>
          </p:cNvSpPr>
          <p:nvPr/>
        </p:nvSpPr>
        <p:spPr>
          <a:xfrm>
            <a:off x="7032159" y="5515035"/>
            <a:ext cx="4658376" cy="111839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5" name="Google Shape;214;p8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316" name="Google Shape;215;p8"/>
          <p:cNvGraphicFramePr/>
          <p:nvPr>
            <p:extLst>
              <p:ext uri="{D42A27DB-BD31-4B8C-83A1-F6EECF244321}">
                <p14:modId xmlns:p14="http://schemas.microsoft.com/office/powerpoint/2010/main" val="229387210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NW.SE.1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0.3um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u="none" cap="none" dirty="0"/>
                        <a:t>Minimum </a:t>
                      </a:r>
                      <a:r>
                        <a:rPr sz="1400" u="none" cap="none" dirty="0" err="1"/>
                        <a:t>Nwell</a:t>
                      </a:r>
                      <a:r>
                        <a:rPr sz="1400" u="none" cap="none" dirty="0"/>
                        <a:t> spacing to N+ Active Area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19" name="Google Shape;218;p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400" y="1558800"/>
            <a:ext cx="2326099" cy="1417160"/>
          </a:xfrm>
          <a:prstGeom prst="rect">
            <a:avLst/>
          </a:prstGeom>
          <a:ln>
            <a:noFill/>
          </a:ln>
        </p:spPr>
      </p:pic>
      <p:cxnSp>
        <p:nvCxnSpPr>
          <p:cNvPr id="320" name="Google Shape;219;p8"/>
          <p:cNvCxnSpPr/>
          <p:nvPr/>
        </p:nvCxnSpPr>
        <p:spPr>
          <a:xfrm>
            <a:off x="9263439" y="3060876"/>
            <a:ext cx="0" cy="278016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321" name="Google Shape;220;p8"/>
          <p:cNvCxnSpPr/>
          <p:nvPr/>
        </p:nvCxnSpPr>
        <p:spPr>
          <a:xfrm>
            <a:off x="10091222" y="2697748"/>
            <a:ext cx="0" cy="282737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322" name="Google Shape;221;p8"/>
          <p:cNvCxnSpPr/>
          <p:nvPr/>
        </p:nvCxnSpPr>
        <p:spPr>
          <a:xfrm>
            <a:off x="9263439" y="4925110"/>
            <a:ext cx="827781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22" name="Google Shape;222;p8">
            <a:extLst>
              <a:ext uri="{FF2B5EF4-FFF2-40B4-BE49-F238E27FC236}">
                <a16:creationId xmlns:a16="http://schemas.microsoft.com/office/drawing/2014/main" id="{D90F580A-4A18-46E8-86AD-2D27B39644A0}"/>
              </a:ext>
            </a:extLst>
          </p:cNvPr>
          <p:cNvSpPr>
            <a:spLocks noGrp="1"/>
          </p:cNvSpPr>
          <p:nvPr/>
        </p:nvSpPr>
        <p:spPr>
          <a:xfrm>
            <a:off x="9263439" y="4501606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0.3um</a:t>
            </a:r>
          </a:p>
        </p:txBody>
      </p:sp>
      <p:sp>
        <p:nvSpPr>
          <p:cNvPr id="223" name="Google Shape;223;p8">
            <a:extLst>
              <a:ext uri="{FF2B5EF4-FFF2-40B4-BE49-F238E27FC236}">
                <a16:creationId xmlns:a16="http://schemas.microsoft.com/office/drawing/2014/main" id="{25663031-09C2-476E-86E5-D2EAF8635A36}"/>
              </a:ext>
            </a:extLst>
          </p:cNvPr>
          <p:cNvSpPr>
            <a:spLocks noGrp="1"/>
          </p:cNvSpPr>
          <p:nvPr/>
        </p:nvSpPr>
        <p:spPr>
          <a:xfrm>
            <a:off x="7031921" y="5842493"/>
            <a:ext cx="2180482" cy="330868"/>
          </a:xfrm>
          <a:prstGeom prst="rect">
            <a:avLst/>
          </a:prstGeom>
          <a:solidFill>
            <a:srgbClr val="CDACE6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Nwell</a:t>
            </a:r>
          </a:p>
        </p:txBody>
      </p:sp>
      <p:sp>
        <p:nvSpPr>
          <p:cNvPr id="224" name="Google Shape;224;p8">
            <a:extLst>
              <a:ext uri="{FF2B5EF4-FFF2-40B4-BE49-F238E27FC236}">
                <a16:creationId xmlns:a16="http://schemas.microsoft.com/office/drawing/2014/main" id="{DD597888-B928-4497-915E-84B5BA7C2199}"/>
              </a:ext>
            </a:extLst>
          </p:cNvPr>
          <p:cNvSpPr>
            <a:spLocks noGrp="1"/>
          </p:cNvSpPr>
          <p:nvPr/>
        </p:nvSpPr>
        <p:spPr>
          <a:xfrm>
            <a:off x="7035417" y="5517635"/>
            <a:ext cx="3058446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225" name="Google Shape;225;p8">
            <a:extLst>
              <a:ext uri="{FF2B5EF4-FFF2-40B4-BE49-F238E27FC236}">
                <a16:creationId xmlns:a16="http://schemas.microsoft.com/office/drawing/2014/main" id="{EE6B49DD-5CEE-4C49-97C4-681AA0C0C07B}"/>
              </a:ext>
            </a:extLst>
          </p:cNvPr>
          <p:cNvSpPr>
            <a:spLocks noGrp="1"/>
          </p:cNvSpPr>
          <p:nvPr/>
        </p:nvSpPr>
        <p:spPr>
          <a:xfrm>
            <a:off x="10090605" y="5510022"/>
            <a:ext cx="837521" cy="20257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226" name="Google Shape;226;p8">
            <a:extLst>
              <a:ext uri="{FF2B5EF4-FFF2-40B4-BE49-F238E27FC236}">
                <a16:creationId xmlns:a16="http://schemas.microsoft.com/office/drawing/2014/main" id="{1C75E591-C71D-458B-B018-84A6142F915A}"/>
              </a:ext>
            </a:extLst>
          </p:cNvPr>
          <p:cNvSpPr>
            <a:spLocks noGrp="1"/>
          </p:cNvSpPr>
          <p:nvPr/>
        </p:nvSpPr>
        <p:spPr>
          <a:xfrm>
            <a:off x="10912991" y="5513050"/>
            <a:ext cx="778923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227" name="Google Shape;227;p8">
            <a:extLst>
              <a:ext uri="{FF2B5EF4-FFF2-40B4-BE49-F238E27FC236}">
                <a16:creationId xmlns:a16="http://schemas.microsoft.com/office/drawing/2014/main" id="{26EC110A-223E-4987-90E9-127CEDECC4D3}"/>
              </a:ext>
            </a:extLst>
          </p:cNvPr>
          <p:cNvSpPr>
            <a:spLocks noGrp="1"/>
          </p:cNvSpPr>
          <p:nvPr/>
        </p:nvSpPr>
        <p:spPr>
          <a:xfrm>
            <a:off x="10089226" y="5441509"/>
            <a:ext cx="822381" cy="66247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pic>
        <p:nvPicPr>
          <p:cNvPr id="329" name="Google Shape;228;p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3281" y="1828830"/>
            <a:ext cx="4658614" cy="2051457"/>
          </a:xfrm>
          <a:prstGeom prst="rect">
            <a:avLst/>
          </a:prstGeom>
          <a:ln>
            <a:noFill/>
          </a:ln>
        </p:spPr>
      </p:pic>
      <p:sp>
        <p:nvSpPr>
          <p:cNvPr id="229" name="Google Shape;229;p8">
            <a:extLst>
              <a:ext uri="{FF2B5EF4-FFF2-40B4-BE49-F238E27FC236}">
                <a16:creationId xmlns:a16="http://schemas.microsoft.com/office/drawing/2014/main" id="{918A06A0-C45D-428A-8EDA-6AB979836814}"/>
              </a:ext>
            </a:extLst>
          </p:cNvPr>
          <p:cNvSpPr>
            <a:spLocks noGrp="1"/>
          </p:cNvSpPr>
          <p:nvPr/>
        </p:nvSpPr>
        <p:spPr>
          <a:xfrm>
            <a:off x="6237239" y="284346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cxnSp>
        <p:nvCxnSpPr>
          <p:cNvPr id="331" name="Google Shape;230;p8"/>
          <p:cNvCxnSpPr/>
          <p:nvPr/>
        </p:nvCxnSpPr>
        <p:spPr>
          <a:xfrm>
            <a:off x="6654839" y="3052267"/>
            <a:ext cx="5362185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31" name="Google Shape;231;p8">
            <a:extLst>
              <a:ext uri="{FF2B5EF4-FFF2-40B4-BE49-F238E27FC236}">
                <a16:creationId xmlns:a16="http://schemas.microsoft.com/office/drawing/2014/main" id="{52CF1E81-CBE7-44F2-936E-C27A2B886E03}"/>
              </a:ext>
            </a:extLst>
          </p:cNvPr>
          <p:cNvSpPr>
            <a:spLocks noGrp="1"/>
          </p:cNvSpPr>
          <p:nvPr/>
        </p:nvSpPr>
        <p:spPr>
          <a:xfrm>
            <a:off x="466223" y="3031200"/>
            <a:ext cx="550699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두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영역이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너무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가까우면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latch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up으로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인한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leakage path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현상이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발생할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있다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11" name="Slide 5 copied left comparison heading">
            <a:extLst>
              <a:ext uri="{FF2B5EF4-FFF2-40B4-BE49-F238E27FC236}">
                <a16:creationId xmlns:a16="http://schemas.microsoft.com/office/drawing/2014/main" id="{7F7FDB3A-260A-4E27-81D8-7E4E14A60406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312" name="Slide 5 copied right comparison heading">
            <a:extLst>
              <a:ext uri="{FF2B5EF4-FFF2-40B4-BE49-F238E27FC236}">
                <a16:creationId xmlns:a16="http://schemas.microsoft.com/office/drawing/2014/main" id="{031C6C0C-5907-4C1D-8A8E-D2E633A29B53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Google Shape;216;p8">
            <a:extLst>
              <a:ext uri="{FF2B5EF4-FFF2-40B4-BE49-F238E27FC236}">
                <a16:creationId xmlns:a16="http://schemas.microsoft.com/office/drawing/2014/main" id="{20576872-C4AA-AA4B-B6E2-2C407E462771}"/>
              </a:ext>
            </a:extLst>
          </p:cNvPr>
          <p:cNvCxnSpPr/>
          <p:nvPr/>
        </p:nvCxnSpPr>
        <p:spPr>
          <a:xfrm rot="10800000">
            <a:off x="2910215" y="5141526"/>
            <a:ext cx="783327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" name="Google Shape;217;p8">
            <a:extLst>
              <a:ext uri="{FF2B5EF4-FFF2-40B4-BE49-F238E27FC236}">
                <a16:creationId xmlns:a16="http://schemas.microsoft.com/office/drawing/2014/main" id="{8043DC95-DF79-EDA2-94FA-ABEC1F408624}"/>
              </a:ext>
            </a:extLst>
          </p:cNvPr>
          <p:cNvSpPr>
            <a:spLocks noGrp="1"/>
          </p:cNvSpPr>
          <p:nvPr/>
        </p:nvSpPr>
        <p:spPr>
          <a:xfrm>
            <a:off x="2910213" y="4751477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0.3um</a:t>
            </a:r>
          </a:p>
        </p:txBody>
      </p:sp>
    </p:spTree>
    <p:extLst>
      <p:ext uri="{BB962C8B-B14F-4D97-AF65-F5344CB8AC3E}">
        <p14:creationId xmlns:p14="http://schemas.microsoft.com/office/powerpoint/2010/main" val="1470023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236;p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2791" y="4224418"/>
            <a:ext cx="5507724" cy="2194484"/>
          </a:xfrm>
          <a:prstGeom prst="rect">
            <a:avLst/>
          </a:prstGeom>
          <a:ln>
            <a:noFill/>
          </a:ln>
        </p:spPr>
      </p:pic>
      <p:sp>
        <p:nvSpPr>
          <p:cNvPr id="237" name="Google Shape;237;p9">
            <a:extLst>
              <a:ext uri="{FF2B5EF4-FFF2-40B4-BE49-F238E27FC236}">
                <a16:creationId xmlns:a16="http://schemas.microsoft.com/office/drawing/2014/main" id="{0152AEAA-A34F-42D0-A8D7-2A0B9778CCFA}"/>
              </a:ext>
            </a:extLst>
          </p:cNvPr>
          <p:cNvSpPr>
            <a:spLocks noGrp="1"/>
          </p:cNvSpPr>
          <p:nvPr/>
        </p:nvSpPr>
        <p:spPr>
          <a:xfrm>
            <a:off x="6726424" y="5449020"/>
            <a:ext cx="5231539" cy="111839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41" name="Google Shape;240;p9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342" name="Google Shape;241;p9"/>
          <p:cNvGraphicFramePr/>
          <p:nvPr>
            <p:extLst>
              <p:ext uri="{D42A27DB-BD31-4B8C-83A1-F6EECF244321}">
                <p14:modId xmlns:p14="http://schemas.microsoft.com/office/powerpoint/2010/main" val="149960861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NW.SE.2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0.3um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u="none" cap="none" dirty="0"/>
                        <a:t>Minimum </a:t>
                      </a:r>
                      <a:r>
                        <a:rPr sz="1400" u="none" cap="none" dirty="0" err="1"/>
                        <a:t>Nwell</a:t>
                      </a:r>
                      <a:r>
                        <a:rPr sz="1400" u="none" cap="none" dirty="0"/>
                        <a:t> spacing to P+ Active Area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45" name="Google Shape;244;p9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400" y="1558800"/>
            <a:ext cx="2462517" cy="1408485"/>
          </a:xfrm>
          <a:prstGeom prst="rect">
            <a:avLst/>
          </a:prstGeom>
          <a:ln>
            <a:noFill/>
          </a:ln>
        </p:spPr>
      </p:pic>
      <p:cxnSp>
        <p:nvCxnSpPr>
          <p:cNvPr id="346" name="Google Shape;245;p9"/>
          <p:cNvCxnSpPr/>
          <p:nvPr/>
        </p:nvCxnSpPr>
        <p:spPr>
          <a:xfrm>
            <a:off x="9528110" y="2994861"/>
            <a:ext cx="0" cy="278016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347" name="Google Shape;246;p9"/>
          <p:cNvCxnSpPr/>
          <p:nvPr/>
        </p:nvCxnSpPr>
        <p:spPr>
          <a:xfrm>
            <a:off x="10179821" y="2631733"/>
            <a:ext cx="0" cy="282737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348" name="Google Shape;247;p9"/>
          <p:cNvCxnSpPr/>
          <p:nvPr/>
        </p:nvCxnSpPr>
        <p:spPr>
          <a:xfrm>
            <a:off x="9528110" y="4859095"/>
            <a:ext cx="651711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48" name="Google Shape;248;p9">
            <a:extLst>
              <a:ext uri="{FF2B5EF4-FFF2-40B4-BE49-F238E27FC236}">
                <a16:creationId xmlns:a16="http://schemas.microsoft.com/office/drawing/2014/main" id="{AC888D11-96AE-435D-AA0F-EE05B50A58AA}"/>
              </a:ext>
            </a:extLst>
          </p:cNvPr>
          <p:cNvSpPr>
            <a:spLocks noGrp="1"/>
          </p:cNvSpPr>
          <p:nvPr/>
        </p:nvSpPr>
        <p:spPr>
          <a:xfrm>
            <a:off x="9455078" y="4435591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0.3um</a:t>
            </a:r>
          </a:p>
        </p:txBody>
      </p:sp>
      <p:sp>
        <p:nvSpPr>
          <p:cNvPr id="249" name="Google Shape;249;p9">
            <a:extLst>
              <a:ext uri="{FF2B5EF4-FFF2-40B4-BE49-F238E27FC236}">
                <a16:creationId xmlns:a16="http://schemas.microsoft.com/office/drawing/2014/main" id="{3B8077B9-1E4E-494C-97B4-BB26DBA568E6}"/>
              </a:ext>
            </a:extLst>
          </p:cNvPr>
          <p:cNvSpPr>
            <a:spLocks noGrp="1"/>
          </p:cNvSpPr>
          <p:nvPr/>
        </p:nvSpPr>
        <p:spPr>
          <a:xfrm>
            <a:off x="6953023" y="5776253"/>
            <a:ext cx="2575085" cy="330868"/>
          </a:xfrm>
          <a:prstGeom prst="rect">
            <a:avLst/>
          </a:prstGeom>
          <a:solidFill>
            <a:srgbClr val="CDACE6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Nwell</a:t>
            </a:r>
          </a:p>
        </p:txBody>
      </p:sp>
      <p:sp>
        <p:nvSpPr>
          <p:cNvPr id="250" name="Google Shape;250;p9">
            <a:extLst>
              <a:ext uri="{FF2B5EF4-FFF2-40B4-BE49-F238E27FC236}">
                <a16:creationId xmlns:a16="http://schemas.microsoft.com/office/drawing/2014/main" id="{B0C098A8-6B17-4763-9B37-CDF638D8F89C}"/>
              </a:ext>
            </a:extLst>
          </p:cNvPr>
          <p:cNvSpPr>
            <a:spLocks noGrp="1"/>
          </p:cNvSpPr>
          <p:nvPr/>
        </p:nvSpPr>
        <p:spPr>
          <a:xfrm>
            <a:off x="6726421" y="5451212"/>
            <a:ext cx="3465328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251" name="Google Shape;251;p9">
            <a:extLst>
              <a:ext uri="{FF2B5EF4-FFF2-40B4-BE49-F238E27FC236}">
                <a16:creationId xmlns:a16="http://schemas.microsoft.com/office/drawing/2014/main" id="{12352E40-9EFA-4F88-8006-254A97EC3C03}"/>
              </a:ext>
            </a:extLst>
          </p:cNvPr>
          <p:cNvSpPr>
            <a:spLocks noGrp="1"/>
          </p:cNvSpPr>
          <p:nvPr/>
        </p:nvSpPr>
        <p:spPr>
          <a:xfrm>
            <a:off x="11184762" y="5452618"/>
            <a:ext cx="773202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252" name="Google Shape;252;p9">
            <a:extLst>
              <a:ext uri="{FF2B5EF4-FFF2-40B4-BE49-F238E27FC236}">
                <a16:creationId xmlns:a16="http://schemas.microsoft.com/office/drawing/2014/main" id="{D6C0F425-AD9A-488A-A8A1-6DDBA4F8F513}"/>
              </a:ext>
            </a:extLst>
          </p:cNvPr>
          <p:cNvSpPr>
            <a:spLocks noGrp="1"/>
          </p:cNvSpPr>
          <p:nvPr/>
        </p:nvSpPr>
        <p:spPr>
          <a:xfrm>
            <a:off x="10181316" y="5368948"/>
            <a:ext cx="1001329" cy="66247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253" name="Google Shape;253;p9">
            <a:extLst>
              <a:ext uri="{FF2B5EF4-FFF2-40B4-BE49-F238E27FC236}">
                <a16:creationId xmlns:a16="http://schemas.microsoft.com/office/drawing/2014/main" id="{8E485AE4-CD84-412E-AFE3-3751F54442A5}"/>
              </a:ext>
            </a:extLst>
          </p:cNvPr>
          <p:cNvSpPr>
            <a:spLocks noGrp="1"/>
          </p:cNvSpPr>
          <p:nvPr/>
        </p:nvSpPr>
        <p:spPr>
          <a:xfrm>
            <a:off x="10179820" y="5439171"/>
            <a:ext cx="1007057" cy="13304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P+</a:t>
            </a:r>
          </a:p>
        </p:txBody>
      </p:sp>
      <p:pic>
        <p:nvPicPr>
          <p:cNvPr id="355" name="Google Shape;254;p9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33977" y="1993863"/>
            <a:ext cx="5223986" cy="1760290"/>
          </a:xfrm>
          <a:prstGeom prst="rect">
            <a:avLst/>
          </a:prstGeom>
          <a:ln>
            <a:noFill/>
          </a:ln>
        </p:spPr>
      </p:pic>
      <p:sp>
        <p:nvSpPr>
          <p:cNvPr id="255" name="Google Shape;255;p9">
            <a:extLst>
              <a:ext uri="{FF2B5EF4-FFF2-40B4-BE49-F238E27FC236}">
                <a16:creationId xmlns:a16="http://schemas.microsoft.com/office/drawing/2014/main" id="{1C9C922B-B309-47B6-B5C9-326779E75C60}"/>
              </a:ext>
            </a:extLst>
          </p:cNvPr>
          <p:cNvSpPr>
            <a:spLocks noGrp="1"/>
          </p:cNvSpPr>
          <p:nvPr/>
        </p:nvSpPr>
        <p:spPr>
          <a:xfrm>
            <a:off x="6271104" y="2922485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cxnSp>
        <p:nvCxnSpPr>
          <p:cNvPr id="357" name="Google Shape;256;p9"/>
          <p:cNvCxnSpPr/>
          <p:nvPr/>
        </p:nvCxnSpPr>
        <p:spPr>
          <a:xfrm>
            <a:off x="6688704" y="3131285"/>
            <a:ext cx="5362185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57" name="Google Shape;257;p9">
            <a:extLst>
              <a:ext uri="{FF2B5EF4-FFF2-40B4-BE49-F238E27FC236}">
                <a16:creationId xmlns:a16="http://schemas.microsoft.com/office/drawing/2014/main" id="{7E66724E-1EA3-4ED3-BBA7-128A81227DDB}"/>
              </a:ext>
            </a:extLst>
          </p:cNvPr>
          <p:cNvSpPr>
            <a:spLocks noGrp="1"/>
          </p:cNvSpPr>
          <p:nvPr/>
        </p:nvSpPr>
        <p:spPr>
          <a:xfrm>
            <a:off x="466223" y="3031200"/>
            <a:ext cx="550699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두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영역이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너무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가까우면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latch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up으로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인한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leakage path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현상이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발생할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있다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37" name="Slide 5 copied left comparison heading">
            <a:extLst>
              <a:ext uri="{FF2B5EF4-FFF2-40B4-BE49-F238E27FC236}">
                <a16:creationId xmlns:a16="http://schemas.microsoft.com/office/drawing/2014/main" id="{C8D65B00-C3A3-45CA-9A8F-EE710231F779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338" name="Slide 5 copied right comparison heading">
            <a:extLst>
              <a:ext uri="{FF2B5EF4-FFF2-40B4-BE49-F238E27FC236}">
                <a16:creationId xmlns:a16="http://schemas.microsoft.com/office/drawing/2014/main" id="{C53D9D69-C55C-4472-A41F-B42224AEC802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Google Shape;242;p9">
            <a:extLst>
              <a:ext uri="{FF2B5EF4-FFF2-40B4-BE49-F238E27FC236}">
                <a16:creationId xmlns:a16="http://schemas.microsoft.com/office/drawing/2014/main" id="{805DE5A2-32B7-47DF-2F08-987769F4E52A}"/>
              </a:ext>
            </a:extLst>
          </p:cNvPr>
          <p:cNvCxnSpPr/>
          <p:nvPr/>
        </p:nvCxnSpPr>
        <p:spPr>
          <a:xfrm rot="10800000">
            <a:off x="3306591" y="5321660"/>
            <a:ext cx="848165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" name="Google Shape;243;p9">
            <a:extLst>
              <a:ext uri="{FF2B5EF4-FFF2-40B4-BE49-F238E27FC236}">
                <a16:creationId xmlns:a16="http://schemas.microsoft.com/office/drawing/2014/main" id="{4D8C0F36-1955-E85C-92DC-F9027532DCE8}"/>
              </a:ext>
            </a:extLst>
          </p:cNvPr>
          <p:cNvSpPr>
            <a:spLocks noGrp="1"/>
          </p:cNvSpPr>
          <p:nvPr/>
        </p:nvSpPr>
        <p:spPr>
          <a:xfrm>
            <a:off x="3340457" y="4933725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0.3um</a:t>
            </a:r>
          </a:p>
        </p:txBody>
      </p:sp>
    </p:spTree>
    <p:extLst>
      <p:ext uri="{BB962C8B-B14F-4D97-AF65-F5344CB8AC3E}">
        <p14:creationId xmlns:p14="http://schemas.microsoft.com/office/powerpoint/2010/main" val="1850387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262;p1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341" y="4162818"/>
            <a:ext cx="4373124" cy="2033156"/>
          </a:xfrm>
          <a:prstGeom prst="rect">
            <a:avLst/>
          </a:prstGeom>
          <a:ln>
            <a:noFill/>
          </a:ln>
        </p:spPr>
      </p:pic>
      <p:sp>
        <p:nvSpPr>
          <p:cNvPr id="263" name="Google Shape;263;p10">
            <a:extLst>
              <a:ext uri="{FF2B5EF4-FFF2-40B4-BE49-F238E27FC236}">
                <a16:creationId xmlns:a16="http://schemas.microsoft.com/office/drawing/2014/main" id="{661550A8-CDAA-4510-BD29-3DC24F01BD3F}"/>
              </a:ext>
            </a:extLst>
          </p:cNvPr>
          <p:cNvSpPr>
            <a:spLocks noGrp="1"/>
          </p:cNvSpPr>
          <p:nvPr/>
        </p:nvSpPr>
        <p:spPr>
          <a:xfrm>
            <a:off x="6788256" y="5535354"/>
            <a:ext cx="4890538" cy="111839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67" name="Google Shape;266;p10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368" name="Google Shape;267;p10"/>
          <p:cNvGraphicFramePr/>
          <p:nvPr>
            <p:extLst>
              <p:ext uri="{D42A27DB-BD31-4B8C-83A1-F6EECF244321}">
                <p14:modId xmlns:p14="http://schemas.microsoft.com/office/powerpoint/2010/main" val="289557070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NW.SE.3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0.5um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u="none" cap="none" dirty="0"/>
                        <a:t>Minimum </a:t>
                      </a:r>
                      <a:r>
                        <a:rPr sz="1400" u="none" cap="none" dirty="0" err="1"/>
                        <a:t>Nwell</a:t>
                      </a:r>
                      <a:r>
                        <a:rPr sz="1400" u="none" cap="none" dirty="0"/>
                        <a:t> spacing to N+ 2.5V Active Area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69" name="Google Shape;268;p10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400" y="1558800"/>
            <a:ext cx="2840909" cy="1332227"/>
          </a:xfrm>
          <a:prstGeom prst="rect">
            <a:avLst/>
          </a:prstGeom>
          <a:ln>
            <a:noFill/>
          </a:ln>
        </p:spPr>
      </p:pic>
      <p:cxnSp>
        <p:nvCxnSpPr>
          <p:cNvPr id="370" name="Google Shape;269;p10"/>
          <p:cNvCxnSpPr/>
          <p:nvPr/>
        </p:nvCxnSpPr>
        <p:spPr>
          <a:xfrm>
            <a:off x="9021750" y="3069163"/>
            <a:ext cx="0" cy="278016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371" name="Google Shape;270;p10"/>
          <p:cNvCxnSpPr/>
          <p:nvPr/>
        </p:nvCxnSpPr>
        <p:spPr>
          <a:xfrm>
            <a:off x="9980365" y="2704560"/>
            <a:ext cx="0" cy="282737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372" name="Google Shape;271;p10"/>
          <p:cNvCxnSpPr/>
          <p:nvPr/>
        </p:nvCxnSpPr>
        <p:spPr>
          <a:xfrm>
            <a:off x="9021749" y="4923872"/>
            <a:ext cx="946223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72" name="Google Shape;272;p10">
            <a:extLst>
              <a:ext uri="{FF2B5EF4-FFF2-40B4-BE49-F238E27FC236}">
                <a16:creationId xmlns:a16="http://schemas.microsoft.com/office/drawing/2014/main" id="{371B9768-223D-489A-8698-701BB185FA72}"/>
              </a:ext>
            </a:extLst>
          </p:cNvPr>
          <p:cNvSpPr>
            <a:spLocks noGrp="1"/>
          </p:cNvSpPr>
          <p:nvPr/>
        </p:nvSpPr>
        <p:spPr>
          <a:xfrm>
            <a:off x="9093260" y="4509893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0.5um</a:t>
            </a:r>
          </a:p>
        </p:txBody>
      </p:sp>
      <p:sp>
        <p:nvSpPr>
          <p:cNvPr id="275" name="Google Shape;275;p10">
            <a:extLst>
              <a:ext uri="{FF2B5EF4-FFF2-40B4-BE49-F238E27FC236}">
                <a16:creationId xmlns:a16="http://schemas.microsoft.com/office/drawing/2014/main" id="{839AD1C5-9D06-4507-BF2B-32AB83FF373F}"/>
              </a:ext>
            </a:extLst>
          </p:cNvPr>
          <p:cNvSpPr>
            <a:spLocks noGrp="1"/>
          </p:cNvSpPr>
          <p:nvPr/>
        </p:nvSpPr>
        <p:spPr>
          <a:xfrm>
            <a:off x="6858823" y="5849004"/>
            <a:ext cx="2194677" cy="330868"/>
          </a:xfrm>
          <a:prstGeom prst="rect">
            <a:avLst/>
          </a:prstGeom>
          <a:solidFill>
            <a:srgbClr val="CDACE6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Nwell</a:t>
            </a:r>
          </a:p>
        </p:txBody>
      </p:sp>
      <p:sp>
        <p:nvSpPr>
          <p:cNvPr id="276" name="Google Shape;276;p10">
            <a:extLst>
              <a:ext uri="{FF2B5EF4-FFF2-40B4-BE49-F238E27FC236}">
                <a16:creationId xmlns:a16="http://schemas.microsoft.com/office/drawing/2014/main" id="{95D66502-D8F1-4F07-BB9B-D8321FAD7B16}"/>
              </a:ext>
            </a:extLst>
          </p:cNvPr>
          <p:cNvSpPr>
            <a:spLocks noGrp="1"/>
          </p:cNvSpPr>
          <p:nvPr/>
        </p:nvSpPr>
        <p:spPr>
          <a:xfrm>
            <a:off x="10729515" y="5535068"/>
            <a:ext cx="949279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277" name="Google Shape;277;p10">
            <a:extLst>
              <a:ext uri="{FF2B5EF4-FFF2-40B4-BE49-F238E27FC236}">
                <a16:creationId xmlns:a16="http://schemas.microsoft.com/office/drawing/2014/main" id="{BB47F8E3-607B-446B-B0AE-76B297DE7902}"/>
              </a:ext>
            </a:extLst>
          </p:cNvPr>
          <p:cNvSpPr>
            <a:spLocks noGrp="1"/>
          </p:cNvSpPr>
          <p:nvPr/>
        </p:nvSpPr>
        <p:spPr>
          <a:xfrm>
            <a:off x="9967972" y="5545259"/>
            <a:ext cx="761549" cy="20257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278" name="Google Shape;278;p10">
            <a:extLst>
              <a:ext uri="{FF2B5EF4-FFF2-40B4-BE49-F238E27FC236}">
                <a16:creationId xmlns:a16="http://schemas.microsoft.com/office/drawing/2014/main" id="{DA125D77-C0DB-4419-A12C-2419E2CD3657}"/>
              </a:ext>
            </a:extLst>
          </p:cNvPr>
          <p:cNvSpPr>
            <a:spLocks noGrp="1"/>
          </p:cNvSpPr>
          <p:nvPr/>
        </p:nvSpPr>
        <p:spPr>
          <a:xfrm>
            <a:off x="6788256" y="5535068"/>
            <a:ext cx="3192108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279" name="Google Shape;279;p10">
            <a:extLst>
              <a:ext uri="{FF2B5EF4-FFF2-40B4-BE49-F238E27FC236}">
                <a16:creationId xmlns:a16="http://schemas.microsoft.com/office/drawing/2014/main" id="{6216525A-63FC-4021-A141-9192AD246967}"/>
              </a:ext>
            </a:extLst>
          </p:cNvPr>
          <p:cNvSpPr>
            <a:spLocks noGrp="1"/>
          </p:cNvSpPr>
          <p:nvPr/>
        </p:nvSpPr>
        <p:spPr>
          <a:xfrm>
            <a:off x="9967972" y="5314953"/>
            <a:ext cx="761543" cy="23157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Thick OXIDE</a:t>
            </a:r>
          </a:p>
        </p:txBody>
      </p:sp>
      <p:pic>
        <p:nvPicPr>
          <p:cNvPr id="381" name="Google Shape;280;p10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3661" y="1781982"/>
            <a:ext cx="4890538" cy="2058086"/>
          </a:xfrm>
          <a:prstGeom prst="rect">
            <a:avLst/>
          </a:prstGeom>
          <a:ln>
            <a:noFill/>
          </a:ln>
        </p:spPr>
      </p:pic>
      <p:sp>
        <p:nvSpPr>
          <p:cNvPr id="281" name="Google Shape;281;p10">
            <a:extLst>
              <a:ext uri="{FF2B5EF4-FFF2-40B4-BE49-F238E27FC236}">
                <a16:creationId xmlns:a16="http://schemas.microsoft.com/office/drawing/2014/main" id="{45E8BD2F-CFD6-42C0-829B-EAC13A04E260}"/>
              </a:ext>
            </a:extLst>
          </p:cNvPr>
          <p:cNvSpPr>
            <a:spLocks noGrp="1"/>
          </p:cNvSpPr>
          <p:nvPr/>
        </p:nvSpPr>
        <p:spPr>
          <a:xfrm>
            <a:off x="6237239" y="2826536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cxnSp>
        <p:nvCxnSpPr>
          <p:cNvPr id="383" name="Google Shape;282;p10"/>
          <p:cNvCxnSpPr/>
          <p:nvPr/>
        </p:nvCxnSpPr>
        <p:spPr>
          <a:xfrm>
            <a:off x="6654839" y="3035336"/>
            <a:ext cx="5362185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83" name="Google Shape;283;p10">
            <a:extLst>
              <a:ext uri="{FF2B5EF4-FFF2-40B4-BE49-F238E27FC236}">
                <a16:creationId xmlns:a16="http://schemas.microsoft.com/office/drawing/2014/main" id="{1F2D0FA2-978D-46B4-A37A-3A1B399E1FC2}"/>
              </a:ext>
            </a:extLst>
          </p:cNvPr>
          <p:cNvSpPr>
            <a:spLocks noGrp="1"/>
          </p:cNvSpPr>
          <p:nvPr/>
        </p:nvSpPr>
        <p:spPr>
          <a:xfrm>
            <a:off x="466223" y="3031200"/>
            <a:ext cx="550699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더 큰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전압이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인가되어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더 큰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간격을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확보해야</a:t>
            </a:r>
            <a:endParaRPr 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leakage path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현상이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발생하지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않는다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63" name="Slide 5 copied left comparison heading">
            <a:extLst>
              <a:ext uri="{FF2B5EF4-FFF2-40B4-BE49-F238E27FC236}">
                <a16:creationId xmlns:a16="http://schemas.microsoft.com/office/drawing/2014/main" id="{69F89E12-5B74-4DC9-A2A9-653E595E2330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364" name="Slide 5 copied right comparison heading">
            <a:extLst>
              <a:ext uri="{FF2B5EF4-FFF2-40B4-BE49-F238E27FC236}">
                <a16:creationId xmlns:a16="http://schemas.microsoft.com/office/drawing/2014/main" id="{C44E3630-7062-4015-B8B6-D84E9BD6275F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Google Shape;273;p10">
            <a:extLst>
              <a:ext uri="{FF2B5EF4-FFF2-40B4-BE49-F238E27FC236}">
                <a16:creationId xmlns:a16="http://schemas.microsoft.com/office/drawing/2014/main" id="{0F9071DE-74B4-1D27-68EC-18E3CA951E79}"/>
              </a:ext>
            </a:extLst>
          </p:cNvPr>
          <p:cNvCxnSpPr/>
          <p:nvPr/>
        </p:nvCxnSpPr>
        <p:spPr>
          <a:xfrm rot="10800000">
            <a:off x="2850154" y="5014436"/>
            <a:ext cx="994675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" name="Google Shape;274;p10">
            <a:extLst>
              <a:ext uri="{FF2B5EF4-FFF2-40B4-BE49-F238E27FC236}">
                <a16:creationId xmlns:a16="http://schemas.microsoft.com/office/drawing/2014/main" id="{2E7567B7-D94F-38C4-F008-C3D4182B5EAA}"/>
              </a:ext>
            </a:extLst>
          </p:cNvPr>
          <p:cNvSpPr>
            <a:spLocks noGrp="1"/>
          </p:cNvSpPr>
          <p:nvPr/>
        </p:nvSpPr>
        <p:spPr>
          <a:xfrm>
            <a:off x="2941733" y="4645104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0.5um</a:t>
            </a:r>
          </a:p>
        </p:txBody>
      </p:sp>
    </p:spTree>
    <p:extLst>
      <p:ext uri="{BB962C8B-B14F-4D97-AF65-F5344CB8AC3E}">
        <p14:creationId xmlns:p14="http://schemas.microsoft.com/office/powerpoint/2010/main" val="986842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288;p1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113" y="4143689"/>
            <a:ext cx="4660046" cy="2270434"/>
          </a:xfrm>
          <a:prstGeom prst="rect">
            <a:avLst/>
          </a:prstGeom>
          <a:ln>
            <a:noFill/>
          </a:ln>
        </p:spPr>
      </p:pic>
      <p:sp>
        <p:nvSpPr>
          <p:cNvPr id="289" name="Google Shape;289;p11">
            <a:extLst>
              <a:ext uri="{FF2B5EF4-FFF2-40B4-BE49-F238E27FC236}">
                <a16:creationId xmlns:a16="http://schemas.microsoft.com/office/drawing/2014/main" id="{F28F66B2-91E5-44F7-81AF-584F79850DE0}"/>
              </a:ext>
            </a:extLst>
          </p:cNvPr>
          <p:cNvSpPr>
            <a:spLocks noGrp="1"/>
          </p:cNvSpPr>
          <p:nvPr/>
        </p:nvSpPr>
        <p:spPr>
          <a:xfrm>
            <a:off x="6742723" y="5496665"/>
            <a:ext cx="4924939" cy="111839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3" name="Google Shape;292;p11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394" name="Google Shape;293;p11"/>
          <p:cNvGraphicFramePr/>
          <p:nvPr>
            <p:extLst>
              <p:ext uri="{D42A27DB-BD31-4B8C-83A1-F6EECF244321}">
                <p14:modId xmlns:p14="http://schemas.microsoft.com/office/powerpoint/2010/main" val="600299613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NW.SE.4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0.5um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u="none" cap="none" dirty="0"/>
                        <a:t>Minimum </a:t>
                      </a:r>
                      <a:r>
                        <a:rPr sz="1400" u="none" cap="none" dirty="0" err="1"/>
                        <a:t>Nwell</a:t>
                      </a:r>
                      <a:r>
                        <a:rPr sz="1400" u="none" cap="none" dirty="0"/>
                        <a:t> spacing to P+ 2.5V Active Area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95" name="Google Shape;294;p1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400" y="1558800"/>
            <a:ext cx="2660001" cy="1360931"/>
          </a:xfrm>
          <a:prstGeom prst="rect">
            <a:avLst/>
          </a:prstGeom>
          <a:ln>
            <a:noFill/>
          </a:ln>
        </p:spPr>
      </p:pic>
      <p:cxnSp>
        <p:nvCxnSpPr>
          <p:cNvPr id="396" name="Google Shape;295;p11"/>
          <p:cNvCxnSpPr/>
          <p:nvPr/>
        </p:nvCxnSpPr>
        <p:spPr>
          <a:xfrm>
            <a:off x="8993590" y="3037308"/>
            <a:ext cx="0" cy="278016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397" name="Google Shape;296;p11"/>
          <p:cNvCxnSpPr/>
          <p:nvPr/>
        </p:nvCxnSpPr>
        <p:spPr>
          <a:xfrm>
            <a:off x="10020363" y="2674658"/>
            <a:ext cx="0" cy="282737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398" name="Google Shape;297;p11"/>
          <p:cNvCxnSpPr/>
          <p:nvPr/>
        </p:nvCxnSpPr>
        <p:spPr>
          <a:xfrm>
            <a:off x="8993589" y="4892017"/>
            <a:ext cx="99036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98" name="Google Shape;298;p11">
            <a:extLst>
              <a:ext uri="{FF2B5EF4-FFF2-40B4-BE49-F238E27FC236}">
                <a16:creationId xmlns:a16="http://schemas.microsoft.com/office/drawing/2014/main" id="{E8A806BA-5FDC-4FE3-8AB0-DAF408B2DAF9}"/>
              </a:ext>
            </a:extLst>
          </p:cNvPr>
          <p:cNvSpPr>
            <a:spLocks noGrp="1"/>
          </p:cNvSpPr>
          <p:nvPr/>
        </p:nvSpPr>
        <p:spPr>
          <a:xfrm>
            <a:off x="9088840" y="4478038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0.5um</a:t>
            </a:r>
          </a:p>
        </p:txBody>
      </p:sp>
      <p:sp>
        <p:nvSpPr>
          <p:cNvPr id="299" name="Google Shape;299;p11">
            <a:extLst>
              <a:ext uri="{FF2B5EF4-FFF2-40B4-BE49-F238E27FC236}">
                <a16:creationId xmlns:a16="http://schemas.microsoft.com/office/drawing/2014/main" id="{031733E6-9E7D-49E1-AAB7-06FAA90E261B}"/>
              </a:ext>
            </a:extLst>
          </p:cNvPr>
          <p:cNvSpPr>
            <a:spLocks noGrp="1"/>
          </p:cNvSpPr>
          <p:nvPr/>
        </p:nvSpPr>
        <p:spPr>
          <a:xfrm>
            <a:off x="6823075" y="5807486"/>
            <a:ext cx="2202266" cy="330868"/>
          </a:xfrm>
          <a:prstGeom prst="rect">
            <a:avLst/>
          </a:prstGeom>
          <a:solidFill>
            <a:srgbClr val="CDACE6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Nwell</a:t>
            </a:r>
          </a:p>
        </p:txBody>
      </p:sp>
      <p:sp>
        <p:nvSpPr>
          <p:cNvPr id="300" name="Google Shape;300;p11">
            <a:extLst>
              <a:ext uri="{FF2B5EF4-FFF2-40B4-BE49-F238E27FC236}">
                <a16:creationId xmlns:a16="http://schemas.microsoft.com/office/drawing/2014/main" id="{F10BEE71-F26B-4E13-B1A2-ABC5A7D00A14}"/>
              </a:ext>
            </a:extLst>
          </p:cNvPr>
          <p:cNvSpPr>
            <a:spLocks noGrp="1"/>
          </p:cNvSpPr>
          <p:nvPr/>
        </p:nvSpPr>
        <p:spPr>
          <a:xfrm>
            <a:off x="10012192" y="5264853"/>
            <a:ext cx="670708" cy="23157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Thick OXIDE</a:t>
            </a:r>
          </a:p>
        </p:txBody>
      </p:sp>
      <p:sp>
        <p:nvSpPr>
          <p:cNvPr id="301" name="Google Shape;301;p11">
            <a:extLst>
              <a:ext uri="{FF2B5EF4-FFF2-40B4-BE49-F238E27FC236}">
                <a16:creationId xmlns:a16="http://schemas.microsoft.com/office/drawing/2014/main" id="{E55BB274-B1CB-4C6A-8ADF-BB8C38A4097A}"/>
              </a:ext>
            </a:extLst>
          </p:cNvPr>
          <p:cNvSpPr>
            <a:spLocks noGrp="1"/>
          </p:cNvSpPr>
          <p:nvPr/>
        </p:nvSpPr>
        <p:spPr>
          <a:xfrm>
            <a:off x="10021667" y="5491270"/>
            <a:ext cx="659002" cy="13304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P+</a:t>
            </a:r>
          </a:p>
        </p:txBody>
      </p:sp>
      <p:sp>
        <p:nvSpPr>
          <p:cNvPr id="302" name="Google Shape;302;p11">
            <a:extLst>
              <a:ext uri="{FF2B5EF4-FFF2-40B4-BE49-F238E27FC236}">
                <a16:creationId xmlns:a16="http://schemas.microsoft.com/office/drawing/2014/main" id="{7730B97D-97FE-45F7-AFC5-1034245D5F56}"/>
              </a:ext>
            </a:extLst>
          </p:cNvPr>
          <p:cNvSpPr>
            <a:spLocks noGrp="1"/>
          </p:cNvSpPr>
          <p:nvPr/>
        </p:nvSpPr>
        <p:spPr>
          <a:xfrm>
            <a:off x="6742716" y="5483562"/>
            <a:ext cx="3284019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303" name="Google Shape;303;p11">
            <a:extLst>
              <a:ext uri="{FF2B5EF4-FFF2-40B4-BE49-F238E27FC236}">
                <a16:creationId xmlns:a16="http://schemas.microsoft.com/office/drawing/2014/main" id="{42B6783F-B881-4758-A5BE-BCA857E9C42B}"/>
              </a:ext>
            </a:extLst>
          </p:cNvPr>
          <p:cNvSpPr>
            <a:spLocks noGrp="1"/>
          </p:cNvSpPr>
          <p:nvPr/>
        </p:nvSpPr>
        <p:spPr>
          <a:xfrm>
            <a:off x="10670159" y="5497034"/>
            <a:ext cx="1005679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pic>
        <p:nvPicPr>
          <p:cNvPr id="405" name="Google Shape;304;p11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91349" y="1850608"/>
            <a:ext cx="4884489" cy="2014095"/>
          </a:xfrm>
          <a:prstGeom prst="rect">
            <a:avLst/>
          </a:prstGeom>
          <a:ln>
            <a:noFill/>
          </a:ln>
        </p:spPr>
      </p:pic>
      <p:sp>
        <p:nvSpPr>
          <p:cNvPr id="305" name="Google Shape;305;p11">
            <a:extLst>
              <a:ext uri="{FF2B5EF4-FFF2-40B4-BE49-F238E27FC236}">
                <a16:creationId xmlns:a16="http://schemas.microsoft.com/office/drawing/2014/main" id="{50ABE26E-EA45-49B6-B47B-C9B72F55950E}"/>
              </a:ext>
            </a:extLst>
          </p:cNvPr>
          <p:cNvSpPr>
            <a:spLocks noGrp="1"/>
          </p:cNvSpPr>
          <p:nvPr/>
        </p:nvSpPr>
        <p:spPr>
          <a:xfrm>
            <a:off x="6271104" y="2860400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cxnSp>
        <p:nvCxnSpPr>
          <p:cNvPr id="407" name="Google Shape;306;p11"/>
          <p:cNvCxnSpPr/>
          <p:nvPr/>
        </p:nvCxnSpPr>
        <p:spPr>
          <a:xfrm>
            <a:off x="6688704" y="3069200"/>
            <a:ext cx="5362185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307" name="Google Shape;307;p11">
            <a:extLst>
              <a:ext uri="{FF2B5EF4-FFF2-40B4-BE49-F238E27FC236}">
                <a16:creationId xmlns:a16="http://schemas.microsoft.com/office/drawing/2014/main" id="{999A08DB-7730-4288-9935-2260B59875DA}"/>
              </a:ext>
            </a:extLst>
          </p:cNvPr>
          <p:cNvSpPr>
            <a:spLocks noGrp="1"/>
          </p:cNvSpPr>
          <p:nvPr/>
        </p:nvSpPr>
        <p:spPr>
          <a:xfrm>
            <a:off x="466223" y="3031200"/>
            <a:ext cx="550699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더 큰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전압이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인가되어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더 큰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간격을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확보해야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4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leakage path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현상이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발생하지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않는다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389" name="Slide 5 copied left comparison heading">
            <a:extLst>
              <a:ext uri="{FF2B5EF4-FFF2-40B4-BE49-F238E27FC236}">
                <a16:creationId xmlns:a16="http://schemas.microsoft.com/office/drawing/2014/main" id="{AD87C5C1-59D2-4474-B6D2-41CE1C8E478F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390" name="Slide 5 copied right comparison heading">
            <a:extLst>
              <a:ext uri="{FF2B5EF4-FFF2-40B4-BE49-F238E27FC236}">
                <a16:creationId xmlns:a16="http://schemas.microsoft.com/office/drawing/2014/main" id="{6825A964-99CB-4279-A26B-98D0F6F1B2C3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Google Shape;308;p11">
            <a:extLst>
              <a:ext uri="{FF2B5EF4-FFF2-40B4-BE49-F238E27FC236}">
                <a16:creationId xmlns:a16="http://schemas.microsoft.com/office/drawing/2014/main" id="{8C3A29FA-4C6D-7234-3AE2-2082FF22C2FE}"/>
              </a:ext>
            </a:extLst>
          </p:cNvPr>
          <p:cNvCxnSpPr/>
          <p:nvPr/>
        </p:nvCxnSpPr>
        <p:spPr>
          <a:xfrm rot="10800000">
            <a:off x="2850154" y="5116036"/>
            <a:ext cx="994675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" name="Google Shape;309;p11">
            <a:extLst>
              <a:ext uri="{FF2B5EF4-FFF2-40B4-BE49-F238E27FC236}">
                <a16:creationId xmlns:a16="http://schemas.microsoft.com/office/drawing/2014/main" id="{49C9BFBC-BF61-72AA-A5AC-A0668283546B}"/>
              </a:ext>
            </a:extLst>
          </p:cNvPr>
          <p:cNvSpPr>
            <a:spLocks noGrp="1"/>
          </p:cNvSpPr>
          <p:nvPr/>
        </p:nvSpPr>
        <p:spPr>
          <a:xfrm>
            <a:off x="2941733" y="4746704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0.5um</a:t>
            </a:r>
          </a:p>
        </p:txBody>
      </p:sp>
    </p:spTree>
    <p:extLst>
      <p:ext uri="{BB962C8B-B14F-4D97-AF65-F5344CB8AC3E}">
        <p14:creationId xmlns:p14="http://schemas.microsoft.com/office/powerpoint/2010/main" val="1670750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314;p1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620" y="4134195"/>
            <a:ext cx="5457951" cy="2043437"/>
          </a:xfrm>
          <a:prstGeom prst="rect">
            <a:avLst/>
          </a:prstGeom>
          <a:ln>
            <a:noFill/>
          </a:ln>
        </p:spPr>
      </p:pic>
      <p:sp>
        <p:nvSpPr>
          <p:cNvPr id="315" name="Google Shape;315;p12">
            <a:extLst>
              <a:ext uri="{FF2B5EF4-FFF2-40B4-BE49-F238E27FC236}">
                <a16:creationId xmlns:a16="http://schemas.microsoft.com/office/drawing/2014/main" id="{87897F04-9DF0-403B-9017-874B9C562C90}"/>
              </a:ext>
            </a:extLst>
          </p:cNvPr>
          <p:cNvSpPr>
            <a:spLocks noGrp="1"/>
          </p:cNvSpPr>
          <p:nvPr/>
        </p:nvSpPr>
        <p:spPr>
          <a:xfrm>
            <a:off x="7989018" y="5357207"/>
            <a:ext cx="2434029" cy="111839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59" name="Google Shape;318;p12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460" name="Google Shape;319;p12"/>
          <p:cNvGraphicFramePr/>
          <p:nvPr>
            <p:extLst>
              <p:ext uri="{D42A27DB-BD31-4B8C-83A1-F6EECF244321}">
                <p14:modId xmlns:p14="http://schemas.microsoft.com/office/powerpoint/2010/main" val="96251559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NW.E.1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0.12um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u="none" cap="none" dirty="0"/>
                        <a:t>Minimum </a:t>
                      </a:r>
                      <a:r>
                        <a:rPr sz="1400" u="none" cap="none" dirty="0" err="1"/>
                        <a:t>Nwell</a:t>
                      </a:r>
                      <a:r>
                        <a:rPr sz="1400" u="none" cap="none" dirty="0"/>
                        <a:t> enclosure of N+ Active Area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61" name="Google Shape;320;p1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400" y="1558800"/>
            <a:ext cx="1744998" cy="1427083"/>
          </a:xfrm>
          <a:prstGeom prst="rect">
            <a:avLst/>
          </a:prstGeom>
          <a:ln>
            <a:noFill/>
          </a:ln>
        </p:spPr>
      </p:pic>
      <p:cxnSp>
        <p:nvCxnSpPr>
          <p:cNvPr id="462" name="Google Shape;321;p12"/>
          <p:cNvCxnSpPr/>
          <p:nvPr/>
        </p:nvCxnSpPr>
        <p:spPr>
          <a:xfrm>
            <a:off x="8666158" y="3401551"/>
            <a:ext cx="0" cy="209530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463" name="Google Shape;322;p12"/>
          <p:cNvCxnSpPr/>
          <p:nvPr/>
        </p:nvCxnSpPr>
        <p:spPr>
          <a:xfrm>
            <a:off x="8872267" y="2907855"/>
            <a:ext cx="0" cy="262682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464" name="Google Shape;323;p12"/>
          <p:cNvCxnSpPr/>
          <p:nvPr/>
        </p:nvCxnSpPr>
        <p:spPr>
          <a:xfrm>
            <a:off x="9490586" y="3208585"/>
            <a:ext cx="0" cy="209530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465" name="Google Shape;324;p12"/>
          <p:cNvCxnSpPr/>
          <p:nvPr/>
        </p:nvCxnSpPr>
        <p:spPr>
          <a:xfrm>
            <a:off x="9696695" y="2714889"/>
            <a:ext cx="0" cy="262682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466" name="Google Shape;325;p12"/>
          <p:cNvCxnSpPr/>
          <p:nvPr/>
        </p:nvCxnSpPr>
        <p:spPr>
          <a:xfrm>
            <a:off x="9507487" y="4912767"/>
            <a:ext cx="20531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26" name="Google Shape;326;p12">
            <a:extLst>
              <a:ext uri="{FF2B5EF4-FFF2-40B4-BE49-F238E27FC236}">
                <a16:creationId xmlns:a16="http://schemas.microsoft.com/office/drawing/2014/main" id="{B7F775C2-460A-4D02-9349-9C5FA26D3D58}"/>
              </a:ext>
            </a:extLst>
          </p:cNvPr>
          <p:cNvSpPr>
            <a:spLocks noGrp="1"/>
          </p:cNvSpPr>
          <p:nvPr/>
        </p:nvSpPr>
        <p:spPr>
          <a:xfrm>
            <a:off x="9233495" y="4454930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  <p:cxnSp>
        <p:nvCxnSpPr>
          <p:cNvPr id="468" name="Google Shape;327;p12"/>
          <p:cNvCxnSpPr/>
          <p:nvPr/>
        </p:nvCxnSpPr>
        <p:spPr>
          <a:xfrm>
            <a:off x="8678852" y="4909323"/>
            <a:ext cx="20531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28" name="Google Shape;328;p12">
            <a:extLst>
              <a:ext uri="{FF2B5EF4-FFF2-40B4-BE49-F238E27FC236}">
                <a16:creationId xmlns:a16="http://schemas.microsoft.com/office/drawing/2014/main" id="{B70978D8-C36E-46CA-9CAC-A81E9F6B8E58}"/>
              </a:ext>
            </a:extLst>
          </p:cNvPr>
          <p:cNvSpPr>
            <a:spLocks noGrp="1"/>
          </p:cNvSpPr>
          <p:nvPr/>
        </p:nvSpPr>
        <p:spPr>
          <a:xfrm>
            <a:off x="8307494" y="4451486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  <p:sp>
        <p:nvSpPr>
          <p:cNvPr id="337" name="Google Shape;337;p12">
            <a:extLst>
              <a:ext uri="{FF2B5EF4-FFF2-40B4-BE49-F238E27FC236}">
                <a16:creationId xmlns:a16="http://schemas.microsoft.com/office/drawing/2014/main" id="{BD880193-8C8E-4A8A-8793-7FDE262FCAC9}"/>
              </a:ext>
            </a:extLst>
          </p:cNvPr>
          <p:cNvSpPr>
            <a:spLocks noGrp="1"/>
          </p:cNvSpPr>
          <p:nvPr/>
        </p:nvSpPr>
        <p:spPr>
          <a:xfrm>
            <a:off x="7989019" y="5558425"/>
            <a:ext cx="1778360" cy="330868"/>
          </a:xfrm>
          <a:prstGeom prst="rect">
            <a:avLst/>
          </a:prstGeom>
          <a:solidFill>
            <a:srgbClr val="CDACE6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Nwell</a:t>
            </a:r>
          </a:p>
        </p:txBody>
      </p:sp>
      <p:sp>
        <p:nvSpPr>
          <p:cNvPr id="338" name="Google Shape;338;p12">
            <a:extLst>
              <a:ext uri="{FF2B5EF4-FFF2-40B4-BE49-F238E27FC236}">
                <a16:creationId xmlns:a16="http://schemas.microsoft.com/office/drawing/2014/main" id="{F5E19C72-5976-4262-B8A2-CAD8B8146B89}"/>
              </a:ext>
            </a:extLst>
          </p:cNvPr>
          <p:cNvSpPr>
            <a:spLocks noGrp="1"/>
          </p:cNvSpPr>
          <p:nvPr/>
        </p:nvSpPr>
        <p:spPr>
          <a:xfrm>
            <a:off x="7987740" y="5350176"/>
            <a:ext cx="871000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339" name="Google Shape;339;p12">
            <a:extLst>
              <a:ext uri="{FF2B5EF4-FFF2-40B4-BE49-F238E27FC236}">
                <a16:creationId xmlns:a16="http://schemas.microsoft.com/office/drawing/2014/main" id="{A4C3E1C4-5500-4C2E-9BA1-B08A994794A7}"/>
              </a:ext>
            </a:extLst>
          </p:cNvPr>
          <p:cNvSpPr>
            <a:spLocks noGrp="1"/>
          </p:cNvSpPr>
          <p:nvPr/>
        </p:nvSpPr>
        <p:spPr>
          <a:xfrm>
            <a:off x="9503790" y="5350858"/>
            <a:ext cx="919247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340" name="Google Shape;340;p12">
            <a:extLst>
              <a:ext uri="{FF2B5EF4-FFF2-40B4-BE49-F238E27FC236}">
                <a16:creationId xmlns:a16="http://schemas.microsoft.com/office/drawing/2014/main" id="{8C8226AC-8602-4603-9C9D-EE8BCFBC17E4}"/>
              </a:ext>
            </a:extLst>
          </p:cNvPr>
          <p:cNvSpPr>
            <a:spLocks noGrp="1"/>
          </p:cNvSpPr>
          <p:nvPr/>
        </p:nvSpPr>
        <p:spPr>
          <a:xfrm>
            <a:off x="8862547" y="5351836"/>
            <a:ext cx="641568" cy="20257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341" name="Google Shape;341;p12">
            <a:extLst>
              <a:ext uri="{FF2B5EF4-FFF2-40B4-BE49-F238E27FC236}">
                <a16:creationId xmlns:a16="http://schemas.microsoft.com/office/drawing/2014/main" id="{0F2FF70C-F05F-49CD-811F-3E1A6C77EC57}"/>
              </a:ext>
            </a:extLst>
          </p:cNvPr>
          <p:cNvSpPr>
            <a:spLocks noGrp="1"/>
          </p:cNvSpPr>
          <p:nvPr/>
        </p:nvSpPr>
        <p:spPr>
          <a:xfrm>
            <a:off x="8861167" y="5283323"/>
            <a:ext cx="642624" cy="66247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pic>
        <p:nvPicPr>
          <p:cNvPr id="483" name="Google Shape;342;p12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44410" y="1845211"/>
            <a:ext cx="2578642" cy="1803872"/>
          </a:xfrm>
          <a:prstGeom prst="rect">
            <a:avLst/>
          </a:prstGeom>
          <a:ln>
            <a:noFill/>
          </a:ln>
        </p:spPr>
      </p:pic>
      <p:sp>
        <p:nvSpPr>
          <p:cNvPr id="343" name="Google Shape;343;p12">
            <a:extLst>
              <a:ext uri="{FF2B5EF4-FFF2-40B4-BE49-F238E27FC236}">
                <a16:creationId xmlns:a16="http://schemas.microsoft.com/office/drawing/2014/main" id="{684569DB-9EDD-44A5-A402-2B811016A9E5}"/>
              </a:ext>
            </a:extLst>
          </p:cNvPr>
          <p:cNvSpPr>
            <a:spLocks noGrp="1"/>
          </p:cNvSpPr>
          <p:nvPr/>
        </p:nvSpPr>
        <p:spPr>
          <a:xfrm>
            <a:off x="6271104" y="2691072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cxnSp>
        <p:nvCxnSpPr>
          <p:cNvPr id="485" name="Google Shape;344;p12"/>
          <p:cNvCxnSpPr/>
          <p:nvPr/>
        </p:nvCxnSpPr>
        <p:spPr>
          <a:xfrm>
            <a:off x="6688704" y="2899872"/>
            <a:ext cx="5362185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345" name="Google Shape;345;p12">
            <a:extLst>
              <a:ext uri="{FF2B5EF4-FFF2-40B4-BE49-F238E27FC236}">
                <a16:creationId xmlns:a16="http://schemas.microsoft.com/office/drawing/2014/main" id="{175F3DFD-0B43-466F-976D-E988A9F19B4D}"/>
              </a:ext>
            </a:extLst>
          </p:cNvPr>
          <p:cNvSpPr>
            <a:spLocks noGrp="1"/>
          </p:cNvSpPr>
          <p:nvPr/>
        </p:nvSpPr>
        <p:spPr>
          <a:xfrm>
            <a:off x="466223" y="3031200"/>
            <a:ext cx="550699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enclosure가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부족하면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오차로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인해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active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area가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Nwell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밖으로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벗어날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있어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안정된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active를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형성하기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위해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필요하다</a:t>
            </a:r>
            <a:r>
              <a:rPr sz="14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455" name="Slide 5 copied left comparison heading">
            <a:extLst>
              <a:ext uri="{FF2B5EF4-FFF2-40B4-BE49-F238E27FC236}">
                <a16:creationId xmlns:a16="http://schemas.microsoft.com/office/drawing/2014/main" id="{06A8DA7A-596F-44C3-BDFE-09CF1D45B667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456" name="Slide 5 copied right comparison heading">
            <a:extLst>
              <a:ext uri="{FF2B5EF4-FFF2-40B4-BE49-F238E27FC236}">
                <a16:creationId xmlns:a16="http://schemas.microsoft.com/office/drawing/2014/main" id="{DA5A647F-AD35-4F40-85BF-5546DF01EE24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Google Shape;329;p12">
            <a:extLst>
              <a:ext uri="{FF2B5EF4-FFF2-40B4-BE49-F238E27FC236}">
                <a16:creationId xmlns:a16="http://schemas.microsoft.com/office/drawing/2014/main" id="{8D20AD1C-E8E8-BF9E-7074-7E82A9600662}"/>
              </a:ext>
            </a:extLst>
          </p:cNvPr>
          <p:cNvCxnSpPr/>
          <p:nvPr/>
        </p:nvCxnSpPr>
        <p:spPr>
          <a:xfrm rot="10800000">
            <a:off x="5188465" y="5280606"/>
            <a:ext cx="293634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" name="Google Shape;330;p12">
            <a:extLst>
              <a:ext uri="{FF2B5EF4-FFF2-40B4-BE49-F238E27FC236}">
                <a16:creationId xmlns:a16="http://schemas.microsoft.com/office/drawing/2014/main" id="{FA1E4415-F990-01EF-EECA-38CA2DA9D354}"/>
              </a:ext>
            </a:extLst>
          </p:cNvPr>
          <p:cNvSpPr>
            <a:spLocks noGrp="1"/>
          </p:cNvSpPr>
          <p:nvPr/>
        </p:nvSpPr>
        <p:spPr>
          <a:xfrm>
            <a:off x="5116122" y="4855295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  <p:cxnSp>
        <p:nvCxnSpPr>
          <p:cNvPr id="4" name="Google Shape;331;p12">
            <a:extLst>
              <a:ext uri="{FF2B5EF4-FFF2-40B4-BE49-F238E27FC236}">
                <a16:creationId xmlns:a16="http://schemas.microsoft.com/office/drawing/2014/main" id="{75A78808-0A57-3FA2-4083-C20D6F5D740C}"/>
              </a:ext>
            </a:extLst>
          </p:cNvPr>
          <p:cNvCxnSpPr/>
          <p:nvPr/>
        </p:nvCxnSpPr>
        <p:spPr>
          <a:xfrm rot="5400000">
            <a:off x="4791693" y="4806278"/>
            <a:ext cx="293634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5" name="Google Shape;332;p12">
            <a:extLst>
              <a:ext uri="{FF2B5EF4-FFF2-40B4-BE49-F238E27FC236}">
                <a16:creationId xmlns:a16="http://schemas.microsoft.com/office/drawing/2014/main" id="{FB15850B-C526-8555-1FFF-F0F60C182F38}"/>
              </a:ext>
            </a:extLst>
          </p:cNvPr>
          <p:cNvSpPr>
            <a:spLocks noGrp="1"/>
          </p:cNvSpPr>
          <p:nvPr/>
        </p:nvSpPr>
        <p:spPr>
          <a:xfrm rot="-5400000">
            <a:off x="4192309" y="4370197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  <p:cxnSp>
        <p:nvCxnSpPr>
          <p:cNvPr id="6" name="Google Shape;333;p12">
            <a:extLst>
              <a:ext uri="{FF2B5EF4-FFF2-40B4-BE49-F238E27FC236}">
                <a16:creationId xmlns:a16="http://schemas.microsoft.com/office/drawing/2014/main" id="{ED0F4F7A-D4D4-A63E-0528-B5BA65E53E02}"/>
              </a:ext>
            </a:extLst>
          </p:cNvPr>
          <p:cNvCxnSpPr/>
          <p:nvPr/>
        </p:nvCxnSpPr>
        <p:spPr>
          <a:xfrm rot="10800000">
            <a:off x="4373295" y="5277399"/>
            <a:ext cx="293634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7" name="Google Shape;334;p12">
            <a:extLst>
              <a:ext uri="{FF2B5EF4-FFF2-40B4-BE49-F238E27FC236}">
                <a16:creationId xmlns:a16="http://schemas.microsoft.com/office/drawing/2014/main" id="{21F0A761-C5FF-483F-B67E-A96865E9CEB2}"/>
              </a:ext>
            </a:extLst>
          </p:cNvPr>
          <p:cNvSpPr>
            <a:spLocks noGrp="1"/>
          </p:cNvSpPr>
          <p:nvPr/>
        </p:nvSpPr>
        <p:spPr>
          <a:xfrm>
            <a:off x="3705938" y="4853298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  <p:cxnSp>
        <p:nvCxnSpPr>
          <p:cNvPr id="8" name="Google Shape;335;p12">
            <a:extLst>
              <a:ext uri="{FF2B5EF4-FFF2-40B4-BE49-F238E27FC236}">
                <a16:creationId xmlns:a16="http://schemas.microsoft.com/office/drawing/2014/main" id="{BCA51469-FE91-0C13-EEC9-D1BC88DD6CB1}"/>
              </a:ext>
            </a:extLst>
          </p:cNvPr>
          <p:cNvCxnSpPr/>
          <p:nvPr/>
        </p:nvCxnSpPr>
        <p:spPr>
          <a:xfrm rot="5400000">
            <a:off x="4776062" y="5748011"/>
            <a:ext cx="293634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9" name="Google Shape;336;p12">
            <a:extLst>
              <a:ext uri="{FF2B5EF4-FFF2-40B4-BE49-F238E27FC236}">
                <a16:creationId xmlns:a16="http://schemas.microsoft.com/office/drawing/2014/main" id="{76EEB0AC-4672-7151-D3A4-3C0F471A9BD0}"/>
              </a:ext>
            </a:extLst>
          </p:cNvPr>
          <p:cNvSpPr>
            <a:spLocks noGrp="1"/>
          </p:cNvSpPr>
          <p:nvPr/>
        </p:nvSpPr>
        <p:spPr>
          <a:xfrm rot="-5400000">
            <a:off x="4197902" y="5520154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</p:spTree>
    <p:extLst>
      <p:ext uri="{BB962C8B-B14F-4D97-AF65-F5344CB8AC3E}">
        <p14:creationId xmlns:p14="http://schemas.microsoft.com/office/powerpoint/2010/main" val="78962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350;p1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064" y="4114164"/>
            <a:ext cx="5700095" cy="2032555"/>
          </a:xfrm>
          <a:prstGeom prst="rect">
            <a:avLst/>
          </a:prstGeom>
          <a:ln>
            <a:noFill/>
          </a:ln>
        </p:spPr>
      </p:pic>
      <p:sp>
        <p:nvSpPr>
          <p:cNvPr id="351" name="Google Shape;351;p13">
            <a:extLst>
              <a:ext uri="{FF2B5EF4-FFF2-40B4-BE49-F238E27FC236}">
                <a16:creationId xmlns:a16="http://schemas.microsoft.com/office/drawing/2014/main" id="{99D2C2C7-8A34-40CE-9C53-C08F927D640F}"/>
              </a:ext>
            </a:extLst>
          </p:cNvPr>
          <p:cNvSpPr>
            <a:spLocks noGrp="1"/>
          </p:cNvSpPr>
          <p:nvPr/>
        </p:nvSpPr>
        <p:spPr>
          <a:xfrm>
            <a:off x="8010474" y="5412668"/>
            <a:ext cx="2424488" cy="111839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5" name="Google Shape;354;p13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496" name="Google Shape;355;p13"/>
          <p:cNvGraphicFramePr/>
          <p:nvPr>
            <p:extLst>
              <p:ext uri="{D42A27DB-BD31-4B8C-83A1-F6EECF244321}">
                <p14:modId xmlns:p14="http://schemas.microsoft.com/office/powerpoint/2010/main" val="355690830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NW.E.2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0.12um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u="none" cap="none" dirty="0"/>
                        <a:t>Minimum </a:t>
                      </a:r>
                      <a:r>
                        <a:rPr sz="1400" u="none" cap="none" dirty="0" err="1"/>
                        <a:t>Nwell</a:t>
                      </a:r>
                      <a:r>
                        <a:rPr sz="1400" u="none" cap="none" dirty="0"/>
                        <a:t> spacing to P+ 2.5V Active Area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99" name="Google Shape;358;p13"/>
          <p:cNvCxnSpPr/>
          <p:nvPr/>
        </p:nvCxnSpPr>
        <p:spPr>
          <a:xfrm>
            <a:off x="8692074" y="3460617"/>
            <a:ext cx="0" cy="209530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00" name="Google Shape;359;p13"/>
          <p:cNvCxnSpPr/>
          <p:nvPr/>
        </p:nvCxnSpPr>
        <p:spPr>
          <a:xfrm>
            <a:off x="8898183" y="2966921"/>
            <a:ext cx="0" cy="262682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01" name="Google Shape;360;p13"/>
          <p:cNvCxnSpPr/>
          <p:nvPr/>
        </p:nvCxnSpPr>
        <p:spPr>
          <a:xfrm>
            <a:off x="9516502" y="3267651"/>
            <a:ext cx="0" cy="209530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02" name="Google Shape;361;p13"/>
          <p:cNvCxnSpPr/>
          <p:nvPr/>
        </p:nvCxnSpPr>
        <p:spPr>
          <a:xfrm>
            <a:off x="9722611" y="2773955"/>
            <a:ext cx="0" cy="262682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03" name="Google Shape;362;p13"/>
          <p:cNvCxnSpPr/>
          <p:nvPr/>
        </p:nvCxnSpPr>
        <p:spPr>
          <a:xfrm>
            <a:off x="9533403" y="4971833"/>
            <a:ext cx="20531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63" name="Google Shape;363;p13">
            <a:extLst>
              <a:ext uri="{FF2B5EF4-FFF2-40B4-BE49-F238E27FC236}">
                <a16:creationId xmlns:a16="http://schemas.microsoft.com/office/drawing/2014/main" id="{EF38701D-D0A4-4BB4-964C-811C4FA10062}"/>
              </a:ext>
            </a:extLst>
          </p:cNvPr>
          <p:cNvSpPr>
            <a:spLocks noGrp="1"/>
          </p:cNvSpPr>
          <p:nvPr/>
        </p:nvSpPr>
        <p:spPr>
          <a:xfrm>
            <a:off x="9259411" y="4513996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  <p:cxnSp>
        <p:nvCxnSpPr>
          <p:cNvPr id="505" name="Google Shape;364;p13"/>
          <p:cNvCxnSpPr/>
          <p:nvPr/>
        </p:nvCxnSpPr>
        <p:spPr>
          <a:xfrm>
            <a:off x="8704768" y="4968389"/>
            <a:ext cx="20531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65" name="Google Shape;365;p13">
            <a:extLst>
              <a:ext uri="{FF2B5EF4-FFF2-40B4-BE49-F238E27FC236}">
                <a16:creationId xmlns:a16="http://schemas.microsoft.com/office/drawing/2014/main" id="{94E50933-0D97-4000-937B-7A3734ACCA4F}"/>
              </a:ext>
            </a:extLst>
          </p:cNvPr>
          <p:cNvSpPr>
            <a:spLocks noGrp="1"/>
          </p:cNvSpPr>
          <p:nvPr/>
        </p:nvSpPr>
        <p:spPr>
          <a:xfrm>
            <a:off x="8333410" y="4510552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  <p:pic>
        <p:nvPicPr>
          <p:cNvPr id="507" name="Google Shape;366;p13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400" y="1558800"/>
            <a:ext cx="1681663" cy="1373235"/>
          </a:xfrm>
          <a:prstGeom prst="rect">
            <a:avLst/>
          </a:prstGeom>
          <a:ln>
            <a:noFill/>
          </a:ln>
        </p:spPr>
      </p:pic>
      <p:sp>
        <p:nvSpPr>
          <p:cNvPr id="373" name="Google Shape;373;p13">
            <a:extLst>
              <a:ext uri="{FF2B5EF4-FFF2-40B4-BE49-F238E27FC236}">
                <a16:creationId xmlns:a16="http://schemas.microsoft.com/office/drawing/2014/main" id="{07BA7148-67E3-48C8-9609-2E8CD22A17BD}"/>
              </a:ext>
            </a:extLst>
          </p:cNvPr>
          <p:cNvSpPr>
            <a:spLocks noGrp="1"/>
          </p:cNvSpPr>
          <p:nvPr/>
        </p:nvSpPr>
        <p:spPr>
          <a:xfrm>
            <a:off x="8008404" y="5521027"/>
            <a:ext cx="1778360" cy="330868"/>
          </a:xfrm>
          <a:prstGeom prst="rect">
            <a:avLst/>
          </a:prstGeom>
          <a:solidFill>
            <a:srgbClr val="CDACE6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3">
            <a:extLst>
              <a:ext uri="{FF2B5EF4-FFF2-40B4-BE49-F238E27FC236}">
                <a16:creationId xmlns:a16="http://schemas.microsoft.com/office/drawing/2014/main" id="{B998232D-9DC5-414E-985B-05EE09B435BA}"/>
              </a:ext>
            </a:extLst>
          </p:cNvPr>
          <p:cNvSpPr>
            <a:spLocks noGrp="1"/>
          </p:cNvSpPr>
          <p:nvPr/>
        </p:nvSpPr>
        <p:spPr>
          <a:xfrm>
            <a:off x="8007356" y="5404880"/>
            <a:ext cx="889164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375" name="Google Shape;375;p13">
            <a:extLst>
              <a:ext uri="{FF2B5EF4-FFF2-40B4-BE49-F238E27FC236}">
                <a16:creationId xmlns:a16="http://schemas.microsoft.com/office/drawing/2014/main" id="{220C65DA-93E1-4CA8-AF72-04940BF027E2}"/>
              </a:ext>
            </a:extLst>
          </p:cNvPr>
          <p:cNvSpPr>
            <a:spLocks noGrp="1"/>
          </p:cNvSpPr>
          <p:nvPr/>
        </p:nvSpPr>
        <p:spPr>
          <a:xfrm>
            <a:off x="9522925" y="5405562"/>
            <a:ext cx="912033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376" name="Google Shape;376;p13">
            <a:extLst>
              <a:ext uri="{FF2B5EF4-FFF2-40B4-BE49-F238E27FC236}">
                <a16:creationId xmlns:a16="http://schemas.microsoft.com/office/drawing/2014/main" id="{DD01C3E4-223A-440C-9C3B-72CCCFB257E2}"/>
              </a:ext>
            </a:extLst>
          </p:cNvPr>
          <p:cNvSpPr>
            <a:spLocks noGrp="1"/>
          </p:cNvSpPr>
          <p:nvPr/>
        </p:nvSpPr>
        <p:spPr>
          <a:xfrm>
            <a:off x="8896895" y="5312415"/>
            <a:ext cx="633260" cy="69749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377" name="Google Shape;377;p13">
            <a:extLst>
              <a:ext uri="{FF2B5EF4-FFF2-40B4-BE49-F238E27FC236}">
                <a16:creationId xmlns:a16="http://schemas.microsoft.com/office/drawing/2014/main" id="{52B4BA06-6B3D-42C3-9FF8-879B5BFCA598}"/>
              </a:ext>
            </a:extLst>
          </p:cNvPr>
          <p:cNvSpPr>
            <a:spLocks noGrp="1"/>
          </p:cNvSpPr>
          <p:nvPr/>
        </p:nvSpPr>
        <p:spPr>
          <a:xfrm>
            <a:off x="8896520" y="5379108"/>
            <a:ext cx="636882" cy="14007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P+</a:t>
            </a:r>
          </a:p>
        </p:txBody>
      </p:sp>
      <p:pic>
        <p:nvPicPr>
          <p:cNvPr id="519" name="Google Shape;378;p13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90424" y="1816607"/>
            <a:ext cx="2444541" cy="1881137"/>
          </a:xfrm>
          <a:prstGeom prst="rect">
            <a:avLst/>
          </a:prstGeom>
          <a:ln>
            <a:noFill/>
          </a:ln>
        </p:spPr>
      </p:pic>
      <p:sp>
        <p:nvSpPr>
          <p:cNvPr id="379" name="Google Shape;379;p13">
            <a:extLst>
              <a:ext uri="{FF2B5EF4-FFF2-40B4-BE49-F238E27FC236}">
                <a16:creationId xmlns:a16="http://schemas.microsoft.com/office/drawing/2014/main" id="{8CE54B08-5C6C-4D0B-9C96-D6C53935A8B8}"/>
              </a:ext>
            </a:extLst>
          </p:cNvPr>
          <p:cNvSpPr>
            <a:spLocks noGrp="1"/>
          </p:cNvSpPr>
          <p:nvPr/>
        </p:nvSpPr>
        <p:spPr>
          <a:xfrm>
            <a:off x="6271104" y="2792664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cxnSp>
        <p:nvCxnSpPr>
          <p:cNvPr id="521" name="Google Shape;380;p13"/>
          <p:cNvCxnSpPr/>
          <p:nvPr/>
        </p:nvCxnSpPr>
        <p:spPr>
          <a:xfrm>
            <a:off x="6688704" y="3001464"/>
            <a:ext cx="5362185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381" name="Google Shape;381;p13">
            <a:extLst>
              <a:ext uri="{FF2B5EF4-FFF2-40B4-BE49-F238E27FC236}">
                <a16:creationId xmlns:a16="http://schemas.microsoft.com/office/drawing/2014/main" id="{82646A3F-413B-44BE-A16B-6D2B24A096E3}"/>
              </a:ext>
            </a:extLst>
          </p:cNvPr>
          <p:cNvSpPr>
            <a:spLocks noGrp="1"/>
          </p:cNvSpPr>
          <p:nvPr/>
        </p:nvSpPr>
        <p:spPr>
          <a:xfrm>
            <a:off x="466223" y="3031200"/>
            <a:ext cx="550699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enclosure가 부족하면 공정 오차로 인해 active area가 Nwell 밖으로 벗어날 수 있어 안정된 active를 형성하기 위해 필요하다.</a:t>
            </a:r>
          </a:p>
        </p:txBody>
      </p:sp>
      <p:sp>
        <p:nvSpPr>
          <p:cNvPr id="491" name="Slide 5 copied left comparison heading">
            <a:extLst>
              <a:ext uri="{FF2B5EF4-FFF2-40B4-BE49-F238E27FC236}">
                <a16:creationId xmlns:a16="http://schemas.microsoft.com/office/drawing/2014/main" id="{729730D0-4FB8-40C8-9D7B-50BC170E275C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492" name="Slide 5 copied right comparison heading">
            <a:extLst>
              <a:ext uri="{FF2B5EF4-FFF2-40B4-BE49-F238E27FC236}">
                <a16:creationId xmlns:a16="http://schemas.microsoft.com/office/drawing/2014/main" id="{7306580F-07B9-405B-88AB-61D0ACA32A7E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Google Shape;356;p13">
            <a:extLst>
              <a:ext uri="{FF2B5EF4-FFF2-40B4-BE49-F238E27FC236}">
                <a16:creationId xmlns:a16="http://schemas.microsoft.com/office/drawing/2014/main" id="{9D6203A3-D6CF-8A3B-2776-FA066BB8FC90}"/>
              </a:ext>
            </a:extLst>
          </p:cNvPr>
          <p:cNvCxnSpPr/>
          <p:nvPr/>
        </p:nvCxnSpPr>
        <p:spPr>
          <a:xfrm rot="10800000">
            <a:off x="5148830" y="5087043"/>
            <a:ext cx="293634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" name="Google Shape;357;p13">
            <a:extLst>
              <a:ext uri="{FF2B5EF4-FFF2-40B4-BE49-F238E27FC236}">
                <a16:creationId xmlns:a16="http://schemas.microsoft.com/office/drawing/2014/main" id="{1AC4B59E-0AB2-CCAE-32CE-E216227259FF}"/>
              </a:ext>
            </a:extLst>
          </p:cNvPr>
          <p:cNvSpPr>
            <a:spLocks noGrp="1"/>
          </p:cNvSpPr>
          <p:nvPr/>
        </p:nvSpPr>
        <p:spPr>
          <a:xfrm>
            <a:off x="5052735" y="4661732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  <p:cxnSp>
        <p:nvCxnSpPr>
          <p:cNvPr id="4" name="Google Shape;367;p13">
            <a:extLst>
              <a:ext uri="{FF2B5EF4-FFF2-40B4-BE49-F238E27FC236}">
                <a16:creationId xmlns:a16="http://schemas.microsoft.com/office/drawing/2014/main" id="{B9B03425-BA38-A3CC-6506-BBD27C870AD8}"/>
              </a:ext>
            </a:extLst>
          </p:cNvPr>
          <p:cNvCxnSpPr/>
          <p:nvPr/>
        </p:nvCxnSpPr>
        <p:spPr>
          <a:xfrm rot="5400000">
            <a:off x="4728306" y="4713658"/>
            <a:ext cx="293634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5" name="Google Shape;368;p13">
            <a:extLst>
              <a:ext uri="{FF2B5EF4-FFF2-40B4-BE49-F238E27FC236}">
                <a16:creationId xmlns:a16="http://schemas.microsoft.com/office/drawing/2014/main" id="{64AA7411-50ED-3D5C-FCEA-45120D1FEBFE}"/>
              </a:ext>
            </a:extLst>
          </p:cNvPr>
          <p:cNvSpPr>
            <a:spLocks noGrp="1"/>
          </p:cNvSpPr>
          <p:nvPr/>
        </p:nvSpPr>
        <p:spPr>
          <a:xfrm rot="-5400000">
            <a:off x="4128922" y="4176634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  <p:cxnSp>
        <p:nvCxnSpPr>
          <p:cNvPr id="6" name="Google Shape;369;p13">
            <a:extLst>
              <a:ext uri="{FF2B5EF4-FFF2-40B4-BE49-F238E27FC236}">
                <a16:creationId xmlns:a16="http://schemas.microsoft.com/office/drawing/2014/main" id="{E3BCDE72-388D-668D-847F-5A72471A8D32}"/>
              </a:ext>
            </a:extLst>
          </p:cNvPr>
          <p:cNvCxnSpPr/>
          <p:nvPr/>
        </p:nvCxnSpPr>
        <p:spPr>
          <a:xfrm rot="10800000">
            <a:off x="4309908" y="5083836"/>
            <a:ext cx="293634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7" name="Google Shape;370;p13">
            <a:extLst>
              <a:ext uri="{FF2B5EF4-FFF2-40B4-BE49-F238E27FC236}">
                <a16:creationId xmlns:a16="http://schemas.microsoft.com/office/drawing/2014/main" id="{629C84E9-FF17-1CD0-C4B3-51E5DAF00D45}"/>
              </a:ext>
            </a:extLst>
          </p:cNvPr>
          <p:cNvSpPr>
            <a:spLocks noGrp="1"/>
          </p:cNvSpPr>
          <p:nvPr/>
        </p:nvSpPr>
        <p:spPr>
          <a:xfrm>
            <a:off x="3642551" y="4659735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  <p:cxnSp>
        <p:nvCxnSpPr>
          <p:cNvPr id="8" name="Google Shape;371;p13">
            <a:extLst>
              <a:ext uri="{FF2B5EF4-FFF2-40B4-BE49-F238E27FC236}">
                <a16:creationId xmlns:a16="http://schemas.microsoft.com/office/drawing/2014/main" id="{DAD42D65-D3D7-5F5E-1F64-60E73BFD8630}"/>
              </a:ext>
            </a:extLst>
          </p:cNvPr>
          <p:cNvCxnSpPr/>
          <p:nvPr/>
        </p:nvCxnSpPr>
        <p:spPr>
          <a:xfrm rot="5400000">
            <a:off x="4712675" y="5554448"/>
            <a:ext cx="293634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9" name="Google Shape;372;p13">
            <a:extLst>
              <a:ext uri="{FF2B5EF4-FFF2-40B4-BE49-F238E27FC236}">
                <a16:creationId xmlns:a16="http://schemas.microsoft.com/office/drawing/2014/main" id="{D406BADC-7E6E-6C84-D221-E563842A2E71}"/>
              </a:ext>
            </a:extLst>
          </p:cNvPr>
          <p:cNvSpPr>
            <a:spLocks noGrp="1"/>
          </p:cNvSpPr>
          <p:nvPr/>
        </p:nvSpPr>
        <p:spPr>
          <a:xfrm rot="-5400000">
            <a:off x="4086074" y="5527532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</p:spTree>
    <p:extLst>
      <p:ext uri="{BB962C8B-B14F-4D97-AF65-F5344CB8AC3E}">
        <p14:creationId xmlns:p14="http://schemas.microsoft.com/office/powerpoint/2010/main" val="741870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Google Shape;386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341" y="3818241"/>
            <a:ext cx="5115700" cy="2569714"/>
          </a:xfrm>
          <a:prstGeom prst="rect">
            <a:avLst/>
          </a:prstGeom>
          <a:ln>
            <a:noFill/>
          </a:ln>
        </p:spPr>
      </p:pic>
      <p:sp>
        <p:nvSpPr>
          <p:cNvPr id="387" name="Google Shape;387;p14">
            <a:extLst>
              <a:ext uri="{FF2B5EF4-FFF2-40B4-BE49-F238E27FC236}">
                <a16:creationId xmlns:a16="http://schemas.microsoft.com/office/drawing/2014/main" id="{9C56E9B8-8E85-416C-8A68-9E92BEE6CD8E}"/>
              </a:ext>
            </a:extLst>
          </p:cNvPr>
          <p:cNvSpPr>
            <a:spLocks noGrp="1"/>
          </p:cNvSpPr>
          <p:nvPr/>
        </p:nvSpPr>
        <p:spPr>
          <a:xfrm>
            <a:off x="7566700" y="5296870"/>
            <a:ext cx="3372180" cy="111839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1" name="Google Shape;390;p14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532" name="Google Shape;391;p14"/>
          <p:cNvGraphicFramePr/>
          <p:nvPr>
            <p:extLst>
              <p:ext uri="{D42A27DB-BD31-4B8C-83A1-F6EECF244321}">
                <p14:modId xmlns:p14="http://schemas.microsoft.com/office/powerpoint/2010/main" val="1010863260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NW.E.3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0.7um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u="none" cap="none" dirty="0"/>
                        <a:t>Minimum </a:t>
                      </a:r>
                      <a:r>
                        <a:rPr sz="1400" u="none" cap="none" dirty="0" err="1"/>
                        <a:t>Nwell</a:t>
                      </a:r>
                      <a:r>
                        <a:rPr sz="1400" u="none" cap="none" dirty="0"/>
                        <a:t> enclosure of N+ 2.5V Active Area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35" name="Google Shape;394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400" y="1558800"/>
            <a:ext cx="1771741" cy="1339919"/>
          </a:xfrm>
          <a:prstGeom prst="rect">
            <a:avLst/>
          </a:prstGeom>
          <a:ln>
            <a:noFill/>
          </a:ln>
        </p:spPr>
      </p:pic>
      <p:cxnSp>
        <p:nvCxnSpPr>
          <p:cNvPr id="536" name="Google Shape;395;p14"/>
          <p:cNvCxnSpPr/>
          <p:nvPr/>
        </p:nvCxnSpPr>
        <p:spPr>
          <a:xfrm>
            <a:off x="9498232" y="3042454"/>
            <a:ext cx="0" cy="209530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37" name="Google Shape;396;p14"/>
          <p:cNvCxnSpPr/>
          <p:nvPr/>
        </p:nvCxnSpPr>
        <p:spPr>
          <a:xfrm>
            <a:off x="9024788" y="2930460"/>
            <a:ext cx="0" cy="262682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38" name="Google Shape;397;p14"/>
          <p:cNvCxnSpPr/>
          <p:nvPr/>
        </p:nvCxnSpPr>
        <p:spPr>
          <a:xfrm>
            <a:off x="7974928" y="2670046"/>
            <a:ext cx="0" cy="280614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39" name="Google Shape;398;p14"/>
          <p:cNvCxnSpPr/>
          <p:nvPr/>
        </p:nvCxnSpPr>
        <p:spPr>
          <a:xfrm>
            <a:off x="10526573" y="2670046"/>
            <a:ext cx="0" cy="262682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40" name="Google Shape;399;p14"/>
          <p:cNvCxnSpPr/>
          <p:nvPr/>
        </p:nvCxnSpPr>
        <p:spPr>
          <a:xfrm>
            <a:off x="9505867" y="4845808"/>
            <a:ext cx="102070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400" name="Google Shape;400;p14">
            <a:extLst>
              <a:ext uri="{FF2B5EF4-FFF2-40B4-BE49-F238E27FC236}">
                <a16:creationId xmlns:a16="http://schemas.microsoft.com/office/drawing/2014/main" id="{EAC854F2-E3F9-4E56-B087-A40D1C8C7965}"/>
              </a:ext>
            </a:extLst>
          </p:cNvPr>
          <p:cNvSpPr>
            <a:spLocks noGrp="1"/>
          </p:cNvSpPr>
          <p:nvPr/>
        </p:nvSpPr>
        <p:spPr>
          <a:xfrm>
            <a:off x="9603116" y="4433893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0.7um</a:t>
            </a:r>
          </a:p>
        </p:txBody>
      </p:sp>
      <p:sp>
        <p:nvSpPr>
          <p:cNvPr id="401" name="Google Shape;401;p14">
            <a:extLst>
              <a:ext uri="{FF2B5EF4-FFF2-40B4-BE49-F238E27FC236}">
                <a16:creationId xmlns:a16="http://schemas.microsoft.com/office/drawing/2014/main" id="{38AC6728-A538-4788-9D50-8824C511B650}"/>
              </a:ext>
            </a:extLst>
          </p:cNvPr>
          <p:cNvSpPr>
            <a:spLocks noGrp="1"/>
          </p:cNvSpPr>
          <p:nvPr/>
        </p:nvSpPr>
        <p:spPr>
          <a:xfrm>
            <a:off x="7563083" y="5426436"/>
            <a:ext cx="2963490" cy="330868"/>
          </a:xfrm>
          <a:prstGeom prst="rect">
            <a:avLst/>
          </a:prstGeom>
          <a:solidFill>
            <a:srgbClr val="C9AD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43" name="Google Shape;402;p14"/>
          <p:cNvCxnSpPr/>
          <p:nvPr/>
        </p:nvCxnSpPr>
        <p:spPr>
          <a:xfrm rot="10800000" flipH="1">
            <a:off x="7974928" y="4842364"/>
            <a:ext cx="1049860" cy="3444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403" name="Google Shape;403;p14">
            <a:extLst>
              <a:ext uri="{FF2B5EF4-FFF2-40B4-BE49-F238E27FC236}">
                <a16:creationId xmlns:a16="http://schemas.microsoft.com/office/drawing/2014/main" id="{239F05CC-078C-44BF-A271-D07DA21E1568}"/>
              </a:ext>
            </a:extLst>
          </p:cNvPr>
          <p:cNvSpPr>
            <a:spLocks noGrp="1"/>
          </p:cNvSpPr>
          <p:nvPr/>
        </p:nvSpPr>
        <p:spPr>
          <a:xfrm>
            <a:off x="8088585" y="4428537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0.7um</a:t>
            </a:r>
          </a:p>
        </p:txBody>
      </p:sp>
      <p:sp>
        <p:nvSpPr>
          <p:cNvPr id="410" name="Google Shape;410;p14">
            <a:extLst>
              <a:ext uri="{FF2B5EF4-FFF2-40B4-BE49-F238E27FC236}">
                <a16:creationId xmlns:a16="http://schemas.microsoft.com/office/drawing/2014/main" id="{9087BACA-BEB9-452C-B17A-5602A28E462D}"/>
              </a:ext>
            </a:extLst>
          </p:cNvPr>
          <p:cNvSpPr>
            <a:spLocks noGrp="1"/>
          </p:cNvSpPr>
          <p:nvPr/>
        </p:nvSpPr>
        <p:spPr>
          <a:xfrm>
            <a:off x="7563084" y="5287796"/>
            <a:ext cx="1461703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411" name="Google Shape;411;p14">
            <a:extLst>
              <a:ext uri="{FF2B5EF4-FFF2-40B4-BE49-F238E27FC236}">
                <a16:creationId xmlns:a16="http://schemas.microsoft.com/office/drawing/2014/main" id="{320CABBB-5ECF-42AF-BE9A-6843278C75AB}"/>
              </a:ext>
            </a:extLst>
          </p:cNvPr>
          <p:cNvSpPr>
            <a:spLocks noGrp="1"/>
          </p:cNvSpPr>
          <p:nvPr/>
        </p:nvSpPr>
        <p:spPr>
          <a:xfrm>
            <a:off x="9498231" y="5294148"/>
            <a:ext cx="1444263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412" name="Google Shape;412;p14">
            <a:extLst>
              <a:ext uri="{FF2B5EF4-FFF2-40B4-BE49-F238E27FC236}">
                <a16:creationId xmlns:a16="http://schemas.microsoft.com/office/drawing/2014/main" id="{919FCB88-8FD5-4A4A-8C10-D8D098C2BF05}"/>
              </a:ext>
            </a:extLst>
          </p:cNvPr>
          <p:cNvSpPr>
            <a:spLocks noGrp="1"/>
          </p:cNvSpPr>
          <p:nvPr/>
        </p:nvSpPr>
        <p:spPr>
          <a:xfrm>
            <a:off x="9024787" y="5063238"/>
            <a:ext cx="481080" cy="23157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Thick OXIDE</a:t>
            </a:r>
          </a:p>
        </p:txBody>
      </p:sp>
      <p:sp>
        <p:nvSpPr>
          <p:cNvPr id="413" name="Google Shape;413;p14">
            <a:extLst>
              <a:ext uri="{FF2B5EF4-FFF2-40B4-BE49-F238E27FC236}">
                <a16:creationId xmlns:a16="http://schemas.microsoft.com/office/drawing/2014/main" id="{C7B9A46A-C371-4BB3-B354-1294F118FD6C}"/>
              </a:ext>
            </a:extLst>
          </p:cNvPr>
          <p:cNvSpPr>
            <a:spLocks noGrp="1"/>
          </p:cNvSpPr>
          <p:nvPr/>
        </p:nvSpPr>
        <p:spPr>
          <a:xfrm>
            <a:off x="9021173" y="5284118"/>
            <a:ext cx="484685" cy="16363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pic>
        <p:nvPicPr>
          <p:cNvPr id="555" name="Google Shape;414;p14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01199" y="1783732"/>
            <a:ext cx="3237683" cy="2091600"/>
          </a:xfrm>
          <a:prstGeom prst="rect">
            <a:avLst/>
          </a:prstGeom>
          <a:ln>
            <a:noFill/>
          </a:ln>
        </p:spPr>
      </p:pic>
      <p:sp>
        <p:nvSpPr>
          <p:cNvPr id="415" name="Google Shape;415;p14">
            <a:extLst>
              <a:ext uri="{FF2B5EF4-FFF2-40B4-BE49-F238E27FC236}">
                <a16:creationId xmlns:a16="http://schemas.microsoft.com/office/drawing/2014/main" id="{99888BA2-C767-45A4-8803-E1CE3753E588}"/>
              </a:ext>
            </a:extLst>
          </p:cNvPr>
          <p:cNvSpPr>
            <a:spLocks noGrp="1"/>
          </p:cNvSpPr>
          <p:nvPr/>
        </p:nvSpPr>
        <p:spPr>
          <a:xfrm>
            <a:off x="6271104" y="2758810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cxnSp>
        <p:nvCxnSpPr>
          <p:cNvPr id="557" name="Google Shape;416;p14"/>
          <p:cNvCxnSpPr/>
          <p:nvPr/>
        </p:nvCxnSpPr>
        <p:spPr>
          <a:xfrm>
            <a:off x="6688704" y="2967610"/>
            <a:ext cx="5362185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417" name="Google Shape;417;p14">
            <a:extLst>
              <a:ext uri="{FF2B5EF4-FFF2-40B4-BE49-F238E27FC236}">
                <a16:creationId xmlns:a16="http://schemas.microsoft.com/office/drawing/2014/main" id="{4D0DF47B-6DE2-4A04-A167-7A546041F8A3}"/>
              </a:ext>
            </a:extLst>
          </p:cNvPr>
          <p:cNvSpPr>
            <a:spLocks noGrp="1"/>
          </p:cNvSpPr>
          <p:nvPr/>
        </p:nvSpPr>
        <p:spPr>
          <a:xfrm>
            <a:off x="466223" y="3031200"/>
            <a:ext cx="550699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더 큰 전압이 인가되므로 보다 넓은 영역의 Nwell을 형성해야 안정된 active가 형성될 수 있다. </a:t>
            </a:r>
          </a:p>
        </p:txBody>
      </p:sp>
      <p:sp>
        <p:nvSpPr>
          <p:cNvPr id="527" name="Slide 5 copied left comparison heading">
            <a:extLst>
              <a:ext uri="{FF2B5EF4-FFF2-40B4-BE49-F238E27FC236}">
                <a16:creationId xmlns:a16="http://schemas.microsoft.com/office/drawing/2014/main" id="{15D8625A-6A60-4EA1-A858-4F71F01C8782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528" name="Slide 5 copied right comparison heading">
            <a:extLst>
              <a:ext uri="{FF2B5EF4-FFF2-40B4-BE49-F238E27FC236}">
                <a16:creationId xmlns:a16="http://schemas.microsoft.com/office/drawing/2014/main" id="{59102535-48C8-419D-81EE-9521AFFB476A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Google Shape;392;p14">
            <a:extLst>
              <a:ext uri="{FF2B5EF4-FFF2-40B4-BE49-F238E27FC236}">
                <a16:creationId xmlns:a16="http://schemas.microsoft.com/office/drawing/2014/main" id="{37958AD9-3439-C602-CDE2-F6872825AB30}"/>
              </a:ext>
            </a:extLst>
          </p:cNvPr>
          <p:cNvCxnSpPr/>
          <p:nvPr/>
        </p:nvCxnSpPr>
        <p:spPr>
          <a:xfrm flipH="1">
            <a:off x="4431466" y="5190852"/>
            <a:ext cx="970682" cy="3874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" name="Google Shape;393;p14">
            <a:extLst>
              <a:ext uri="{FF2B5EF4-FFF2-40B4-BE49-F238E27FC236}">
                <a16:creationId xmlns:a16="http://schemas.microsoft.com/office/drawing/2014/main" id="{B8CCF017-D41E-A197-1E0C-AE71A50E065B}"/>
              </a:ext>
            </a:extLst>
          </p:cNvPr>
          <p:cNvSpPr>
            <a:spLocks noGrp="1"/>
          </p:cNvSpPr>
          <p:nvPr/>
        </p:nvSpPr>
        <p:spPr>
          <a:xfrm>
            <a:off x="4469511" y="4821520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0.7um</a:t>
            </a:r>
          </a:p>
        </p:txBody>
      </p:sp>
      <p:cxnSp>
        <p:nvCxnSpPr>
          <p:cNvPr id="4" name="Google Shape;404;p14">
            <a:extLst>
              <a:ext uri="{FF2B5EF4-FFF2-40B4-BE49-F238E27FC236}">
                <a16:creationId xmlns:a16="http://schemas.microsoft.com/office/drawing/2014/main" id="{EB9269DB-8F8A-3246-65D8-2326E038DF77}"/>
              </a:ext>
            </a:extLst>
          </p:cNvPr>
          <p:cNvCxnSpPr/>
          <p:nvPr/>
        </p:nvCxnSpPr>
        <p:spPr>
          <a:xfrm>
            <a:off x="4272123" y="4015667"/>
            <a:ext cx="0" cy="92422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5" name="Google Shape;405;p14">
            <a:extLst>
              <a:ext uri="{FF2B5EF4-FFF2-40B4-BE49-F238E27FC236}">
                <a16:creationId xmlns:a16="http://schemas.microsoft.com/office/drawing/2014/main" id="{76163329-6122-D60B-2F84-214D6C896B55}"/>
              </a:ext>
            </a:extLst>
          </p:cNvPr>
          <p:cNvSpPr>
            <a:spLocks noGrp="1"/>
          </p:cNvSpPr>
          <p:nvPr/>
        </p:nvSpPr>
        <p:spPr>
          <a:xfrm rot="-5400000">
            <a:off x="3537516" y="4219381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0.7um</a:t>
            </a:r>
          </a:p>
        </p:txBody>
      </p:sp>
      <p:cxnSp>
        <p:nvCxnSpPr>
          <p:cNvPr id="6" name="Google Shape;406;p14">
            <a:extLst>
              <a:ext uri="{FF2B5EF4-FFF2-40B4-BE49-F238E27FC236}">
                <a16:creationId xmlns:a16="http://schemas.microsoft.com/office/drawing/2014/main" id="{9D53801F-31AC-AF50-F476-3571C71E1897}"/>
              </a:ext>
            </a:extLst>
          </p:cNvPr>
          <p:cNvCxnSpPr/>
          <p:nvPr/>
        </p:nvCxnSpPr>
        <p:spPr>
          <a:xfrm>
            <a:off x="4276369" y="5374034"/>
            <a:ext cx="0" cy="826311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7" name="Google Shape;407;p14">
            <a:extLst>
              <a:ext uri="{FF2B5EF4-FFF2-40B4-BE49-F238E27FC236}">
                <a16:creationId xmlns:a16="http://schemas.microsoft.com/office/drawing/2014/main" id="{94543EE6-0FFB-99B4-0FFE-CEA47CE24804}"/>
              </a:ext>
            </a:extLst>
          </p:cNvPr>
          <p:cNvSpPr>
            <a:spLocks noGrp="1"/>
          </p:cNvSpPr>
          <p:nvPr/>
        </p:nvSpPr>
        <p:spPr>
          <a:xfrm rot="-5400000">
            <a:off x="3541762" y="5553996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0.7um</a:t>
            </a:r>
          </a:p>
        </p:txBody>
      </p:sp>
      <p:cxnSp>
        <p:nvCxnSpPr>
          <p:cNvPr id="8" name="Google Shape;408;p14">
            <a:extLst>
              <a:ext uri="{FF2B5EF4-FFF2-40B4-BE49-F238E27FC236}">
                <a16:creationId xmlns:a16="http://schemas.microsoft.com/office/drawing/2014/main" id="{2669FD2E-0D1D-8F2C-18AA-7661829838A1}"/>
              </a:ext>
            </a:extLst>
          </p:cNvPr>
          <p:cNvCxnSpPr/>
          <p:nvPr/>
        </p:nvCxnSpPr>
        <p:spPr>
          <a:xfrm flipH="1">
            <a:off x="3047797" y="5194726"/>
            <a:ext cx="970682" cy="3874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9" name="Google Shape;409;p14">
            <a:extLst>
              <a:ext uri="{FF2B5EF4-FFF2-40B4-BE49-F238E27FC236}">
                <a16:creationId xmlns:a16="http://schemas.microsoft.com/office/drawing/2014/main" id="{88303C7A-B1B9-C1C0-F08D-76E7D226C376}"/>
              </a:ext>
            </a:extLst>
          </p:cNvPr>
          <p:cNvSpPr>
            <a:spLocks noGrp="1"/>
          </p:cNvSpPr>
          <p:nvPr/>
        </p:nvSpPr>
        <p:spPr>
          <a:xfrm>
            <a:off x="3085842" y="4825394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0.7um</a:t>
            </a:r>
          </a:p>
        </p:txBody>
      </p:sp>
    </p:spTree>
    <p:extLst>
      <p:ext uri="{BB962C8B-B14F-4D97-AF65-F5344CB8AC3E}">
        <p14:creationId xmlns:p14="http://schemas.microsoft.com/office/powerpoint/2010/main" val="468363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422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193" y="3880031"/>
            <a:ext cx="4995458" cy="2435089"/>
          </a:xfrm>
          <a:prstGeom prst="rect">
            <a:avLst/>
          </a:prstGeom>
          <a:ln>
            <a:noFill/>
          </a:ln>
        </p:spPr>
      </p:pic>
      <p:sp>
        <p:nvSpPr>
          <p:cNvPr id="423" name="Google Shape;423;p15">
            <a:extLst>
              <a:ext uri="{FF2B5EF4-FFF2-40B4-BE49-F238E27FC236}">
                <a16:creationId xmlns:a16="http://schemas.microsoft.com/office/drawing/2014/main" id="{8567B41F-1BA4-4834-9382-F873EBD80025}"/>
              </a:ext>
            </a:extLst>
          </p:cNvPr>
          <p:cNvSpPr>
            <a:spLocks noGrp="1"/>
          </p:cNvSpPr>
          <p:nvPr/>
        </p:nvSpPr>
        <p:spPr>
          <a:xfrm>
            <a:off x="7576913" y="5373076"/>
            <a:ext cx="3357257" cy="111839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67" name="Google Shape;426;p15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568" name="Google Shape;427;p15"/>
          <p:cNvGraphicFramePr/>
          <p:nvPr>
            <p:extLst>
              <p:ext uri="{D42A27DB-BD31-4B8C-83A1-F6EECF244321}">
                <p14:modId xmlns:p14="http://schemas.microsoft.com/office/powerpoint/2010/main" val="2123848465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NW.E.4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0.7um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u="none" cap="none" dirty="0"/>
                        <a:t>Minimum </a:t>
                      </a:r>
                      <a:r>
                        <a:rPr sz="1400" u="none" cap="none" dirty="0" err="1"/>
                        <a:t>Nwell</a:t>
                      </a:r>
                      <a:r>
                        <a:rPr sz="1400" u="none" cap="none" dirty="0"/>
                        <a:t> enclosure of P+ 2.5V Active Area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69" name="Google Shape;428;p1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400" y="1558800"/>
            <a:ext cx="1949550" cy="1473276"/>
          </a:xfrm>
          <a:prstGeom prst="rect">
            <a:avLst/>
          </a:prstGeom>
          <a:ln>
            <a:noFill/>
          </a:ln>
        </p:spPr>
      </p:pic>
      <p:cxnSp>
        <p:nvCxnSpPr>
          <p:cNvPr id="570" name="Google Shape;429;p15"/>
          <p:cNvCxnSpPr/>
          <p:nvPr/>
        </p:nvCxnSpPr>
        <p:spPr>
          <a:xfrm>
            <a:off x="9502499" y="3122894"/>
            <a:ext cx="0" cy="209530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71" name="Google Shape;430;p15"/>
          <p:cNvCxnSpPr/>
          <p:nvPr/>
        </p:nvCxnSpPr>
        <p:spPr>
          <a:xfrm>
            <a:off x="9029055" y="3010900"/>
            <a:ext cx="0" cy="262682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72" name="Google Shape;431;p15"/>
          <p:cNvCxnSpPr/>
          <p:nvPr/>
        </p:nvCxnSpPr>
        <p:spPr>
          <a:xfrm>
            <a:off x="7979195" y="2750486"/>
            <a:ext cx="0" cy="280614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73" name="Google Shape;432;p15"/>
          <p:cNvCxnSpPr/>
          <p:nvPr/>
        </p:nvCxnSpPr>
        <p:spPr>
          <a:xfrm>
            <a:off x="10530840" y="2750486"/>
            <a:ext cx="0" cy="262682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74" name="Google Shape;433;p15"/>
          <p:cNvCxnSpPr/>
          <p:nvPr/>
        </p:nvCxnSpPr>
        <p:spPr>
          <a:xfrm>
            <a:off x="9510134" y="4926248"/>
            <a:ext cx="102070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434" name="Google Shape;434;p15">
            <a:extLst>
              <a:ext uri="{FF2B5EF4-FFF2-40B4-BE49-F238E27FC236}">
                <a16:creationId xmlns:a16="http://schemas.microsoft.com/office/drawing/2014/main" id="{D792C577-A3AC-4D9B-B403-E6B1542B8DE8}"/>
              </a:ext>
            </a:extLst>
          </p:cNvPr>
          <p:cNvSpPr>
            <a:spLocks noGrp="1"/>
          </p:cNvSpPr>
          <p:nvPr/>
        </p:nvSpPr>
        <p:spPr>
          <a:xfrm>
            <a:off x="9632783" y="4514333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0.7um</a:t>
            </a:r>
          </a:p>
        </p:txBody>
      </p:sp>
      <p:cxnSp>
        <p:nvCxnSpPr>
          <p:cNvPr id="576" name="Google Shape;435;p15"/>
          <p:cNvCxnSpPr/>
          <p:nvPr/>
        </p:nvCxnSpPr>
        <p:spPr>
          <a:xfrm rot="10800000" flipH="1">
            <a:off x="7979195" y="4922804"/>
            <a:ext cx="1049860" cy="3444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436" name="Google Shape;436;p15">
            <a:extLst>
              <a:ext uri="{FF2B5EF4-FFF2-40B4-BE49-F238E27FC236}">
                <a16:creationId xmlns:a16="http://schemas.microsoft.com/office/drawing/2014/main" id="{88BEB78D-2570-4478-9A82-17FF9E8CABF1}"/>
              </a:ext>
            </a:extLst>
          </p:cNvPr>
          <p:cNvSpPr>
            <a:spLocks noGrp="1"/>
          </p:cNvSpPr>
          <p:nvPr/>
        </p:nvSpPr>
        <p:spPr>
          <a:xfrm>
            <a:off x="8080152" y="4508977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0.7um</a:t>
            </a:r>
          </a:p>
        </p:txBody>
      </p:sp>
      <p:sp>
        <p:nvSpPr>
          <p:cNvPr id="445" name="Google Shape;445;p15">
            <a:extLst>
              <a:ext uri="{FF2B5EF4-FFF2-40B4-BE49-F238E27FC236}">
                <a16:creationId xmlns:a16="http://schemas.microsoft.com/office/drawing/2014/main" id="{CDFCD479-5057-498A-8877-164D8816F6E0}"/>
              </a:ext>
            </a:extLst>
          </p:cNvPr>
          <p:cNvSpPr>
            <a:spLocks noGrp="1"/>
          </p:cNvSpPr>
          <p:nvPr/>
        </p:nvSpPr>
        <p:spPr>
          <a:xfrm>
            <a:off x="7569031" y="5506072"/>
            <a:ext cx="2961797" cy="330868"/>
          </a:xfrm>
          <a:prstGeom prst="rect">
            <a:avLst/>
          </a:prstGeom>
          <a:solidFill>
            <a:srgbClr val="C9AD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5">
            <a:extLst>
              <a:ext uri="{FF2B5EF4-FFF2-40B4-BE49-F238E27FC236}">
                <a16:creationId xmlns:a16="http://schemas.microsoft.com/office/drawing/2014/main" id="{2B131EA0-93C8-4E55-8691-262CF8793F16}"/>
              </a:ext>
            </a:extLst>
          </p:cNvPr>
          <p:cNvSpPr>
            <a:spLocks noGrp="1"/>
          </p:cNvSpPr>
          <p:nvPr/>
        </p:nvSpPr>
        <p:spPr>
          <a:xfrm>
            <a:off x="7566472" y="5361876"/>
            <a:ext cx="1461703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447" name="Google Shape;447;p15">
            <a:extLst>
              <a:ext uri="{FF2B5EF4-FFF2-40B4-BE49-F238E27FC236}">
                <a16:creationId xmlns:a16="http://schemas.microsoft.com/office/drawing/2014/main" id="{825DF9A9-FBAF-45D2-B4CE-9CF65514F93D}"/>
              </a:ext>
            </a:extLst>
          </p:cNvPr>
          <p:cNvSpPr>
            <a:spLocks noGrp="1"/>
          </p:cNvSpPr>
          <p:nvPr/>
        </p:nvSpPr>
        <p:spPr>
          <a:xfrm>
            <a:off x="9508494" y="5368228"/>
            <a:ext cx="1423703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448" name="Google Shape;448;p15">
            <a:extLst>
              <a:ext uri="{FF2B5EF4-FFF2-40B4-BE49-F238E27FC236}">
                <a16:creationId xmlns:a16="http://schemas.microsoft.com/office/drawing/2014/main" id="{A3199FEA-8380-4D72-BBA3-5827EF8D2C61}"/>
              </a:ext>
            </a:extLst>
          </p:cNvPr>
          <p:cNvSpPr>
            <a:spLocks noGrp="1"/>
          </p:cNvSpPr>
          <p:nvPr/>
        </p:nvSpPr>
        <p:spPr>
          <a:xfrm>
            <a:off x="9028175" y="5153163"/>
            <a:ext cx="481959" cy="23157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Thick OXIDE</a:t>
            </a:r>
          </a:p>
        </p:txBody>
      </p:sp>
      <p:sp>
        <p:nvSpPr>
          <p:cNvPr id="449" name="Google Shape;449;p15">
            <a:extLst>
              <a:ext uri="{FF2B5EF4-FFF2-40B4-BE49-F238E27FC236}">
                <a16:creationId xmlns:a16="http://schemas.microsoft.com/office/drawing/2014/main" id="{65787332-9767-4AA3-A1B2-7D06F92A93A1}"/>
              </a:ext>
            </a:extLst>
          </p:cNvPr>
          <p:cNvSpPr>
            <a:spLocks noGrp="1"/>
          </p:cNvSpPr>
          <p:nvPr/>
        </p:nvSpPr>
        <p:spPr>
          <a:xfrm>
            <a:off x="9030558" y="5379580"/>
            <a:ext cx="473547" cy="13304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P+</a:t>
            </a:r>
          </a:p>
        </p:txBody>
      </p:sp>
      <p:pic>
        <p:nvPicPr>
          <p:cNvPr id="591" name="Google Shape;450;p15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89247" y="1800862"/>
            <a:ext cx="3388982" cy="2138400"/>
          </a:xfrm>
          <a:prstGeom prst="rect">
            <a:avLst/>
          </a:prstGeom>
          <a:ln>
            <a:noFill/>
          </a:ln>
        </p:spPr>
      </p:pic>
      <p:sp>
        <p:nvSpPr>
          <p:cNvPr id="451" name="Google Shape;451;p15">
            <a:extLst>
              <a:ext uri="{FF2B5EF4-FFF2-40B4-BE49-F238E27FC236}">
                <a16:creationId xmlns:a16="http://schemas.microsoft.com/office/drawing/2014/main" id="{A5894AC7-F2B6-4CCE-8C67-22A67A7AAD0B}"/>
              </a:ext>
            </a:extLst>
          </p:cNvPr>
          <p:cNvSpPr>
            <a:spLocks noGrp="1"/>
          </p:cNvSpPr>
          <p:nvPr/>
        </p:nvSpPr>
        <p:spPr>
          <a:xfrm>
            <a:off x="6271104" y="2798314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cxnSp>
        <p:nvCxnSpPr>
          <p:cNvPr id="593" name="Google Shape;452;p15"/>
          <p:cNvCxnSpPr/>
          <p:nvPr/>
        </p:nvCxnSpPr>
        <p:spPr>
          <a:xfrm>
            <a:off x="6688704" y="3007114"/>
            <a:ext cx="5362185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453" name="Google Shape;453;p15">
            <a:extLst>
              <a:ext uri="{FF2B5EF4-FFF2-40B4-BE49-F238E27FC236}">
                <a16:creationId xmlns:a16="http://schemas.microsoft.com/office/drawing/2014/main" id="{9224945D-6405-4AC4-8DEE-D815BEE39578}"/>
              </a:ext>
            </a:extLst>
          </p:cNvPr>
          <p:cNvSpPr>
            <a:spLocks noGrp="1"/>
          </p:cNvSpPr>
          <p:nvPr/>
        </p:nvSpPr>
        <p:spPr>
          <a:xfrm>
            <a:off x="466223" y="3031200"/>
            <a:ext cx="550699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더 큰 전압이 인가되므로 보다 넓은 영역의 Nwell을 형성해야 안정된 active가 형성될 수 있다. </a:t>
            </a:r>
          </a:p>
        </p:txBody>
      </p:sp>
      <p:sp>
        <p:nvSpPr>
          <p:cNvPr id="563" name="Slide 5 copied left comparison heading">
            <a:extLst>
              <a:ext uri="{FF2B5EF4-FFF2-40B4-BE49-F238E27FC236}">
                <a16:creationId xmlns:a16="http://schemas.microsoft.com/office/drawing/2014/main" id="{ECAF6FCA-D456-46B2-B595-714E1389E802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564" name="Slide 5 copied right comparison heading">
            <a:extLst>
              <a:ext uri="{FF2B5EF4-FFF2-40B4-BE49-F238E27FC236}">
                <a16:creationId xmlns:a16="http://schemas.microsoft.com/office/drawing/2014/main" id="{7C0906B0-9960-41BB-A568-A3DD6DDE36A0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Google Shape;437;p15">
            <a:extLst>
              <a:ext uri="{FF2B5EF4-FFF2-40B4-BE49-F238E27FC236}">
                <a16:creationId xmlns:a16="http://schemas.microsoft.com/office/drawing/2014/main" id="{FD067191-8665-9B7B-A3A7-01A64FAFEB86}"/>
              </a:ext>
            </a:extLst>
          </p:cNvPr>
          <p:cNvCxnSpPr/>
          <p:nvPr/>
        </p:nvCxnSpPr>
        <p:spPr>
          <a:xfrm flipH="1">
            <a:off x="4267214" y="5188469"/>
            <a:ext cx="970682" cy="3874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3" name="Google Shape;438;p15">
            <a:extLst>
              <a:ext uri="{FF2B5EF4-FFF2-40B4-BE49-F238E27FC236}">
                <a16:creationId xmlns:a16="http://schemas.microsoft.com/office/drawing/2014/main" id="{3A0943B8-5C3F-6D6C-A167-22DFE163067C}"/>
              </a:ext>
            </a:extLst>
          </p:cNvPr>
          <p:cNvSpPr>
            <a:spLocks noGrp="1"/>
          </p:cNvSpPr>
          <p:nvPr/>
        </p:nvSpPr>
        <p:spPr>
          <a:xfrm>
            <a:off x="4305259" y="4819137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0.7um</a:t>
            </a:r>
          </a:p>
        </p:txBody>
      </p:sp>
      <p:cxnSp>
        <p:nvCxnSpPr>
          <p:cNvPr id="4" name="Google Shape;439;p15">
            <a:extLst>
              <a:ext uri="{FF2B5EF4-FFF2-40B4-BE49-F238E27FC236}">
                <a16:creationId xmlns:a16="http://schemas.microsoft.com/office/drawing/2014/main" id="{82A96B6D-5398-C184-4080-732D9B86D5D3}"/>
              </a:ext>
            </a:extLst>
          </p:cNvPr>
          <p:cNvCxnSpPr/>
          <p:nvPr/>
        </p:nvCxnSpPr>
        <p:spPr>
          <a:xfrm>
            <a:off x="4107871" y="4037036"/>
            <a:ext cx="0" cy="92422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5" name="Google Shape;440;p15">
            <a:extLst>
              <a:ext uri="{FF2B5EF4-FFF2-40B4-BE49-F238E27FC236}">
                <a16:creationId xmlns:a16="http://schemas.microsoft.com/office/drawing/2014/main" id="{6D80E4CD-3696-1482-E502-3FD2EAF7A6D5}"/>
              </a:ext>
            </a:extLst>
          </p:cNvPr>
          <p:cNvSpPr>
            <a:spLocks noGrp="1"/>
          </p:cNvSpPr>
          <p:nvPr/>
        </p:nvSpPr>
        <p:spPr>
          <a:xfrm rot="-5400000">
            <a:off x="3373264" y="4216998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0.7um</a:t>
            </a:r>
          </a:p>
        </p:txBody>
      </p:sp>
      <p:cxnSp>
        <p:nvCxnSpPr>
          <p:cNvPr id="6" name="Google Shape;441;p15">
            <a:extLst>
              <a:ext uri="{FF2B5EF4-FFF2-40B4-BE49-F238E27FC236}">
                <a16:creationId xmlns:a16="http://schemas.microsoft.com/office/drawing/2014/main" id="{291B4B2E-A070-195C-6E83-F7127FD339AB}"/>
              </a:ext>
            </a:extLst>
          </p:cNvPr>
          <p:cNvCxnSpPr/>
          <p:nvPr/>
        </p:nvCxnSpPr>
        <p:spPr>
          <a:xfrm>
            <a:off x="4112117" y="5371651"/>
            <a:ext cx="0" cy="826311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7" name="Google Shape;442;p15">
            <a:extLst>
              <a:ext uri="{FF2B5EF4-FFF2-40B4-BE49-F238E27FC236}">
                <a16:creationId xmlns:a16="http://schemas.microsoft.com/office/drawing/2014/main" id="{592DE8BE-3785-3CF0-87DD-05DBC0984629}"/>
              </a:ext>
            </a:extLst>
          </p:cNvPr>
          <p:cNvSpPr>
            <a:spLocks noGrp="1"/>
          </p:cNvSpPr>
          <p:nvPr/>
        </p:nvSpPr>
        <p:spPr>
          <a:xfrm rot="-5400000">
            <a:off x="3377510" y="5551613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0.7um</a:t>
            </a:r>
          </a:p>
        </p:txBody>
      </p:sp>
      <p:cxnSp>
        <p:nvCxnSpPr>
          <p:cNvPr id="8" name="Google Shape;443;p15">
            <a:extLst>
              <a:ext uri="{FF2B5EF4-FFF2-40B4-BE49-F238E27FC236}">
                <a16:creationId xmlns:a16="http://schemas.microsoft.com/office/drawing/2014/main" id="{998EC925-6288-58C1-326D-3A672CF163A1}"/>
              </a:ext>
            </a:extLst>
          </p:cNvPr>
          <p:cNvCxnSpPr/>
          <p:nvPr/>
        </p:nvCxnSpPr>
        <p:spPr>
          <a:xfrm flipH="1">
            <a:off x="2883545" y="5192343"/>
            <a:ext cx="970682" cy="3874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9" name="Google Shape;444;p15">
            <a:extLst>
              <a:ext uri="{FF2B5EF4-FFF2-40B4-BE49-F238E27FC236}">
                <a16:creationId xmlns:a16="http://schemas.microsoft.com/office/drawing/2014/main" id="{ABA8BE9E-CC81-4EA5-DC1F-24A9E0D9EE04}"/>
              </a:ext>
            </a:extLst>
          </p:cNvPr>
          <p:cNvSpPr>
            <a:spLocks noGrp="1"/>
          </p:cNvSpPr>
          <p:nvPr/>
        </p:nvSpPr>
        <p:spPr>
          <a:xfrm>
            <a:off x="2921590" y="4823011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0.7um</a:t>
            </a:r>
          </a:p>
        </p:txBody>
      </p:sp>
    </p:spTree>
    <p:extLst>
      <p:ext uri="{BB962C8B-B14F-4D97-AF65-F5344CB8AC3E}">
        <p14:creationId xmlns:p14="http://schemas.microsoft.com/office/powerpoint/2010/main" val="524590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0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6">
            <a:extLst>
              <a:ext uri="{FF2B5EF4-FFF2-40B4-BE49-F238E27FC236}">
                <a16:creationId xmlns:a16="http://schemas.microsoft.com/office/drawing/2014/main" id="{A1A0B73B-B288-44D2-988A-0091E209A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462" y="2301478"/>
            <a:ext cx="3801075" cy="225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/>
              <a:t>Oxide</a:t>
            </a:r>
          </a:p>
        </p:txBody>
      </p:sp>
    </p:spTree>
    <p:extLst>
      <p:ext uri="{BB962C8B-B14F-4D97-AF65-F5344CB8AC3E}">
        <p14:creationId xmlns:p14="http://schemas.microsoft.com/office/powerpoint/2010/main" val="152798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0" name="Google Shape;463;p17"/>
          <p:cNvGraphicFramePr/>
          <p:nvPr>
            <p:extLst>
              <p:ext uri="{D42A27DB-BD31-4B8C-83A1-F6EECF244321}">
                <p14:modId xmlns:p14="http://schemas.microsoft.com/office/powerpoint/2010/main" val="3145713375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OXIDE.W.1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0.1um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u="none" cap="none" dirty="0"/>
                        <a:t>Minimum Active Area width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51" name="Google Shape;464;p17"/>
          <p:cNvCxnSpPr/>
          <p:nvPr/>
        </p:nvCxnSpPr>
        <p:spPr>
          <a:xfrm>
            <a:off x="8938685" y="4937541"/>
            <a:ext cx="1042042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465" name="Google Shape;465;p17">
            <a:extLst>
              <a:ext uri="{FF2B5EF4-FFF2-40B4-BE49-F238E27FC236}">
                <a16:creationId xmlns:a16="http://schemas.microsoft.com/office/drawing/2014/main" id="{DC2FB3A3-26D0-4C85-9D61-05CA0EDC1B97}"/>
              </a:ext>
            </a:extLst>
          </p:cNvPr>
          <p:cNvSpPr>
            <a:spLocks noGrp="1"/>
          </p:cNvSpPr>
          <p:nvPr/>
        </p:nvSpPr>
        <p:spPr>
          <a:xfrm>
            <a:off x="9066847" y="4537953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0.1um</a:t>
            </a:r>
          </a:p>
        </p:txBody>
      </p:sp>
      <p:cxnSp>
        <p:nvCxnSpPr>
          <p:cNvPr id="553" name="Google Shape;468;p17"/>
          <p:cNvCxnSpPr/>
          <p:nvPr/>
        </p:nvCxnSpPr>
        <p:spPr>
          <a:xfrm flipH="1"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554" name="Google Shape;469;p1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06" y="1475492"/>
            <a:ext cx="1480319" cy="1270273"/>
          </a:xfrm>
          <a:prstGeom prst="rect">
            <a:avLst/>
          </a:prstGeom>
          <a:ln>
            <a:noFill/>
          </a:ln>
        </p:spPr>
      </p:pic>
      <p:pic>
        <p:nvPicPr>
          <p:cNvPr id="555" name="Google Shape;470;p17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3097" y="3928669"/>
            <a:ext cx="3985766" cy="2531190"/>
          </a:xfrm>
          <a:prstGeom prst="rect">
            <a:avLst/>
          </a:prstGeom>
          <a:ln>
            <a:noFill/>
          </a:ln>
        </p:spPr>
      </p:pic>
      <p:sp>
        <p:nvSpPr>
          <p:cNvPr id="471" name="Google Shape;471;p17">
            <a:extLst>
              <a:ext uri="{FF2B5EF4-FFF2-40B4-BE49-F238E27FC236}">
                <a16:creationId xmlns:a16="http://schemas.microsoft.com/office/drawing/2014/main" id="{683F3D13-4466-4EC6-8648-9A0F66280B44}"/>
              </a:ext>
            </a:extLst>
          </p:cNvPr>
          <p:cNvSpPr>
            <a:spLocks noGrp="1"/>
          </p:cNvSpPr>
          <p:nvPr/>
        </p:nvSpPr>
        <p:spPr>
          <a:xfrm>
            <a:off x="7845950" y="5194273"/>
            <a:ext cx="3228000" cy="149910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472" name="Google Shape;472;p17">
            <a:extLst>
              <a:ext uri="{FF2B5EF4-FFF2-40B4-BE49-F238E27FC236}">
                <a16:creationId xmlns:a16="http://schemas.microsoft.com/office/drawing/2014/main" id="{8609EBC9-938E-45C4-BDB2-B82E69E20F7F}"/>
              </a:ext>
            </a:extLst>
          </p:cNvPr>
          <p:cNvSpPr>
            <a:spLocks noGrp="1"/>
          </p:cNvSpPr>
          <p:nvPr/>
        </p:nvSpPr>
        <p:spPr>
          <a:xfrm>
            <a:off x="7845949" y="5161902"/>
            <a:ext cx="1095260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473" name="Google Shape;473;p17">
            <a:extLst>
              <a:ext uri="{FF2B5EF4-FFF2-40B4-BE49-F238E27FC236}">
                <a16:creationId xmlns:a16="http://schemas.microsoft.com/office/drawing/2014/main" id="{F3AB897F-6BF6-4552-AEF5-41102EBE0993}"/>
              </a:ext>
            </a:extLst>
          </p:cNvPr>
          <p:cNvSpPr>
            <a:spLocks noGrp="1"/>
          </p:cNvSpPr>
          <p:nvPr/>
        </p:nvSpPr>
        <p:spPr>
          <a:xfrm>
            <a:off x="8938675" y="5194274"/>
            <a:ext cx="1059000" cy="118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474" name="Google Shape;474;p17">
            <a:extLst>
              <a:ext uri="{FF2B5EF4-FFF2-40B4-BE49-F238E27FC236}">
                <a16:creationId xmlns:a16="http://schemas.microsoft.com/office/drawing/2014/main" id="{38C2E1E2-2E9B-4D24-BED6-B1A53681C115}"/>
              </a:ext>
            </a:extLst>
          </p:cNvPr>
          <p:cNvSpPr>
            <a:spLocks noGrp="1"/>
          </p:cNvSpPr>
          <p:nvPr/>
        </p:nvSpPr>
        <p:spPr>
          <a:xfrm>
            <a:off x="8943732" y="5075997"/>
            <a:ext cx="1047813" cy="118267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475" name="Google Shape;475;p17">
            <a:extLst>
              <a:ext uri="{FF2B5EF4-FFF2-40B4-BE49-F238E27FC236}">
                <a16:creationId xmlns:a16="http://schemas.microsoft.com/office/drawing/2014/main" id="{D784C59C-9426-4493-BCE4-AFFF4A1AFCCA}"/>
              </a:ext>
            </a:extLst>
          </p:cNvPr>
          <p:cNvSpPr>
            <a:spLocks noGrp="1"/>
          </p:cNvSpPr>
          <p:nvPr/>
        </p:nvSpPr>
        <p:spPr>
          <a:xfrm>
            <a:off x="9988125" y="5167516"/>
            <a:ext cx="1095260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pic>
        <p:nvPicPr>
          <p:cNvPr id="561" name="Google Shape;476;p17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8227563" y="1765942"/>
            <a:ext cx="2497034" cy="1975973"/>
          </a:xfrm>
          <a:prstGeom prst="rect">
            <a:avLst/>
          </a:prstGeom>
          <a:ln>
            <a:noFill/>
          </a:ln>
        </p:spPr>
      </p:pic>
      <p:cxnSp>
        <p:nvCxnSpPr>
          <p:cNvPr id="562" name="Google Shape;477;p17"/>
          <p:cNvCxnSpPr/>
          <p:nvPr/>
        </p:nvCxnSpPr>
        <p:spPr>
          <a:xfrm>
            <a:off x="8938685" y="2572848"/>
            <a:ext cx="0" cy="259466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63" name="Google Shape;478;p17"/>
          <p:cNvCxnSpPr/>
          <p:nvPr/>
        </p:nvCxnSpPr>
        <p:spPr>
          <a:xfrm>
            <a:off x="9980727" y="2572848"/>
            <a:ext cx="7398" cy="254255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64" name="Google Shape;479;p17"/>
          <p:cNvCxnSpPr/>
          <p:nvPr/>
        </p:nvCxnSpPr>
        <p:spPr>
          <a:xfrm>
            <a:off x="6916687" y="2572848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480" name="Google Shape;480;p17">
            <a:extLst>
              <a:ext uri="{FF2B5EF4-FFF2-40B4-BE49-F238E27FC236}">
                <a16:creationId xmlns:a16="http://schemas.microsoft.com/office/drawing/2014/main" id="{131C9A9F-E67A-4C30-B0B2-406F3954E015}"/>
              </a:ext>
            </a:extLst>
          </p:cNvPr>
          <p:cNvSpPr>
            <a:spLocks noGrp="1"/>
          </p:cNvSpPr>
          <p:nvPr/>
        </p:nvSpPr>
        <p:spPr>
          <a:xfrm>
            <a:off x="723066" y="2939143"/>
            <a:ext cx="537234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빛의 회절 한계로 인해 패터닝 가능한 최소 실리콘 영역, oxide를 균일하게 채워 넣을 수 있는 최소 물리적 공간을 의미</a:t>
            </a:r>
          </a:p>
        </p:txBody>
      </p:sp>
      <p:sp>
        <p:nvSpPr>
          <p:cNvPr id="548" name="Slide 5 copied left comparison heading">
            <a:extLst>
              <a:ext uri="{FF2B5EF4-FFF2-40B4-BE49-F238E27FC236}">
                <a16:creationId xmlns:a16="http://schemas.microsoft.com/office/drawing/2014/main" id="{3EC27205-11F8-41E9-8B2D-C0FD27451F49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549" name="Slide 5 copied right comparison heading">
            <a:extLst>
              <a:ext uri="{FF2B5EF4-FFF2-40B4-BE49-F238E27FC236}">
                <a16:creationId xmlns:a16="http://schemas.microsoft.com/office/drawing/2014/main" id="{944FEABA-1ED6-44C0-88DE-E7C6D3192D68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AA26D736-52A0-6D98-EA33-63A02B765C04}"/>
              </a:ext>
            </a:extLst>
          </p:cNvPr>
          <p:cNvCxnSpPr>
            <a:cxnSpLocks/>
          </p:cNvCxnSpPr>
          <p:nvPr/>
        </p:nvCxnSpPr>
        <p:spPr>
          <a:xfrm>
            <a:off x="4153695" y="5223287"/>
            <a:ext cx="0" cy="33250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4253F52-ACF7-4CAB-3131-339FF88B41E4}"/>
              </a:ext>
            </a:extLst>
          </p:cNvPr>
          <p:cNvSpPr txBox="1"/>
          <p:nvPr/>
        </p:nvSpPr>
        <p:spPr>
          <a:xfrm>
            <a:off x="4121096" y="5186464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0.1um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689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" name="Google Shape;485;p1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7672789" y="1494051"/>
            <a:ext cx="2463927" cy="2406774"/>
          </a:xfrm>
          <a:prstGeom prst="rect">
            <a:avLst/>
          </a:prstGeom>
          <a:ln>
            <a:noFill/>
          </a:ln>
        </p:spPr>
      </p:pic>
      <p:graphicFrame>
        <p:nvGraphicFramePr>
          <p:cNvPr id="570" name="Google Shape;486;p18"/>
          <p:cNvGraphicFramePr/>
          <p:nvPr>
            <p:extLst>
              <p:ext uri="{D42A27DB-BD31-4B8C-83A1-F6EECF244321}">
                <p14:modId xmlns:p14="http://schemas.microsoft.com/office/powerpoint/2010/main" val="320804363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u="none" cap="none" dirty="0">
                          <a:solidFill>
                            <a:schemeClr val="dk1"/>
                          </a:solidFill>
                        </a:rPr>
                        <a:t>OXIDE.W.2.1.1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0.12um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u="none" cap="none" dirty="0"/>
                        <a:t>Minimum 1.2V N-channel gate width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71" name="Google Shape;489;p18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72" name="Google Shape;490;p18"/>
          <p:cNvCxnSpPr/>
          <p:nvPr/>
        </p:nvCxnSpPr>
        <p:spPr>
          <a:xfrm>
            <a:off x="9215420" y="3159306"/>
            <a:ext cx="0" cy="1939336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573" name="Google Shape;491;p18"/>
          <p:cNvCxnSpPr/>
          <p:nvPr/>
        </p:nvCxnSpPr>
        <p:spPr>
          <a:xfrm>
            <a:off x="7030644" y="2845253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574" name="Google Shape;492;p1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8163" y="1347314"/>
            <a:ext cx="1874834" cy="1668866"/>
          </a:xfrm>
          <a:prstGeom prst="rect">
            <a:avLst/>
          </a:prstGeom>
          <a:ln>
            <a:noFill/>
          </a:ln>
        </p:spPr>
      </p:pic>
      <p:pic>
        <p:nvPicPr>
          <p:cNvPr id="575" name="Google Shape;493;p1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2396" y="4318657"/>
            <a:ext cx="2463927" cy="2406774"/>
          </a:xfrm>
          <a:prstGeom prst="rect">
            <a:avLst/>
          </a:prstGeom>
          <a:ln>
            <a:noFill/>
          </a:ln>
        </p:spPr>
      </p:pic>
      <p:cxnSp>
        <p:nvCxnSpPr>
          <p:cNvPr id="576" name="Google Shape;494;p18"/>
          <p:cNvCxnSpPr/>
          <p:nvPr/>
        </p:nvCxnSpPr>
        <p:spPr>
          <a:xfrm>
            <a:off x="9167576" y="4512091"/>
            <a:ext cx="321074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495" name="Google Shape;495;p18">
            <a:extLst>
              <a:ext uri="{FF2B5EF4-FFF2-40B4-BE49-F238E27FC236}">
                <a16:creationId xmlns:a16="http://schemas.microsoft.com/office/drawing/2014/main" id="{4B42C883-E899-442E-85CD-690A53F92DF4}"/>
              </a:ext>
            </a:extLst>
          </p:cNvPr>
          <p:cNvSpPr>
            <a:spLocks noGrp="1"/>
          </p:cNvSpPr>
          <p:nvPr/>
        </p:nvSpPr>
        <p:spPr>
          <a:xfrm>
            <a:off x="9009343" y="4043445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  <p:sp>
        <p:nvSpPr>
          <p:cNvPr id="496" name="Google Shape;496;p18">
            <a:extLst>
              <a:ext uri="{FF2B5EF4-FFF2-40B4-BE49-F238E27FC236}">
                <a16:creationId xmlns:a16="http://schemas.microsoft.com/office/drawing/2014/main" id="{CD1BADA7-F4BB-43C9-97C3-4DD814B31277}"/>
              </a:ext>
            </a:extLst>
          </p:cNvPr>
          <p:cNvSpPr>
            <a:spLocks noGrp="1"/>
          </p:cNvSpPr>
          <p:nvPr/>
        </p:nvSpPr>
        <p:spPr>
          <a:xfrm>
            <a:off x="7845950" y="5194023"/>
            <a:ext cx="3228000" cy="149940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497" name="Google Shape;497;p18">
            <a:extLst>
              <a:ext uri="{FF2B5EF4-FFF2-40B4-BE49-F238E27FC236}">
                <a16:creationId xmlns:a16="http://schemas.microsoft.com/office/drawing/2014/main" id="{A6B8D9A4-B461-43F9-B82B-0B1898F1E989}"/>
              </a:ext>
            </a:extLst>
          </p:cNvPr>
          <p:cNvSpPr>
            <a:spLocks noGrp="1"/>
          </p:cNvSpPr>
          <p:nvPr/>
        </p:nvSpPr>
        <p:spPr>
          <a:xfrm>
            <a:off x="7848173" y="5194022"/>
            <a:ext cx="1367988" cy="298835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498" name="Google Shape;498;p18">
            <a:extLst>
              <a:ext uri="{FF2B5EF4-FFF2-40B4-BE49-F238E27FC236}">
                <a16:creationId xmlns:a16="http://schemas.microsoft.com/office/drawing/2014/main" id="{062CF725-772C-42FE-9DCA-63AAF06EF9D7}"/>
              </a:ext>
            </a:extLst>
          </p:cNvPr>
          <p:cNvSpPr>
            <a:spLocks noGrp="1"/>
          </p:cNvSpPr>
          <p:nvPr/>
        </p:nvSpPr>
        <p:spPr>
          <a:xfrm>
            <a:off x="9216901" y="5075759"/>
            <a:ext cx="272207" cy="118267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8">
            <a:extLst>
              <a:ext uri="{FF2B5EF4-FFF2-40B4-BE49-F238E27FC236}">
                <a16:creationId xmlns:a16="http://schemas.microsoft.com/office/drawing/2014/main" id="{5458E1EF-FA5F-490E-B81C-B9EF19453A64}"/>
              </a:ext>
            </a:extLst>
          </p:cNvPr>
          <p:cNvSpPr>
            <a:spLocks noGrp="1"/>
          </p:cNvSpPr>
          <p:nvPr/>
        </p:nvSpPr>
        <p:spPr>
          <a:xfrm>
            <a:off x="9488650" y="5194022"/>
            <a:ext cx="1585308" cy="298835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cxnSp>
        <p:nvCxnSpPr>
          <p:cNvPr id="582" name="Google Shape;500;p18"/>
          <p:cNvCxnSpPr/>
          <p:nvPr/>
        </p:nvCxnSpPr>
        <p:spPr>
          <a:xfrm>
            <a:off x="9488650" y="3159306"/>
            <a:ext cx="0" cy="1939336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501" name="Google Shape;501;p18">
            <a:extLst>
              <a:ext uri="{FF2B5EF4-FFF2-40B4-BE49-F238E27FC236}">
                <a16:creationId xmlns:a16="http://schemas.microsoft.com/office/drawing/2014/main" id="{714A1B5B-4379-4834-99FF-F9B52476EB35}"/>
              </a:ext>
            </a:extLst>
          </p:cNvPr>
          <p:cNvSpPr>
            <a:spLocks noGrp="1"/>
          </p:cNvSpPr>
          <p:nvPr/>
        </p:nvSpPr>
        <p:spPr>
          <a:xfrm>
            <a:off x="9216902" y="4745129"/>
            <a:ext cx="272207" cy="330868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8">
            <a:extLst>
              <a:ext uri="{FF2B5EF4-FFF2-40B4-BE49-F238E27FC236}">
                <a16:creationId xmlns:a16="http://schemas.microsoft.com/office/drawing/2014/main" id="{5AE96153-5BDD-4274-8EA5-005D1E050EBD}"/>
              </a:ext>
            </a:extLst>
          </p:cNvPr>
          <p:cNvSpPr>
            <a:spLocks noGrp="1"/>
          </p:cNvSpPr>
          <p:nvPr/>
        </p:nvSpPr>
        <p:spPr>
          <a:xfrm>
            <a:off x="477736" y="3016180"/>
            <a:ext cx="561825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폭이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너무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좁아지면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문턱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전압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변동성이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커지고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누설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전류가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증가</a:t>
            </a:r>
            <a:r>
              <a:rPr lang="ko-KR" alt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하므로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이를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방지하고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안정적인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전류를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확보하기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채널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폭</a:t>
            </a:r>
          </a:p>
        </p:txBody>
      </p:sp>
      <p:sp>
        <p:nvSpPr>
          <p:cNvPr id="567" name="Slide 5 copied left comparison heading">
            <a:extLst>
              <a:ext uri="{FF2B5EF4-FFF2-40B4-BE49-F238E27FC236}">
                <a16:creationId xmlns:a16="http://schemas.microsoft.com/office/drawing/2014/main" id="{8A09EB92-0A02-4449-A151-3D17EFF0D9BF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568" name="Slide 5 copied right comparison heading">
            <a:extLst>
              <a:ext uri="{FF2B5EF4-FFF2-40B4-BE49-F238E27FC236}">
                <a16:creationId xmlns:a16="http://schemas.microsoft.com/office/drawing/2014/main" id="{6CF2AA26-6287-4E54-9171-4CD5B85EDA63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700B42F8-AF79-A898-A680-88FD4D5C77AC}"/>
              </a:ext>
            </a:extLst>
          </p:cNvPr>
          <p:cNvCxnSpPr>
            <a:cxnSpLocks/>
          </p:cNvCxnSpPr>
          <p:nvPr/>
        </p:nvCxnSpPr>
        <p:spPr>
          <a:xfrm>
            <a:off x="1297149" y="5811700"/>
            <a:ext cx="0" cy="33250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39A8C0B-0239-F50E-8938-8A35D00E8550}"/>
              </a:ext>
            </a:extLst>
          </p:cNvPr>
          <p:cNvSpPr txBox="1"/>
          <p:nvPr/>
        </p:nvSpPr>
        <p:spPr>
          <a:xfrm>
            <a:off x="343042" y="5780715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0.12um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940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4" name="Google Shape;507;p19"/>
          <p:cNvGraphicFramePr/>
          <p:nvPr>
            <p:extLst>
              <p:ext uri="{D42A27DB-BD31-4B8C-83A1-F6EECF244321}">
                <p14:modId xmlns:p14="http://schemas.microsoft.com/office/powerpoint/2010/main" val="124159446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OXIDE.W.3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0.13um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u="none" cap="none" dirty="0"/>
                        <a:t>Minimum Active Area bent 45 degrees width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08" name="Google Shape;508;p19">
            <a:extLst>
              <a:ext uri="{FF2B5EF4-FFF2-40B4-BE49-F238E27FC236}">
                <a16:creationId xmlns:a16="http://schemas.microsoft.com/office/drawing/2014/main" id="{6F211961-7914-4BEF-BEB8-F3ED065C3F0B}"/>
              </a:ext>
            </a:extLst>
          </p:cNvPr>
          <p:cNvSpPr>
            <a:spLocks noGrp="1"/>
          </p:cNvSpPr>
          <p:nvPr/>
        </p:nvSpPr>
        <p:spPr>
          <a:xfrm>
            <a:off x="9072729" y="4486435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0.13um</a:t>
            </a:r>
          </a:p>
        </p:txBody>
      </p:sp>
      <p:cxnSp>
        <p:nvCxnSpPr>
          <p:cNvPr id="596" name="Google Shape;511;p19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597" name="Google Shape;512;p1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118" y="1420428"/>
            <a:ext cx="2807436" cy="1765373"/>
          </a:xfrm>
          <a:prstGeom prst="rect">
            <a:avLst/>
          </a:prstGeom>
          <a:ln>
            <a:noFill/>
          </a:ln>
        </p:spPr>
      </p:pic>
      <p:pic>
        <p:nvPicPr>
          <p:cNvPr id="598" name="Google Shape;513;p19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917" y="4280720"/>
            <a:ext cx="2231830" cy="2424099"/>
          </a:xfrm>
          <a:prstGeom prst="rect">
            <a:avLst/>
          </a:prstGeom>
          <a:ln>
            <a:noFill/>
          </a:ln>
        </p:spPr>
      </p:pic>
      <p:cxnSp>
        <p:nvCxnSpPr>
          <p:cNvPr id="599" name="Google Shape;514;p19"/>
          <p:cNvCxnSpPr/>
          <p:nvPr/>
        </p:nvCxnSpPr>
        <p:spPr>
          <a:xfrm>
            <a:off x="9321800" y="4914900"/>
            <a:ext cx="36125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515" name="Google Shape;515;p19">
            <a:extLst>
              <a:ext uri="{FF2B5EF4-FFF2-40B4-BE49-F238E27FC236}">
                <a16:creationId xmlns:a16="http://schemas.microsoft.com/office/drawing/2014/main" id="{B245E8CC-7EC7-41FC-B493-CD58E08B06FD}"/>
              </a:ext>
            </a:extLst>
          </p:cNvPr>
          <p:cNvSpPr>
            <a:spLocks noGrp="1"/>
          </p:cNvSpPr>
          <p:nvPr/>
        </p:nvSpPr>
        <p:spPr>
          <a:xfrm>
            <a:off x="7845950" y="5218648"/>
            <a:ext cx="3228000" cy="147480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516" name="Google Shape;516;p19">
            <a:extLst>
              <a:ext uri="{FF2B5EF4-FFF2-40B4-BE49-F238E27FC236}">
                <a16:creationId xmlns:a16="http://schemas.microsoft.com/office/drawing/2014/main" id="{6F0FA305-2E6F-4DC8-9B0E-208F6C062930}"/>
              </a:ext>
            </a:extLst>
          </p:cNvPr>
          <p:cNvSpPr>
            <a:spLocks noGrp="1"/>
          </p:cNvSpPr>
          <p:nvPr/>
        </p:nvSpPr>
        <p:spPr>
          <a:xfrm>
            <a:off x="7845950" y="5194264"/>
            <a:ext cx="1445577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517" name="Google Shape;517;p19">
            <a:extLst>
              <a:ext uri="{FF2B5EF4-FFF2-40B4-BE49-F238E27FC236}">
                <a16:creationId xmlns:a16="http://schemas.microsoft.com/office/drawing/2014/main" id="{369360AC-3586-4C98-8796-CF348FF8ADE8}"/>
              </a:ext>
            </a:extLst>
          </p:cNvPr>
          <p:cNvSpPr>
            <a:spLocks noGrp="1"/>
          </p:cNvSpPr>
          <p:nvPr/>
        </p:nvSpPr>
        <p:spPr>
          <a:xfrm>
            <a:off x="9294250" y="5194269"/>
            <a:ext cx="388800" cy="118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9">
            <a:extLst>
              <a:ext uri="{FF2B5EF4-FFF2-40B4-BE49-F238E27FC236}">
                <a16:creationId xmlns:a16="http://schemas.microsoft.com/office/drawing/2014/main" id="{EBABE122-C4E9-4BD6-99C5-9EB18BADFF33}"/>
              </a:ext>
            </a:extLst>
          </p:cNvPr>
          <p:cNvSpPr>
            <a:spLocks noGrp="1"/>
          </p:cNvSpPr>
          <p:nvPr/>
        </p:nvSpPr>
        <p:spPr>
          <a:xfrm>
            <a:off x="9295587" y="5075997"/>
            <a:ext cx="384739" cy="118267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9">
            <a:extLst>
              <a:ext uri="{FF2B5EF4-FFF2-40B4-BE49-F238E27FC236}">
                <a16:creationId xmlns:a16="http://schemas.microsoft.com/office/drawing/2014/main" id="{DC1891CF-D4B2-47B2-9667-6D75A2141365}"/>
              </a:ext>
            </a:extLst>
          </p:cNvPr>
          <p:cNvSpPr>
            <a:spLocks noGrp="1"/>
          </p:cNvSpPr>
          <p:nvPr/>
        </p:nvSpPr>
        <p:spPr>
          <a:xfrm>
            <a:off x="9680326" y="5197282"/>
            <a:ext cx="1396273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pic>
        <p:nvPicPr>
          <p:cNvPr id="605" name="Google Shape;520;p19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 rot="-2703524">
            <a:off x="8663390" y="1626350"/>
            <a:ext cx="1638715" cy="1804842"/>
          </a:xfrm>
          <a:prstGeom prst="rect">
            <a:avLst/>
          </a:prstGeom>
          <a:ln>
            <a:noFill/>
          </a:ln>
        </p:spPr>
      </p:pic>
      <p:cxnSp>
        <p:nvCxnSpPr>
          <p:cNvPr id="606" name="Google Shape;521;p19"/>
          <p:cNvCxnSpPr/>
          <p:nvPr/>
        </p:nvCxnSpPr>
        <p:spPr>
          <a:xfrm>
            <a:off x="7030644" y="2845253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07" name="Google Shape;522;p19"/>
          <p:cNvCxnSpPr/>
          <p:nvPr/>
        </p:nvCxnSpPr>
        <p:spPr>
          <a:xfrm>
            <a:off x="9683056" y="2845253"/>
            <a:ext cx="0" cy="217860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08" name="Google Shape;523;p19"/>
          <p:cNvCxnSpPr/>
          <p:nvPr/>
        </p:nvCxnSpPr>
        <p:spPr>
          <a:xfrm>
            <a:off x="9294252" y="2919757"/>
            <a:ext cx="0" cy="210410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524" name="Google Shape;524;p19">
            <a:extLst>
              <a:ext uri="{FF2B5EF4-FFF2-40B4-BE49-F238E27FC236}">
                <a16:creationId xmlns:a16="http://schemas.microsoft.com/office/drawing/2014/main" id="{3D6492F8-44AB-414B-A89C-2B82F0F87CD2}"/>
              </a:ext>
            </a:extLst>
          </p:cNvPr>
          <p:cNvSpPr>
            <a:spLocks noGrp="1"/>
          </p:cNvSpPr>
          <p:nvPr/>
        </p:nvSpPr>
        <p:spPr>
          <a:xfrm>
            <a:off x="661118" y="3185801"/>
            <a:ext cx="52143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포토리소그래피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공정에서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45도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사선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마스크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패턴은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격자배치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노광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시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감광액이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잘려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나가는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현상이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발생해서</a:t>
            </a:r>
            <a:r>
              <a:rPr 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0.13µm보다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두꺼운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설계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필요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92" name="Slide 5 copied left comparison heading">
            <a:extLst>
              <a:ext uri="{FF2B5EF4-FFF2-40B4-BE49-F238E27FC236}">
                <a16:creationId xmlns:a16="http://schemas.microsoft.com/office/drawing/2014/main" id="{339C1730-6EB0-4834-BDC7-0470C50607B5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593" name="Slide 5 copied right comparison heading">
            <a:extLst>
              <a:ext uri="{FF2B5EF4-FFF2-40B4-BE49-F238E27FC236}">
                <a16:creationId xmlns:a16="http://schemas.microsoft.com/office/drawing/2014/main" id="{6548C1DE-0EC4-456F-862C-41CABECED922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56858C50-0303-DF51-5560-A322E3CF745D}"/>
              </a:ext>
            </a:extLst>
          </p:cNvPr>
          <p:cNvCxnSpPr>
            <a:cxnSpLocks/>
          </p:cNvCxnSpPr>
          <p:nvPr/>
        </p:nvCxnSpPr>
        <p:spPr>
          <a:xfrm>
            <a:off x="1717675" y="5327336"/>
            <a:ext cx="173038" cy="16382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78A1C98-466E-7DB6-CE6E-3E0802CD782C}"/>
              </a:ext>
            </a:extLst>
          </p:cNvPr>
          <p:cNvSpPr txBox="1"/>
          <p:nvPr/>
        </p:nvSpPr>
        <p:spPr>
          <a:xfrm>
            <a:off x="1932183" y="538428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0.13um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106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529;p2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3262" y="1541310"/>
            <a:ext cx="3595205" cy="2224732"/>
          </a:xfrm>
          <a:prstGeom prst="rect">
            <a:avLst/>
          </a:prstGeom>
          <a:ln>
            <a:noFill/>
          </a:ln>
        </p:spPr>
      </p:pic>
      <p:graphicFrame>
        <p:nvGraphicFramePr>
          <p:cNvPr id="607" name="Google Shape;530;p20"/>
          <p:cNvGraphicFramePr/>
          <p:nvPr>
            <p:extLst>
              <p:ext uri="{D42A27DB-BD31-4B8C-83A1-F6EECF244321}">
                <p14:modId xmlns:p14="http://schemas.microsoft.com/office/powerpoint/2010/main" val="2873793710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OXIDE.SP.1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0.15um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u="none" cap="none" dirty="0"/>
                        <a:t>Minimum N+ Active Area to N+ Active Area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08" name="Google Shape;531;p20"/>
          <p:cNvCxnSpPr/>
          <p:nvPr/>
        </p:nvCxnSpPr>
        <p:spPr>
          <a:xfrm>
            <a:off x="9079291" y="4493041"/>
            <a:ext cx="310818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532" name="Google Shape;532;p20">
            <a:extLst>
              <a:ext uri="{FF2B5EF4-FFF2-40B4-BE49-F238E27FC236}">
                <a16:creationId xmlns:a16="http://schemas.microsoft.com/office/drawing/2014/main" id="{228EE2CC-C1B0-4B9A-AE94-A88DF612992F}"/>
              </a:ext>
            </a:extLst>
          </p:cNvPr>
          <p:cNvSpPr>
            <a:spLocks noGrp="1"/>
          </p:cNvSpPr>
          <p:nvPr/>
        </p:nvSpPr>
        <p:spPr>
          <a:xfrm>
            <a:off x="8866957" y="4058758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0.15um</a:t>
            </a:r>
          </a:p>
        </p:txBody>
      </p:sp>
      <p:cxnSp>
        <p:nvCxnSpPr>
          <p:cNvPr id="610" name="Google Shape;533;p20"/>
          <p:cNvCxnSpPr/>
          <p:nvPr/>
        </p:nvCxnSpPr>
        <p:spPr>
          <a:xfrm>
            <a:off x="8303716" y="3238953"/>
            <a:ext cx="0" cy="248025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11" name="Google Shape;536;p20"/>
          <p:cNvCxnSpPr/>
          <p:nvPr/>
        </p:nvCxnSpPr>
        <p:spPr>
          <a:xfrm>
            <a:off x="6095999" y="1189136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12" name="Google Shape;537;p20"/>
          <p:cNvCxnSpPr/>
          <p:nvPr/>
        </p:nvCxnSpPr>
        <p:spPr>
          <a:xfrm>
            <a:off x="10184325" y="3194500"/>
            <a:ext cx="461" cy="259708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13" name="Google Shape;538;p20"/>
          <p:cNvCxnSpPr/>
          <p:nvPr/>
        </p:nvCxnSpPr>
        <p:spPr>
          <a:xfrm>
            <a:off x="9059936" y="3234853"/>
            <a:ext cx="12067" cy="209809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14" name="Google Shape;539;p20"/>
          <p:cNvCxnSpPr/>
          <p:nvPr/>
        </p:nvCxnSpPr>
        <p:spPr>
          <a:xfrm>
            <a:off x="9390109" y="3238953"/>
            <a:ext cx="0" cy="209399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15" name="Google Shape;540;p20"/>
          <p:cNvCxnSpPr/>
          <p:nvPr/>
        </p:nvCxnSpPr>
        <p:spPr>
          <a:xfrm>
            <a:off x="7030643" y="3238953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616" name="Google Shape;541;p20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2865" y="1349890"/>
            <a:ext cx="3715285" cy="1540483"/>
          </a:xfrm>
          <a:prstGeom prst="rect">
            <a:avLst/>
          </a:prstGeom>
          <a:ln>
            <a:noFill/>
          </a:ln>
        </p:spPr>
      </p:pic>
      <p:pic>
        <p:nvPicPr>
          <p:cNvPr id="617" name="Google Shape;542;p2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210" y="4057831"/>
            <a:ext cx="4038109" cy="2498804"/>
          </a:xfrm>
          <a:prstGeom prst="rect">
            <a:avLst/>
          </a:prstGeom>
          <a:ln>
            <a:noFill/>
          </a:ln>
        </p:spPr>
      </p:pic>
      <p:sp>
        <p:nvSpPr>
          <p:cNvPr id="543" name="Google Shape;543;p20">
            <a:extLst>
              <a:ext uri="{FF2B5EF4-FFF2-40B4-BE49-F238E27FC236}">
                <a16:creationId xmlns:a16="http://schemas.microsoft.com/office/drawing/2014/main" id="{62F1E5F2-8E4A-46B2-A7CF-CEFDD6291EF5}"/>
              </a:ext>
            </a:extLst>
          </p:cNvPr>
          <p:cNvSpPr>
            <a:spLocks noGrp="1"/>
          </p:cNvSpPr>
          <p:nvPr/>
        </p:nvSpPr>
        <p:spPr>
          <a:xfrm>
            <a:off x="7667750" y="5173923"/>
            <a:ext cx="3706200" cy="86130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544" name="Google Shape;544;p20">
            <a:extLst>
              <a:ext uri="{FF2B5EF4-FFF2-40B4-BE49-F238E27FC236}">
                <a16:creationId xmlns:a16="http://schemas.microsoft.com/office/drawing/2014/main" id="{BD56049D-F981-4469-AFC9-C3A3DBA94203}"/>
              </a:ext>
            </a:extLst>
          </p:cNvPr>
          <p:cNvSpPr>
            <a:spLocks noGrp="1"/>
          </p:cNvSpPr>
          <p:nvPr/>
        </p:nvSpPr>
        <p:spPr>
          <a:xfrm>
            <a:off x="8301848" y="4992036"/>
            <a:ext cx="758088" cy="100834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545" name="Google Shape;545;p20">
            <a:extLst>
              <a:ext uri="{FF2B5EF4-FFF2-40B4-BE49-F238E27FC236}">
                <a16:creationId xmlns:a16="http://schemas.microsoft.com/office/drawing/2014/main" id="{B4F24DB2-866F-4C1B-A8D2-AB85B3814321}"/>
              </a:ext>
            </a:extLst>
          </p:cNvPr>
          <p:cNvSpPr>
            <a:spLocks noGrp="1"/>
          </p:cNvSpPr>
          <p:nvPr/>
        </p:nvSpPr>
        <p:spPr>
          <a:xfrm>
            <a:off x="8301850" y="5095875"/>
            <a:ext cx="758100" cy="100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546" name="Google Shape;546;p20">
            <a:extLst>
              <a:ext uri="{FF2B5EF4-FFF2-40B4-BE49-F238E27FC236}">
                <a16:creationId xmlns:a16="http://schemas.microsoft.com/office/drawing/2014/main" id="{40AE4513-38AC-4795-A722-39A43068FB43}"/>
              </a:ext>
            </a:extLst>
          </p:cNvPr>
          <p:cNvSpPr>
            <a:spLocks noGrp="1"/>
          </p:cNvSpPr>
          <p:nvPr/>
        </p:nvSpPr>
        <p:spPr>
          <a:xfrm>
            <a:off x="9398873" y="4992036"/>
            <a:ext cx="779991" cy="100834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547" name="Google Shape;547;p20">
            <a:extLst>
              <a:ext uri="{FF2B5EF4-FFF2-40B4-BE49-F238E27FC236}">
                <a16:creationId xmlns:a16="http://schemas.microsoft.com/office/drawing/2014/main" id="{2FB80EC0-FE06-464C-AD9E-CFA842B3A027}"/>
              </a:ext>
            </a:extLst>
          </p:cNvPr>
          <p:cNvSpPr>
            <a:spLocks noGrp="1"/>
          </p:cNvSpPr>
          <p:nvPr/>
        </p:nvSpPr>
        <p:spPr>
          <a:xfrm>
            <a:off x="9398875" y="5095875"/>
            <a:ext cx="780000" cy="100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548" name="Google Shape;548;p20">
            <a:extLst>
              <a:ext uri="{FF2B5EF4-FFF2-40B4-BE49-F238E27FC236}">
                <a16:creationId xmlns:a16="http://schemas.microsoft.com/office/drawing/2014/main" id="{31349A04-3FA6-4A97-A7F7-C25FA92DFB97}"/>
              </a:ext>
            </a:extLst>
          </p:cNvPr>
          <p:cNvSpPr>
            <a:spLocks noGrp="1"/>
          </p:cNvSpPr>
          <p:nvPr/>
        </p:nvSpPr>
        <p:spPr>
          <a:xfrm>
            <a:off x="7664444" y="5092869"/>
            <a:ext cx="630578" cy="25472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549" name="Google Shape;549;p20">
            <a:extLst>
              <a:ext uri="{FF2B5EF4-FFF2-40B4-BE49-F238E27FC236}">
                <a16:creationId xmlns:a16="http://schemas.microsoft.com/office/drawing/2014/main" id="{D3E94E71-E0CF-474C-B651-05C6BD0ABDC7}"/>
              </a:ext>
            </a:extLst>
          </p:cNvPr>
          <p:cNvSpPr>
            <a:spLocks noGrp="1"/>
          </p:cNvSpPr>
          <p:nvPr/>
        </p:nvSpPr>
        <p:spPr>
          <a:xfrm>
            <a:off x="9075082" y="5092869"/>
            <a:ext cx="320488" cy="25472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20">
            <a:extLst>
              <a:ext uri="{FF2B5EF4-FFF2-40B4-BE49-F238E27FC236}">
                <a16:creationId xmlns:a16="http://schemas.microsoft.com/office/drawing/2014/main" id="{1188B212-4BA4-48FF-A792-A776D9CEEDC3}"/>
              </a:ext>
            </a:extLst>
          </p:cNvPr>
          <p:cNvSpPr>
            <a:spLocks noGrp="1"/>
          </p:cNvSpPr>
          <p:nvPr/>
        </p:nvSpPr>
        <p:spPr>
          <a:xfrm>
            <a:off x="10187042" y="5102738"/>
            <a:ext cx="1183920" cy="25472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551" name="Google Shape;551;p20">
            <a:extLst>
              <a:ext uri="{FF2B5EF4-FFF2-40B4-BE49-F238E27FC236}">
                <a16:creationId xmlns:a16="http://schemas.microsoft.com/office/drawing/2014/main" id="{D750875D-3492-46A3-B698-BED912F4FDF1}"/>
              </a:ext>
            </a:extLst>
          </p:cNvPr>
          <p:cNvSpPr>
            <a:spLocks noGrp="1"/>
          </p:cNvSpPr>
          <p:nvPr/>
        </p:nvSpPr>
        <p:spPr>
          <a:xfrm>
            <a:off x="553556" y="3012707"/>
            <a:ext cx="554244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두 Active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패턴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사이의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거리가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너무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가까우면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식각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Oxide를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채워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넣을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때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내부에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빈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공간이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생겨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short가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발생할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있음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04" name="Slide 5 copied left comparison heading">
            <a:extLst>
              <a:ext uri="{FF2B5EF4-FFF2-40B4-BE49-F238E27FC236}">
                <a16:creationId xmlns:a16="http://schemas.microsoft.com/office/drawing/2014/main" id="{1268C082-899B-42AA-9B03-D5B6ABD2FE16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605" name="Slide 5 copied right comparison heading">
            <a:extLst>
              <a:ext uri="{FF2B5EF4-FFF2-40B4-BE49-F238E27FC236}">
                <a16:creationId xmlns:a16="http://schemas.microsoft.com/office/drawing/2014/main" id="{2C6FBBF7-04E4-4437-9D76-0E3712914A1B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081C52D2-5F43-9F40-C881-7A89EBDCE73C}"/>
              </a:ext>
            </a:extLst>
          </p:cNvPr>
          <p:cNvCxnSpPr>
            <a:cxnSpLocks/>
          </p:cNvCxnSpPr>
          <p:nvPr/>
        </p:nvCxnSpPr>
        <p:spPr>
          <a:xfrm>
            <a:off x="2225040" y="5582158"/>
            <a:ext cx="358140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23AC2A5-2D75-669B-F282-C2A2462E645C}"/>
              </a:ext>
            </a:extLst>
          </p:cNvPr>
          <p:cNvSpPr txBox="1"/>
          <p:nvPr/>
        </p:nvSpPr>
        <p:spPr>
          <a:xfrm>
            <a:off x="2773460" y="5173923"/>
            <a:ext cx="945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0.15um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049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" name="Google Shape;556;p21"/>
          <p:cNvGraphicFramePr/>
          <p:nvPr>
            <p:extLst>
              <p:ext uri="{D42A27DB-BD31-4B8C-83A1-F6EECF244321}">
                <p14:modId xmlns:p14="http://schemas.microsoft.com/office/powerpoint/2010/main" val="2982168435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OXIDE.SP.2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0.15um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u="none" cap="none" dirty="0"/>
                        <a:t>Minimum P+ Active Area to P+ Active Area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76" name="Google Shape;557;p21"/>
          <p:cNvCxnSpPr/>
          <p:nvPr/>
        </p:nvCxnSpPr>
        <p:spPr>
          <a:xfrm>
            <a:off x="9367035" y="4402024"/>
            <a:ext cx="262740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558" name="Google Shape;558;p21">
            <a:extLst>
              <a:ext uri="{FF2B5EF4-FFF2-40B4-BE49-F238E27FC236}">
                <a16:creationId xmlns:a16="http://schemas.microsoft.com/office/drawing/2014/main" id="{88C66664-D17E-4823-98CA-FBB2C8D1DB1A}"/>
              </a:ext>
            </a:extLst>
          </p:cNvPr>
          <p:cNvSpPr>
            <a:spLocks noGrp="1"/>
          </p:cNvSpPr>
          <p:nvPr/>
        </p:nvSpPr>
        <p:spPr>
          <a:xfrm>
            <a:off x="9108757" y="3987371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0.15um</a:t>
            </a:r>
          </a:p>
        </p:txBody>
      </p:sp>
      <p:cxnSp>
        <p:nvCxnSpPr>
          <p:cNvPr id="678" name="Google Shape;559;p21"/>
          <p:cNvCxnSpPr/>
          <p:nvPr/>
        </p:nvCxnSpPr>
        <p:spPr>
          <a:xfrm>
            <a:off x="7871916" y="2897103"/>
            <a:ext cx="0" cy="279246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79" name="Google Shape;562;p21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680" name="Google Shape;563;p2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367" y="1254553"/>
            <a:ext cx="3816514" cy="1642550"/>
          </a:xfrm>
          <a:prstGeom prst="rect">
            <a:avLst/>
          </a:prstGeom>
          <a:ln>
            <a:noFill/>
          </a:ln>
        </p:spPr>
      </p:pic>
      <p:pic>
        <p:nvPicPr>
          <p:cNvPr id="681" name="Google Shape;564;p2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142" y="4223215"/>
            <a:ext cx="4031619" cy="2402073"/>
          </a:xfrm>
          <a:prstGeom prst="rect">
            <a:avLst/>
          </a:prstGeom>
          <a:ln>
            <a:noFill/>
          </a:ln>
        </p:spPr>
      </p:pic>
      <p:sp>
        <p:nvSpPr>
          <p:cNvPr id="565" name="Google Shape;565;p21">
            <a:extLst>
              <a:ext uri="{FF2B5EF4-FFF2-40B4-BE49-F238E27FC236}">
                <a16:creationId xmlns:a16="http://schemas.microsoft.com/office/drawing/2014/main" id="{3C50B6E3-AA65-4274-B167-70D62BBF043B}"/>
              </a:ext>
            </a:extLst>
          </p:cNvPr>
          <p:cNvSpPr>
            <a:spLocks noGrp="1"/>
          </p:cNvSpPr>
          <p:nvPr/>
        </p:nvSpPr>
        <p:spPr>
          <a:xfrm>
            <a:off x="7667746" y="5009730"/>
            <a:ext cx="3699483" cy="114397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566" name="Google Shape;566;p21">
            <a:extLst>
              <a:ext uri="{FF2B5EF4-FFF2-40B4-BE49-F238E27FC236}">
                <a16:creationId xmlns:a16="http://schemas.microsoft.com/office/drawing/2014/main" id="{69CCAD0F-CFC1-4998-AC9B-5D4681C771CA}"/>
              </a:ext>
            </a:extLst>
          </p:cNvPr>
          <p:cNvSpPr>
            <a:spLocks noGrp="1"/>
          </p:cNvSpPr>
          <p:nvPr/>
        </p:nvSpPr>
        <p:spPr>
          <a:xfrm>
            <a:off x="7871925" y="4883154"/>
            <a:ext cx="3200400" cy="450900"/>
          </a:xfrm>
          <a:prstGeom prst="rect">
            <a:avLst/>
          </a:prstGeom>
          <a:solidFill>
            <a:srgbClr val="CDACE6"/>
          </a:solidFill>
          <a:ln w="12700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Nwell</a:t>
            </a:r>
          </a:p>
        </p:txBody>
      </p:sp>
      <p:pic>
        <p:nvPicPr>
          <p:cNvPr id="684" name="Google Shape;567;p2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39467" y="1333863"/>
            <a:ext cx="3422529" cy="2039172"/>
          </a:xfrm>
          <a:prstGeom prst="rect">
            <a:avLst/>
          </a:prstGeom>
          <a:ln>
            <a:noFill/>
          </a:ln>
        </p:spPr>
      </p:pic>
      <p:cxnSp>
        <p:nvCxnSpPr>
          <p:cNvPr id="685" name="Google Shape;568;p21"/>
          <p:cNvCxnSpPr/>
          <p:nvPr/>
        </p:nvCxnSpPr>
        <p:spPr>
          <a:xfrm>
            <a:off x="7053887" y="2976249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569" name="Google Shape;569;p21">
            <a:extLst>
              <a:ext uri="{FF2B5EF4-FFF2-40B4-BE49-F238E27FC236}">
                <a16:creationId xmlns:a16="http://schemas.microsoft.com/office/drawing/2014/main" id="{7AF03437-512A-4BA3-B2BD-1823F22B33F0}"/>
              </a:ext>
            </a:extLst>
          </p:cNvPr>
          <p:cNvSpPr>
            <a:spLocks noGrp="1"/>
          </p:cNvSpPr>
          <p:nvPr/>
        </p:nvSpPr>
        <p:spPr>
          <a:xfrm>
            <a:off x="8801800" y="4787750"/>
            <a:ext cx="555900" cy="1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P+</a:t>
            </a:r>
          </a:p>
        </p:txBody>
      </p:sp>
      <p:cxnSp>
        <p:nvCxnSpPr>
          <p:cNvPr id="687" name="Google Shape;570;p21"/>
          <p:cNvCxnSpPr/>
          <p:nvPr/>
        </p:nvCxnSpPr>
        <p:spPr>
          <a:xfrm>
            <a:off x="8806630" y="2986928"/>
            <a:ext cx="0" cy="200548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88" name="Google Shape;571;p21"/>
          <p:cNvCxnSpPr/>
          <p:nvPr/>
        </p:nvCxnSpPr>
        <p:spPr>
          <a:xfrm>
            <a:off x="9357683" y="2958769"/>
            <a:ext cx="0" cy="206644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572" name="Google Shape;572;p21">
            <a:extLst>
              <a:ext uri="{FF2B5EF4-FFF2-40B4-BE49-F238E27FC236}">
                <a16:creationId xmlns:a16="http://schemas.microsoft.com/office/drawing/2014/main" id="{26CB2978-04D2-419B-8BC8-ADD11CF7F863}"/>
              </a:ext>
            </a:extLst>
          </p:cNvPr>
          <p:cNvSpPr>
            <a:spLocks noGrp="1"/>
          </p:cNvSpPr>
          <p:nvPr/>
        </p:nvSpPr>
        <p:spPr>
          <a:xfrm>
            <a:off x="8806637" y="4674138"/>
            <a:ext cx="572100" cy="10650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573" name="Google Shape;573;p21">
            <a:extLst>
              <a:ext uri="{FF2B5EF4-FFF2-40B4-BE49-F238E27FC236}">
                <a16:creationId xmlns:a16="http://schemas.microsoft.com/office/drawing/2014/main" id="{DC9FB166-326F-4E69-A3E7-22631BA1E81E}"/>
              </a:ext>
            </a:extLst>
          </p:cNvPr>
          <p:cNvSpPr>
            <a:spLocks noGrp="1"/>
          </p:cNvSpPr>
          <p:nvPr/>
        </p:nvSpPr>
        <p:spPr>
          <a:xfrm>
            <a:off x="9602125" y="4796777"/>
            <a:ext cx="519300" cy="130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P+</a:t>
            </a:r>
          </a:p>
        </p:txBody>
      </p:sp>
      <p:sp>
        <p:nvSpPr>
          <p:cNvPr id="574" name="Google Shape;574;p21">
            <a:extLst>
              <a:ext uri="{FF2B5EF4-FFF2-40B4-BE49-F238E27FC236}">
                <a16:creationId xmlns:a16="http://schemas.microsoft.com/office/drawing/2014/main" id="{B62A6949-1254-4485-9ECE-AB215A4E1EBC}"/>
              </a:ext>
            </a:extLst>
          </p:cNvPr>
          <p:cNvSpPr>
            <a:spLocks noGrp="1"/>
          </p:cNvSpPr>
          <p:nvPr/>
        </p:nvSpPr>
        <p:spPr>
          <a:xfrm>
            <a:off x="9602181" y="4663946"/>
            <a:ext cx="519300" cy="12990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cxnSp>
        <p:nvCxnSpPr>
          <p:cNvPr id="692" name="Google Shape;575;p21"/>
          <p:cNvCxnSpPr/>
          <p:nvPr/>
        </p:nvCxnSpPr>
        <p:spPr>
          <a:xfrm>
            <a:off x="9589075" y="2976249"/>
            <a:ext cx="0" cy="201209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93" name="Google Shape;576;p21"/>
          <p:cNvCxnSpPr/>
          <p:nvPr/>
        </p:nvCxnSpPr>
        <p:spPr>
          <a:xfrm>
            <a:off x="10100508" y="3031733"/>
            <a:ext cx="13657" cy="197136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577" name="Google Shape;577;p21">
            <a:extLst>
              <a:ext uri="{FF2B5EF4-FFF2-40B4-BE49-F238E27FC236}">
                <a16:creationId xmlns:a16="http://schemas.microsoft.com/office/drawing/2014/main" id="{A0C618B3-9821-4267-A400-8125A19002F3}"/>
              </a:ext>
            </a:extLst>
          </p:cNvPr>
          <p:cNvSpPr>
            <a:spLocks noGrp="1"/>
          </p:cNvSpPr>
          <p:nvPr/>
        </p:nvSpPr>
        <p:spPr>
          <a:xfrm>
            <a:off x="7642996" y="4776619"/>
            <a:ext cx="1165004" cy="222426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578" name="Google Shape;578;p21">
            <a:extLst>
              <a:ext uri="{FF2B5EF4-FFF2-40B4-BE49-F238E27FC236}">
                <a16:creationId xmlns:a16="http://schemas.microsoft.com/office/drawing/2014/main" id="{B3B85BB2-7DE4-4AD6-9CB2-4977A3B6C654}"/>
              </a:ext>
            </a:extLst>
          </p:cNvPr>
          <p:cNvSpPr>
            <a:spLocks noGrp="1"/>
          </p:cNvSpPr>
          <p:nvPr/>
        </p:nvSpPr>
        <p:spPr>
          <a:xfrm>
            <a:off x="10107335" y="4791354"/>
            <a:ext cx="1267061" cy="222426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579" name="Google Shape;579;p21">
            <a:extLst>
              <a:ext uri="{FF2B5EF4-FFF2-40B4-BE49-F238E27FC236}">
                <a16:creationId xmlns:a16="http://schemas.microsoft.com/office/drawing/2014/main" id="{6327538C-92DC-48BE-B12C-959E6CF6E906}"/>
              </a:ext>
            </a:extLst>
          </p:cNvPr>
          <p:cNvSpPr>
            <a:spLocks noGrp="1"/>
          </p:cNvSpPr>
          <p:nvPr/>
        </p:nvSpPr>
        <p:spPr>
          <a:xfrm>
            <a:off x="9353094" y="4784004"/>
            <a:ext cx="245851" cy="222426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7" name="Google Shape;580;p21"/>
          <p:cNvCxnSpPr/>
          <p:nvPr/>
        </p:nvCxnSpPr>
        <p:spPr>
          <a:xfrm>
            <a:off x="11060867" y="2826981"/>
            <a:ext cx="0" cy="194963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581" name="Google Shape;581;p21">
            <a:extLst>
              <a:ext uri="{FF2B5EF4-FFF2-40B4-BE49-F238E27FC236}">
                <a16:creationId xmlns:a16="http://schemas.microsoft.com/office/drawing/2014/main" id="{66C4C860-F71F-4920-ACB6-D269987E08E9}"/>
              </a:ext>
            </a:extLst>
          </p:cNvPr>
          <p:cNvSpPr>
            <a:spLocks noGrp="1"/>
          </p:cNvSpPr>
          <p:nvPr/>
        </p:nvSpPr>
        <p:spPr>
          <a:xfrm>
            <a:off x="553556" y="3012707"/>
            <a:ext cx="5382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두 Active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패턴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사이의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거리가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너무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가까우면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식각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Oxide를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채워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넣을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때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내부에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빈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공간이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생겨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short가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발생할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있음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73" name="Slide 5 copied left comparison heading">
            <a:extLst>
              <a:ext uri="{FF2B5EF4-FFF2-40B4-BE49-F238E27FC236}">
                <a16:creationId xmlns:a16="http://schemas.microsoft.com/office/drawing/2014/main" id="{2C2B58C6-69AA-4A49-B0AD-9B9618A1AE38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674" name="Slide 5 copied right comparison heading">
            <a:extLst>
              <a:ext uri="{FF2B5EF4-FFF2-40B4-BE49-F238E27FC236}">
                <a16:creationId xmlns:a16="http://schemas.microsoft.com/office/drawing/2014/main" id="{09EBFE87-71E4-4873-866E-5893AAAB305D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2018017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4" name="Google Shape;586;p22"/>
          <p:cNvGraphicFramePr/>
          <p:nvPr>
            <p:extLst>
              <p:ext uri="{D42A27DB-BD31-4B8C-83A1-F6EECF244321}">
                <p14:modId xmlns:p14="http://schemas.microsoft.com/office/powerpoint/2010/main" val="3065472266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OXIDE.SP.3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0.15um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u="none" cap="none" dirty="0"/>
                        <a:t>Minimum N+ Active Area to P+ Active Area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675" name="Google Shape;587;p22"/>
          <p:cNvCxnSpPr/>
          <p:nvPr/>
        </p:nvCxnSpPr>
        <p:spPr>
          <a:xfrm>
            <a:off x="8828958" y="4875734"/>
            <a:ext cx="604918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588" name="Google Shape;588;p22">
            <a:extLst>
              <a:ext uri="{FF2B5EF4-FFF2-40B4-BE49-F238E27FC236}">
                <a16:creationId xmlns:a16="http://schemas.microsoft.com/office/drawing/2014/main" id="{101D83C3-50AD-4D26-A811-C8CDDBBDBBA1}"/>
              </a:ext>
            </a:extLst>
          </p:cNvPr>
          <p:cNvSpPr>
            <a:spLocks noGrp="1"/>
          </p:cNvSpPr>
          <p:nvPr/>
        </p:nvSpPr>
        <p:spPr>
          <a:xfrm>
            <a:off x="8750093" y="4444631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0.18um</a:t>
            </a:r>
          </a:p>
        </p:txBody>
      </p:sp>
      <p:cxnSp>
        <p:nvCxnSpPr>
          <p:cNvPr id="677" name="Google Shape;591;p22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678" name="Google Shape;592;p2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423" y="1641109"/>
            <a:ext cx="3075831" cy="1526930"/>
          </a:xfrm>
          <a:prstGeom prst="rect">
            <a:avLst/>
          </a:prstGeom>
          <a:ln>
            <a:noFill/>
          </a:ln>
        </p:spPr>
      </p:pic>
      <p:pic>
        <p:nvPicPr>
          <p:cNvPr id="679" name="Google Shape;593;p2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084" y="4271178"/>
            <a:ext cx="3049107" cy="2346604"/>
          </a:xfrm>
          <a:prstGeom prst="rect">
            <a:avLst/>
          </a:prstGeom>
          <a:ln>
            <a:noFill/>
          </a:ln>
        </p:spPr>
      </p:pic>
      <p:pic>
        <p:nvPicPr>
          <p:cNvPr id="680" name="Google Shape;594;p2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04848" y="1480470"/>
            <a:ext cx="3049107" cy="2346604"/>
          </a:xfrm>
          <a:prstGeom prst="rect">
            <a:avLst/>
          </a:prstGeom>
          <a:ln>
            <a:noFill/>
          </a:ln>
        </p:spPr>
      </p:pic>
      <p:cxnSp>
        <p:nvCxnSpPr>
          <p:cNvPr id="681" name="Google Shape;595;p22"/>
          <p:cNvCxnSpPr/>
          <p:nvPr/>
        </p:nvCxnSpPr>
        <p:spPr>
          <a:xfrm>
            <a:off x="7060922" y="3086076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82" name="Google Shape;596;p22"/>
          <p:cNvCxnSpPr/>
          <p:nvPr/>
        </p:nvCxnSpPr>
        <p:spPr>
          <a:xfrm>
            <a:off x="7894384" y="3086076"/>
            <a:ext cx="7165" cy="260349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83" name="Google Shape;597;p22"/>
          <p:cNvCxnSpPr/>
          <p:nvPr/>
        </p:nvCxnSpPr>
        <p:spPr>
          <a:xfrm>
            <a:off x="10272439" y="3219195"/>
            <a:ext cx="461" cy="259708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84" name="Google Shape;598;p22"/>
          <p:cNvCxnSpPr/>
          <p:nvPr/>
        </p:nvCxnSpPr>
        <p:spPr>
          <a:xfrm>
            <a:off x="8229610" y="3086076"/>
            <a:ext cx="0" cy="224687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85" name="Google Shape;599;p22"/>
          <p:cNvCxnSpPr/>
          <p:nvPr/>
        </p:nvCxnSpPr>
        <p:spPr>
          <a:xfrm>
            <a:off x="9390109" y="2809734"/>
            <a:ext cx="33291" cy="239565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686" name="Google Shape;600;p22"/>
          <p:cNvCxnSpPr/>
          <p:nvPr/>
        </p:nvCxnSpPr>
        <p:spPr>
          <a:xfrm>
            <a:off x="8831890" y="3114035"/>
            <a:ext cx="0" cy="206544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601" name="Google Shape;601;p22">
            <a:extLst>
              <a:ext uri="{FF2B5EF4-FFF2-40B4-BE49-F238E27FC236}">
                <a16:creationId xmlns:a16="http://schemas.microsoft.com/office/drawing/2014/main" id="{DA5E3A11-B300-400A-96EC-625D53A38058}"/>
              </a:ext>
            </a:extLst>
          </p:cNvPr>
          <p:cNvSpPr>
            <a:spLocks noGrp="1"/>
          </p:cNvSpPr>
          <p:nvPr/>
        </p:nvSpPr>
        <p:spPr>
          <a:xfrm>
            <a:off x="7722482" y="5463127"/>
            <a:ext cx="3786988" cy="114397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602" name="Google Shape;602;p22">
            <a:extLst>
              <a:ext uri="{FF2B5EF4-FFF2-40B4-BE49-F238E27FC236}">
                <a16:creationId xmlns:a16="http://schemas.microsoft.com/office/drawing/2014/main" id="{A95D8015-C3A0-40B4-9494-7249AE6F2D10}"/>
              </a:ext>
            </a:extLst>
          </p:cNvPr>
          <p:cNvSpPr>
            <a:spLocks noGrp="1"/>
          </p:cNvSpPr>
          <p:nvPr/>
        </p:nvSpPr>
        <p:spPr>
          <a:xfrm>
            <a:off x="7894375" y="5287420"/>
            <a:ext cx="2788800" cy="499800"/>
          </a:xfrm>
          <a:prstGeom prst="rect">
            <a:avLst/>
          </a:prstGeom>
          <a:solidFill>
            <a:srgbClr val="CDACE6"/>
          </a:solidFill>
          <a:ln w="12700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Nwell</a:t>
            </a:r>
          </a:p>
        </p:txBody>
      </p:sp>
      <p:sp>
        <p:nvSpPr>
          <p:cNvPr id="603" name="Google Shape;603;p22">
            <a:extLst>
              <a:ext uri="{FF2B5EF4-FFF2-40B4-BE49-F238E27FC236}">
                <a16:creationId xmlns:a16="http://schemas.microsoft.com/office/drawing/2014/main" id="{0A8781A4-71E0-4FA9-B0EF-BC77F8E3E723}"/>
              </a:ext>
            </a:extLst>
          </p:cNvPr>
          <p:cNvSpPr>
            <a:spLocks noGrp="1"/>
          </p:cNvSpPr>
          <p:nvPr/>
        </p:nvSpPr>
        <p:spPr>
          <a:xfrm>
            <a:off x="8231086" y="5098832"/>
            <a:ext cx="585628" cy="106557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604" name="Google Shape;604;p22">
            <a:extLst>
              <a:ext uri="{FF2B5EF4-FFF2-40B4-BE49-F238E27FC236}">
                <a16:creationId xmlns:a16="http://schemas.microsoft.com/office/drawing/2014/main" id="{72D2D58D-B233-40AB-A5B6-3A773CB121FB}"/>
              </a:ext>
            </a:extLst>
          </p:cNvPr>
          <p:cNvSpPr>
            <a:spLocks noGrp="1"/>
          </p:cNvSpPr>
          <p:nvPr/>
        </p:nvSpPr>
        <p:spPr>
          <a:xfrm>
            <a:off x="9433875" y="5219996"/>
            <a:ext cx="838800" cy="106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P+</a:t>
            </a:r>
          </a:p>
        </p:txBody>
      </p:sp>
      <p:sp>
        <p:nvSpPr>
          <p:cNvPr id="605" name="Google Shape;605;p22">
            <a:extLst>
              <a:ext uri="{FF2B5EF4-FFF2-40B4-BE49-F238E27FC236}">
                <a16:creationId xmlns:a16="http://schemas.microsoft.com/office/drawing/2014/main" id="{DFCF555F-A0DF-432E-96E4-1CCB5742B2F6}"/>
              </a:ext>
            </a:extLst>
          </p:cNvPr>
          <p:cNvSpPr>
            <a:spLocks noGrp="1"/>
          </p:cNvSpPr>
          <p:nvPr/>
        </p:nvSpPr>
        <p:spPr>
          <a:xfrm>
            <a:off x="9433878" y="5096654"/>
            <a:ext cx="838792" cy="130046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606" name="Google Shape;606;p22">
            <a:extLst>
              <a:ext uri="{FF2B5EF4-FFF2-40B4-BE49-F238E27FC236}">
                <a16:creationId xmlns:a16="http://schemas.microsoft.com/office/drawing/2014/main" id="{1D67C40E-02DA-41B5-80A4-9F5418A341E7}"/>
              </a:ext>
            </a:extLst>
          </p:cNvPr>
          <p:cNvSpPr>
            <a:spLocks noGrp="1"/>
          </p:cNvSpPr>
          <p:nvPr/>
        </p:nvSpPr>
        <p:spPr>
          <a:xfrm>
            <a:off x="7719301" y="5205389"/>
            <a:ext cx="510309" cy="260255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607" name="Google Shape;607;p22">
            <a:extLst>
              <a:ext uri="{FF2B5EF4-FFF2-40B4-BE49-F238E27FC236}">
                <a16:creationId xmlns:a16="http://schemas.microsoft.com/office/drawing/2014/main" id="{2FB2BB4E-83F5-4581-8CAF-5C6EAD6D4ECE}"/>
              </a:ext>
            </a:extLst>
          </p:cNvPr>
          <p:cNvSpPr>
            <a:spLocks noGrp="1"/>
          </p:cNvSpPr>
          <p:nvPr/>
        </p:nvSpPr>
        <p:spPr>
          <a:xfrm>
            <a:off x="10279605" y="5239011"/>
            <a:ext cx="1229406" cy="222426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608" name="Google Shape;608;p22">
            <a:extLst>
              <a:ext uri="{FF2B5EF4-FFF2-40B4-BE49-F238E27FC236}">
                <a16:creationId xmlns:a16="http://schemas.microsoft.com/office/drawing/2014/main" id="{C6653991-67EC-43E1-8D9D-954339BD810E}"/>
              </a:ext>
            </a:extLst>
          </p:cNvPr>
          <p:cNvSpPr>
            <a:spLocks noGrp="1"/>
          </p:cNvSpPr>
          <p:nvPr/>
        </p:nvSpPr>
        <p:spPr>
          <a:xfrm>
            <a:off x="8828958" y="5229494"/>
            <a:ext cx="604918" cy="222426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22">
            <a:extLst>
              <a:ext uri="{FF2B5EF4-FFF2-40B4-BE49-F238E27FC236}">
                <a16:creationId xmlns:a16="http://schemas.microsoft.com/office/drawing/2014/main" id="{2C07CD9A-E2F2-4075-B94F-8A493C947505}"/>
              </a:ext>
            </a:extLst>
          </p:cNvPr>
          <p:cNvSpPr>
            <a:spLocks noGrp="1"/>
          </p:cNvSpPr>
          <p:nvPr/>
        </p:nvSpPr>
        <p:spPr>
          <a:xfrm>
            <a:off x="8224025" y="5208398"/>
            <a:ext cx="604800" cy="1065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610" name="Google Shape;610;p22">
            <a:extLst>
              <a:ext uri="{FF2B5EF4-FFF2-40B4-BE49-F238E27FC236}">
                <a16:creationId xmlns:a16="http://schemas.microsoft.com/office/drawing/2014/main" id="{4E0113A9-1004-4E59-A540-D84E4DC9B052}"/>
              </a:ext>
            </a:extLst>
          </p:cNvPr>
          <p:cNvSpPr>
            <a:spLocks noGrp="1"/>
          </p:cNvSpPr>
          <p:nvPr/>
        </p:nvSpPr>
        <p:spPr>
          <a:xfrm>
            <a:off x="586981" y="3257920"/>
            <a:ext cx="5382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두 Active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패턴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사이의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거리가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너무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가까우면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식각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Oxide를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채워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넣을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때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내부에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빈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공간이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생겨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short가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발생할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수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있음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72" name="Slide 5 copied left comparison heading">
            <a:extLst>
              <a:ext uri="{FF2B5EF4-FFF2-40B4-BE49-F238E27FC236}">
                <a16:creationId xmlns:a16="http://schemas.microsoft.com/office/drawing/2014/main" id="{3478411E-57A8-4A60-80A4-DFA6D10A21A1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673" name="Slide 5 copied right comparison heading">
            <a:extLst>
              <a:ext uri="{FF2B5EF4-FFF2-40B4-BE49-F238E27FC236}">
                <a16:creationId xmlns:a16="http://schemas.microsoft.com/office/drawing/2014/main" id="{1FEC54CC-4A1E-4256-8E2D-606573008237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5F89B99B-C328-D79C-C0C7-0465D1C55B1B}"/>
              </a:ext>
            </a:extLst>
          </p:cNvPr>
          <p:cNvCxnSpPr>
            <a:cxnSpLocks/>
          </p:cNvCxnSpPr>
          <p:nvPr/>
        </p:nvCxnSpPr>
        <p:spPr>
          <a:xfrm>
            <a:off x="1760938" y="5863782"/>
            <a:ext cx="50376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F7DFC27-96AD-B716-01DD-72C99C8AC9BF}"/>
              </a:ext>
            </a:extLst>
          </p:cNvPr>
          <p:cNvSpPr txBox="1"/>
          <p:nvPr/>
        </p:nvSpPr>
        <p:spPr>
          <a:xfrm>
            <a:off x="2185263" y="5455547"/>
            <a:ext cx="1023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0.18um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8839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8" name="Google Shape;615;p23"/>
          <p:cNvGraphicFramePr/>
          <p:nvPr>
            <p:extLst>
              <p:ext uri="{D42A27DB-BD31-4B8C-83A1-F6EECF244321}">
                <p14:modId xmlns:p14="http://schemas.microsoft.com/office/powerpoint/2010/main" val="14728504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OXIDE.SP.4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0.18um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u="none" cap="none" dirty="0"/>
                        <a:t>Minimum Active Area bent 45 degrees to Active Area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6" name="Google Shape;616;p23">
            <a:extLst>
              <a:ext uri="{FF2B5EF4-FFF2-40B4-BE49-F238E27FC236}">
                <a16:creationId xmlns:a16="http://schemas.microsoft.com/office/drawing/2014/main" id="{BD4505EF-C066-4CF2-BB14-F71FDB525749}"/>
              </a:ext>
            </a:extLst>
          </p:cNvPr>
          <p:cNvSpPr>
            <a:spLocks noGrp="1"/>
          </p:cNvSpPr>
          <p:nvPr/>
        </p:nvSpPr>
        <p:spPr>
          <a:xfrm>
            <a:off x="8565583" y="4739103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0.18um</a:t>
            </a:r>
          </a:p>
        </p:txBody>
      </p:sp>
      <p:cxnSp>
        <p:nvCxnSpPr>
          <p:cNvPr id="700" name="Google Shape;619;p23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701" name="Google Shape;620;p2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390" y="1434913"/>
            <a:ext cx="3739205" cy="1553208"/>
          </a:xfrm>
          <a:prstGeom prst="rect">
            <a:avLst/>
          </a:prstGeom>
          <a:ln>
            <a:noFill/>
          </a:ln>
        </p:spPr>
      </p:pic>
      <p:pic>
        <p:nvPicPr>
          <p:cNvPr id="702" name="Google Shape;621;p23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0937" y="4279497"/>
            <a:ext cx="2714299" cy="2363528"/>
          </a:xfrm>
          <a:prstGeom prst="rect">
            <a:avLst/>
          </a:prstGeom>
          <a:ln>
            <a:noFill/>
          </a:ln>
        </p:spPr>
      </p:pic>
      <p:pic>
        <p:nvPicPr>
          <p:cNvPr id="703" name="Google Shape;622;p23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2818440">
            <a:off x="7832464" y="1852440"/>
            <a:ext cx="2358469" cy="2053682"/>
          </a:xfrm>
          <a:prstGeom prst="rect">
            <a:avLst/>
          </a:prstGeom>
          <a:ln>
            <a:noFill/>
          </a:ln>
        </p:spPr>
      </p:pic>
      <p:cxnSp>
        <p:nvCxnSpPr>
          <p:cNvPr id="704" name="Google Shape;623;p23"/>
          <p:cNvCxnSpPr/>
          <p:nvPr/>
        </p:nvCxnSpPr>
        <p:spPr>
          <a:xfrm>
            <a:off x="7018533" y="3010185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705" name="Google Shape;624;p23"/>
          <p:cNvCxnSpPr/>
          <p:nvPr/>
        </p:nvCxnSpPr>
        <p:spPr>
          <a:xfrm>
            <a:off x="8589403" y="3026540"/>
            <a:ext cx="0" cy="297886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706" name="Google Shape;625;p23"/>
          <p:cNvCxnSpPr/>
          <p:nvPr/>
        </p:nvCxnSpPr>
        <p:spPr>
          <a:xfrm>
            <a:off x="8831640" y="3010185"/>
            <a:ext cx="35317" cy="302549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707" name="Google Shape;626;p23"/>
          <p:cNvCxnSpPr/>
          <p:nvPr/>
        </p:nvCxnSpPr>
        <p:spPr>
          <a:xfrm>
            <a:off x="9296909" y="3026540"/>
            <a:ext cx="16683" cy="300913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708" name="Google Shape;627;p23"/>
          <p:cNvCxnSpPr/>
          <p:nvPr/>
        </p:nvCxnSpPr>
        <p:spPr>
          <a:xfrm>
            <a:off x="9087795" y="3039646"/>
            <a:ext cx="0" cy="304047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709" name="Google Shape;628;p23"/>
          <p:cNvCxnSpPr/>
          <p:nvPr/>
        </p:nvCxnSpPr>
        <p:spPr>
          <a:xfrm>
            <a:off x="8831640" y="5134631"/>
            <a:ext cx="256155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629" name="Google Shape;629;p23">
            <a:extLst>
              <a:ext uri="{FF2B5EF4-FFF2-40B4-BE49-F238E27FC236}">
                <a16:creationId xmlns:a16="http://schemas.microsoft.com/office/drawing/2014/main" id="{B7CB6A67-EF9C-4433-8A32-FD84E4F507C2}"/>
              </a:ext>
            </a:extLst>
          </p:cNvPr>
          <p:cNvSpPr>
            <a:spLocks noGrp="1"/>
          </p:cNvSpPr>
          <p:nvPr/>
        </p:nvSpPr>
        <p:spPr>
          <a:xfrm>
            <a:off x="7331081" y="5834098"/>
            <a:ext cx="3706200" cy="68160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630" name="Google Shape;630;p23">
            <a:extLst>
              <a:ext uri="{FF2B5EF4-FFF2-40B4-BE49-F238E27FC236}">
                <a16:creationId xmlns:a16="http://schemas.microsoft.com/office/drawing/2014/main" id="{F36DCFED-FE41-4F3D-9862-56E07C7186CA}"/>
              </a:ext>
            </a:extLst>
          </p:cNvPr>
          <p:cNvSpPr>
            <a:spLocks noGrp="1"/>
          </p:cNvSpPr>
          <p:nvPr/>
        </p:nvSpPr>
        <p:spPr>
          <a:xfrm>
            <a:off x="8589403" y="5652833"/>
            <a:ext cx="269375" cy="100834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23">
            <a:extLst>
              <a:ext uri="{FF2B5EF4-FFF2-40B4-BE49-F238E27FC236}">
                <a16:creationId xmlns:a16="http://schemas.microsoft.com/office/drawing/2014/main" id="{82C5F3AE-F649-4BAF-B018-073D32A1A9FD}"/>
              </a:ext>
            </a:extLst>
          </p:cNvPr>
          <p:cNvSpPr>
            <a:spLocks noGrp="1"/>
          </p:cNvSpPr>
          <p:nvPr/>
        </p:nvSpPr>
        <p:spPr>
          <a:xfrm>
            <a:off x="8581225" y="5756675"/>
            <a:ext cx="293700" cy="107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23">
            <a:extLst>
              <a:ext uri="{FF2B5EF4-FFF2-40B4-BE49-F238E27FC236}">
                <a16:creationId xmlns:a16="http://schemas.microsoft.com/office/drawing/2014/main" id="{47D35A71-C83B-41C5-8160-3967C61711F1}"/>
              </a:ext>
            </a:extLst>
          </p:cNvPr>
          <p:cNvSpPr>
            <a:spLocks noGrp="1"/>
          </p:cNvSpPr>
          <p:nvPr/>
        </p:nvSpPr>
        <p:spPr>
          <a:xfrm>
            <a:off x="7338476" y="5740809"/>
            <a:ext cx="1242741" cy="25472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633" name="Google Shape;633;p23">
            <a:extLst>
              <a:ext uri="{FF2B5EF4-FFF2-40B4-BE49-F238E27FC236}">
                <a16:creationId xmlns:a16="http://schemas.microsoft.com/office/drawing/2014/main" id="{424DAF68-A4BB-43F7-8F2A-FA85E395E466}"/>
              </a:ext>
            </a:extLst>
          </p:cNvPr>
          <p:cNvSpPr>
            <a:spLocks noGrp="1"/>
          </p:cNvSpPr>
          <p:nvPr/>
        </p:nvSpPr>
        <p:spPr>
          <a:xfrm>
            <a:off x="8875137" y="5740809"/>
            <a:ext cx="204478" cy="25472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23">
            <a:extLst>
              <a:ext uri="{FF2B5EF4-FFF2-40B4-BE49-F238E27FC236}">
                <a16:creationId xmlns:a16="http://schemas.microsoft.com/office/drawing/2014/main" id="{8978228B-225C-44D2-8334-F818A957CF9E}"/>
              </a:ext>
            </a:extLst>
          </p:cNvPr>
          <p:cNvSpPr>
            <a:spLocks noGrp="1"/>
          </p:cNvSpPr>
          <p:nvPr/>
        </p:nvSpPr>
        <p:spPr>
          <a:xfrm>
            <a:off x="9313592" y="5750678"/>
            <a:ext cx="1731403" cy="25472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635" name="Google Shape;635;p23">
            <a:extLst>
              <a:ext uri="{FF2B5EF4-FFF2-40B4-BE49-F238E27FC236}">
                <a16:creationId xmlns:a16="http://schemas.microsoft.com/office/drawing/2014/main" id="{E1AE497D-FC38-4F13-ABA4-6CFD8902FFEF}"/>
              </a:ext>
            </a:extLst>
          </p:cNvPr>
          <p:cNvSpPr>
            <a:spLocks noGrp="1"/>
          </p:cNvSpPr>
          <p:nvPr/>
        </p:nvSpPr>
        <p:spPr>
          <a:xfrm>
            <a:off x="9095975" y="5629140"/>
            <a:ext cx="209438" cy="100834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23">
            <a:extLst>
              <a:ext uri="{FF2B5EF4-FFF2-40B4-BE49-F238E27FC236}">
                <a16:creationId xmlns:a16="http://schemas.microsoft.com/office/drawing/2014/main" id="{1DF25FEA-FED7-4074-9A0B-3B45462DD52E}"/>
              </a:ext>
            </a:extLst>
          </p:cNvPr>
          <p:cNvSpPr>
            <a:spLocks noGrp="1"/>
          </p:cNvSpPr>
          <p:nvPr/>
        </p:nvSpPr>
        <p:spPr>
          <a:xfrm>
            <a:off x="9079625" y="5732975"/>
            <a:ext cx="225900" cy="130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23">
            <a:extLst>
              <a:ext uri="{FF2B5EF4-FFF2-40B4-BE49-F238E27FC236}">
                <a16:creationId xmlns:a16="http://schemas.microsoft.com/office/drawing/2014/main" id="{4FF2AEA8-8147-46E8-8871-99FD7E384E4E}"/>
              </a:ext>
            </a:extLst>
          </p:cNvPr>
          <p:cNvSpPr>
            <a:spLocks noGrp="1"/>
          </p:cNvSpPr>
          <p:nvPr/>
        </p:nvSpPr>
        <p:spPr>
          <a:xfrm>
            <a:off x="642390" y="3147461"/>
            <a:ext cx="531968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45도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기울어진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패턴이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맞닿는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부분은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빛의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간섭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현상으로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인해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마스크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패턴이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쉽게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뭉개지거나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연결될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위험이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큼</a:t>
            </a:r>
          </a:p>
        </p:txBody>
      </p:sp>
      <p:sp>
        <p:nvSpPr>
          <p:cNvPr id="696" name="Slide 5 copied left comparison heading">
            <a:extLst>
              <a:ext uri="{FF2B5EF4-FFF2-40B4-BE49-F238E27FC236}">
                <a16:creationId xmlns:a16="http://schemas.microsoft.com/office/drawing/2014/main" id="{4E75535E-7B4F-41FF-96B2-8E96FC604F62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697" name="Slide 5 copied right comparison heading">
            <a:extLst>
              <a:ext uri="{FF2B5EF4-FFF2-40B4-BE49-F238E27FC236}">
                <a16:creationId xmlns:a16="http://schemas.microsoft.com/office/drawing/2014/main" id="{8EA3B461-6EB5-4F60-8A40-2CE97DC16052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1A8FE189-6414-E78F-5E90-CD956309B5E8}"/>
              </a:ext>
            </a:extLst>
          </p:cNvPr>
          <p:cNvCxnSpPr>
            <a:cxnSpLocks/>
          </p:cNvCxnSpPr>
          <p:nvPr/>
        </p:nvCxnSpPr>
        <p:spPr>
          <a:xfrm>
            <a:off x="1638300" y="5438040"/>
            <a:ext cx="245058" cy="241517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C28B923-4B87-504C-F03E-01C8CB936245}"/>
              </a:ext>
            </a:extLst>
          </p:cNvPr>
          <p:cNvSpPr txBox="1"/>
          <p:nvPr/>
        </p:nvSpPr>
        <p:spPr>
          <a:xfrm>
            <a:off x="1932368" y="546816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0.18um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809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0" name="Google Shape;642;p24"/>
          <p:cNvGraphicFramePr/>
          <p:nvPr>
            <p:extLst>
              <p:ext uri="{D42A27DB-BD31-4B8C-83A1-F6EECF244321}">
                <p14:modId xmlns:p14="http://schemas.microsoft.com/office/powerpoint/2010/main" val="34587694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OXIDE.SE.1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0.28um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u="none" cap="none" dirty="0"/>
                        <a:t>Minimum Active Area to Thick Active Area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41" name="Google Shape;643;p24"/>
          <p:cNvCxnSpPr/>
          <p:nvPr/>
        </p:nvCxnSpPr>
        <p:spPr>
          <a:xfrm>
            <a:off x="8376617" y="4814774"/>
            <a:ext cx="47951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644" name="Google Shape;644;p24">
            <a:extLst>
              <a:ext uri="{FF2B5EF4-FFF2-40B4-BE49-F238E27FC236}">
                <a16:creationId xmlns:a16="http://schemas.microsoft.com/office/drawing/2014/main" id="{16224953-2880-49D9-89AB-E41356F7DA6D}"/>
              </a:ext>
            </a:extLst>
          </p:cNvPr>
          <p:cNvSpPr>
            <a:spLocks noGrp="1"/>
          </p:cNvSpPr>
          <p:nvPr/>
        </p:nvSpPr>
        <p:spPr>
          <a:xfrm>
            <a:off x="8247932" y="4345811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0.28um</a:t>
            </a:r>
          </a:p>
        </p:txBody>
      </p:sp>
      <p:cxnSp>
        <p:nvCxnSpPr>
          <p:cNvPr id="743" name="Google Shape;647;p24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744" name="Google Shape;648;p24"/>
          <p:cNvCxnSpPr>
            <a:endCxn id="649" idx="3"/>
          </p:cNvCxnSpPr>
          <p:nvPr/>
        </p:nvCxnSpPr>
        <p:spPr>
          <a:xfrm flipH="1">
            <a:off x="10028887" y="2813907"/>
            <a:ext cx="4800" cy="276270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745" name="Google Shape;650;p2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053" y="1327512"/>
            <a:ext cx="4504844" cy="1486293"/>
          </a:xfrm>
          <a:prstGeom prst="rect">
            <a:avLst/>
          </a:prstGeom>
          <a:ln>
            <a:noFill/>
          </a:ln>
        </p:spPr>
      </p:pic>
      <p:sp>
        <p:nvSpPr>
          <p:cNvPr id="651" name="Google Shape;651;p24">
            <a:extLst>
              <a:ext uri="{FF2B5EF4-FFF2-40B4-BE49-F238E27FC236}">
                <a16:creationId xmlns:a16="http://schemas.microsoft.com/office/drawing/2014/main" id="{3F188C0A-A460-407B-91A2-C3D828EB235E}"/>
              </a:ext>
            </a:extLst>
          </p:cNvPr>
          <p:cNvSpPr>
            <a:spLocks noGrp="1"/>
          </p:cNvSpPr>
          <p:nvPr/>
        </p:nvSpPr>
        <p:spPr>
          <a:xfrm>
            <a:off x="7666425" y="5817399"/>
            <a:ext cx="3706200" cy="79950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652" name="Google Shape;652;p24">
            <a:extLst>
              <a:ext uri="{FF2B5EF4-FFF2-40B4-BE49-F238E27FC236}">
                <a16:creationId xmlns:a16="http://schemas.microsoft.com/office/drawing/2014/main" id="{972613DA-96EF-419C-9FEB-4C0FEB0F1756}"/>
              </a:ext>
            </a:extLst>
          </p:cNvPr>
          <p:cNvSpPr>
            <a:spLocks noGrp="1"/>
          </p:cNvSpPr>
          <p:nvPr/>
        </p:nvSpPr>
        <p:spPr>
          <a:xfrm>
            <a:off x="8119248" y="5579336"/>
            <a:ext cx="257369" cy="100834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24">
            <a:extLst>
              <a:ext uri="{FF2B5EF4-FFF2-40B4-BE49-F238E27FC236}">
                <a16:creationId xmlns:a16="http://schemas.microsoft.com/office/drawing/2014/main" id="{06EF6E47-21C8-4858-AC41-3285B0B28FC7}"/>
              </a:ext>
            </a:extLst>
          </p:cNvPr>
          <p:cNvSpPr>
            <a:spLocks noGrp="1"/>
          </p:cNvSpPr>
          <p:nvPr/>
        </p:nvSpPr>
        <p:spPr>
          <a:xfrm>
            <a:off x="8119250" y="5683175"/>
            <a:ext cx="257400" cy="152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24">
            <a:extLst>
              <a:ext uri="{FF2B5EF4-FFF2-40B4-BE49-F238E27FC236}">
                <a16:creationId xmlns:a16="http://schemas.microsoft.com/office/drawing/2014/main" id="{E129388C-E814-4813-AEC6-247F3D425759}"/>
              </a:ext>
            </a:extLst>
          </p:cNvPr>
          <p:cNvSpPr>
            <a:spLocks noGrp="1"/>
          </p:cNvSpPr>
          <p:nvPr/>
        </p:nvSpPr>
        <p:spPr>
          <a:xfrm>
            <a:off x="8376618" y="5676141"/>
            <a:ext cx="445218" cy="25472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24">
            <a:extLst>
              <a:ext uri="{FF2B5EF4-FFF2-40B4-BE49-F238E27FC236}">
                <a16:creationId xmlns:a16="http://schemas.microsoft.com/office/drawing/2014/main" id="{6BFFCD43-7F6C-4DDD-9694-3971F2817500}"/>
              </a:ext>
            </a:extLst>
          </p:cNvPr>
          <p:cNvSpPr>
            <a:spLocks noGrp="1"/>
          </p:cNvSpPr>
          <p:nvPr/>
        </p:nvSpPr>
        <p:spPr>
          <a:xfrm>
            <a:off x="10037071" y="5684507"/>
            <a:ext cx="1332563" cy="25472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pic>
        <p:nvPicPr>
          <p:cNvPr id="751" name="Google Shape;656;p2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680" y="4464122"/>
            <a:ext cx="2597283" cy="2152761"/>
          </a:xfrm>
          <a:prstGeom prst="rect">
            <a:avLst/>
          </a:prstGeom>
          <a:ln>
            <a:noFill/>
          </a:ln>
        </p:spPr>
      </p:pic>
      <p:pic>
        <p:nvPicPr>
          <p:cNvPr id="752" name="Google Shape;657;p2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88741" y="1361895"/>
            <a:ext cx="2742515" cy="2273137"/>
          </a:xfrm>
          <a:prstGeom prst="rect">
            <a:avLst/>
          </a:prstGeom>
          <a:ln>
            <a:noFill/>
          </a:ln>
        </p:spPr>
      </p:pic>
      <p:cxnSp>
        <p:nvCxnSpPr>
          <p:cNvPr id="753" name="Google Shape;658;p24"/>
          <p:cNvCxnSpPr/>
          <p:nvPr/>
        </p:nvCxnSpPr>
        <p:spPr>
          <a:xfrm>
            <a:off x="6897797" y="2378970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754" name="Google Shape;659;p24"/>
          <p:cNvCxnSpPr/>
          <p:nvPr/>
        </p:nvCxnSpPr>
        <p:spPr>
          <a:xfrm>
            <a:off x="8111063" y="2940836"/>
            <a:ext cx="0" cy="279246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755" name="Google Shape;660;p24"/>
          <p:cNvCxnSpPr/>
          <p:nvPr/>
        </p:nvCxnSpPr>
        <p:spPr>
          <a:xfrm>
            <a:off x="8379944" y="2417108"/>
            <a:ext cx="0" cy="325493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756" name="Google Shape;661;p24"/>
          <p:cNvCxnSpPr>
            <a:endCxn id="649" idx="1"/>
          </p:cNvCxnSpPr>
          <p:nvPr/>
        </p:nvCxnSpPr>
        <p:spPr>
          <a:xfrm flipH="1">
            <a:off x="8821840" y="2433808"/>
            <a:ext cx="2400" cy="314280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662" name="Google Shape;662;p24">
            <a:extLst>
              <a:ext uri="{FF2B5EF4-FFF2-40B4-BE49-F238E27FC236}">
                <a16:creationId xmlns:a16="http://schemas.microsoft.com/office/drawing/2014/main" id="{A04C94BE-BDA2-4141-8DA2-4E4F4281F0B5}"/>
              </a:ext>
            </a:extLst>
          </p:cNvPr>
          <p:cNvSpPr>
            <a:spLocks noGrp="1"/>
          </p:cNvSpPr>
          <p:nvPr/>
        </p:nvSpPr>
        <p:spPr>
          <a:xfrm>
            <a:off x="7666421" y="5680170"/>
            <a:ext cx="444642" cy="25472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24">
            <a:extLst>
              <a:ext uri="{FF2B5EF4-FFF2-40B4-BE49-F238E27FC236}">
                <a16:creationId xmlns:a16="http://schemas.microsoft.com/office/drawing/2014/main" id="{DCCCEA91-E32F-4B25-9C69-BEFE798088C2}"/>
              </a:ext>
            </a:extLst>
          </p:cNvPr>
          <p:cNvSpPr>
            <a:spLocks noGrp="1"/>
          </p:cNvSpPr>
          <p:nvPr/>
        </p:nvSpPr>
        <p:spPr>
          <a:xfrm>
            <a:off x="8821840" y="5486604"/>
            <a:ext cx="1207047" cy="180007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Thick OXIDE</a:t>
            </a:r>
          </a:p>
        </p:txBody>
      </p:sp>
      <p:sp>
        <p:nvSpPr>
          <p:cNvPr id="663" name="Google Shape;663;p24">
            <a:extLst>
              <a:ext uri="{FF2B5EF4-FFF2-40B4-BE49-F238E27FC236}">
                <a16:creationId xmlns:a16="http://schemas.microsoft.com/office/drawing/2014/main" id="{84FB39DC-8CAF-4B5F-96AC-B4E8491FE1D2}"/>
              </a:ext>
            </a:extLst>
          </p:cNvPr>
          <p:cNvSpPr>
            <a:spLocks noGrp="1"/>
          </p:cNvSpPr>
          <p:nvPr/>
        </p:nvSpPr>
        <p:spPr>
          <a:xfrm>
            <a:off x="8821700" y="5666600"/>
            <a:ext cx="1201500" cy="168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664" name="Google Shape;664;p24">
            <a:extLst>
              <a:ext uri="{FF2B5EF4-FFF2-40B4-BE49-F238E27FC236}">
                <a16:creationId xmlns:a16="http://schemas.microsoft.com/office/drawing/2014/main" id="{D092CEBF-660D-445D-8B48-65A5361AAB2E}"/>
              </a:ext>
            </a:extLst>
          </p:cNvPr>
          <p:cNvSpPr>
            <a:spLocks noGrp="1"/>
          </p:cNvSpPr>
          <p:nvPr/>
        </p:nvSpPr>
        <p:spPr>
          <a:xfrm>
            <a:off x="637234" y="2940836"/>
            <a:ext cx="53175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얇은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oxide와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두꺼운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oxide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영역을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구분하기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위해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'Dual Oxide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Mask'를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사용하는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추가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Etch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들어가며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두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영역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간의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마스크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정렬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오차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안정성을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보장하기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위해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일반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간격보다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훨씬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넓은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마진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(0.28um)이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필요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38" name="Slide 5 copied left comparison heading">
            <a:extLst>
              <a:ext uri="{FF2B5EF4-FFF2-40B4-BE49-F238E27FC236}">
                <a16:creationId xmlns:a16="http://schemas.microsoft.com/office/drawing/2014/main" id="{FDDDB67B-1239-4787-9066-649019E46775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739" name="Slide 5 copied right comparison heading">
            <a:extLst>
              <a:ext uri="{FF2B5EF4-FFF2-40B4-BE49-F238E27FC236}">
                <a16:creationId xmlns:a16="http://schemas.microsoft.com/office/drawing/2014/main" id="{06B605E8-DAD1-41F1-95A5-E0C2A36EEC29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E550838A-B004-D65A-3658-70DC854CCC80}"/>
              </a:ext>
            </a:extLst>
          </p:cNvPr>
          <p:cNvCxnSpPr>
            <a:cxnSpLocks/>
          </p:cNvCxnSpPr>
          <p:nvPr/>
        </p:nvCxnSpPr>
        <p:spPr>
          <a:xfrm>
            <a:off x="1363980" y="5470131"/>
            <a:ext cx="419133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A7558DF-B62A-ED43-DC74-2B6FB074978C}"/>
              </a:ext>
            </a:extLst>
          </p:cNvPr>
          <p:cNvSpPr txBox="1"/>
          <p:nvPr/>
        </p:nvSpPr>
        <p:spPr>
          <a:xfrm>
            <a:off x="1729773" y="5285465"/>
            <a:ext cx="980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0.28um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4697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669;p2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08225" y="1476432"/>
            <a:ext cx="1827530" cy="1689313"/>
          </a:xfrm>
          <a:prstGeom prst="rect">
            <a:avLst/>
          </a:prstGeom>
          <a:ln>
            <a:noFill/>
          </a:ln>
        </p:spPr>
      </p:pic>
      <p:graphicFrame>
        <p:nvGraphicFramePr>
          <p:cNvPr id="739" name="Google Shape;670;p25"/>
          <p:cNvGraphicFramePr/>
          <p:nvPr>
            <p:extLst>
              <p:ext uri="{D42A27DB-BD31-4B8C-83A1-F6EECF244321}">
                <p14:modId xmlns:p14="http://schemas.microsoft.com/office/powerpoint/2010/main" val="823169363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OXIDE.A.1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0.06um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u="none" cap="none" dirty="0"/>
                        <a:t>Minimum area for Active Area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40" name="Google Shape;673;p25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741" name="Google Shape;674;p25"/>
          <p:cNvCxnSpPr/>
          <p:nvPr/>
        </p:nvCxnSpPr>
        <p:spPr>
          <a:xfrm>
            <a:off x="10033576" y="2813805"/>
            <a:ext cx="0" cy="217860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742" name="Google Shape;675;p25"/>
          <p:cNvCxnSpPr/>
          <p:nvPr/>
        </p:nvCxnSpPr>
        <p:spPr>
          <a:xfrm>
            <a:off x="8943732" y="3062746"/>
            <a:ext cx="0" cy="1939336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743" name="Google Shape;676;p25"/>
          <p:cNvCxnSpPr/>
          <p:nvPr/>
        </p:nvCxnSpPr>
        <p:spPr>
          <a:xfrm>
            <a:off x="7030644" y="2845253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744" name="Google Shape;677;p2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9738" y="1361495"/>
            <a:ext cx="3712779" cy="1641833"/>
          </a:xfrm>
          <a:prstGeom prst="rect">
            <a:avLst/>
          </a:prstGeom>
          <a:ln>
            <a:noFill/>
          </a:ln>
        </p:spPr>
      </p:pic>
      <p:pic>
        <p:nvPicPr>
          <p:cNvPr id="745" name="Google Shape;678;p2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017" y="4079512"/>
            <a:ext cx="2734846" cy="2528009"/>
          </a:xfrm>
          <a:prstGeom prst="rect">
            <a:avLst/>
          </a:prstGeom>
          <a:ln>
            <a:noFill/>
          </a:ln>
        </p:spPr>
      </p:pic>
      <p:cxnSp>
        <p:nvCxnSpPr>
          <p:cNvPr id="746" name="Google Shape;679;p25"/>
          <p:cNvCxnSpPr/>
          <p:nvPr/>
        </p:nvCxnSpPr>
        <p:spPr>
          <a:xfrm>
            <a:off x="8938685" y="4937541"/>
            <a:ext cx="1042042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680" name="Google Shape;680;p25">
            <a:extLst>
              <a:ext uri="{FF2B5EF4-FFF2-40B4-BE49-F238E27FC236}">
                <a16:creationId xmlns:a16="http://schemas.microsoft.com/office/drawing/2014/main" id="{FFE73FD2-9270-4BA7-9E2F-800448BDD7A1}"/>
              </a:ext>
            </a:extLst>
          </p:cNvPr>
          <p:cNvSpPr>
            <a:spLocks noGrp="1"/>
          </p:cNvSpPr>
          <p:nvPr/>
        </p:nvSpPr>
        <p:spPr>
          <a:xfrm>
            <a:off x="9066847" y="4537953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0.3um</a:t>
            </a:r>
          </a:p>
        </p:txBody>
      </p:sp>
      <p:sp>
        <p:nvSpPr>
          <p:cNvPr id="681" name="Google Shape;681;p25">
            <a:extLst>
              <a:ext uri="{FF2B5EF4-FFF2-40B4-BE49-F238E27FC236}">
                <a16:creationId xmlns:a16="http://schemas.microsoft.com/office/drawing/2014/main" id="{318F4FBD-C8E2-4262-A0FF-6CD5D6ADBADD}"/>
              </a:ext>
            </a:extLst>
          </p:cNvPr>
          <p:cNvSpPr>
            <a:spLocks noGrp="1"/>
          </p:cNvSpPr>
          <p:nvPr/>
        </p:nvSpPr>
        <p:spPr>
          <a:xfrm>
            <a:off x="7845950" y="5362999"/>
            <a:ext cx="3228000" cy="133050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682" name="Google Shape;682;p25">
            <a:extLst>
              <a:ext uri="{FF2B5EF4-FFF2-40B4-BE49-F238E27FC236}">
                <a16:creationId xmlns:a16="http://schemas.microsoft.com/office/drawing/2014/main" id="{FE899BB3-05C4-47F8-A11A-FC418398E5D5}"/>
              </a:ext>
            </a:extLst>
          </p:cNvPr>
          <p:cNvSpPr>
            <a:spLocks noGrp="1"/>
          </p:cNvSpPr>
          <p:nvPr/>
        </p:nvSpPr>
        <p:spPr>
          <a:xfrm>
            <a:off x="7845949" y="5161902"/>
            <a:ext cx="1095260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683" name="Google Shape;683;p25">
            <a:extLst>
              <a:ext uri="{FF2B5EF4-FFF2-40B4-BE49-F238E27FC236}">
                <a16:creationId xmlns:a16="http://schemas.microsoft.com/office/drawing/2014/main" id="{5B7B0571-C6AF-4B64-8303-1D057200A019}"/>
              </a:ext>
            </a:extLst>
          </p:cNvPr>
          <p:cNvSpPr>
            <a:spLocks noGrp="1"/>
          </p:cNvSpPr>
          <p:nvPr/>
        </p:nvSpPr>
        <p:spPr>
          <a:xfrm>
            <a:off x="8938675" y="5194271"/>
            <a:ext cx="1059000" cy="1995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684" name="Google Shape;684;p25">
            <a:extLst>
              <a:ext uri="{FF2B5EF4-FFF2-40B4-BE49-F238E27FC236}">
                <a16:creationId xmlns:a16="http://schemas.microsoft.com/office/drawing/2014/main" id="{E2538D34-48E4-4431-A219-312B5B91CA26}"/>
              </a:ext>
            </a:extLst>
          </p:cNvPr>
          <p:cNvSpPr>
            <a:spLocks noGrp="1"/>
          </p:cNvSpPr>
          <p:nvPr/>
        </p:nvSpPr>
        <p:spPr>
          <a:xfrm>
            <a:off x="8943732" y="5075997"/>
            <a:ext cx="1047813" cy="118267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685" name="Google Shape;685;p25">
            <a:extLst>
              <a:ext uri="{FF2B5EF4-FFF2-40B4-BE49-F238E27FC236}">
                <a16:creationId xmlns:a16="http://schemas.microsoft.com/office/drawing/2014/main" id="{57B4B6F9-FD32-4F0E-8861-BC460A67F0AA}"/>
              </a:ext>
            </a:extLst>
          </p:cNvPr>
          <p:cNvSpPr>
            <a:spLocks noGrp="1"/>
          </p:cNvSpPr>
          <p:nvPr/>
        </p:nvSpPr>
        <p:spPr>
          <a:xfrm>
            <a:off x="9988125" y="5167516"/>
            <a:ext cx="1095260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686" name="Google Shape;686;p25">
            <a:extLst>
              <a:ext uri="{FF2B5EF4-FFF2-40B4-BE49-F238E27FC236}">
                <a16:creationId xmlns:a16="http://schemas.microsoft.com/office/drawing/2014/main" id="{B16CE7AD-B3EA-41E8-A9B3-CCF26E07A2EA}"/>
              </a:ext>
            </a:extLst>
          </p:cNvPr>
          <p:cNvSpPr>
            <a:spLocks noGrp="1"/>
          </p:cNvSpPr>
          <p:nvPr/>
        </p:nvSpPr>
        <p:spPr>
          <a:xfrm>
            <a:off x="389738" y="3062746"/>
            <a:ext cx="57062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Active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면적이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너무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작은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형태로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존재하면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CMP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중에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연마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패드의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강한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마찰력을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견디지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못하고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패턴이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탈락되어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웨이퍼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오염을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유발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36" name="Slide 5 copied left comparison heading">
            <a:extLst>
              <a:ext uri="{FF2B5EF4-FFF2-40B4-BE49-F238E27FC236}">
                <a16:creationId xmlns:a16="http://schemas.microsoft.com/office/drawing/2014/main" id="{9C288ED3-667C-43BE-A5F9-953E98791308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737" name="Slide 5 copied right comparison heading">
            <a:extLst>
              <a:ext uri="{FF2B5EF4-FFF2-40B4-BE49-F238E27FC236}">
                <a16:creationId xmlns:a16="http://schemas.microsoft.com/office/drawing/2014/main" id="{CEED3E9F-A2D2-47D8-B3D5-E2B22D577842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1821EC2E-EE4D-EBA0-67C4-C3A83C76C4E4}"/>
              </a:ext>
            </a:extLst>
          </p:cNvPr>
          <p:cNvCxnSpPr>
            <a:cxnSpLocks/>
          </p:cNvCxnSpPr>
          <p:nvPr/>
        </p:nvCxnSpPr>
        <p:spPr>
          <a:xfrm>
            <a:off x="843149" y="5184948"/>
            <a:ext cx="1635404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8053F1A-737A-E71D-2038-47D883E19FE2}"/>
              </a:ext>
            </a:extLst>
          </p:cNvPr>
          <p:cNvSpPr txBox="1"/>
          <p:nvPr/>
        </p:nvSpPr>
        <p:spPr>
          <a:xfrm>
            <a:off x="1648439" y="4752875"/>
            <a:ext cx="82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0.3um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52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" name="Google Shape;691;p26"/>
          <p:cNvGraphicFramePr/>
          <p:nvPr>
            <p:extLst>
              <p:ext uri="{D42A27DB-BD31-4B8C-83A1-F6EECF244321}">
                <p14:modId xmlns:p14="http://schemas.microsoft.com/office/powerpoint/2010/main" val="1920398264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OXIDE.EA.1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0.1um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u="none" cap="none" dirty="0"/>
                        <a:t>Minimum Active Area enclosed area ("donut" hole surrounded by Active Area)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99" name="Google Shape;692;p26"/>
          <p:cNvCxnSpPr/>
          <p:nvPr/>
        </p:nvCxnSpPr>
        <p:spPr>
          <a:xfrm>
            <a:off x="8866957" y="4191680"/>
            <a:ext cx="950143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693" name="Google Shape;693;p26">
            <a:extLst>
              <a:ext uri="{FF2B5EF4-FFF2-40B4-BE49-F238E27FC236}">
                <a16:creationId xmlns:a16="http://schemas.microsoft.com/office/drawing/2014/main" id="{6D7A8B86-8441-4F23-A2F9-508881A03FD8}"/>
              </a:ext>
            </a:extLst>
          </p:cNvPr>
          <p:cNvSpPr>
            <a:spLocks noGrp="1"/>
          </p:cNvSpPr>
          <p:nvPr/>
        </p:nvSpPr>
        <p:spPr>
          <a:xfrm>
            <a:off x="8894635" y="3841499"/>
            <a:ext cx="9586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0.5um</a:t>
            </a:r>
          </a:p>
        </p:txBody>
      </p:sp>
      <p:cxnSp>
        <p:nvCxnSpPr>
          <p:cNvPr id="801" name="Google Shape;696;p26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802" name="Google Shape;697;p2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133" y="1358908"/>
            <a:ext cx="2751990" cy="1533448"/>
          </a:xfrm>
          <a:prstGeom prst="rect">
            <a:avLst/>
          </a:prstGeom>
          <a:ln>
            <a:noFill/>
          </a:ln>
        </p:spPr>
      </p:pic>
      <p:sp>
        <p:nvSpPr>
          <p:cNvPr id="698" name="Google Shape;698;p26">
            <a:extLst>
              <a:ext uri="{FF2B5EF4-FFF2-40B4-BE49-F238E27FC236}">
                <a16:creationId xmlns:a16="http://schemas.microsoft.com/office/drawing/2014/main" id="{90FB36AB-8A2E-4DC4-A868-0B4F5545401A}"/>
              </a:ext>
            </a:extLst>
          </p:cNvPr>
          <p:cNvSpPr>
            <a:spLocks noGrp="1"/>
          </p:cNvSpPr>
          <p:nvPr/>
        </p:nvSpPr>
        <p:spPr>
          <a:xfrm>
            <a:off x="7675025" y="5794050"/>
            <a:ext cx="3706200" cy="82440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699" name="Google Shape;699;p26">
            <a:extLst>
              <a:ext uri="{FF2B5EF4-FFF2-40B4-BE49-F238E27FC236}">
                <a16:creationId xmlns:a16="http://schemas.microsoft.com/office/drawing/2014/main" id="{48023EDE-9271-4C01-A123-FDA5CB805853}"/>
              </a:ext>
            </a:extLst>
          </p:cNvPr>
          <p:cNvSpPr>
            <a:spLocks noGrp="1"/>
          </p:cNvSpPr>
          <p:nvPr/>
        </p:nvSpPr>
        <p:spPr>
          <a:xfrm>
            <a:off x="8651978" y="5571208"/>
            <a:ext cx="214980" cy="100834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26">
            <a:extLst>
              <a:ext uri="{FF2B5EF4-FFF2-40B4-BE49-F238E27FC236}">
                <a16:creationId xmlns:a16="http://schemas.microsoft.com/office/drawing/2014/main" id="{B621EAD6-13F2-492C-87E7-CAE6D7AE1294}"/>
              </a:ext>
            </a:extLst>
          </p:cNvPr>
          <p:cNvSpPr>
            <a:spLocks noGrp="1"/>
          </p:cNvSpPr>
          <p:nvPr/>
        </p:nvSpPr>
        <p:spPr>
          <a:xfrm>
            <a:off x="8651975" y="5675049"/>
            <a:ext cx="215100" cy="149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26">
            <a:extLst>
              <a:ext uri="{FF2B5EF4-FFF2-40B4-BE49-F238E27FC236}">
                <a16:creationId xmlns:a16="http://schemas.microsoft.com/office/drawing/2014/main" id="{555959F1-8486-4200-BBDB-581C5433F1D5}"/>
              </a:ext>
            </a:extLst>
          </p:cNvPr>
          <p:cNvSpPr>
            <a:spLocks noGrp="1"/>
          </p:cNvSpPr>
          <p:nvPr/>
        </p:nvSpPr>
        <p:spPr>
          <a:xfrm>
            <a:off x="9782754" y="5573805"/>
            <a:ext cx="246133" cy="100834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26">
            <a:extLst>
              <a:ext uri="{FF2B5EF4-FFF2-40B4-BE49-F238E27FC236}">
                <a16:creationId xmlns:a16="http://schemas.microsoft.com/office/drawing/2014/main" id="{7F25344B-4D44-4233-A20B-3149782375AD}"/>
              </a:ext>
            </a:extLst>
          </p:cNvPr>
          <p:cNvSpPr>
            <a:spLocks noGrp="1"/>
          </p:cNvSpPr>
          <p:nvPr/>
        </p:nvSpPr>
        <p:spPr>
          <a:xfrm>
            <a:off x="9782750" y="5677650"/>
            <a:ext cx="246000" cy="116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26">
            <a:extLst>
              <a:ext uri="{FF2B5EF4-FFF2-40B4-BE49-F238E27FC236}">
                <a16:creationId xmlns:a16="http://schemas.microsoft.com/office/drawing/2014/main" id="{52374B48-BE96-48CF-8D2C-54C6D5A3F016}"/>
              </a:ext>
            </a:extLst>
          </p:cNvPr>
          <p:cNvSpPr>
            <a:spLocks noGrp="1"/>
          </p:cNvSpPr>
          <p:nvPr/>
        </p:nvSpPr>
        <p:spPr>
          <a:xfrm>
            <a:off x="7663115" y="5674638"/>
            <a:ext cx="980675" cy="25472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704" name="Google Shape;704;p26">
            <a:extLst>
              <a:ext uri="{FF2B5EF4-FFF2-40B4-BE49-F238E27FC236}">
                <a16:creationId xmlns:a16="http://schemas.microsoft.com/office/drawing/2014/main" id="{4EC5A530-B96F-447F-A98A-525B80F1B6F2}"/>
              </a:ext>
            </a:extLst>
          </p:cNvPr>
          <p:cNvSpPr>
            <a:spLocks noGrp="1"/>
          </p:cNvSpPr>
          <p:nvPr/>
        </p:nvSpPr>
        <p:spPr>
          <a:xfrm>
            <a:off x="8866957" y="5684507"/>
            <a:ext cx="907613" cy="25472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26">
            <a:extLst>
              <a:ext uri="{FF2B5EF4-FFF2-40B4-BE49-F238E27FC236}">
                <a16:creationId xmlns:a16="http://schemas.microsoft.com/office/drawing/2014/main" id="{2724194E-709B-48F0-8A0C-AD73509B52E7}"/>
              </a:ext>
            </a:extLst>
          </p:cNvPr>
          <p:cNvSpPr>
            <a:spLocks noGrp="1"/>
          </p:cNvSpPr>
          <p:nvPr/>
        </p:nvSpPr>
        <p:spPr>
          <a:xfrm>
            <a:off x="10037071" y="5684507"/>
            <a:ext cx="1332563" cy="25472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pic>
        <p:nvPicPr>
          <p:cNvPr id="811" name="Google Shape;706;p2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1558" y="4264885"/>
            <a:ext cx="1589574" cy="2534164"/>
          </a:xfrm>
          <a:prstGeom prst="rect">
            <a:avLst/>
          </a:prstGeom>
          <a:ln>
            <a:noFill/>
          </a:ln>
        </p:spPr>
      </p:pic>
      <p:pic>
        <p:nvPicPr>
          <p:cNvPr id="812" name="Google Shape;707;p2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13995" y="1253755"/>
            <a:ext cx="1629040" cy="2597082"/>
          </a:xfrm>
          <a:prstGeom prst="rect">
            <a:avLst/>
          </a:prstGeom>
          <a:ln>
            <a:noFill/>
          </a:ln>
        </p:spPr>
      </p:pic>
      <p:cxnSp>
        <p:nvCxnSpPr>
          <p:cNvPr id="813" name="Google Shape;708;p26"/>
          <p:cNvCxnSpPr/>
          <p:nvPr/>
        </p:nvCxnSpPr>
        <p:spPr>
          <a:xfrm>
            <a:off x="7024021" y="2760161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814" name="Google Shape;709;p26"/>
          <p:cNvCxnSpPr>
            <a:endCxn id="699" idx="1"/>
          </p:cNvCxnSpPr>
          <p:nvPr/>
        </p:nvCxnSpPr>
        <p:spPr>
          <a:xfrm flipH="1">
            <a:off x="8651978" y="2779725"/>
            <a:ext cx="7800" cy="284190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815" name="Google Shape;710;p26"/>
          <p:cNvCxnSpPr/>
          <p:nvPr/>
        </p:nvCxnSpPr>
        <p:spPr>
          <a:xfrm>
            <a:off x="8866957" y="2779713"/>
            <a:ext cx="0" cy="278288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816" name="Google Shape;711;p26"/>
          <p:cNvCxnSpPr/>
          <p:nvPr/>
        </p:nvCxnSpPr>
        <p:spPr>
          <a:xfrm>
            <a:off x="9791291" y="2800122"/>
            <a:ext cx="0" cy="273184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817" name="Google Shape;712;p26"/>
          <p:cNvCxnSpPr/>
          <p:nvPr/>
        </p:nvCxnSpPr>
        <p:spPr>
          <a:xfrm>
            <a:off x="10004032" y="2785162"/>
            <a:ext cx="24859" cy="274680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713" name="Google Shape;713;p26">
            <a:extLst>
              <a:ext uri="{FF2B5EF4-FFF2-40B4-BE49-F238E27FC236}">
                <a16:creationId xmlns:a16="http://schemas.microsoft.com/office/drawing/2014/main" id="{B3FB7ACA-AE8C-4CF2-9007-679C28C7E940}"/>
              </a:ext>
            </a:extLst>
          </p:cNvPr>
          <p:cNvSpPr>
            <a:spLocks noGrp="1"/>
          </p:cNvSpPr>
          <p:nvPr/>
        </p:nvSpPr>
        <p:spPr>
          <a:xfrm>
            <a:off x="245533" y="2971800"/>
            <a:ext cx="5765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Active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영역이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도넛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형태로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둘러싸고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있는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내부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구멍이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너무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작으면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식각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액체나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세정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케미컬의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표면장력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때문에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액체가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갇히</a:t>
            </a:r>
            <a:r>
              <a:rPr lang="ko-KR" alt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므로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이로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인해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미식각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영역이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남는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결함이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발생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796" name="Slide 5 copied left comparison heading">
            <a:extLst>
              <a:ext uri="{FF2B5EF4-FFF2-40B4-BE49-F238E27FC236}">
                <a16:creationId xmlns:a16="http://schemas.microsoft.com/office/drawing/2014/main" id="{3F2236C5-1ADB-49CD-9D61-72A0211EFE25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797" name="Slide 5 copied right comparison heading">
            <a:extLst>
              <a:ext uri="{FF2B5EF4-FFF2-40B4-BE49-F238E27FC236}">
                <a16:creationId xmlns:a16="http://schemas.microsoft.com/office/drawing/2014/main" id="{D562204C-D6C9-4B70-9802-F48DCE2E917E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2B5D522C-C87F-B280-49C8-6D8196BB3715}"/>
              </a:ext>
            </a:extLst>
          </p:cNvPr>
          <p:cNvCxnSpPr>
            <a:cxnSpLocks/>
          </p:cNvCxnSpPr>
          <p:nvPr/>
        </p:nvCxnSpPr>
        <p:spPr>
          <a:xfrm>
            <a:off x="1101725" y="5329100"/>
            <a:ext cx="847725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201A4BC-315B-2803-9445-570C0F878A0C}"/>
              </a:ext>
            </a:extLst>
          </p:cNvPr>
          <p:cNvSpPr txBox="1"/>
          <p:nvPr/>
        </p:nvSpPr>
        <p:spPr>
          <a:xfrm>
            <a:off x="1181639" y="4989252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0.5um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CC388E9-7C4A-782E-C01E-B6C1B586523E}"/>
              </a:ext>
            </a:extLst>
          </p:cNvPr>
          <p:cNvCxnSpPr>
            <a:cxnSpLocks/>
          </p:cNvCxnSpPr>
          <p:nvPr/>
        </p:nvCxnSpPr>
        <p:spPr>
          <a:xfrm>
            <a:off x="1991591" y="5404826"/>
            <a:ext cx="0" cy="33250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973AF17-7C43-1096-4F37-545819921056}"/>
              </a:ext>
            </a:extLst>
          </p:cNvPr>
          <p:cNvSpPr txBox="1"/>
          <p:nvPr/>
        </p:nvSpPr>
        <p:spPr>
          <a:xfrm>
            <a:off x="2163109" y="5329100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0.2um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59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91F14ED-64C5-BCC9-CAF9-20251E3EA7FB}"/>
              </a:ext>
            </a:extLst>
          </p:cNvPr>
          <p:cNvSpPr/>
          <p:nvPr/>
        </p:nvSpPr>
        <p:spPr>
          <a:xfrm>
            <a:off x="7662000" y="4685192"/>
            <a:ext cx="1363068" cy="342583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8" name="Google Shape;718;p27">
            <a:extLst>
              <a:ext uri="{FF2B5EF4-FFF2-40B4-BE49-F238E27FC236}">
                <a16:creationId xmlns:a16="http://schemas.microsoft.com/office/drawing/2014/main" id="{F637E806-3340-4830-ABF3-21F32E46CCD3}"/>
              </a:ext>
            </a:extLst>
          </p:cNvPr>
          <p:cNvSpPr>
            <a:spLocks noGrp="1"/>
          </p:cNvSpPr>
          <p:nvPr/>
        </p:nvSpPr>
        <p:spPr>
          <a:xfrm>
            <a:off x="7662000" y="5160051"/>
            <a:ext cx="1358700" cy="166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719" name="Google Shape;719;p27">
            <a:extLst>
              <a:ext uri="{FF2B5EF4-FFF2-40B4-BE49-F238E27FC236}">
                <a16:creationId xmlns:a16="http://schemas.microsoft.com/office/drawing/2014/main" id="{DDE5702D-409D-4037-8402-140ED6FDCD59}"/>
              </a:ext>
            </a:extLst>
          </p:cNvPr>
          <p:cNvSpPr>
            <a:spLocks noGrp="1"/>
          </p:cNvSpPr>
          <p:nvPr/>
        </p:nvSpPr>
        <p:spPr>
          <a:xfrm>
            <a:off x="7664814" y="5035726"/>
            <a:ext cx="997111" cy="126068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pic>
        <p:nvPicPr>
          <p:cNvPr id="827" name="Google Shape;720;p2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9752" y="1720050"/>
            <a:ext cx="2991004" cy="1511378"/>
          </a:xfrm>
          <a:prstGeom prst="rect">
            <a:avLst/>
          </a:prstGeom>
          <a:ln>
            <a:noFill/>
          </a:ln>
        </p:spPr>
      </p:pic>
      <p:graphicFrame>
        <p:nvGraphicFramePr>
          <p:cNvPr id="828" name="Google Shape;721;p27"/>
          <p:cNvGraphicFramePr/>
          <p:nvPr>
            <p:extLst>
              <p:ext uri="{D42A27DB-BD31-4B8C-83A1-F6EECF244321}">
                <p14:modId xmlns:p14="http://schemas.microsoft.com/office/powerpoint/2010/main" val="1012733002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OXIDE.L.1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22um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u="none" cap="none" dirty="0"/>
                        <a:t>Maximum Oxide length between two contacts when the Oxide width is &lt;= 0.18um.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29" name="Google Shape;724;p27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830" name="Google Shape;725;p27"/>
          <p:cNvCxnSpPr/>
          <p:nvPr/>
        </p:nvCxnSpPr>
        <p:spPr>
          <a:xfrm>
            <a:off x="8659253" y="2295335"/>
            <a:ext cx="0" cy="243570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831" name="Google Shape;726;p27"/>
          <p:cNvCxnSpPr/>
          <p:nvPr/>
        </p:nvCxnSpPr>
        <p:spPr>
          <a:xfrm flipH="1">
            <a:off x="8760660" y="2567153"/>
            <a:ext cx="461" cy="212972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832" name="Google Shape;727;p27"/>
          <p:cNvCxnSpPr/>
          <p:nvPr/>
        </p:nvCxnSpPr>
        <p:spPr>
          <a:xfrm>
            <a:off x="7030644" y="2845253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833" name="Google Shape;728;p27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714" y="1543375"/>
            <a:ext cx="5907286" cy="462073"/>
          </a:xfrm>
          <a:prstGeom prst="rect">
            <a:avLst/>
          </a:prstGeom>
          <a:ln>
            <a:noFill/>
          </a:ln>
        </p:spPr>
      </p:pic>
      <p:pic>
        <p:nvPicPr>
          <p:cNvPr id="834" name="Google Shape;729;p27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8395" y="4578008"/>
            <a:ext cx="2079796" cy="1179015"/>
          </a:xfrm>
          <a:prstGeom prst="rect">
            <a:avLst/>
          </a:prstGeom>
          <a:ln>
            <a:noFill/>
          </a:ln>
        </p:spPr>
      </p:pic>
      <p:pic>
        <p:nvPicPr>
          <p:cNvPr id="835" name="Google Shape;730;p2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4188" y="4306276"/>
            <a:ext cx="2991004" cy="1511378"/>
          </a:xfrm>
          <a:prstGeom prst="rect">
            <a:avLst/>
          </a:prstGeom>
          <a:ln>
            <a:noFill/>
          </a:ln>
        </p:spPr>
      </p:pic>
      <p:sp>
        <p:nvSpPr>
          <p:cNvPr id="731" name="Google Shape;731;p27">
            <a:extLst>
              <a:ext uri="{FF2B5EF4-FFF2-40B4-BE49-F238E27FC236}">
                <a16:creationId xmlns:a16="http://schemas.microsoft.com/office/drawing/2014/main" id="{31F47540-1D52-47FC-96CB-61BD0B78E9E9}"/>
              </a:ext>
            </a:extLst>
          </p:cNvPr>
          <p:cNvSpPr>
            <a:spLocks noGrp="1"/>
          </p:cNvSpPr>
          <p:nvPr/>
        </p:nvSpPr>
        <p:spPr>
          <a:xfrm>
            <a:off x="7666425" y="5326252"/>
            <a:ext cx="3706200" cy="81390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732" name="Google Shape;732;p27">
            <a:extLst>
              <a:ext uri="{FF2B5EF4-FFF2-40B4-BE49-F238E27FC236}">
                <a16:creationId xmlns:a16="http://schemas.microsoft.com/office/drawing/2014/main" id="{24D1E3DD-23BC-4BC8-AF02-E96D3409EB74}"/>
              </a:ext>
            </a:extLst>
          </p:cNvPr>
          <p:cNvSpPr>
            <a:spLocks noGrp="1"/>
          </p:cNvSpPr>
          <p:nvPr/>
        </p:nvSpPr>
        <p:spPr>
          <a:xfrm>
            <a:off x="9025069" y="5162799"/>
            <a:ext cx="2351842" cy="29575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733" name="Google Shape;733;p27">
            <a:extLst>
              <a:ext uri="{FF2B5EF4-FFF2-40B4-BE49-F238E27FC236}">
                <a16:creationId xmlns:a16="http://schemas.microsoft.com/office/drawing/2014/main" id="{84B1D02D-CA1A-4A24-AC4A-D64F63887749}"/>
              </a:ext>
            </a:extLst>
          </p:cNvPr>
          <p:cNvSpPr>
            <a:spLocks noGrp="1"/>
          </p:cNvSpPr>
          <p:nvPr/>
        </p:nvSpPr>
        <p:spPr>
          <a:xfrm>
            <a:off x="8786813" y="5027776"/>
            <a:ext cx="238255" cy="135024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27">
            <a:extLst>
              <a:ext uri="{FF2B5EF4-FFF2-40B4-BE49-F238E27FC236}">
                <a16:creationId xmlns:a16="http://schemas.microsoft.com/office/drawing/2014/main" id="{7BA639C0-967C-425E-B937-8FDA9D1A990D}"/>
              </a:ext>
            </a:extLst>
          </p:cNvPr>
          <p:cNvSpPr>
            <a:spLocks noGrp="1"/>
          </p:cNvSpPr>
          <p:nvPr/>
        </p:nvSpPr>
        <p:spPr>
          <a:xfrm>
            <a:off x="7664672" y="4340052"/>
            <a:ext cx="1353300" cy="330900"/>
          </a:xfrm>
          <a:prstGeom prst="rect">
            <a:avLst/>
          </a:prstGeom>
          <a:solidFill>
            <a:srgbClr val="D4DBE5"/>
          </a:solidFill>
          <a:ln w="12700" cmpd="sng">
            <a:solidFill>
              <a:srgbClr val="7B7B7B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METAL</a:t>
            </a:r>
          </a:p>
        </p:txBody>
      </p:sp>
      <p:sp>
        <p:nvSpPr>
          <p:cNvPr id="735" name="Google Shape;735;p27">
            <a:extLst>
              <a:ext uri="{FF2B5EF4-FFF2-40B4-BE49-F238E27FC236}">
                <a16:creationId xmlns:a16="http://schemas.microsoft.com/office/drawing/2014/main" id="{B905E93B-155E-4070-8AB8-F1F8771F724F}"/>
              </a:ext>
            </a:extLst>
          </p:cNvPr>
          <p:cNvSpPr>
            <a:spLocks noGrp="1"/>
          </p:cNvSpPr>
          <p:nvPr/>
        </p:nvSpPr>
        <p:spPr>
          <a:xfrm>
            <a:off x="8281640" y="3779506"/>
            <a:ext cx="9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22um</a:t>
            </a:r>
          </a:p>
        </p:txBody>
      </p:sp>
      <p:cxnSp>
        <p:nvCxnSpPr>
          <p:cNvPr id="841" name="Google Shape;736;p27"/>
          <p:cNvCxnSpPr/>
          <p:nvPr/>
        </p:nvCxnSpPr>
        <p:spPr>
          <a:xfrm>
            <a:off x="7367310" y="4244416"/>
            <a:ext cx="1323900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pic>
        <p:nvPicPr>
          <p:cNvPr id="842" name="Google Shape;737;p27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41690" y="4178462"/>
            <a:ext cx="685835" cy="1016052"/>
          </a:xfrm>
          <a:prstGeom prst="rect">
            <a:avLst/>
          </a:prstGeom>
          <a:ln>
            <a:noFill/>
          </a:ln>
        </p:spPr>
      </p:pic>
      <p:sp>
        <p:nvSpPr>
          <p:cNvPr id="738" name="Google Shape;738;p27">
            <a:extLst>
              <a:ext uri="{FF2B5EF4-FFF2-40B4-BE49-F238E27FC236}">
                <a16:creationId xmlns:a16="http://schemas.microsoft.com/office/drawing/2014/main" id="{616A56B9-1B37-4485-8195-D79FD4DCFC83}"/>
              </a:ext>
            </a:extLst>
          </p:cNvPr>
          <p:cNvSpPr>
            <a:spLocks noGrp="1"/>
          </p:cNvSpPr>
          <p:nvPr/>
        </p:nvSpPr>
        <p:spPr>
          <a:xfrm>
            <a:off x="238395" y="2201333"/>
            <a:ext cx="5730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 µm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이하의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얇은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Active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선이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컨택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(Contact)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없이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너무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길게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늘어서면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심각한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전압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강화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(IR Drop) 및 RC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delay가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발생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C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ontact</a:t>
            </a: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~</a:t>
            </a: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C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ontact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사이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거리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22um</a:t>
            </a:r>
          </a:p>
        </p:txBody>
      </p:sp>
      <p:sp>
        <p:nvSpPr>
          <p:cNvPr id="741" name="Google Shape;741;p27">
            <a:extLst>
              <a:ext uri="{FF2B5EF4-FFF2-40B4-BE49-F238E27FC236}">
                <a16:creationId xmlns:a16="http://schemas.microsoft.com/office/drawing/2014/main" id="{6B270847-49F9-43ED-A734-82EDF29C357F}"/>
              </a:ext>
            </a:extLst>
          </p:cNvPr>
          <p:cNvSpPr>
            <a:spLocks noGrp="1"/>
          </p:cNvSpPr>
          <p:nvPr/>
        </p:nvSpPr>
        <p:spPr>
          <a:xfrm>
            <a:off x="8659250" y="4670950"/>
            <a:ext cx="140700" cy="483000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Slide 5 copied left comparison heading">
            <a:extLst>
              <a:ext uri="{FF2B5EF4-FFF2-40B4-BE49-F238E27FC236}">
                <a16:creationId xmlns:a16="http://schemas.microsoft.com/office/drawing/2014/main" id="{A020C0C6-2A7C-49BF-83A5-E674FB203DF0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824" name="Slide 5 copied right comparison heading">
            <a:extLst>
              <a:ext uri="{FF2B5EF4-FFF2-40B4-BE49-F238E27FC236}">
                <a16:creationId xmlns:a16="http://schemas.microsoft.com/office/drawing/2014/main" id="{26A99900-68E3-4C59-A3B8-F0DCC72803F8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7443E491-DB23-041D-9885-570FFECA23CF}"/>
              </a:ext>
            </a:extLst>
          </p:cNvPr>
          <p:cNvCxnSpPr>
            <a:cxnSpLocks/>
          </p:cNvCxnSpPr>
          <p:nvPr/>
        </p:nvCxnSpPr>
        <p:spPr>
          <a:xfrm>
            <a:off x="1125075" y="4884643"/>
            <a:ext cx="221186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D064D7B-F124-47CE-992C-08F9CDEC3990}"/>
              </a:ext>
            </a:extLst>
          </p:cNvPr>
          <p:cNvSpPr txBox="1"/>
          <p:nvPr/>
        </p:nvSpPr>
        <p:spPr>
          <a:xfrm>
            <a:off x="1575243" y="4546369"/>
            <a:ext cx="82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22um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0961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E7EA711-4D22-8381-2F72-3D5C04A04EC3}"/>
              </a:ext>
            </a:extLst>
          </p:cNvPr>
          <p:cNvSpPr/>
          <p:nvPr/>
        </p:nvSpPr>
        <p:spPr>
          <a:xfrm>
            <a:off x="7676297" y="4687042"/>
            <a:ext cx="1353300" cy="342583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853" name="Google Shape;746;p2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47504" y="1842726"/>
            <a:ext cx="2311519" cy="1581231"/>
          </a:xfrm>
          <a:prstGeom prst="rect">
            <a:avLst/>
          </a:prstGeom>
          <a:ln>
            <a:noFill/>
          </a:ln>
        </p:spPr>
      </p:pic>
      <p:graphicFrame>
        <p:nvGraphicFramePr>
          <p:cNvPr id="854" name="Google Shape;747;p28"/>
          <p:cNvGraphicFramePr/>
          <p:nvPr>
            <p:extLst>
              <p:ext uri="{D42A27DB-BD31-4B8C-83A1-F6EECF244321}">
                <p14:modId xmlns:p14="http://schemas.microsoft.com/office/powerpoint/2010/main" val="2372379708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u="none" cap="none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OXIDE.L.2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</a:rPr>
                        <a:t>11um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b="0" u="none" cap="none" dirty="0"/>
                        <a:t>Maximum Oxide length between one contact and the end of the Oxide line when the Oxide width is &lt;= 0.18um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55" name="Google Shape;750;p28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856" name="Google Shape;751;p28"/>
          <p:cNvCxnSpPr/>
          <p:nvPr/>
        </p:nvCxnSpPr>
        <p:spPr>
          <a:xfrm>
            <a:off x="8589403" y="2897103"/>
            <a:ext cx="0" cy="243584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857" name="Google Shape;752;p28"/>
          <p:cNvCxnSpPr/>
          <p:nvPr/>
        </p:nvCxnSpPr>
        <p:spPr>
          <a:xfrm>
            <a:off x="8719365" y="3053074"/>
            <a:ext cx="0" cy="1939336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858" name="Google Shape;753;p28"/>
          <p:cNvCxnSpPr/>
          <p:nvPr/>
        </p:nvCxnSpPr>
        <p:spPr>
          <a:xfrm>
            <a:off x="7030644" y="2845253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859" name="Google Shape;754;p2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429" y="1558861"/>
            <a:ext cx="5677298" cy="955227"/>
          </a:xfrm>
          <a:prstGeom prst="rect">
            <a:avLst/>
          </a:prstGeom>
          <a:ln>
            <a:noFill/>
          </a:ln>
        </p:spPr>
      </p:pic>
      <p:pic>
        <p:nvPicPr>
          <p:cNvPr id="860" name="Google Shape;755;p28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4564" y="4435436"/>
            <a:ext cx="2368672" cy="1492327"/>
          </a:xfrm>
          <a:prstGeom prst="rect">
            <a:avLst/>
          </a:prstGeom>
          <a:ln>
            <a:noFill/>
          </a:ln>
        </p:spPr>
      </p:pic>
      <p:pic>
        <p:nvPicPr>
          <p:cNvPr id="861" name="Google Shape;756;p2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8477" y="4390983"/>
            <a:ext cx="2311519" cy="1581231"/>
          </a:xfrm>
          <a:prstGeom prst="rect">
            <a:avLst/>
          </a:prstGeom>
          <a:ln>
            <a:noFill/>
          </a:ln>
        </p:spPr>
      </p:pic>
      <p:sp>
        <p:nvSpPr>
          <p:cNvPr id="757" name="Google Shape;757;p28">
            <a:extLst>
              <a:ext uri="{FF2B5EF4-FFF2-40B4-BE49-F238E27FC236}">
                <a16:creationId xmlns:a16="http://schemas.microsoft.com/office/drawing/2014/main" id="{B7A5FA0A-58F0-4EC1-B739-32AC51E513C8}"/>
              </a:ext>
            </a:extLst>
          </p:cNvPr>
          <p:cNvSpPr>
            <a:spLocks noGrp="1"/>
          </p:cNvSpPr>
          <p:nvPr/>
        </p:nvSpPr>
        <p:spPr>
          <a:xfrm>
            <a:off x="7662000" y="5160051"/>
            <a:ext cx="1358700" cy="1728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758" name="Google Shape;758;p28">
            <a:extLst>
              <a:ext uri="{FF2B5EF4-FFF2-40B4-BE49-F238E27FC236}">
                <a16:creationId xmlns:a16="http://schemas.microsoft.com/office/drawing/2014/main" id="{0DF2AF48-80F1-4710-A12B-A80C20AD61D3}"/>
              </a:ext>
            </a:extLst>
          </p:cNvPr>
          <p:cNvSpPr>
            <a:spLocks noGrp="1"/>
          </p:cNvSpPr>
          <p:nvPr/>
        </p:nvSpPr>
        <p:spPr>
          <a:xfrm>
            <a:off x="7676297" y="5035725"/>
            <a:ext cx="983016" cy="118225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759" name="Google Shape;759;p28">
            <a:extLst>
              <a:ext uri="{FF2B5EF4-FFF2-40B4-BE49-F238E27FC236}">
                <a16:creationId xmlns:a16="http://schemas.microsoft.com/office/drawing/2014/main" id="{DEDD9E0C-29E1-4D65-B8EB-6F886F26B33B}"/>
              </a:ext>
            </a:extLst>
          </p:cNvPr>
          <p:cNvSpPr>
            <a:spLocks noGrp="1"/>
          </p:cNvSpPr>
          <p:nvPr/>
        </p:nvSpPr>
        <p:spPr>
          <a:xfrm>
            <a:off x="7666425" y="5332852"/>
            <a:ext cx="3706200" cy="80730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760" name="Google Shape;760;p28">
            <a:extLst>
              <a:ext uri="{FF2B5EF4-FFF2-40B4-BE49-F238E27FC236}">
                <a16:creationId xmlns:a16="http://schemas.microsoft.com/office/drawing/2014/main" id="{1D5EB3ED-F814-4E6D-BEBD-A64788DADA40}"/>
              </a:ext>
            </a:extLst>
          </p:cNvPr>
          <p:cNvSpPr>
            <a:spLocks noGrp="1"/>
          </p:cNvSpPr>
          <p:nvPr/>
        </p:nvSpPr>
        <p:spPr>
          <a:xfrm>
            <a:off x="9025069" y="5162799"/>
            <a:ext cx="2351842" cy="29575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761" name="Google Shape;761;p28">
            <a:extLst>
              <a:ext uri="{FF2B5EF4-FFF2-40B4-BE49-F238E27FC236}">
                <a16:creationId xmlns:a16="http://schemas.microsoft.com/office/drawing/2014/main" id="{4B1B9020-489C-4FFE-A5D7-B8FF8FB945A6}"/>
              </a:ext>
            </a:extLst>
          </p:cNvPr>
          <p:cNvSpPr>
            <a:spLocks noGrp="1"/>
          </p:cNvSpPr>
          <p:nvPr/>
        </p:nvSpPr>
        <p:spPr>
          <a:xfrm>
            <a:off x="8786813" y="5029626"/>
            <a:ext cx="238255" cy="133174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28">
            <a:extLst>
              <a:ext uri="{FF2B5EF4-FFF2-40B4-BE49-F238E27FC236}">
                <a16:creationId xmlns:a16="http://schemas.microsoft.com/office/drawing/2014/main" id="{F043475A-7D8D-4A11-8DB3-64F8418E5E44}"/>
              </a:ext>
            </a:extLst>
          </p:cNvPr>
          <p:cNvSpPr>
            <a:spLocks noGrp="1"/>
          </p:cNvSpPr>
          <p:nvPr/>
        </p:nvSpPr>
        <p:spPr>
          <a:xfrm>
            <a:off x="7676297" y="4340040"/>
            <a:ext cx="1353300" cy="330900"/>
          </a:xfrm>
          <a:prstGeom prst="rect">
            <a:avLst/>
          </a:prstGeom>
          <a:solidFill>
            <a:srgbClr val="D4DBE5"/>
          </a:solidFill>
          <a:ln w="12700" cmpd="sng">
            <a:solidFill>
              <a:srgbClr val="7B7B7B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METAL</a:t>
            </a:r>
          </a:p>
        </p:txBody>
      </p:sp>
      <p:sp>
        <p:nvSpPr>
          <p:cNvPr id="763" name="Google Shape;763;p28">
            <a:extLst>
              <a:ext uri="{FF2B5EF4-FFF2-40B4-BE49-F238E27FC236}">
                <a16:creationId xmlns:a16="http://schemas.microsoft.com/office/drawing/2014/main" id="{DE5EA048-A85E-4B22-8CA2-74764F8B24FA}"/>
              </a:ext>
            </a:extLst>
          </p:cNvPr>
          <p:cNvSpPr>
            <a:spLocks noGrp="1"/>
          </p:cNvSpPr>
          <p:nvPr/>
        </p:nvSpPr>
        <p:spPr>
          <a:xfrm>
            <a:off x="8332952" y="3951619"/>
            <a:ext cx="95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11um</a:t>
            </a:r>
          </a:p>
        </p:txBody>
      </p:sp>
      <p:cxnSp>
        <p:nvCxnSpPr>
          <p:cNvPr id="869" name="Google Shape;764;p28"/>
          <p:cNvCxnSpPr/>
          <p:nvPr/>
        </p:nvCxnSpPr>
        <p:spPr>
          <a:xfrm>
            <a:off x="7272135" y="4283154"/>
            <a:ext cx="1323900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768" name="Google Shape;768;p28">
            <a:extLst>
              <a:ext uri="{FF2B5EF4-FFF2-40B4-BE49-F238E27FC236}">
                <a16:creationId xmlns:a16="http://schemas.microsoft.com/office/drawing/2014/main" id="{49B5A1A1-5B16-4976-BF4A-513323B456D9}"/>
              </a:ext>
            </a:extLst>
          </p:cNvPr>
          <p:cNvSpPr>
            <a:spLocks noGrp="1"/>
          </p:cNvSpPr>
          <p:nvPr/>
        </p:nvSpPr>
        <p:spPr>
          <a:xfrm>
            <a:off x="8659250" y="4670950"/>
            <a:ext cx="140700" cy="483000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l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8">
            <a:extLst>
              <a:ext uri="{FF2B5EF4-FFF2-40B4-BE49-F238E27FC236}">
                <a16:creationId xmlns:a16="http://schemas.microsoft.com/office/drawing/2014/main" id="{8DF63A2F-A5D7-4F35-B4E0-19B3356B67B5}"/>
              </a:ext>
            </a:extLst>
          </p:cNvPr>
          <p:cNvSpPr>
            <a:spLocks noGrp="1"/>
          </p:cNvSpPr>
          <p:nvPr/>
        </p:nvSpPr>
        <p:spPr>
          <a:xfrm>
            <a:off x="252070" y="2599208"/>
            <a:ext cx="57300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 µm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이하의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얇은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Active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선이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컨택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(Contact)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없이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너무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길게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늘어서면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심각한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전압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강화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(IR Drop) 및 RC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delay가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발생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C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ontact ~ </a:t>
            </a:r>
            <a:r>
              <a:rPr lang="en-US"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O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xide 끝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사이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거리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11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um</a:t>
            </a:r>
          </a:p>
        </p:txBody>
      </p:sp>
      <p:sp>
        <p:nvSpPr>
          <p:cNvPr id="851" name="Slide 5 copied left comparison heading">
            <a:extLst>
              <a:ext uri="{FF2B5EF4-FFF2-40B4-BE49-F238E27FC236}">
                <a16:creationId xmlns:a16="http://schemas.microsoft.com/office/drawing/2014/main" id="{66C40FF0-27AF-4889-9461-E62D2F19B87B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852" name="Slide 5 copied right comparison heading">
            <a:extLst>
              <a:ext uri="{FF2B5EF4-FFF2-40B4-BE49-F238E27FC236}">
                <a16:creationId xmlns:a16="http://schemas.microsoft.com/office/drawing/2014/main" id="{0765991F-DC8E-4182-BD53-6909D8B59164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43D4E009-2CD1-4F84-4DB8-CE07A9BCEF54}"/>
              </a:ext>
            </a:extLst>
          </p:cNvPr>
          <p:cNvCxnSpPr>
            <a:cxnSpLocks/>
          </p:cNvCxnSpPr>
          <p:nvPr/>
        </p:nvCxnSpPr>
        <p:spPr>
          <a:xfrm>
            <a:off x="700644" y="4797631"/>
            <a:ext cx="378140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E71DB6C-B4FF-2C02-FACA-FCB1BAFF04E0}"/>
              </a:ext>
            </a:extLst>
          </p:cNvPr>
          <p:cNvSpPr txBox="1"/>
          <p:nvPr/>
        </p:nvSpPr>
        <p:spPr>
          <a:xfrm>
            <a:off x="3656179" y="4409641"/>
            <a:ext cx="82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11um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358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0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9">
            <a:extLst>
              <a:ext uri="{FF2B5EF4-FFF2-40B4-BE49-F238E27FC236}">
                <a16:creationId xmlns:a16="http://schemas.microsoft.com/office/drawing/2014/main" id="{A2108761-6109-4F5F-B08B-6148CCA55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5891" y="2301478"/>
            <a:ext cx="3340218" cy="225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/>
              <a:t>POLY</a:t>
            </a:r>
          </a:p>
        </p:txBody>
      </p:sp>
    </p:spTree>
    <p:extLst>
      <p:ext uri="{BB962C8B-B14F-4D97-AF65-F5344CB8AC3E}">
        <p14:creationId xmlns:p14="http://schemas.microsoft.com/office/powerpoint/2010/main" val="8477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30">
            <a:extLst>
              <a:ext uri="{FF2B5EF4-FFF2-40B4-BE49-F238E27FC236}">
                <a16:creationId xmlns:a16="http://schemas.microsoft.com/office/drawing/2014/main" id="{4922FDB3-FBE0-4B42-B962-EA519E9F42F4}"/>
              </a:ext>
            </a:extLst>
          </p:cNvPr>
          <p:cNvSpPr>
            <a:spLocks noGrp="1"/>
          </p:cNvSpPr>
          <p:nvPr/>
        </p:nvSpPr>
        <p:spPr>
          <a:xfrm>
            <a:off x="7673005" y="5291103"/>
            <a:ext cx="3709759" cy="112588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cxnSp>
        <p:nvCxnSpPr>
          <p:cNvPr id="866" name="Google Shape;780;p30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867" name="Google Shape;781;p3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05970" y="1433212"/>
            <a:ext cx="2990755" cy="2265057"/>
          </a:xfrm>
          <a:prstGeom prst="rect">
            <a:avLst/>
          </a:prstGeom>
          <a:ln>
            <a:noFill/>
          </a:ln>
        </p:spPr>
      </p:pic>
      <p:graphicFrame>
        <p:nvGraphicFramePr>
          <p:cNvPr id="868" name="Google Shape;782;p30"/>
          <p:cNvGraphicFramePr/>
          <p:nvPr>
            <p:extLst>
              <p:ext uri="{D42A27DB-BD31-4B8C-83A1-F6EECF244321}">
                <p14:modId xmlns:p14="http://schemas.microsoft.com/office/powerpoint/2010/main" val="1118168068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POLY.W.1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u="non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1.2V N-channel gate length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869" name="Google Shape;785;p30"/>
          <p:cNvCxnSpPr/>
          <p:nvPr/>
        </p:nvCxnSpPr>
        <p:spPr>
          <a:xfrm rot="10800000" flipH="1">
            <a:off x="9324557" y="4268369"/>
            <a:ext cx="261444" cy="1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786" name="Google Shape;786;p30">
            <a:extLst>
              <a:ext uri="{FF2B5EF4-FFF2-40B4-BE49-F238E27FC236}">
                <a16:creationId xmlns:a16="http://schemas.microsoft.com/office/drawing/2014/main" id="{0FFB7AB9-C140-4FBE-B9C1-A54726345C48}"/>
              </a:ext>
            </a:extLst>
          </p:cNvPr>
          <p:cNvSpPr>
            <a:spLocks noGrp="1"/>
          </p:cNvSpPr>
          <p:nvPr/>
        </p:nvSpPr>
        <p:spPr>
          <a:xfrm>
            <a:off x="6689719" y="260795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cxnSp>
        <p:nvCxnSpPr>
          <p:cNvPr id="871" name="Google Shape;787;p30"/>
          <p:cNvCxnSpPr/>
          <p:nvPr/>
        </p:nvCxnSpPr>
        <p:spPr>
          <a:xfrm>
            <a:off x="8744398" y="2900880"/>
            <a:ext cx="8964" cy="240841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872" name="Google Shape;788;p30"/>
          <p:cNvCxnSpPr/>
          <p:nvPr/>
        </p:nvCxnSpPr>
        <p:spPr>
          <a:xfrm flipH="1">
            <a:off x="9324557" y="3659055"/>
            <a:ext cx="6606" cy="150146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873" name="Google Shape;789;p30"/>
          <p:cNvCxnSpPr/>
          <p:nvPr/>
        </p:nvCxnSpPr>
        <p:spPr>
          <a:xfrm>
            <a:off x="10157198" y="2856219"/>
            <a:ext cx="8964" cy="242868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874" name="Google Shape;790;p30"/>
          <p:cNvCxnSpPr/>
          <p:nvPr/>
        </p:nvCxnSpPr>
        <p:spPr>
          <a:xfrm>
            <a:off x="7078502" y="2792619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875" name="Google Shape;791;p30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250" y="1217091"/>
            <a:ext cx="2590933" cy="1739989"/>
          </a:xfrm>
          <a:prstGeom prst="rect">
            <a:avLst/>
          </a:prstGeom>
          <a:ln>
            <a:noFill/>
          </a:ln>
        </p:spPr>
      </p:pic>
      <p:pic>
        <p:nvPicPr>
          <p:cNvPr id="876" name="Google Shape;792;p3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7552" y="3532555"/>
            <a:ext cx="3928281" cy="2975095"/>
          </a:xfrm>
          <a:prstGeom prst="rect">
            <a:avLst/>
          </a:prstGeom>
          <a:ln>
            <a:noFill/>
          </a:ln>
        </p:spPr>
      </p:pic>
      <p:cxnSp>
        <p:nvCxnSpPr>
          <p:cNvPr id="877" name="Google Shape;793;p30"/>
          <p:cNvCxnSpPr/>
          <p:nvPr/>
        </p:nvCxnSpPr>
        <p:spPr>
          <a:xfrm>
            <a:off x="9576696" y="3659054"/>
            <a:ext cx="9306" cy="150146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794" name="Google Shape;794;p30">
            <a:extLst>
              <a:ext uri="{FF2B5EF4-FFF2-40B4-BE49-F238E27FC236}">
                <a16:creationId xmlns:a16="http://schemas.microsoft.com/office/drawing/2014/main" id="{A5853CD5-2F79-4AD5-B27A-46752FE8D1A6}"/>
              </a:ext>
            </a:extLst>
          </p:cNvPr>
          <p:cNvSpPr>
            <a:spLocks noGrp="1"/>
          </p:cNvSpPr>
          <p:nvPr/>
        </p:nvSpPr>
        <p:spPr>
          <a:xfrm>
            <a:off x="9043440" y="3887664"/>
            <a:ext cx="83752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0.1um</a:t>
            </a:r>
          </a:p>
        </p:txBody>
      </p:sp>
      <p:sp>
        <p:nvSpPr>
          <p:cNvPr id="795" name="Google Shape;795;p30">
            <a:extLst>
              <a:ext uri="{FF2B5EF4-FFF2-40B4-BE49-F238E27FC236}">
                <a16:creationId xmlns:a16="http://schemas.microsoft.com/office/drawing/2014/main" id="{BABB048D-1D90-4865-A579-2B8F27B0D737}"/>
              </a:ext>
            </a:extLst>
          </p:cNvPr>
          <p:cNvSpPr>
            <a:spLocks noGrp="1"/>
          </p:cNvSpPr>
          <p:nvPr/>
        </p:nvSpPr>
        <p:spPr>
          <a:xfrm>
            <a:off x="9316688" y="4998768"/>
            <a:ext cx="269313" cy="178874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6" name="Google Shape;796;p30">
            <a:extLst>
              <a:ext uri="{FF2B5EF4-FFF2-40B4-BE49-F238E27FC236}">
                <a16:creationId xmlns:a16="http://schemas.microsoft.com/office/drawing/2014/main" id="{D3291EAE-B9E4-44FB-8DF1-93EBD65FCE07}"/>
              </a:ext>
            </a:extLst>
          </p:cNvPr>
          <p:cNvSpPr>
            <a:spLocks noGrp="1"/>
          </p:cNvSpPr>
          <p:nvPr/>
        </p:nvSpPr>
        <p:spPr>
          <a:xfrm>
            <a:off x="8753361" y="5185201"/>
            <a:ext cx="1403837" cy="105902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797" name="Google Shape;797;p30">
            <a:extLst>
              <a:ext uri="{FF2B5EF4-FFF2-40B4-BE49-F238E27FC236}">
                <a16:creationId xmlns:a16="http://schemas.microsoft.com/office/drawing/2014/main" id="{8BF95BBA-B423-4396-ABE3-89D3AC85A849}"/>
              </a:ext>
            </a:extLst>
          </p:cNvPr>
          <p:cNvSpPr>
            <a:spLocks noGrp="1"/>
          </p:cNvSpPr>
          <p:nvPr/>
        </p:nvSpPr>
        <p:spPr>
          <a:xfrm>
            <a:off x="7673005" y="5280966"/>
            <a:ext cx="1071393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798" name="Google Shape;798;p30">
            <a:extLst>
              <a:ext uri="{FF2B5EF4-FFF2-40B4-BE49-F238E27FC236}">
                <a16:creationId xmlns:a16="http://schemas.microsoft.com/office/drawing/2014/main" id="{675CDFBD-27F0-4E60-BF29-CA29BDE25BD8}"/>
              </a:ext>
            </a:extLst>
          </p:cNvPr>
          <p:cNvSpPr>
            <a:spLocks noGrp="1"/>
          </p:cNvSpPr>
          <p:nvPr/>
        </p:nvSpPr>
        <p:spPr>
          <a:xfrm>
            <a:off x="8761853" y="5307577"/>
            <a:ext cx="563174" cy="1172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sp>
        <p:nvSpPr>
          <p:cNvPr id="799" name="Google Shape;799;p30">
            <a:extLst>
              <a:ext uri="{FF2B5EF4-FFF2-40B4-BE49-F238E27FC236}">
                <a16:creationId xmlns:a16="http://schemas.microsoft.com/office/drawing/2014/main" id="{76CF374C-7EC3-4F59-AF3C-E1A41E98222D}"/>
              </a:ext>
            </a:extLst>
          </p:cNvPr>
          <p:cNvSpPr>
            <a:spLocks noGrp="1"/>
          </p:cNvSpPr>
          <p:nvPr/>
        </p:nvSpPr>
        <p:spPr>
          <a:xfrm>
            <a:off x="10166162" y="5282293"/>
            <a:ext cx="1216602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800" name="Google Shape;800;p30">
            <a:extLst>
              <a:ext uri="{FF2B5EF4-FFF2-40B4-BE49-F238E27FC236}">
                <a16:creationId xmlns:a16="http://schemas.microsoft.com/office/drawing/2014/main" id="{25CE0C24-A5B9-4BE6-8509-84841DDFD02E}"/>
              </a:ext>
            </a:extLst>
          </p:cNvPr>
          <p:cNvSpPr>
            <a:spLocks noGrp="1"/>
          </p:cNvSpPr>
          <p:nvPr/>
        </p:nvSpPr>
        <p:spPr>
          <a:xfrm>
            <a:off x="9590879" y="5303237"/>
            <a:ext cx="580161" cy="11282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sp>
        <p:nvSpPr>
          <p:cNvPr id="801" name="Google Shape;801;p30">
            <a:extLst>
              <a:ext uri="{FF2B5EF4-FFF2-40B4-BE49-F238E27FC236}">
                <a16:creationId xmlns:a16="http://schemas.microsoft.com/office/drawing/2014/main" id="{E7D346E4-A4E6-45E7-8F60-093698E1C491}"/>
              </a:ext>
            </a:extLst>
          </p:cNvPr>
          <p:cNvSpPr>
            <a:spLocks noGrp="1"/>
          </p:cNvSpPr>
          <p:nvPr/>
        </p:nvSpPr>
        <p:spPr>
          <a:xfrm>
            <a:off x="238350" y="2992306"/>
            <a:ext cx="603562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“Short Channel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Effect와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누설전류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증가를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방지하기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위해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NMOS의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최소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Gate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Length를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제한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”</a:t>
            </a:r>
          </a:p>
        </p:txBody>
      </p:sp>
      <p:sp>
        <p:nvSpPr>
          <p:cNvPr id="863" name="Slide 5 copied left comparison heading">
            <a:extLst>
              <a:ext uri="{FF2B5EF4-FFF2-40B4-BE49-F238E27FC236}">
                <a16:creationId xmlns:a16="http://schemas.microsoft.com/office/drawing/2014/main" id="{CB531F64-E621-4074-8CE6-8E854B9EA2DB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864" name="Slide 5 copied right comparison heading">
            <a:extLst>
              <a:ext uri="{FF2B5EF4-FFF2-40B4-BE49-F238E27FC236}">
                <a16:creationId xmlns:a16="http://schemas.microsoft.com/office/drawing/2014/main" id="{471665F0-B1AD-4BB3-A2AB-CCBD880F435F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19BD093-2F77-4422-BF8D-902601B73D1B}"/>
              </a:ext>
            </a:extLst>
          </p:cNvPr>
          <p:cNvCxnSpPr>
            <a:cxnSpLocks/>
          </p:cNvCxnSpPr>
          <p:nvPr/>
        </p:nvCxnSpPr>
        <p:spPr>
          <a:xfrm flipV="1">
            <a:off x="3046894" y="5532397"/>
            <a:ext cx="368135" cy="5808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10C4F0-2036-47B5-9624-085722A4A7B0}"/>
              </a:ext>
            </a:extLst>
          </p:cNvPr>
          <p:cNvSpPr txBox="1"/>
          <p:nvPr/>
        </p:nvSpPr>
        <p:spPr>
          <a:xfrm>
            <a:off x="2812202" y="5538205"/>
            <a:ext cx="837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0.1um</a:t>
            </a: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2828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1">
            <a:extLst>
              <a:ext uri="{FF2B5EF4-FFF2-40B4-BE49-F238E27FC236}">
                <a16:creationId xmlns:a16="http://schemas.microsoft.com/office/drawing/2014/main" id="{BF09AEAD-5FB2-4BEA-9D2E-5E94387AB69D}"/>
              </a:ext>
            </a:extLst>
          </p:cNvPr>
          <p:cNvSpPr>
            <a:spLocks noGrp="1"/>
          </p:cNvSpPr>
          <p:nvPr/>
        </p:nvSpPr>
        <p:spPr>
          <a:xfrm>
            <a:off x="7645339" y="5122400"/>
            <a:ext cx="3920069" cy="112588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807" name="Google Shape;807;p31">
            <a:extLst>
              <a:ext uri="{FF2B5EF4-FFF2-40B4-BE49-F238E27FC236}">
                <a16:creationId xmlns:a16="http://schemas.microsoft.com/office/drawing/2014/main" id="{B0508861-D2FE-4B71-997F-CAEFD53CBF5B}"/>
              </a:ext>
            </a:extLst>
          </p:cNvPr>
          <p:cNvSpPr>
            <a:spLocks noGrp="1"/>
          </p:cNvSpPr>
          <p:nvPr/>
        </p:nvSpPr>
        <p:spPr>
          <a:xfrm>
            <a:off x="8141930" y="5121072"/>
            <a:ext cx="2720764" cy="461245"/>
          </a:xfrm>
          <a:prstGeom prst="rect">
            <a:avLst/>
          </a:prstGeom>
          <a:solidFill>
            <a:srgbClr val="CDACE6"/>
          </a:solidFill>
          <a:ln w="12700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Nwell</a:t>
            </a:r>
          </a:p>
        </p:txBody>
      </p:sp>
      <p:cxnSp>
        <p:nvCxnSpPr>
          <p:cNvPr id="909" name="Google Shape;808;p31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910" name="Google Shape;809;p3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26557" y="1296308"/>
            <a:ext cx="3291263" cy="2444691"/>
          </a:xfrm>
          <a:prstGeom prst="rect">
            <a:avLst/>
          </a:prstGeom>
          <a:ln>
            <a:noFill/>
          </a:ln>
        </p:spPr>
      </p:pic>
      <p:graphicFrame>
        <p:nvGraphicFramePr>
          <p:cNvPr id="911" name="Google Shape;810;p31"/>
          <p:cNvGraphicFramePr/>
          <p:nvPr>
            <p:extLst>
              <p:ext uri="{D42A27DB-BD31-4B8C-83A1-F6EECF244321}">
                <p14:modId xmlns:p14="http://schemas.microsoft.com/office/powerpoint/2010/main" val="607442242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POLY.W.2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1.2V P-channel gate length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11" name="Google Shape;811;p31">
            <a:extLst>
              <a:ext uri="{FF2B5EF4-FFF2-40B4-BE49-F238E27FC236}">
                <a16:creationId xmlns:a16="http://schemas.microsoft.com/office/drawing/2014/main" id="{A983E4EE-78A8-44C4-A319-219DE9748202}"/>
              </a:ext>
            </a:extLst>
          </p:cNvPr>
          <p:cNvSpPr>
            <a:spLocks noGrp="1"/>
          </p:cNvSpPr>
          <p:nvPr/>
        </p:nvSpPr>
        <p:spPr>
          <a:xfrm>
            <a:off x="9182056" y="3903014"/>
            <a:ext cx="79692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0.1um</a:t>
            </a:r>
          </a:p>
        </p:txBody>
      </p:sp>
      <p:cxnSp>
        <p:nvCxnSpPr>
          <p:cNvPr id="913" name="Google Shape;814;p31"/>
          <p:cNvCxnSpPr/>
          <p:nvPr/>
        </p:nvCxnSpPr>
        <p:spPr>
          <a:xfrm rot="10800000" flipH="1">
            <a:off x="9534280" y="4268369"/>
            <a:ext cx="207877" cy="1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815" name="Google Shape;815;p31">
            <a:extLst>
              <a:ext uri="{FF2B5EF4-FFF2-40B4-BE49-F238E27FC236}">
                <a16:creationId xmlns:a16="http://schemas.microsoft.com/office/drawing/2014/main" id="{74108C41-F124-442A-9D9E-F68E55D90665}"/>
              </a:ext>
            </a:extLst>
          </p:cNvPr>
          <p:cNvSpPr>
            <a:spLocks noGrp="1"/>
          </p:cNvSpPr>
          <p:nvPr/>
        </p:nvSpPr>
        <p:spPr>
          <a:xfrm>
            <a:off x="6648782" y="2341280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cxnSp>
        <p:nvCxnSpPr>
          <p:cNvPr id="915" name="Google Shape;816;p31"/>
          <p:cNvCxnSpPr/>
          <p:nvPr/>
        </p:nvCxnSpPr>
        <p:spPr>
          <a:xfrm>
            <a:off x="9103331" y="2772558"/>
            <a:ext cx="17008" cy="2209136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916" name="Google Shape;817;p31"/>
          <p:cNvCxnSpPr/>
          <p:nvPr/>
        </p:nvCxnSpPr>
        <p:spPr>
          <a:xfrm>
            <a:off x="10840123" y="3514515"/>
            <a:ext cx="22570" cy="181843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917" name="Google Shape;818;p31"/>
          <p:cNvCxnSpPr/>
          <p:nvPr/>
        </p:nvCxnSpPr>
        <p:spPr>
          <a:xfrm flipH="1">
            <a:off x="10150621" y="2792619"/>
            <a:ext cx="6580" cy="218907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918" name="Google Shape;819;p31"/>
          <p:cNvCxnSpPr/>
          <p:nvPr/>
        </p:nvCxnSpPr>
        <p:spPr>
          <a:xfrm>
            <a:off x="7040219" y="2518653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919" name="Google Shape;820;p3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2487" y="3518567"/>
            <a:ext cx="4314873" cy="3205010"/>
          </a:xfrm>
          <a:prstGeom prst="rect">
            <a:avLst/>
          </a:prstGeom>
          <a:ln>
            <a:noFill/>
          </a:ln>
        </p:spPr>
      </p:pic>
      <p:pic>
        <p:nvPicPr>
          <p:cNvPr id="920" name="Google Shape;821;p3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7184" y="1176829"/>
            <a:ext cx="2528099" cy="1814055"/>
          </a:xfrm>
          <a:prstGeom prst="rect">
            <a:avLst/>
          </a:prstGeom>
          <a:ln>
            <a:noFill/>
          </a:ln>
        </p:spPr>
      </p:pic>
      <p:cxnSp>
        <p:nvCxnSpPr>
          <p:cNvPr id="921" name="Google Shape;822;p31"/>
          <p:cNvCxnSpPr/>
          <p:nvPr/>
        </p:nvCxnSpPr>
        <p:spPr>
          <a:xfrm>
            <a:off x="8142709" y="3514515"/>
            <a:ext cx="1" cy="159018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922" name="Google Shape;823;p31"/>
          <p:cNvCxnSpPr/>
          <p:nvPr/>
        </p:nvCxnSpPr>
        <p:spPr>
          <a:xfrm>
            <a:off x="9534280" y="3353152"/>
            <a:ext cx="11285" cy="152353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923" name="Google Shape;824;p31"/>
          <p:cNvCxnSpPr/>
          <p:nvPr/>
        </p:nvCxnSpPr>
        <p:spPr>
          <a:xfrm>
            <a:off x="9710529" y="3353151"/>
            <a:ext cx="11285" cy="152353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825" name="Google Shape;825;p31">
            <a:extLst>
              <a:ext uri="{FF2B5EF4-FFF2-40B4-BE49-F238E27FC236}">
                <a16:creationId xmlns:a16="http://schemas.microsoft.com/office/drawing/2014/main" id="{27495C17-8BCB-4F7A-A8B8-A39C14264B2C}"/>
              </a:ext>
            </a:extLst>
          </p:cNvPr>
          <p:cNvSpPr>
            <a:spLocks noGrp="1"/>
          </p:cNvSpPr>
          <p:nvPr/>
        </p:nvSpPr>
        <p:spPr>
          <a:xfrm>
            <a:off x="9510617" y="4822506"/>
            <a:ext cx="269313" cy="178874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6" name="Google Shape;826;p31">
            <a:extLst>
              <a:ext uri="{FF2B5EF4-FFF2-40B4-BE49-F238E27FC236}">
                <a16:creationId xmlns:a16="http://schemas.microsoft.com/office/drawing/2014/main" id="{E9491AF3-B669-4FAF-870E-E6D8364533B2}"/>
              </a:ext>
            </a:extLst>
          </p:cNvPr>
          <p:cNvSpPr>
            <a:spLocks noGrp="1"/>
          </p:cNvSpPr>
          <p:nvPr/>
        </p:nvSpPr>
        <p:spPr>
          <a:xfrm>
            <a:off x="9120339" y="5008938"/>
            <a:ext cx="1049531" cy="112134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827" name="Google Shape;827;p31">
            <a:extLst>
              <a:ext uri="{FF2B5EF4-FFF2-40B4-BE49-F238E27FC236}">
                <a16:creationId xmlns:a16="http://schemas.microsoft.com/office/drawing/2014/main" id="{B3BF5A01-D35C-4274-928B-24CC4643E626}"/>
              </a:ext>
            </a:extLst>
          </p:cNvPr>
          <p:cNvSpPr>
            <a:spLocks noGrp="1"/>
          </p:cNvSpPr>
          <p:nvPr/>
        </p:nvSpPr>
        <p:spPr>
          <a:xfrm>
            <a:off x="7634054" y="5104704"/>
            <a:ext cx="1486280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828" name="Google Shape;828;p31">
            <a:extLst>
              <a:ext uri="{FF2B5EF4-FFF2-40B4-BE49-F238E27FC236}">
                <a16:creationId xmlns:a16="http://schemas.microsoft.com/office/drawing/2014/main" id="{33411237-05C9-4CF7-9B84-EC0F66AAC938}"/>
              </a:ext>
            </a:extLst>
          </p:cNvPr>
          <p:cNvSpPr>
            <a:spLocks noGrp="1"/>
          </p:cNvSpPr>
          <p:nvPr/>
        </p:nvSpPr>
        <p:spPr>
          <a:xfrm>
            <a:off x="10169870" y="5106031"/>
            <a:ext cx="1406823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829" name="Google Shape;829;p31">
            <a:extLst>
              <a:ext uri="{FF2B5EF4-FFF2-40B4-BE49-F238E27FC236}">
                <a16:creationId xmlns:a16="http://schemas.microsoft.com/office/drawing/2014/main" id="{C20C292C-2C0F-4093-A023-A85E00B5B2C1}"/>
              </a:ext>
            </a:extLst>
          </p:cNvPr>
          <p:cNvSpPr>
            <a:spLocks noGrp="1"/>
          </p:cNvSpPr>
          <p:nvPr/>
        </p:nvSpPr>
        <p:spPr>
          <a:xfrm>
            <a:off x="9126314" y="5122354"/>
            <a:ext cx="384304" cy="12172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P+</a:t>
            </a:r>
          </a:p>
        </p:txBody>
      </p:sp>
      <p:sp>
        <p:nvSpPr>
          <p:cNvPr id="830" name="Google Shape;830;p31">
            <a:extLst>
              <a:ext uri="{FF2B5EF4-FFF2-40B4-BE49-F238E27FC236}">
                <a16:creationId xmlns:a16="http://schemas.microsoft.com/office/drawing/2014/main" id="{70F46BD0-0F6F-4A7F-A732-2CDBA75975F5}"/>
              </a:ext>
            </a:extLst>
          </p:cNvPr>
          <p:cNvSpPr>
            <a:spLocks noGrp="1"/>
          </p:cNvSpPr>
          <p:nvPr/>
        </p:nvSpPr>
        <p:spPr>
          <a:xfrm>
            <a:off x="9779586" y="5113514"/>
            <a:ext cx="384642" cy="14214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P+</a:t>
            </a:r>
          </a:p>
        </p:txBody>
      </p:sp>
      <p:sp>
        <p:nvSpPr>
          <p:cNvPr id="831" name="Google Shape;831;p31">
            <a:extLst>
              <a:ext uri="{FF2B5EF4-FFF2-40B4-BE49-F238E27FC236}">
                <a16:creationId xmlns:a16="http://schemas.microsoft.com/office/drawing/2014/main" id="{53C088B3-2EC5-4E83-BADA-85D8C24A3226}"/>
              </a:ext>
            </a:extLst>
          </p:cNvPr>
          <p:cNvSpPr>
            <a:spLocks noGrp="1"/>
          </p:cNvSpPr>
          <p:nvPr/>
        </p:nvSpPr>
        <p:spPr>
          <a:xfrm>
            <a:off x="660548" y="2993834"/>
            <a:ext cx="497283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“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PMOS의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전기적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특성과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신뢰성을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유지하기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위해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최소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Gate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Length를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제한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”</a:t>
            </a:r>
          </a:p>
        </p:txBody>
      </p:sp>
      <p:sp>
        <p:nvSpPr>
          <p:cNvPr id="905" name="Slide 5 copied left comparison heading">
            <a:extLst>
              <a:ext uri="{FF2B5EF4-FFF2-40B4-BE49-F238E27FC236}">
                <a16:creationId xmlns:a16="http://schemas.microsoft.com/office/drawing/2014/main" id="{8A50AB94-4198-4A8D-B3CE-5072395411CD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906" name="Slide 5 copied right comparison heading">
            <a:extLst>
              <a:ext uri="{FF2B5EF4-FFF2-40B4-BE49-F238E27FC236}">
                <a16:creationId xmlns:a16="http://schemas.microsoft.com/office/drawing/2014/main" id="{612E8E25-9D61-4714-A302-B2492066CB17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DAD3A1D-7578-425F-B459-F2BC205CA948}"/>
              </a:ext>
            </a:extLst>
          </p:cNvPr>
          <p:cNvCxnSpPr>
            <a:cxnSpLocks/>
          </p:cNvCxnSpPr>
          <p:nvPr/>
        </p:nvCxnSpPr>
        <p:spPr>
          <a:xfrm>
            <a:off x="3117273" y="5681171"/>
            <a:ext cx="362197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228D517-CFE3-4EAD-92B6-7001071727F1}"/>
              </a:ext>
            </a:extLst>
          </p:cNvPr>
          <p:cNvSpPr txBox="1"/>
          <p:nvPr/>
        </p:nvSpPr>
        <p:spPr>
          <a:xfrm>
            <a:off x="2902439" y="5681171"/>
            <a:ext cx="837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0.1um</a:t>
            </a: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1245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2" name="Google Shape;836;p32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923" name="Google Shape;837;p3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4632" y="1656049"/>
            <a:ext cx="3277748" cy="2299711"/>
          </a:xfrm>
          <a:prstGeom prst="rect">
            <a:avLst/>
          </a:prstGeom>
          <a:ln>
            <a:noFill/>
          </a:ln>
        </p:spPr>
      </p:pic>
      <p:graphicFrame>
        <p:nvGraphicFramePr>
          <p:cNvPr id="924" name="Google Shape;838;p32"/>
          <p:cNvGraphicFramePr/>
          <p:nvPr>
            <p:extLst>
              <p:ext uri="{D42A27DB-BD31-4B8C-83A1-F6EECF244321}">
                <p14:modId xmlns:p14="http://schemas.microsoft.com/office/powerpoint/2010/main" val="4035940884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POLY.W.3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2.5V N-channel gate length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39" name="Google Shape;839;p32">
            <a:extLst>
              <a:ext uri="{FF2B5EF4-FFF2-40B4-BE49-F238E27FC236}">
                <a16:creationId xmlns:a16="http://schemas.microsoft.com/office/drawing/2014/main" id="{3EBCBE84-1060-4E0E-8D33-2A4ED8B6A1BD}"/>
              </a:ext>
            </a:extLst>
          </p:cNvPr>
          <p:cNvSpPr>
            <a:spLocks noGrp="1"/>
          </p:cNvSpPr>
          <p:nvPr/>
        </p:nvSpPr>
        <p:spPr>
          <a:xfrm>
            <a:off x="9302940" y="3912965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0.28um</a:t>
            </a:r>
          </a:p>
        </p:txBody>
      </p:sp>
      <p:cxnSp>
        <p:nvCxnSpPr>
          <p:cNvPr id="926" name="Google Shape;842;p32"/>
          <p:cNvCxnSpPr/>
          <p:nvPr/>
        </p:nvCxnSpPr>
        <p:spPr>
          <a:xfrm>
            <a:off x="9520357" y="4268370"/>
            <a:ext cx="484546" cy="4851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843" name="Google Shape;843;p32">
            <a:extLst>
              <a:ext uri="{FF2B5EF4-FFF2-40B4-BE49-F238E27FC236}">
                <a16:creationId xmlns:a16="http://schemas.microsoft.com/office/drawing/2014/main" id="{74C5F061-6B48-441A-BE1B-58621BEA4CFC}"/>
              </a:ext>
            </a:extLst>
          </p:cNvPr>
          <p:cNvSpPr>
            <a:spLocks noGrp="1"/>
          </p:cNvSpPr>
          <p:nvPr/>
        </p:nvSpPr>
        <p:spPr>
          <a:xfrm>
            <a:off x="6737259" y="2792619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cxnSp>
        <p:nvCxnSpPr>
          <p:cNvPr id="928" name="Google Shape;844;p32"/>
          <p:cNvCxnSpPr/>
          <p:nvPr/>
        </p:nvCxnSpPr>
        <p:spPr>
          <a:xfrm>
            <a:off x="10408323" y="3138324"/>
            <a:ext cx="0" cy="186375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929" name="Google Shape;845;p32"/>
          <p:cNvCxnSpPr>
            <a:endCxn id="846" idx="3"/>
          </p:cNvCxnSpPr>
          <p:nvPr/>
        </p:nvCxnSpPr>
        <p:spPr>
          <a:xfrm>
            <a:off x="10004904" y="3824582"/>
            <a:ext cx="0" cy="107010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930" name="Google Shape;847;p32"/>
          <p:cNvCxnSpPr/>
          <p:nvPr/>
        </p:nvCxnSpPr>
        <p:spPr>
          <a:xfrm>
            <a:off x="7087894" y="2977285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931" name="Google Shape;848;p3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9353" y="1272695"/>
            <a:ext cx="2780566" cy="1986933"/>
          </a:xfrm>
          <a:prstGeom prst="rect">
            <a:avLst/>
          </a:prstGeom>
          <a:ln>
            <a:noFill/>
          </a:ln>
        </p:spPr>
      </p:pic>
      <p:pic>
        <p:nvPicPr>
          <p:cNvPr id="932" name="Google Shape;849;p3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257" y="3715390"/>
            <a:ext cx="4233385" cy="2970197"/>
          </a:xfrm>
          <a:prstGeom prst="rect">
            <a:avLst/>
          </a:prstGeom>
          <a:ln>
            <a:noFill/>
          </a:ln>
        </p:spPr>
      </p:pic>
      <p:cxnSp>
        <p:nvCxnSpPr>
          <p:cNvPr id="933" name="Google Shape;850;p32"/>
          <p:cNvCxnSpPr/>
          <p:nvPr/>
        </p:nvCxnSpPr>
        <p:spPr>
          <a:xfrm>
            <a:off x="9512975" y="3815206"/>
            <a:ext cx="0" cy="97130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934" name="Google Shape;851;p32"/>
          <p:cNvCxnSpPr/>
          <p:nvPr/>
        </p:nvCxnSpPr>
        <p:spPr>
          <a:xfrm>
            <a:off x="9158643" y="3138324"/>
            <a:ext cx="0" cy="186375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852" name="Google Shape;852;p32">
            <a:extLst>
              <a:ext uri="{FF2B5EF4-FFF2-40B4-BE49-F238E27FC236}">
                <a16:creationId xmlns:a16="http://schemas.microsoft.com/office/drawing/2014/main" id="{7EE78952-132B-4033-8B5A-F8A9B23BD795}"/>
              </a:ext>
            </a:extLst>
          </p:cNvPr>
          <p:cNvSpPr>
            <a:spLocks noGrp="1"/>
          </p:cNvSpPr>
          <p:nvPr/>
        </p:nvSpPr>
        <p:spPr>
          <a:xfrm>
            <a:off x="7944065" y="5099840"/>
            <a:ext cx="3709759" cy="112588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853" name="Google Shape;853;p32">
            <a:extLst>
              <a:ext uri="{FF2B5EF4-FFF2-40B4-BE49-F238E27FC236}">
                <a16:creationId xmlns:a16="http://schemas.microsoft.com/office/drawing/2014/main" id="{8987ABC2-7C2D-4121-97AE-1193D346033A}"/>
              </a:ext>
            </a:extLst>
          </p:cNvPr>
          <p:cNvSpPr>
            <a:spLocks noGrp="1"/>
          </p:cNvSpPr>
          <p:nvPr/>
        </p:nvSpPr>
        <p:spPr>
          <a:xfrm>
            <a:off x="7944065" y="5089703"/>
            <a:ext cx="1205609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854" name="Google Shape;854;p32">
            <a:extLst>
              <a:ext uri="{FF2B5EF4-FFF2-40B4-BE49-F238E27FC236}">
                <a16:creationId xmlns:a16="http://schemas.microsoft.com/office/drawing/2014/main" id="{DF218066-8A41-40C4-9821-C63C193AEEBA}"/>
              </a:ext>
            </a:extLst>
          </p:cNvPr>
          <p:cNvSpPr>
            <a:spLocks noGrp="1"/>
          </p:cNvSpPr>
          <p:nvPr/>
        </p:nvSpPr>
        <p:spPr>
          <a:xfrm>
            <a:off x="9158643" y="5116314"/>
            <a:ext cx="437444" cy="11282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sp>
        <p:nvSpPr>
          <p:cNvPr id="855" name="Google Shape;855;p32">
            <a:extLst>
              <a:ext uri="{FF2B5EF4-FFF2-40B4-BE49-F238E27FC236}">
                <a16:creationId xmlns:a16="http://schemas.microsoft.com/office/drawing/2014/main" id="{1440BF93-7B36-42BF-808F-462483B1AE0F}"/>
              </a:ext>
            </a:extLst>
          </p:cNvPr>
          <p:cNvSpPr>
            <a:spLocks noGrp="1"/>
          </p:cNvSpPr>
          <p:nvPr/>
        </p:nvSpPr>
        <p:spPr>
          <a:xfrm>
            <a:off x="10437222" y="5091030"/>
            <a:ext cx="1216602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856" name="Google Shape;856;p32">
            <a:extLst>
              <a:ext uri="{FF2B5EF4-FFF2-40B4-BE49-F238E27FC236}">
                <a16:creationId xmlns:a16="http://schemas.microsoft.com/office/drawing/2014/main" id="{C98EEABE-2C4A-4FDB-82EF-BA8F36830D45}"/>
              </a:ext>
            </a:extLst>
          </p:cNvPr>
          <p:cNvSpPr>
            <a:spLocks noGrp="1"/>
          </p:cNvSpPr>
          <p:nvPr/>
        </p:nvSpPr>
        <p:spPr>
          <a:xfrm>
            <a:off x="9990809" y="5111974"/>
            <a:ext cx="451291" cy="11963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sp>
        <p:nvSpPr>
          <p:cNvPr id="857" name="Google Shape;857;p32">
            <a:extLst>
              <a:ext uri="{FF2B5EF4-FFF2-40B4-BE49-F238E27FC236}">
                <a16:creationId xmlns:a16="http://schemas.microsoft.com/office/drawing/2014/main" id="{7AC76B29-2B15-49B1-923D-E50EF3B28A9A}"/>
              </a:ext>
            </a:extLst>
          </p:cNvPr>
          <p:cNvSpPr>
            <a:spLocks noGrp="1"/>
          </p:cNvSpPr>
          <p:nvPr/>
        </p:nvSpPr>
        <p:spPr>
          <a:xfrm>
            <a:off x="9156636" y="4968069"/>
            <a:ext cx="1280585" cy="131771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Thick OXIDE</a:t>
            </a:r>
          </a:p>
        </p:txBody>
      </p:sp>
      <p:sp>
        <p:nvSpPr>
          <p:cNvPr id="846" name="Google Shape;846;p32">
            <a:extLst>
              <a:ext uri="{FF2B5EF4-FFF2-40B4-BE49-F238E27FC236}">
                <a16:creationId xmlns:a16="http://schemas.microsoft.com/office/drawing/2014/main" id="{960EA259-3A62-474C-B3C5-244D8C00A9F0}"/>
              </a:ext>
            </a:extLst>
          </p:cNvPr>
          <p:cNvSpPr>
            <a:spLocks noGrp="1"/>
          </p:cNvSpPr>
          <p:nvPr/>
        </p:nvSpPr>
        <p:spPr>
          <a:xfrm>
            <a:off x="9520358" y="4802984"/>
            <a:ext cx="484546" cy="183395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8" name="Google Shape;858;p32">
            <a:extLst>
              <a:ext uri="{FF2B5EF4-FFF2-40B4-BE49-F238E27FC236}">
                <a16:creationId xmlns:a16="http://schemas.microsoft.com/office/drawing/2014/main" id="{AA4FCF0A-33CA-4338-906A-036938886F22}"/>
              </a:ext>
            </a:extLst>
          </p:cNvPr>
          <p:cNvSpPr>
            <a:spLocks noGrp="1"/>
          </p:cNvSpPr>
          <p:nvPr/>
        </p:nvSpPr>
        <p:spPr>
          <a:xfrm>
            <a:off x="190005" y="3213556"/>
            <a:ext cx="584028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“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고전압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동작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시 Hot Carrier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Injection과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Gate Oxide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열화를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방지하기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위해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최소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Gate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Length를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제한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”</a:t>
            </a:r>
          </a:p>
        </p:txBody>
      </p:sp>
      <p:sp>
        <p:nvSpPr>
          <p:cNvPr id="920" name="Slide 5 copied left comparison heading">
            <a:extLst>
              <a:ext uri="{FF2B5EF4-FFF2-40B4-BE49-F238E27FC236}">
                <a16:creationId xmlns:a16="http://schemas.microsoft.com/office/drawing/2014/main" id="{A627E12B-BFC9-4675-9A41-380F171D036E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921" name="Slide 5 copied right comparison heading">
            <a:extLst>
              <a:ext uri="{FF2B5EF4-FFF2-40B4-BE49-F238E27FC236}">
                <a16:creationId xmlns:a16="http://schemas.microsoft.com/office/drawing/2014/main" id="{75591DA0-BA25-47EE-9BDD-49274928DD30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27D2552-85B9-4BC2-92BA-33F3C72527BB}"/>
              </a:ext>
            </a:extLst>
          </p:cNvPr>
          <p:cNvCxnSpPr>
            <a:cxnSpLocks/>
          </p:cNvCxnSpPr>
          <p:nvPr/>
        </p:nvCxnSpPr>
        <p:spPr>
          <a:xfrm>
            <a:off x="3200400" y="5655093"/>
            <a:ext cx="547437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B975107-2F3C-42C8-8448-2779925BA324}"/>
              </a:ext>
            </a:extLst>
          </p:cNvPr>
          <p:cNvSpPr txBox="1"/>
          <p:nvPr/>
        </p:nvSpPr>
        <p:spPr>
          <a:xfrm>
            <a:off x="3052833" y="5655093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0.28um</a:t>
            </a: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68520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5" name="Google Shape;863;p33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956" name="Google Shape;864;p3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1361" y="1404474"/>
            <a:ext cx="3379762" cy="2580631"/>
          </a:xfrm>
          <a:prstGeom prst="rect">
            <a:avLst/>
          </a:prstGeom>
          <a:ln>
            <a:noFill/>
          </a:ln>
        </p:spPr>
      </p:pic>
      <p:graphicFrame>
        <p:nvGraphicFramePr>
          <p:cNvPr id="957" name="Google Shape;865;p33"/>
          <p:cNvGraphicFramePr/>
          <p:nvPr>
            <p:extLst>
              <p:ext uri="{D42A27DB-BD31-4B8C-83A1-F6EECF244321}">
                <p14:modId xmlns:p14="http://schemas.microsoft.com/office/powerpoint/2010/main" val="2521635015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POLY.W.4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2.5V P-channel gate length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958" name="Google Shape;868;p33"/>
          <p:cNvCxnSpPr/>
          <p:nvPr/>
        </p:nvCxnSpPr>
        <p:spPr>
          <a:xfrm rot="10800000" flipH="1">
            <a:off x="9250083" y="4268369"/>
            <a:ext cx="279400" cy="1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869" name="Google Shape;869;p33">
            <a:extLst>
              <a:ext uri="{FF2B5EF4-FFF2-40B4-BE49-F238E27FC236}">
                <a16:creationId xmlns:a16="http://schemas.microsoft.com/office/drawing/2014/main" id="{04C318CB-0072-4E1D-8D23-8FD2B3A823BF}"/>
              </a:ext>
            </a:extLst>
          </p:cNvPr>
          <p:cNvSpPr>
            <a:spLocks noGrp="1"/>
          </p:cNvSpPr>
          <p:nvPr/>
        </p:nvSpPr>
        <p:spPr>
          <a:xfrm>
            <a:off x="6689719" y="260795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cxnSp>
        <p:nvCxnSpPr>
          <p:cNvPr id="960" name="Google Shape;870;p33"/>
          <p:cNvCxnSpPr/>
          <p:nvPr/>
        </p:nvCxnSpPr>
        <p:spPr>
          <a:xfrm>
            <a:off x="10774083" y="3835374"/>
            <a:ext cx="0" cy="1244626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961" name="Google Shape;871;p33"/>
          <p:cNvCxnSpPr/>
          <p:nvPr/>
        </p:nvCxnSpPr>
        <p:spPr>
          <a:xfrm>
            <a:off x="10150621" y="3127339"/>
            <a:ext cx="0" cy="195266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962" name="Google Shape;872;p33"/>
          <p:cNvCxnSpPr/>
          <p:nvPr/>
        </p:nvCxnSpPr>
        <p:spPr>
          <a:xfrm>
            <a:off x="7078502" y="2792619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963" name="Google Shape;873;p33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6932" y="1284587"/>
            <a:ext cx="2888345" cy="2008033"/>
          </a:xfrm>
          <a:prstGeom prst="rect">
            <a:avLst/>
          </a:prstGeom>
          <a:ln>
            <a:noFill/>
          </a:ln>
        </p:spPr>
      </p:pic>
      <p:pic>
        <p:nvPicPr>
          <p:cNvPr id="964" name="Google Shape;874;p3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56751" y="3706692"/>
            <a:ext cx="3968015" cy="3029794"/>
          </a:xfrm>
          <a:prstGeom prst="rect">
            <a:avLst/>
          </a:prstGeom>
          <a:ln>
            <a:noFill/>
          </a:ln>
        </p:spPr>
      </p:pic>
      <p:cxnSp>
        <p:nvCxnSpPr>
          <p:cNvPr id="965" name="Google Shape;875;p33"/>
          <p:cNvCxnSpPr/>
          <p:nvPr/>
        </p:nvCxnSpPr>
        <p:spPr>
          <a:xfrm flipH="1">
            <a:off x="8677420" y="3147626"/>
            <a:ext cx="1" cy="194741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966" name="Google Shape;876;p33"/>
          <p:cNvCxnSpPr/>
          <p:nvPr/>
        </p:nvCxnSpPr>
        <p:spPr>
          <a:xfrm>
            <a:off x="7914043" y="3870901"/>
            <a:ext cx="0" cy="120909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967" name="Google Shape;877;p33"/>
          <p:cNvCxnSpPr>
            <a:endCxn id="878" idx="1"/>
          </p:cNvCxnSpPr>
          <p:nvPr/>
        </p:nvCxnSpPr>
        <p:spPr>
          <a:xfrm flipH="1">
            <a:off x="9248089" y="3276704"/>
            <a:ext cx="2100" cy="156840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968" name="Google Shape;879;p33"/>
          <p:cNvCxnSpPr/>
          <p:nvPr/>
        </p:nvCxnSpPr>
        <p:spPr>
          <a:xfrm>
            <a:off x="9529483" y="3280775"/>
            <a:ext cx="0" cy="146546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880" name="Google Shape;880;p33">
            <a:extLst>
              <a:ext uri="{FF2B5EF4-FFF2-40B4-BE49-F238E27FC236}">
                <a16:creationId xmlns:a16="http://schemas.microsoft.com/office/drawing/2014/main" id="{CEA03C5C-563F-4E15-8755-33378220C9EE}"/>
              </a:ext>
            </a:extLst>
          </p:cNvPr>
          <p:cNvSpPr>
            <a:spLocks noGrp="1"/>
          </p:cNvSpPr>
          <p:nvPr/>
        </p:nvSpPr>
        <p:spPr>
          <a:xfrm>
            <a:off x="8936246" y="3951161"/>
            <a:ext cx="90362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0.28um</a:t>
            </a:r>
          </a:p>
        </p:txBody>
      </p:sp>
      <p:sp>
        <p:nvSpPr>
          <p:cNvPr id="881" name="Google Shape;881;p33">
            <a:extLst>
              <a:ext uri="{FF2B5EF4-FFF2-40B4-BE49-F238E27FC236}">
                <a16:creationId xmlns:a16="http://schemas.microsoft.com/office/drawing/2014/main" id="{E0C63A5F-2192-444C-83CB-F82F06CED5FC}"/>
              </a:ext>
            </a:extLst>
          </p:cNvPr>
          <p:cNvSpPr>
            <a:spLocks noGrp="1"/>
          </p:cNvSpPr>
          <p:nvPr/>
        </p:nvSpPr>
        <p:spPr>
          <a:xfrm>
            <a:off x="7188871" y="5112736"/>
            <a:ext cx="4347452" cy="1244623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882" name="Google Shape;882;p33">
            <a:extLst>
              <a:ext uri="{FF2B5EF4-FFF2-40B4-BE49-F238E27FC236}">
                <a16:creationId xmlns:a16="http://schemas.microsoft.com/office/drawing/2014/main" id="{2BBB9BE6-FE12-4215-AF92-68F94414AB61}"/>
              </a:ext>
            </a:extLst>
          </p:cNvPr>
          <p:cNvSpPr>
            <a:spLocks noGrp="1"/>
          </p:cNvSpPr>
          <p:nvPr/>
        </p:nvSpPr>
        <p:spPr>
          <a:xfrm>
            <a:off x="7914043" y="5111408"/>
            <a:ext cx="2860031" cy="509887"/>
          </a:xfrm>
          <a:prstGeom prst="rect">
            <a:avLst/>
          </a:prstGeom>
          <a:solidFill>
            <a:srgbClr val="CDACE6"/>
          </a:solidFill>
          <a:ln w="12700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Nwell</a:t>
            </a:r>
          </a:p>
        </p:txBody>
      </p:sp>
      <p:sp>
        <p:nvSpPr>
          <p:cNvPr id="883" name="Google Shape;883;p33">
            <a:extLst>
              <a:ext uri="{FF2B5EF4-FFF2-40B4-BE49-F238E27FC236}">
                <a16:creationId xmlns:a16="http://schemas.microsoft.com/office/drawing/2014/main" id="{FD4AFDF5-C100-4EB4-971F-0B99A8863548}"/>
              </a:ext>
            </a:extLst>
          </p:cNvPr>
          <p:cNvSpPr>
            <a:spLocks noGrp="1"/>
          </p:cNvSpPr>
          <p:nvPr/>
        </p:nvSpPr>
        <p:spPr>
          <a:xfrm>
            <a:off x="7188868" y="5095039"/>
            <a:ext cx="1488552" cy="365761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884" name="Google Shape;884;p33">
            <a:extLst>
              <a:ext uri="{FF2B5EF4-FFF2-40B4-BE49-F238E27FC236}">
                <a16:creationId xmlns:a16="http://schemas.microsoft.com/office/drawing/2014/main" id="{582F5456-3685-4735-BDA3-5CA215FE8DC3}"/>
              </a:ext>
            </a:extLst>
          </p:cNvPr>
          <p:cNvSpPr>
            <a:spLocks noGrp="1"/>
          </p:cNvSpPr>
          <p:nvPr/>
        </p:nvSpPr>
        <p:spPr>
          <a:xfrm>
            <a:off x="10150620" y="5096366"/>
            <a:ext cx="1385699" cy="365761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885" name="Google Shape;885;p33">
            <a:extLst>
              <a:ext uri="{FF2B5EF4-FFF2-40B4-BE49-F238E27FC236}">
                <a16:creationId xmlns:a16="http://schemas.microsoft.com/office/drawing/2014/main" id="{E114E6F9-E6C0-4451-9AE9-C6C0F382C36C}"/>
              </a:ext>
            </a:extLst>
          </p:cNvPr>
          <p:cNvSpPr>
            <a:spLocks noGrp="1"/>
          </p:cNvSpPr>
          <p:nvPr/>
        </p:nvSpPr>
        <p:spPr>
          <a:xfrm>
            <a:off x="8677421" y="5112689"/>
            <a:ext cx="607878" cy="1625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P+</a:t>
            </a:r>
          </a:p>
        </p:txBody>
      </p:sp>
      <p:sp>
        <p:nvSpPr>
          <p:cNvPr id="886" name="Google Shape;886;p33">
            <a:extLst>
              <a:ext uri="{FF2B5EF4-FFF2-40B4-BE49-F238E27FC236}">
                <a16:creationId xmlns:a16="http://schemas.microsoft.com/office/drawing/2014/main" id="{57F05D96-4559-4ECB-93CA-7101EB06EE86}"/>
              </a:ext>
            </a:extLst>
          </p:cNvPr>
          <p:cNvSpPr>
            <a:spLocks noGrp="1"/>
          </p:cNvSpPr>
          <p:nvPr/>
        </p:nvSpPr>
        <p:spPr>
          <a:xfrm>
            <a:off x="9512349" y="5103850"/>
            <a:ext cx="638265" cy="1625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P+</a:t>
            </a:r>
          </a:p>
        </p:txBody>
      </p:sp>
      <p:sp>
        <p:nvSpPr>
          <p:cNvPr id="887" name="Google Shape;887;p33">
            <a:extLst>
              <a:ext uri="{FF2B5EF4-FFF2-40B4-BE49-F238E27FC236}">
                <a16:creationId xmlns:a16="http://schemas.microsoft.com/office/drawing/2014/main" id="{B3DEE1DC-0A8A-4372-863C-7D1CA2969FEA}"/>
              </a:ext>
            </a:extLst>
          </p:cNvPr>
          <p:cNvSpPr>
            <a:spLocks noGrp="1"/>
          </p:cNvSpPr>
          <p:nvPr/>
        </p:nvSpPr>
        <p:spPr>
          <a:xfrm>
            <a:off x="8672254" y="4946440"/>
            <a:ext cx="1478359" cy="180007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Thick OXIDE</a:t>
            </a:r>
          </a:p>
        </p:txBody>
      </p:sp>
      <p:sp>
        <p:nvSpPr>
          <p:cNvPr id="878" name="Google Shape;878;p33">
            <a:extLst>
              <a:ext uri="{FF2B5EF4-FFF2-40B4-BE49-F238E27FC236}">
                <a16:creationId xmlns:a16="http://schemas.microsoft.com/office/drawing/2014/main" id="{C257B3C3-CDC1-4A6A-840D-FB2C6BEB9581}"/>
              </a:ext>
            </a:extLst>
          </p:cNvPr>
          <p:cNvSpPr>
            <a:spLocks noGrp="1"/>
          </p:cNvSpPr>
          <p:nvPr/>
        </p:nvSpPr>
        <p:spPr>
          <a:xfrm>
            <a:off x="9248089" y="4746235"/>
            <a:ext cx="298675" cy="197738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8" name="Google Shape;888;p33">
            <a:extLst>
              <a:ext uri="{FF2B5EF4-FFF2-40B4-BE49-F238E27FC236}">
                <a16:creationId xmlns:a16="http://schemas.microsoft.com/office/drawing/2014/main" id="{CB8D8D43-1939-46D0-A36B-663C06C8B6F9}"/>
              </a:ext>
            </a:extLst>
          </p:cNvPr>
          <p:cNvSpPr>
            <a:spLocks noGrp="1"/>
          </p:cNvSpPr>
          <p:nvPr/>
        </p:nvSpPr>
        <p:spPr>
          <a:xfrm>
            <a:off x="136565" y="3213556"/>
            <a:ext cx="595942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“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고전압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동작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시 Hot Carrier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Injection과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Gate Oxide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열화를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방지하기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위해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최소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Gate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Length를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4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제한</a:t>
            </a:r>
            <a:r>
              <a:rPr sz="14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”</a:t>
            </a:r>
          </a:p>
        </p:txBody>
      </p:sp>
      <p:sp>
        <p:nvSpPr>
          <p:cNvPr id="953" name="Slide 5 copied left comparison heading">
            <a:extLst>
              <a:ext uri="{FF2B5EF4-FFF2-40B4-BE49-F238E27FC236}">
                <a16:creationId xmlns:a16="http://schemas.microsoft.com/office/drawing/2014/main" id="{CEF27A10-7DFE-4C7E-9EEB-2BEC4494939F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954" name="Slide 5 copied right comparison heading">
            <a:extLst>
              <a:ext uri="{FF2B5EF4-FFF2-40B4-BE49-F238E27FC236}">
                <a16:creationId xmlns:a16="http://schemas.microsoft.com/office/drawing/2014/main" id="{71F10D4D-473E-4E7E-B861-38B2B8BD83FE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9FD08974-0968-47CE-8AD8-11F3D1705170}"/>
              </a:ext>
            </a:extLst>
          </p:cNvPr>
          <p:cNvCxnSpPr>
            <a:cxnSpLocks/>
          </p:cNvCxnSpPr>
          <p:nvPr/>
        </p:nvCxnSpPr>
        <p:spPr>
          <a:xfrm>
            <a:off x="3218447" y="5604191"/>
            <a:ext cx="348916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7D0E44D-6E3F-470D-8C54-8A6573DD17EE}"/>
              </a:ext>
            </a:extLst>
          </p:cNvPr>
          <p:cNvSpPr txBox="1"/>
          <p:nvPr/>
        </p:nvSpPr>
        <p:spPr>
          <a:xfrm>
            <a:off x="2986659" y="5604191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0.28um</a:t>
            </a: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2378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2" name="Google Shape;893;p34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894" name="Google Shape;894;p34">
            <a:extLst>
              <a:ext uri="{FF2B5EF4-FFF2-40B4-BE49-F238E27FC236}">
                <a16:creationId xmlns:a16="http://schemas.microsoft.com/office/drawing/2014/main" id="{409B1FC0-D3D2-4374-8376-F4C07506BB81}"/>
              </a:ext>
            </a:extLst>
          </p:cNvPr>
          <p:cNvSpPr>
            <a:spLocks noGrp="1"/>
          </p:cNvSpPr>
          <p:nvPr/>
        </p:nvSpPr>
        <p:spPr>
          <a:xfrm>
            <a:off x="7908778" y="4653865"/>
            <a:ext cx="2365826" cy="1313543"/>
          </a:xfrm>
          <a:prstGeom prst="rect">
            <a:avLst/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mpd="sng">
            <a:solidFill>
              <a:srgbClr val="FFFF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74" name="Google Shape;895;p34"/>
          <p:cNvGraphicFramePr/>
          <p:nvPr>
            <p:extLst>
              <p:ext uri="{D42A27DB-BD31-4B8C-83A1-F6EECF244321}">
                <p14:modId xmlns:p14="http://schemas.microsoft.com/office/powerpoint/2010/main" val="1781034328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POLY.W.5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u="non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Poly interconnect width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75" name="Google Shape;898;p3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4203" y="1509622"/>
            <a:ext cx="2525912" cy="1606696"/>
          </a:xfrm>
          <a:prstGeom prst="rect">
            <a:avLst/>
          </a:prstGeom>
          <a:ln>
            <a:noFill/>
          </a:ln>
        </p:spPr>
      </p:pic>
      <p:pic>
        <p:nvPicPr>
          <p:cNvPr id="976" name="Google Shape;899;p3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607817" y="2711460"/>
            <a:ext cx="3082006" cy="4517087"/>
          </a:xfrm>
          <a:prstGeom prst="rect">
            <a:avLst/>
          </a:prstGeom>
          <a:ln>
            <a:noFill/>
          </a:ln>
        </p:spPr>
      </p:pic>
      <p:sp>
        <p:nvSpPr>
          <p:cNvPr id="900" name="Google Shape;900;p34">
            <a:extLst>
              <a:ext uri="{FF2B5EF4-FFF2-40B4-BE49-F238E27FC236}">
                <a16:creationId xmlns:a16="http://schemas.microsoft.com/office/drawing/2014/main" id="{F618B49C-5BD9-49AF-B7CF-2541BED5FE87}"/>
              </a:ext>
            </a:extLst>
          </p:cNvPr>
          <p:cNvSpPr>
            <a:spLocks noGrp="1"/>
          </p:cNvSpPr>
          <p:nvPr/>
        </p:nvSpPr>
        <p:spPr>
          <a:xfrm>
            <a:off x="7204581" y="1547362"/>
            <a:ext cx="3774223" cy="1989924"/>
          </a:xfrm>
          <a:prstGeom prst="rect">
            <a:avLst/>
          </a:prstGeom>
          <a:gradFill>
            <a:gsLst>
              <a:gs pos="0">
                <a:srgbClr val="AF94D2"/>
              </a:gs>
              <a:gs pos="50000">
                <a:srgbClr val="CCBEE1"/>
              </a:gs>
              <a:gs pos="100000">
                <a:srgbClr val="E6DFF0"/>
              </a:gs>
            </a:gsLst>
            <a:lin ang="13500000" scaled="0"/>
          </a:gradFill>
          <a:ln w="9525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1" name="Google Shape;901;p34">
            <a:extLst>
              <a:ext uri="{FF2B5EF4-FFF2-40B4-BE49-F238E27FC236}">
                <a16:creationId xmlns:a16="http://schemas.microsoft.com/office/drawing/2014/main" id="{4E4ABFA8-CAD2-4FC4-A96B-28BCFE337CF7}"/>
              </a:ext>
            </a:extLst>
          </p:cNvPr>
          <p:cNvSpPr>
            <a:spLocks noGrp="1"/>
          </p:cNvSpPr>
          <p:nvPr/>
        </p:nvSpPr>
        <p:spPr>
          <a:xfrm>
            <a:off x="7804313" y="1898634"/>
            <a:ext cx="2574758" cy="1287379"/>
          </a:xfrm>
          <a:prstGeom prst="rect">
            <a:avLst/>
          </a:prstGeom>
          <a:solidFill>
            <a:srgbClr val="C55A11"/>
          </a:solidFill>
          <a:ln w="12700" cmpd="sng">
            <a:solidFill>
              <a:srgbClr val="833C0B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q</a:t>
            </a:r>
          </a:p>
        </p:txBody>
      </p:sp>
      <p:sp>
        <p:nvSpPr>
          <p:cNvPr id="902" name="Google Shape;902;p34">
            <a:extLst>
              <a:ext uri="{FF2B5EF4-FFF2-40B4-BE49-F238E27FC236}">
                <a16:creationId xmlns:a16="http://schemas.microsoft.com/office/drawing/2014/main" id="{857471FF-2F0A-4538-8A5D-745D6D57839A}"/>
              </a:ext>
            </a:extLst>
          </p:cNvPr>
          <p:cNvSpPr>
            <a:spLocks noGrp="1"/>
          </p:cNvSpPr>
          <p:nvPr/>
        </p:nvSpPr>
        <p:spPr>
          <a:xfrm>
            <a:off x="8387844" y="2259104"/>
            <a:ext cx="1407695" cy="566437"/>
          </a:xfrm>
          <a:prstGeom prst="rect">
            <a:avLst/>
          </a:prstGeom>
          <a:solidFill>
            <a:srgbClr val="FF0000"/>
          </a:solidFill>
          <a:ln w="12700" cmpd="sng">
            <a:solidFill>
              <a:srgbClr val="C000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3" name="Google Shape;903;p34">
            <a:extLst>
              <a:ext uri="{FF2B5EF4-FFF2-40B4-BE49-F238E27FC236}">
                <a16:creationId xmlns:a16="http://schemas.microsoft.com/office/drawing/2014/main" id="{3E2564FB-057A-46EE-8208-25935AA41AE4}"/>
              </a:ext>
            </a:extLst>
          </p:cNvPr>
          <p:cNvSpPr>
            <a:spLocks noGrp="1"/>
          </p:cNvSpPr>
          <p:nvPr/>
        </p:nvSpPr>
        <p:spPr>
          <a:xfrm>
            <a:off x="8783053" y="1720516"/>
            <a:ext cx="571496" cy="1660358"/>
          </a:xfrm>
          <a:prstGeom prst="rect">
            <a:avLst/>
          </a:prstGeom>
          <a:solidFill>
            <a:srgbClr val="A8D08C">
              <a:alpha val="50196"/>
            </a:srgbClr>
          </a:solidFill>
          <a:ln w="9525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4" name="Google Shape;904;p34">
            <a:extLst>
              <a:ext uri="{FF2B5EF4-FFF2-40B4-BE49-F238E27FC236}">
                <a16:creationId xmlns:a16="http://schemas.microsoft.com/office/drawing/2014/main" id="{7A9B880C-AB25-4ADF-9C18-1BDEA2C28AF8}"/>
              </a:ext>
            </a:extLst>
          </p:cNvPr>
          <p:cNvSpPr>
            <a:spLocks noGrp="1"/>
          </p:cNvSpPr>
          <p:nvPr/>
        </p:nvSpPr>
        <p:spPr>
          <a:xfrm>
            <a:off x="8783053" y="3380874"/>
            <a:ext cx="571496" cy="1118555"/>
          </a:xfrm>
          <a:prstGeom prst="rect">
            <a:avLst/>
          </a:prstGeom>
          <a:solidFill>
            <a:srgbClr val="A8D08C">
              <a:alpha val="50196"/>
            </a:srgbClr>
          </a:solidFill>
          <a:ln w="9525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5" name="Google Shape;905;p34">
            <a:extLst>
              <a:ext uri="{FF2B5EF4-FFF2-40B4-BE49-F238E27FC236}">
                <a16:creationId xmlns:a16="http://schemas.microsoft.com/office/drawing/2014/main" id="{17F75677-A799-4793-8F9D-A21E1F64AC5F}"/>
              </a:ext>
            </a:extLst>
          </p:cNvPr>
          <p:cNvSpPr>
            <a:spLocks noGrp="1"/>
          </p:cNvSpPr>
          <p:nvPr/>
        </p:nvSpPr>
        <p:spPr>
          <a:xfrm>
            <a:off x="8387844" y="5027419"/>
            <a:ext cx="1407695" cy="566437"/>
          </a:xfrm>
          <a:prstGeom prst="rect">
            <a:avLst/>
          </a:prstGeom>
          <a:solidFill>
            <a:srgbClr val="FF0000"/>
          </a:solidFill>
          <a:ln w="12700" cmpd="sng">
            <a:solidFill>
              <a:srgbClr val="C000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06" name="Google Shape;906;p34">
            <a:extLst>
              <a:ext uri="{FF2B5EF4-FFF2-40B4-BE49-F238E27FC236}">
                <a16:creationId xmlns:a16="http://schemas.microsoft.com/office/drawing/2014/main" id="{99E1C930-E276-4B7F-9322-5970159FA67B}"/>
              </a:ext>
            </a:extLst>
          </p:cNvPr>
          <p:cNvSpPr>
            <a:spLocks noGrp="1"/>
          </p:cNvSpPr>
          <p:nvPr/>
        </p:nvSpPr>
        <p:spPr>
          <a:xfrm>
            <a:off x="8783053" y="4499429"/>
            <a:ext cx="571496" cy="1828800"/>
          </a:xfrm>
          <a:prstGeom prst="rect">
            <a:avLst/>
          </a:prstGeom>
          <a:solidFill>
            <a:srgbClr val="A8D08C">
              <a:alpha val="50196"/>
            </a:srgbClr>
          </a:solidFill>
          <a:ln w="9525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84" name="Google Shape;907;p34"/>
          <p:cNvCxnSpPr/>
          <p:nvPr/>
        </p:nvCxnSpPr>
        <p:spPr>
          <a:xfrm>
            <a:off x="8826528" y="4011081"/>
            <a:ext cx="484546" cy="4851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908" name="Google Shape;908;p34">
            <a:extLst>
              <a:ext uri="{FF2B5EF4-FFF2-40B4-BE49-F238E27FC236}">
                <a16:creationId xmlns:a16="http://schemas.microsoft.com/office/drawing/2014/main" id="{6D391238-0DE2-445C-B708-1D7ACA9A90EE}"/>
              </a:ext>
            </a:extLst>
          </p:cNvPr>
          <p:cNvSpPr>
            <a:spLocks noGrp="1"/>
          </p:cNvSpPr>
          <p:nvPr/>
        </p:nvSpPr>
        <p:spPr>
          <a:xfrm>
            <a:off x="8683162" y="3659808"/>
            <a:ext cx="90362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0.1um</a:t>
            </a:r>
          </a:p>
        </p:txBody>
      </p:sp>
      <p:graphicFrame>
        <p:nvGraphicFramePr>
          <p:cNvPr id="986" name="Google Shape;909;p34"/>
          <p:cNvGraphicFramePr/>
          <p:nvPr/>
        </p:nvGraphicFramePr>
        <p:xfrm>
          <a:off x="466222" y="3052480"/>
          <a:ext cx="5798005" cy="304810"/>
        </p:xfrm>
        <a:graphic>
          <a:graphicData uri="http://schemas.openxmlformats.org/drawingml/2006/table">
            <a:tbl>
              <a:tblPr/>
              <a:tblGrid>
                <a:gridCol w="5798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 b="0" u="none" cap="none" dirty="0"/>
                        <a:t>“Poly </a:t>
                      </a:r>
                      <a:r>
                        <a:rPr sz="1400" b="0" u="none" cap="none" dirty="0" err="1"/>
                        <a:t>배선의</a:t>
                      </a:r>
                      <a:r>
                        <a:rPr sz="1400" b="0" u="none" cap="none" dirty="0"/>
                        <a:t> </a:t>
                      </a:r>
                      <a:r>
                        <a:rPr sz="1400" b="0" u="none" cap="none" dirty="0" err="1"/>
                        <a:t>단선과</a:t>
                      </a:r>
                      <a:r>
                        <a:rPr sz="1400" b="0" u="none" cap="none" dirty="0"/>
                        <a:t> </a:t>
                      </a:r>
                      <a:r>
                        <a:rPr sz="1400" b="0" u="none" cap="none" dirty="0" err="1"/>
                        <a:t>저항</a:t>
                      </a:r>
                      <a:r>
                        <a:rPr sz="1400" b="0" u="none" cap="none" dirty="0"/>
                        <a:t> </a:t>
                      </a:r>
                      <a:r>
                        <a:rPr sz="1400" b="0" u="none" cap="none" dirty="0" err="1"/>
                        <a:t>증가를</a:t>
                      </a:r>
                      <a:r>
                        <a:rPr sz="1400" b="0" u="none" cap="none" dirty="0"/>
                        <a:t> </a:t>
                      </a:r>
                      <a:r>
                        <a:rPr sz="1400" b="0" u="none" cap="none" dirty="0" err="1"/>
                        <a:t>방지하기</a:t>
                      </a:r>
                      <a:r>
                        <a:rPr sz="1400" b="0" u="none" cap="none" dirty="0"/>
                        <a:t> </a:t>
                      </a:r>
                      <a:r>
                        <a:rPr sz="1400" b="0" u="none" cap="none" dirty="0" err="1"/>
                        <a:t>위해</a:t>
                      </a:r>
                      <a:r>
                        <a:rPr sz="1400" b="0" u="none" cap="none" dirty="0"/>
                        <a:t> </a:t>
                      </a:r>
                      <a:r>
                        <a:rPr sz="1400" b="0" u="none" cap="none" dirty="0" err="1"/>
                        <a:t>최소</a:t>
                      </a:r>
                      <a:r>
                        <a:rPr sz="1400" b="0" u="none" cap="none" dirty="0"/>
                        <a:t> Poly </a:t>
                      </a:r>
                      <a:r>
                        <a:rPr sz="1400" b="0" u="none" cap="none" dirty="0" err="1"/>
                        <a:t>폭을</a:t>
                      </a:r>
                      <a:r>
                        <a:rPr sz="1400" b="0" u="none" cap="none" dirty="0"/>
                        <a:t> </a:t>
                      </a:r>
                      <a:r>
                        <a:rPr sz="1400" b="0" u="none" cap="none" dirty="0" err="1"/>
                        <a:t>규정</a:t>
                      </a:r>
                      <a:r>
                        <a:rPr sz="1400" b="0" u="none" cap="none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70" name="Slide 5 copied left comparison heading">
            <a:extLst>
              <a:ext uri="{FF2B5EF4-FFF2-40B4-BE49-F238E27FC236}">
                <a16:creationId xmlns:a16="http://schemas.microsoft.com/office/drawing/2014/main" id="{2DD09B08-F73F-49CF-B604-0E7B01DBD28F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971" name="Slide 5 copied right comparison heading">
            <a:extLst>
              <a:ext uri="{FF2B5EF4-FFF2-40B4-BE49-F238E27FC236}">
                <a16:creationId xmlns:a16="http://schemas.microsoft.com/office/drawing/2014/main" id="{221C33EB-B661-4AEB-A931-AFDC92D73B22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AFB93EF-8E5E-42C2-9277-7EF5F265F493}"/>
              </a:ext>
            </a:extLst>
          </p:cNvPr>
          <p:cNvCxnSpPr>
            <a:cxnSpLocks/>
          </p:cNvCxnSpPr>
          <p:nvPr/>
        </p:nvCxnSpPr>
        <p:spPr>
          <a:xfrm flipV="1">
            <a:off x="3489158" y="4981699"/>
            <a:ext cx="0" cy="409698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31A8B5A-B817-4BBA-9651-97BCAA2704F5}"/>
              </a:ext>
            </a:extLst>
          </p:cNvPr>
          <p:cNvSpPr txBox="1"/>
          <p:nvPr/>
        </p:nvSpPr>
        <p:spPr>
          <a:xfrm>
            <a:off x="3027356" y="5269832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0.1um</a:t>
            </a: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37208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14;p3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3268" y="1327399"/>
            <a:ext cx="3475132" cy="1455897"/>
          </a:xfrm>
          <a:prstGeom prst="rect">
            <a:avLst/>
          </a:prstGeom>
          <a:ln>
            <a:noFill/>
          </a:ln>
        </p:spPr>
      </p:pic>
      <p:cxnSp>
        <p:nvCxnSpPr>
          <p:cNvPr id="999" name="Google Shape;915;p35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1000" name="Google Shape;916;p35"/>
          <p:cNvGraphicFramePr/>
          <p:nvPr>
            <p:extLst>
              <p:ext uri="{D42A27DB-BD31-4B8C-83A1-F6EECF244321}">
                <p14:modId xmlns:p14="http://schemas.microsoft.com/office/powerpoint/2010/main" val="936956264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POLY.SP.1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Poly resistor space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01" name="Google Shape;919;p3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2205" y="3292163"/>
            <a:ext cx="3977257" cy="3421116"/>
          </a:xfrm>
          <a:prstGeom prst="rect">
            <a:avLst/>
          </a:prstGeom>
          <a:ln>
            <a:noFill/>
          </a:ln>
        </p:spPr>
      </p:pic>
      <p:pic>
        <p:nvPicPr>
          <p:cNvPr id="1002" name="Google Shape;920;p35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85360" y="1437679"/>
            <a:ext cx="2540775" cy="3042565"/>
          </a:xfrm>
          <a:prstGeom prst="rect">
            <a:avLst/>
          </a:prstGeom>
          <a:ln>
            <a:noFill/>
          </a:ln>
        </p:spPr>
      </p:pic>
      <p:sp>
        <p:nvSpPr>
          <p:cNvPr id="921" name="Google Shape;921;p35">
            <a:extLst>
              <a:ext uri="{FF2B5EF4-FFF2-40B4-BE49-F238E27FC236}">
                <a16:creationId xmlns:a16="http://schemas.microsoft.com/office/drawing/2014/main" id="{00BD992D-9A72-461E-968C-07651162E5E5}"/>
              </a:ext>
            </a:extLst>
          </p:cNvPr>
          <p:cNvSpPr>
            <a:spLocks noGrp="1"/>
          </p:cNvSpPr>
          <p:nvPr/>
        </p:nvSpPr>
        <p:spPr>
          <a:xfrm>
            <a:off x="8734480" y="4664167"/>
            <a:ext cx="9469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0.6um</a:t>
            </a:r>
          </a:p>
        </p:txBody>
      </p:sp>
      <p:cxnSp>
        <p:nvCxnSpPr>
          <p:cNvPr id="1004" name="Google Shape;922;p35"/>
          <p:cNvCxnSpPr/>
          <p:nvPr/>
        </p:nvCxnSpPr>
        <p:spPr>
          <a:xfrm>
            <a:off x="8712404" y="5060793"/>
            <a:ext cx="756449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923" name="Google Shape;923;p35">
            <a:extLst>
              <a:ext uri="{FF2B5EF4-FFF2-40B4-BE49-F238E27FC236}">
                <a16:creationId xmlns:a16="http://schemas.microsoft.com/office/drawing/2014/main" id="{9D4CC376-9E21-460E-A423-BB9ABB582211}"/>
              </a:ext>
            </a:extLst>
          </p:cNvPr>
          <p:cNvSpPr>
            <a:spLocks noGrp="1"/>
          </p:cNvSpPr>
          <p:nvPr/>
        </p:nvSpPr>
        <p:spPr>
          <a:xfrm>
            <a:off x="7329571" y="5234085"/>
            <a:ext cx="3709759" cy="112588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924" name="Google Shape;924;p35">
            <a:extLst>
              <a:ext uri="{FF2B5EF4-FFF2-40B4-BE49-F238E27FC236}">
                <a16:creationId xmlns:a16="http://schemas.microsoft.com/office/drawing/2014/main" id="{702A9E4F-0EFD-4223-966D-C6EFEC2A35FC}"/>
              </a:ext>
            </a:extLst>
          </p:cNvPr>
          <p:cNvSpPr>
            <a:spLocks noGrp="1"/>
          </p:cNvSpPr>
          <p:nvPr/>
        </p:nvSpPr>
        <p:spPr>
          <a:xfrm>
            <a:off x="7329571" y="5223948"/>
            <a:ext cx="3709758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cxnSp>
        <p:nvCxnSpPr>
          <p:cNvPr id="1007" name="Google Shape;925;p35"/>
          <p:cNvCxnSpPr/>
          <p:nvPr/>
        </p:nvCxnSpPr>
        <p:spPr>
          <a:xfrm flipH="1">
            <a:off x="8387958" y="3991012"/>
            <a:ext cx="2" cy="123949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08" name="Google Shape;926;p35"/>
          <p:cNvCxnSpPr/>
          <p:nvPr/>
        </p:nvCxnSpPr>
        <p:spPr>
          <a:xfrm flipH="1">
            <a:off x="8668753" y="4011428"/>
            <a:ext cx="2" cy="123949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09" name="Google Shape;927;p35"/>
          <p:cNvCxnSpPr/>
          <p:nvPr/>
        </p:nvCxnSpPr>
        <p:spPr>
          <a:xfrm flipH="1">
            <a:off x="9528568" y="4006997"/>
            <a:ext cx="2" cy="123949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10" name="Google Shape;928;p35"/>
          <p:cNvCxnSpPr/>
          <p:nvPr/>
        </p:nvCxnSpPr>
        <p:spPr>
          <a:xfrm flipH="1">
            <a:off x="9809361" y="4006997"/>
            <a:ext cx="2" cy="123949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929" name="Google Shape;929;p35">
            <a:extLst>
              <a:ext uri="{FF2B5EF4-FFF2-40B4-BE49-F238E27FC236}">
                <a16:creationId xmlns:a16="http://schemas.microsoft.com/office/drawing/2014/main" id="{79253714-8BA7-4761-B50B-9553778598CF}"/>
              </a:ext>
            </a:extLst>
          </p:cNvPr>
          <p:cNvSpPr>
            <a:spLocks noGrp="1"/>
          </p:cNvSpPr>
          <p:nvPr/>
        </p:nvSpPr>
        <p:spPr>
          <a:xfrm>
            <a:off x="9528568" y="4930285"/>
            <a:ext cx="280791" cy="288761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30" name="Google Shape;930;p35">
            <a:extLst>
              <a:ext uri="{FF2B5EF4-FFF2-40B4-BE49-F238E27FC236}">
                <a16:creationId xmlns:a16="http://schemas.microsoft.com/office/drawing/2014/main" id="{92CDFDB5-80D8-4655-9A17-A44DF930126E}"/>
              </a:ext>
            </a:extLst>
          </p:cNvPr>
          <p:cNvSpPr>
            <a:spLocks noGrp="1"/>
          </p:cNvSpPr>
          <p:nvPr/>
        </p:nvSpPr>
        <p:spPr>
          <a:xfrm>
            <a:off x="8387955" y="4941749"/>
            <a:ext cx="280794" cy="288761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13" name="Google Shape;931;p35"/>
          <p:cNvGraphicFramePr/>
          <p:nvPr/>
        </p:nvGraphicFramePr>
        <p:xfrm>
          <a:off x="201881" y="2795618"/>
          <a:ext cx="5894115" cy="304810"/>
        </p:xfrm>
        <a:graphic>
          <a:graphicData uri="http://schemas.openxmlformats.org/drawingml/2006/table">
            <a:tbl>
              <a:tblPr/>
              <a:tblGrid>
                <a:gridCol w="5894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/>
                        <a:t>Poly </a:t>
                      </a:r>
                      <a:r>
                        <a:rPr sz="1400" dirty="0" err="1"/>
                        <a:t>저항의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저항값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오차와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공정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간섭을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줄이기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위해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최소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간격을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확보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96" name="Slide 5 copied left comparison heading">
            <a:extLst>
              <a:ext uri="{FF2B5EF4-FFF2-40B4-BE49-F238E27FC236}">
                <a16:creationId xmlns:a16="http://schemas.microsoft.com/office/drawing/2014/main" id="{1812490F-797B-4285-BC70-CD703FE94197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997" name="Slide 5 copied right comparison heading">
            <a:extLst>
              <a:ext uri="{FF2B5EF4-FFF2-40B4-BE49-F238E27FC236}">
                <a16:creationId xmlns:a16="http://schemas.microsoft.com/office/drawing/2014/main" id="{B1D16209-0715-4FCA-B2B9-105B219C446F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5823902-FDB6-463F-A231-4469A648790E}"/>
              </a:ext>
            </a:extLst>
          </p:cNvPr>
          <p:cNvCxnSpPr>
            <a:cxnSpLocks/>
          </p:cNvCxnSpPr>
          <p:nvPr/>
        </p:nvCxnSpPr>
        <p:spPr>
          <a:xfrm>
            <a:off x="3435016" y="4833444"/>
            <a:ext cx="812131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0E23216-90BF-4BFA-AAC0-7980A82A1B07}"/>
              </a:ext>
            </a:extLst>
          </p:cNvPr>
          <p:cNvSpPr txBox="1"/>
          <p:nvPr/>
        </p:nvSpPr>
        <p:spPr>
          <a:xfrm>
            <a:off x="3457489" y="4971877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0.6um</a:t>
            </a: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55152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Google Shape;936;p3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054" y="1221886"/>
            <a:ext cx="3503120" cy="1693726"/>
          </a:xfrm>
          <a:prstGeom prst="rect">
            <a:avLst/>
          </a:prstGeom>
          <a:ln>
            <a:noFill/>
          </a:ln>
        </p:spPr>
      </p:pic>
      <p:cxnSp>
        <p:nvCxnSpPr>
          <p:cNvPr id="1033" name="Google Shape;937;p36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034" name="Google Shape;938;p36"/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3510"/>
          <a:stretch>
            <a:fillRect/>
          </a:stretch>
        </p:blipFill>
        <p:spPr>
          <a:xfrm>
            <a:off x="7965366" y="1315839"/>
            <a:ext cx="3187401" cy="2583197"/>
          </a:xfrm>
          <a:prstGeom prst="rect">
            <a:avLst/>
          </a:prstGeom>
          <a:ln>
            <a:noFill/>
          </a:ln>
        </p:spPr>
      </p:pic>
      <p:graphicFrame>
        <p:nvGraphicFramePr>
          <p:cNvPr id="1035" name="Google Shape;939;p36"/>
          <p:cNvGraphicFramePr/>
          <p:nvPr>
            <p:extLst>
              <p:ext uri="{D42A27DB-BD31-4B8C-83A1-F6EECF244321}">
                <p14:modId xmlns:p14="http://schemas.microsoft.com/office/powerpoint/2010/main" val="2184124014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9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POLY.SP.2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0.12um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gate space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036" name="Google Shape;942;p36"/>
          <p:cNvCxnSpPr/>
          <p:nvPr/>
        </p:nvCxnSpPr>
        <p:spPr>
          <a:xfrm>
            <a:off x="9414575" y="4268369"/>
            <a:ext cx="278855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943" name="Google Shape;943;p36">
            <a:extLst>
              <a:ext uri="{FF2B5EF4-FFF2-40B4-BE49-F238E27FC236}">
                <a16:creationId xmlns:a16="http://schemas.microsoft.com/office/drawing/2014/main" id="{D3B93EBC-11B8-4C6A-9688-5D46C78B03CD}"/>
              </a:ext>
            </a:extLst>
          </p:cNvPr>
          <p:cNvSpPr>
            <a:spLocks noGrp="1"/>
          </p:cNvSpPr>
          <p:nvPr/>
        </p:nvSpPr>
        <p:spPr>
          <a:xfrm>
            <a:off x="6689719" y="260795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cxnSp>
        <p:nvCxnSpPr>
          <p:cNvPr id="1038" name="Google Shape;944;p36"/>
          <p:cNvCxnSpPr/>
          <p:nvPr/>
        </p:nvCxnSpPr>
        <p:spPr>
          <a:xfrm>
            <a:off x="10369132" y="3286513"/>
            <a:ext cx="7701" cy="190569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39" name="Google Shape;945;p36"/>
          <p:cNvCxnSpPr/>
          <p:nvPr/>
        </p:nvCxnSpPr>
        <p:spPr>
          <a:xfrm>
            <a:off x="7078502" y="2792619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040" name="Google Shape;946;p36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96043" y="3247259"/>
            <a:ext cx="4142193" cy="3523097"/>
          </a:xfrm>
          <a:prstGeom prst="rect">
            <a:avLst/>
          </a:prstGeom>
          <a:ln>
            <a:noFill/>
          </a:ln>
        </p:spPr>
      </p:pic>
      <p:cxnSp>
        <p:nvCxnSpPr>
          <p:cNvPr id="1041" name="Google Shape;947;p36"/>
          <p:cNvCxnSpPr/>
          <p:nvPr/>
        </p:nvCxnSpPr>
        <p:spPr>
          <a:xfrm>
            <a:off x="8711297" y="3286513"/>
            <a:ext cx="0" cy="189112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42" name="Google Shape;948;p36"/>
          <p:cNvCxnSpPr>
            <a:endCxn id="949" idx="3"/>
          </p:cNvCxnSpPr>
          <p:nvPr/>
        </p:nvCxnSpPr>
        <p:spPr>
          <a:xfrm>
            <a:off x="9904965" y="3835406"/>
            <a:ext cx="14700" cy="126510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43" name="Google Shape;950;p36"/>
          <p:cNvCxnSpPr>
            <a:endCxn id="949" idx="1"/>
          </p:cNvCxnSpPr>
          <p:nvPr/>
        </p:nvCxnSpPr>
        <p:spPr>
          <a:xfrm>
            <a:off x="9693431" y="3835406"/>
            <a:ext cx="3000" cy="126510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44" name="Google Shape;951;p36"/>
          <p:cNvCxnSpPr>
            <a:endCxn id="952" idx="3"/>
          </p:cNvCxnSpPr>
          <p:nvPr/>
        </p:nvCxnSpPr>
        <p:spPr>
          <a:xfrm>
            <a:off x="9400314" y="3860906"/>
            <a:ext cx="19500" cy="123960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45" name="Google Shape;953;p36"/>
          <p:cNvCxnSpPr>
            <a:endCxn id="952" idx="1"/>
          </p:cNvCxnSpPr>
          <p:nvPr/>
        </p:nvCxnSpPr>
        <p:spPr>
          <a:xfrm>
            <a:off x="9196580" y="3860906"/>
            <a:ext cx="0" cy="123960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954" name="Google Shape;954;p36">
            <a:extLst>
              <a:ext uri="{FF2B5EF4-FFF2-40B4-BE49-F238E27FC236}">
                <a16:creationId xmlns:a16="http://schemas.microsoft.com/office/drawing/2014/main" id="{2BA88F03-3B2D-46E5-BD6A-4A20ED71A502}"/>
              </a:ext>
            </a:extLst>
          </p:cNvPr>
          <p:cNvSpPr>
            <a:spLocks noGrp="1"/>
          </p:cNvSpPr>
          <p:nvPr/>
        </p:nvSpPr>
        <p:spPr>
          <a:xfrm>
            <a:off x="9112492" y="3939844"/>
            <a:ext cx="9274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sp>
        <p:nvSpPr>
          <p:cNvPr id="955" name="Google Shape;955;p36">
            <a:extLst>
              <a:ext uri="{FF2B5EF4-FFF2-40B4-BE49-F238E27FC236}">
                <a16:creationId xmlns:a16="http://schemas.microsoft.com/office/drawing/2014/main" id="{B2D70482-BFBD-4FBF-B464-9FD6DEF40AA8}"/>
              </a:ext>
            </a:extLst>
          </p:cNvPr>
          <p:cNvSpPr>
            <a:spLocks noGrp="1"/>
          </p:cNvSpPr>
          <p:nvPr/>
        </p:nvSpPr>
        <p:spPr>
          <a:xfrm>
            <a:off x="7763591" y="5311985"/>
            <a:ext cx="3709759" cy="112588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956" name="Google Shape;956;p36">
            <a:extLst>
              <a:ext uri="{FF2B5EF4-FFF2-40B4-BE49-F238E27FC236}">
                <a16:creationId xmlns:a16="http://schemas.microsoft.com/office/drawing/2014/main" id="{B3559561-9652-4795-9E22-0F874CBDCDD4}"/>
              </a:ext>
            </a:extLst>
          </p:cNvPr>
          <p:cNvSpPr>
            <a:spLocks noGrp="1"/>
          </p:cNvSpPr>
          <p:nvPr/>
        </p:nvSpPr>
        <p:spPr>
          <a:xfrm>
            <a:off x="7763592" y="5293039"/>
            <a:ext cx="947706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957" name="Google Shape;957;p36">
            <a:extLst>
              <a:ext uri="{FF2B5EF4-FFF2-40B4-BE49-F238E27FC236}">
                <a16:creationId xmlns:a16="http://schemas.microsoft.com/office/drawing/2014/main" id="{D980FAEC-6BC4-46FA-A138-DB674187ACA0}"/>
              </a:ext>
            </a:extLst>
          </p:cNvPr>
          <p:cNvSpPr>
            <a:spLocks noGrp="1"/>
          </p:cNvSpPr>
          <p:nvPr/>
        </p:nvSpPr>
        <p:spPr>
          <a:xfrm>
            <a:off x="8711297" y="5311984"/>
            <a:ext cx="485283" cy="1278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sp>
        <p:nvSpPr>
          <p:cNvPr id="958" name="Google Shape;958;p36">
            <a:extLst>
              <a:ext uri="{FF2B5EF4-FFF2-40B4-BE49-F238E27FC236}">
                <a16:creationId xmlns:a16="http://schemas.microsoft.com/office/drawing/2014/main" id="{BFCA9509-6084-4D4A-8EED-34A4B1DB39F2}"/>
              </a:ext>
            </a:extLst>
          </p:cNvPr>
          <p:cNvSpPr>
            <a:spLocks noGrp="1"/>
          </p:cNvSpPr>
          <p:nvPr/>
        </p:nvSpPr>
        <p:spPr>
          <a:xfrm>
            <a:off x="10256748" y="5294366"/>
            <a:ext cx="1216602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959" name="Google Shape;959;p36">
            <a:extLst>
              <a:ext uri="{FF2B5EF4-FFF2-40B4-BE49-F238E27FC236}">
                <a16:creationId xmlns:a16="http://schemas.microsoft.com/office/drawing/2014/main" id="{17226442-081E-4CCF-AD1D-1E2C205F6648}"/>
              </a:ext>
            </a:extLst>
          </p:cNvPr>
          <p:cNvSpPr>
            <a:spLocks noGrp="1"/>
          </p:cNvSpPr>
          <p:nvPr/>
        </p:nvSpPr>
        <p:spPr>
          <a:xfrm>
            <a:off x="9905097" y="5295098"/>
            <a:ext cx="339674" cy="15213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sp>
        <p:nvSpPr>
          <p:cNvPr id="960" name="Google Shape;960;p36">
            <a:extLst>
              <a:ext uri="{FF2B5EF4-FFF2-40B4-BE49-F238E27FC236}">
                <a16:creationId xmlns:a16="http://schemas.microsoft.com/office/drawing/2014/main" id="{C8432316-F55F-4C55-8778-6C4AA7A26EFF}"/>
              </a:ext>
            </a:extLst>
          </p:cNvPr>
          <p:cNvSpPr>
            <a:spLocks noGrp="1"/>
          </p:cNvSpPr>
          <p:nvPr/>
        </p:nvSpPr>
        <p:spPr>
          <a:xfrm>
            <a:off x="8711297" y="5192204"/>
            <a:ext cx="1679341" cy="110971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949" name="Google Shape;949;p36">
            <a:extLst>
              <a:ext uri="{FF2B5EF4-FFF2-40B4-BE49-F238E27FC236}">
                <a16:creationId xmlns:a16="http://schemas.microsoft.com/office/drawing/2014/main" id="{B9FB2655-32CA-474E-8147-7AF56065E627}"/>
              </a:ext>
            </a:extLst>
          </p:cNvPr>
          <p:cNvSpPr>
            <a:spLocks noGrp="1"/>
          </p:cNvSpPr>
          <p:nvPr/>
        </p:nvSpPr>
        <p:spPr>
          <a:xfrm>
            <a:off x="9696431" y="5008808"/>
            <a:ext cx="223234" cy="183395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52" name="Google Shape;952;p36">
            <a:extLst>
              <a:ext uri="{FF2B5EF4-FFF2-40B4-BE49-F238E27FC236}">
                <a16:creationId xmlns:a16="http://schemas.microsoft.com/office/drawing/2014/main" id="{66A2D25B-26A4-46F6-A468-712791A163AE}"/>
              </a:ext>
            </a:extLst>
          </p:cNvPr>
          <p:cNvSpPr>
            <a:spLocks noGrp="1"/>
          </p:cNvSpPr>
          <p:nvPr/>
        </p:nvSpPr>
        <p:spPr>
          <a:xfrm>
            <a:off x="9196580" y="5008808"/>
            <a:ext cx="223234" cy="183395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61" name="Google Shape;961;p36">
            <a:extLst>
              <a:ext uri="{FF2B5EF4-FFF2-40B4-BE49-F238E27FC236}">
                <a16:creationId xmlns:a16="http://schemas.microsoft.com/office/drawing/2014/main" id="{94E1025D-1A80-4660-B6F2-9A23969978FB}"/>
              </a:ext>
            </a:extLst>
          </p:cNvPr>
          <p:cNvSpPr>
            <a:spLocks noGrp="1"/>
          </p:cNvSpPr>
          <p:nvPr/>
        </p:nvSpPr>
        <p:spPr>
          <a:xfrm>
            <a:off x="9419814" y="5307130"/>
            <a:ext cx="273616" cy="14010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56" name="Google Shape;962;p36"/>
          <p:cNvGraphicFramePr/>
          <p:nvPr/>
        </p:nvGraphicFramePr>
        <p:xfrm>
          <a:off x="345544" y="2747145"/>
          <a:ext cx="6108683" cy="518170"/>
        </p:xfrm>
        <a:graphic>
          <a:graphicData uri="http://schemas.openxmlformats.org/drawingml/2006/table">
            <a:tbl>
              <a:tblPr/>
              <a:tblGrid>
                <a:gridCol w="6108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 err="1"/>
                        <a:t>인접한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Gate의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브리징과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기생</a:t>
                      </a:r>
                      <a:r>
                        <a:rPr sz="1400" dirty="0"/>
                        <a:t> capacitor </a:t>
                      </a:r>
                      <a:r>
                        <a:rPr sz="1400" dirty="0" err="1"/>
                        <a:t>증가를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방지하기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위해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최소</a:t>
                      </a:r>
                      <a:r>
                        <a:rPr sz="1400" dirty="0"/>
                        <a:t> Gate </a:t>
                      </a:r>
                      <a:r>
                        <a:rPr sz="1400" dirty="0" err="1"/>
                        <a:t>간격을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유지</a:t>
                      </a:r>
                      <a:r>
                        <a:rPr sz="1400" dirty="0"/>
                        <a:t>.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30" name="Slide 5 copied left comparison heading">
            <a:extLst>
              <a:ext uri="{FF2B5EF4-FFF2-40B4-BE49-F238E27FC236}">
                <a16:creationId xmlns:a16="http://schemas.microsoft.com/office/drawing/2014/main" id="{259DF5CE-0B14-4DCB-BC20-95BFFFA3BA05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031" name="Slide 5 copied right comparison heading">
            <a:extLst>
              <a:ext uri="{FF2B5EF4-FFF2-40B4-BE49-F238E27FC236}">
                <a16:creationId xmlns:a16="http://schemas.microsoft.com/office/drawing/2014/main" id="{07803B7C-B205-4346-A96E-EA1D17B27B5B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B0F0E9F-F538-4229-925D-74BAAC7328FF}"/>
              </a:ext>
            </a:extLst>
          </p:cNvPr>
          <p:cNvCxnSpPr>
            <a:cxnSpLocks/>
          </p:cNvCxnSpPr>
          <p:nvPr/>
        </p:nvCxnSpPr>
        <p:spPr>
          <a:xfrm>
            <a:off x="3068053" y="4044445"/>
            <a:ext cx="276726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51046C0-C350-43F2-A9B9-64E7063F3ACA}"/>
              </a:ext>
            </a:extLst>
          </p:cNvPr>
          <p:cNvSpPr txBox="1"/>
          <p:nvPr/>
        </p:nvSpPr>
        <p:spPr>
          <a:xfrm>
            <a:off x="2812248" y="4182878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0.12um</a:t>
            </a: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3611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1" name="Google Shape;967;p3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0116" y="1413625"/>
            <a:ext cx="2913896" cy="1298655"/>
          </a:xfrm>
          <a:prstGeom prst="rect">
            <a:avLst/>
          </a:prstGeom>
          <a:ln>
            <a:noFill/>
          </a:ln>
        </p:spPr>
      </p:pic>
      <p:sp>
        <p:nvSpPr>
          <p:cNvPr id="968" name="Google Shape;968;p37">
            <a:extLst>
              <a:ext uri="{FF2B5EF4-FFF2-40B4-BE49-F238E27FC236}">
                <a16:creationId xmlns:a16="http://schemas.microsoft.com/office/drawing/2014/main" id="{1803E243-B49B-4033-80C6-749AB9D53582}"/>
              </a:ext>
            </a:extLst>
          </p:cNvPr>
          <p:cNvSpPr>
            <a:spLocks noGrp="1"/>
          </p:cNvSpPr>
          <p:nvPr/>
        </p:nvSpPr>
        <p:spPr>
          <a:xfrm>
            <a:off x="7680777" y="4580839"/>
            <a:ext cx="3707303" cy="1985658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cxnSp>
        <p:nvCxnSpPr>
          <p:cNvPr id="1053" name="Google Shape;969;p37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1054" name="Google Shape;970;p37"/>
          <p:cNvGraphicFramePr/>
          <p:nvPr>
            <p:extLst>
              <p:ext uri="{D42A27DB-BD31-4B8C-83A1-F6EECF244321}">
                <p14:modId xmlns:p14="http://schemas.microsoft.com/office/powerpoint/2010/main" val="3880408565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POLY.SP.3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0.12um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Poly interconnect space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71" name="Google Shape;971;p37">
            <a:extLst>
              <a:ext uri="{FF2B5EF4-FFF2-40B4-BE49-F238E27FC236}">
                <a16:creationId xmlns:a16="http://schemas.microsoft.com/office/drawing/2014/main" id="{07D14CBE-4376-45B7-8488-100EC91D5BD0}"/>
              </a:ext>
            </a:extLst>
          </p:cNvPr>
          <p:cNvSpPr>
            <a:spLocks noGrp="1"/>
          </p:cNvSpPr>
          <p:nvPr/>
        </p:nvSpPr>
        <p:spPr>
          <a:xfrm>
            <a:off x="9051287" y="2716967"/>
            <a:ext cx="94426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cxnSp>
        <p:nvCxnSpPr>
          <p:cNvPr id="1056" name="Google Shape;974;p37"/>
          <p:cNvCxnSpPr/>
          <p:nvPr/>
        </p:nvCxnSpPr>
        <p:spPr>
          <a:xfrm>
            <a:off x="8908531" y="3102436"/>
            <a:ext cx="1164014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975" name="Google Shape;975;p37">
            <a:extLst>
              <a:ext uri="{FF2B5EF4-FFF2-40B4-BE49-F238E27FC236}">
                <a16:creationId xmlns:a16="http://schemas.microsoft.com/office/drawing/2014/main" id="{A267629F-83B3-4964-B38A-DB4D5234DA14}"/>
              </a:ext>
            </a:extLst>
          </p:cNvPr>
          <p:cNvSpPr>
            <a:spLocks noGrp="1"/>
          </p:cNvSpPr>
          <p:nvPr/>
        </p:nvSpPr>
        <p:spPr>
          <a:xfrm>
            <a:off x="8520210" y="4383480"/>
            <a:ext cx="330857" cy="203810"/>
          </a:xfrm>
          <a:prstGeom prst="rect">
            <a:avLst/>
          </a:prstGeom>
          <a:solidFill>
            <a:srgbClr val="F4B081"/>
          </a:solidFill>
          <a:ln w="12700" cmpd="sng">
            <a:solidFill>
              <a:srgbClr val="31538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58" name="Google Shape;976;p37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3172" y="3252852"/>
            <a:ext cx="4294781" cy="3313645"/>
          </a:xfrm>
          <a:prstGeom prst="rect">
            <a:avLst/>
          </a:prstGeom>
          <a:ln>
            <a:noFill/>
          </a:ln>
        </p:spPr>
      </p:pic>
      <p:sp>
        <p:nvSpPr>
          <p:cNvPr id="977" name="Google Shape;977;p37">
            <a:extLst>
              <a:ext uri="{FF2B5EF4-FFF2-40B4-BE49-F238E27FC236}">
                <a16:creationId xmlns:a16="http://schemas.microsoft.com/office/drawing/2014/main" id="{4780080C-5458-4D1A-BB65-8CD7BF198D77}"/>
              </a:ext>
            </a:extLst>
          </p:cNvPr>
          <p:cNvSpPr>
            <a:spLocks noGrp="1"/>
          </p:cNvSpPr>
          <p:nvPr/>
        </p:nvSpPr>
        <p:spPr>
          <a:xfrm rot="-5400000">
            <a:off x="7568599" y="2732426"/>
            <a:ext cx="2239146" cy="330868"/>
          </a:xfrm>
          <a:prstGeom prst="rect">
            <a:avLst/>
          </a:prstGeom>
          <a:solidFill>
            <a:srgbClr val="F4B081"/>
          </a:solidFill>
          <a:ln w="12700" cmpd="sng">
            <a:solidFill>
              <a:srgbClr val="31538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78" name="Google Shape;978;p37">
            <a:extLst>
              <a:ext uri="{FF2B5EF4-FFF2-40B4-BE49-F238E27FC236}">
                <a16:creationId xmlns:a16="http://schemas.microsoft.com/office/drawing/2014/main" id="{E7AD6C23-5EAA-4C0B-9DC7-BB2544712E61}"/>
              </a:ext>
            </a:extLst>
          </p:cNvPr>
          <p:cNvSpPr>
            <a:spLocks noGrp="1"/>
          </p:cNvSpPr>
          <p:nvPr/>
        </p:nvSpPr>
        <p:spPr>
          <a:xfrm rot="-5400000">
            <a:off x="9151553" y="2726255"/>
            <a:ext cx="2239147" cy="330868"/>
          </a:xfrm>
          <a:prstGeom prst="rect">
            <a:avLst/>
          </a:prstGeom>
          <a:solidFill>
            <a:srgbClr val="F4B081"/>
          </a:solidFill>
          <a:ln w="12700" cmpd="sng">
            <a:solidFill>
              <a:srgbClr val="31538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61" name="Google Shape;979;p37"/>
          <p:cNvCxnSpPr/>
          <p:nvPr/>
        </p:nvCxnSpPr>
        <p:spPr>
          <a:xfrm>
            <a:off x="10436561" y="4042561"/>
            <a:ext cx="0" cy="68183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62" name="Google Shape;980;p37"/>
          <p:cNvCxnSpPr/>
          <p:nvPr/>
        </p:nvCxnSpPr>
        <p:spPr>
          <a:xfrm>
            <a:off x="10105692" y="4042561"/>
            <a:ext cx="0" cy="68183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63" name="Google Shape;981;p37"/>
          <p:cNvCxnSpPr/>
          <p:nvPr/>
        </p:nvCxnSpPr>
        <p:spPr>
          <a:xfrm>
            <a:off x="8851079" y="4042561"/>
            <a:ext cx="0" cy="68183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64" name="Google Shape;982;p37"/>
          <p:cNvCxnSpPr/>
          <p:nvPr/>
        </p:nvCxnSpPr>
        <p:spPr>
          <a:xfrm>
            <a:off x="8522738" y="4042561"/>
            <a:ext cx="0" cy="68183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983" name="Google Shape;983;p37">
            <a:extLst>
              <a:ext uri="{FF2B5EF4-FFF2-40B4-BE49-F238E27FC236}">
                <a16:creationId xmlns:a16="http://schemas.microsoft.com/office/drawing/2014/main" id="{A59027F0-02F1-44BA-96A9-0CBF0C86C700}"/>
              </a:ext>
            </a:extLst>
          </p:cNvPr>
          <p:cNvSpPr>
            <a:spLocks noGrp="1"/>
          </p:cNvSpPr>
          <p:nvPr/>
        </p:nvSpPr>
        <p:spPr>
          <a:xfrm>
            <a:off x="10105704" y="4370859"/>
            <a:ext cx="330857" cy="203810"/>
          </a:xfrm>
          <a:prstGeom prst="rect">
            <a:avLst/>
          </a:prstGeom>
          <a:solidFill>
            <a:srgbClr val="F4B081"/>
          </a:solidFill>
          <a:ln w="12700" cmpd="sng">
            <a:solidFill>
              <a:srgbClr val="31538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84" name="Google Shape;984;p37">
            <a:extLst>
              <a:ext uri="{FF2B5EF4-FFF2-40B4-BE49-F238E27FC236}">
                <a16:creationId xmlns:a16="http://schemas.microsoft.com/office/drawing/2014/main" id="{20E1CACA-FBBC-4BB8-8C0B-8ADA9ECCC573}"/>
              </a:ext>
            </a:extLst>
          </p:cNvPr>
          <p:cNvSpPr>
            <a:spLocks noGrp="1"/>
          </p:cNvSpPr>
          <p:nvPr/>
        </p:nvSpPr>
        <p:spPr>
          <a:xfrm>
            <a:off x="7680777" y="4570913"/>
            <a:ext cx="3707295" cy="369763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graphicFrame>
        <p:nvGraphicFramePr>
          <p:cNvPr id="1067" name="Google Shape;985;p37"/>
          <p:cNvGraphicFramePr/>
          <p:nvPr/>
        </p:nvGraphicFramePr>
        <p:xfrm>
          <a:off x="719289" y="2675667"/>
          <a:ext cx="5249150" cy="518170"/>
        </p:xfrm>
        <a:graphic>
          <a:graphicData uri="http://schemas.openxmlformats.org/drawingml/2006/table">
            <a:tbl>
              <a:tblPr/>
              <a:tblGrid>
                <a:gridCol w="524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/>
                        <a:t>Poly </a:t>
                      </a:r>
                      <a:r>
                        <a:rPr sz="1400" dirty="0" err="1"/>
                        <a:t>배선</a:t>
                      </a:r>
                      <a:r>
                        <a:rPr sz="1400" dirty="0"/>
                        <a:t> 간 </a:t>
                      </a:r>
                      <a:r>
                        <a:rPr sz="1400" dirty="0" err="1"/>
                        <a:t>브리징과</a:t>
                      </a:r>
                      <a:r>
                        <a:rPr sz="1400" dirty="0"/>
                        <a:t> signal </a:t>
                      </a:r>
                      <a:r>
                        <a:rPr sz="1400" dirty="0" err="1"/>
                        <a:t>간섭을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방지하기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위해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최소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배선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간격을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유지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9" name="Slide 5 copied left comparison heading">
            <a:extLst>
              <a:ext uri="{FF2B5EF4-FFF2-40B4-BE49-F238E27FC236}">
                <a16:creationId xmlns:a16="http://schemas.microsoft.com/office/drawing/2014/main" id="{DABDF8FD-21DB-48E1-AF85-47625937DDDD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050" name="Slide 5 copied right comparison heading">
            <a:extLst>
              <a:ext uri="{FF2B5EF4-FFF2-40B4-BE49-F238E27FC236}">
                <a16:creationId xmlns:a16="http://schemas.microsoft.com/office/drawing/2014/main" id="{2CCFC23B-EFD5-44A7-9CA8-561B2BBB2FC7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6DB0F86-B6F9-4CDC-BE25-823170FF93E5}"/>
              </a:ext>
            </a:extLst>
          </p:cNvPr>
          <p:cNvCxnSpPr>
            <a:cxnSpLocks/>
          </p:cNvCxnSpPr>
          <p:nvPr/>
        </p:nvCxnSpPr>
        <p:spPr>
          <a:xfrm>
            <a:off x="3140242" y="3973512"/>
            <a:ext cx="300790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11F0335-4E6A-4327-8976-454855159EB7}"/>
              </a:ext>
            </a:extLst>
          </p:cNvPr>
          <p:cNvSpPr txBox="1"/>
          <p:nvPr/>
        </p:nvSpPr>
        <p:spPr>
          <a:xfrm>
            <a:off x="2892004" y="4111945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0.12um</a:t>
            </a: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32892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990;p3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29581" y="1113622"/>
            <a:ext cx="1893167" cy="1943650"/>
          </a:xfrm>
          <a:prstGeom prst="rect">
            <a:avLst/>
          </a:prstGeom>
          <a:ln>
            <a:noFill/>
          </a:ln>
        </p:spPr>
      </p:pic>
      <p:cxnSp>
        <p:nvCxnSpPr>
          <p:cNvPr id="1079" name="Google Shape;991;p38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080" name="Google Shape;992;p38"/>
          <p:cNvPicPr>
            <a:picLocks noChangeAspect="1"/>
          </p:cNvPicPr>
          <p:nvPr/>
        </p:nvPicPr>
        <p:blipFill rotWithShape="1">
          <a:blip r:embed="rId4">
            <a:alphaModFix/>
          </a:blip>
          <a:srcRect r="6395"/>
          <a:stretch>
            <a:fillRect/>
          </a:stretch>
        </p:blipFill>
        <p:spPr>
          <a:xfrm rot="-5400000">
            <a:off x="8017518" y="1862584"/>
            <a:ext cx="3239679" cy="2236586"/>
          </a:xfrm>
          <a:prstGeom prst="rect">
            <a:avLst/>
          </a:prstGeom>
          <a:ln>
            <a:noFill/>
          </a:ln>
        </p:spPr>
      </p:pic>
      <p:graphicFrame>
        <p:nvGraphicFramePr>
          <p:cNvPr id="1081" name="Google Shape;993;p38"/>
          <p:cNvGraphicFramePr/>
          <p:nvPr>
            <p:extLst>
              <p:ext uri="{D42A27DB-BD31-4B8C-83A1-F6EECF244321}">
                <p14:modId xmlns:p14="http://schemas.microsoft.com/office/powerpoint/2010/main" val="2870888995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POLY.E.1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0.18um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N-channel gate extension beyond Active Area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082" name="Google Shape;995;p38"/>
          <p:cNvCxnSpPr/>
          <p:nvPr/>
        </p:nvCxnSpPr>
        <p:spPr>
          <a:xfrm>
            <a:off x="10043486" y="5023808"/>
            <a:ext cx="478245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996" name="Google Shape;996;p38">
            <a:extLst>
              <a:ext uri="{FF2B5EF4-FFF2-40B4-BE49-F238E27FC236}">
                <a16:creationId xmlns:a16="http://schemas.microsoft.com/office/drawing/2014/main" id="{973AE80E-C829-46FE-AECB-8D31FDAA55B2}"/>
              </a:ext>
            </a:extLst>
          </p:cNvPr>
          <p:cNvSpPr>
            <a:spLocks noGrp="1"/>
          </p:cNvSpPr>
          <p:nvPr/>
        </p:nvSpPr>
        <p:spPr>
          <a:xfrm>
            <a:off x="6689719" y="260795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cxnSp>
        <p:nvCxnSpPr>
          <p:cNvPr id="1084" name="Google Shape;997;p38"/>
          <p:cNvCxnSpPr/>
          <p:nvPr/>
        </p:nvCxnSpPr>
        <p:spPr>
          <a:xfrm>
            <a:off x="8732061" y="3057272"/>
            <a:ext cx="0" cy="237391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85" name="Google Shape;998;p38"/>
          <p:cNvCxnSpPr/>
          <p:nvPr/>
        </p:nvCxnSpPr>
        <p:spPr>
          <a:xfrm>
            <a:off x="10521731" y="3090333"/>
            <a:ext cx="26855" cy="235504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86" name="Google Shape;999;p38"/>
          <p:cNvCxnSpPr/>
          <p:nvPr/>
        </p:nvCxnSpPr>
        <p:spPr>
          <a:xfrm>
            <a:off x="7078502" y="2792619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087" name="Google Shape;1000;p38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4893" y="3507205"/>
            <a:ext cx="4156643" cy="3144165"/>
          </a:xfrm>
          <a:prstGeom prst="rect">
            <a:avLst/>
          </a:prstGeom>
          <a:ln>
            <a:noFill/>
          </a:ln>
        </p:spPr>
      </p:pic>
      <p:cxnSp>
        <p:nvCxnSpPr>
          <p:cNvPr id="1088" name="Google Shape;1001;p38"/>
          <p:cNvCxnSpPr/>
          <p:nvPr/>
        </p:nvCxnSpPr>
        <p:spPr>
          <a:xfrm flipH="1">
            <a:off x="10007161" y="3738307"/>
            <a:ext cx="29633" cy="175865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089" name="Google Shape;1002;p38"/>
          <p:cNvCxnSpPr/>
          <p:nvPr/>
        </p:nvCxnSpPr>
        <p:spPr>
          <a:xfrm>
            <a:off x="9221230" y="3757357"/>
            <a:ext cx="0" cy="167291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003" name="Google Shape;1003;p38">
            <a:extLst>
              <a:ext uri="{FF2B5EF4-FFF2-40B4-BE49-F238E27FC236}">
                <a16:creationId xmlns:a16="http://schemas.microsoft.com/office/drawing/2014/main" id="{B5A4A0D4-4ABD-4D2D-8B57-8314176DC84D}"/>
              </a:ext>
            </a:extLst>
          </p:cNvPr>
          <p:cNvSpPr>
            <a:spLocks noGrp="1"/>
          </p:cNvSpPr>
          <p:nvPr/>
        </p:nvSpPr>
        <p:spPr>
          <a:xfrm>
            <a:off x="9181635" y="4838945"/>
            <a:ext cx="9469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0.18um</a:t>
            </a:r>
          </a:p>
        </p:txBody>
      </p:sp>
      <p:cxnSp>
        <p:nvCxnSpPr>
          <p:cNvPr id="1091" name="Google Shape;1004;p38"/>
          <p:cNvCxnSpPr/>
          <p:nvPr/>
        </p:nvCxnSpPr>
        <p:spPr>
          <a:xfrm>
            <a:off x="8715618" y="5023045"/>
            <a:ext cx="478245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006" name="Google Shape;1006;p38">
            <a:extLst>
              <a:ext uri="{FF2B5EF4-FFF2-40B4-BE49-F238E27FC236}">
                <a16:creationId xmlns:a16="http://schemas.microsoft.com/office/drawing/2014/main" id="{9FD1EF61-9EC8-492A-BB6A-E6D7FF54E447}"/>
              </a:ext>
            </a:extLst>
          </p:cNvPr>
          <p:cNvSpPr>
            <a:spLocks noGrp="1"/>
          </p:cNvSpPr>
          <p:nvPr/>
        </p:nvSpPr>
        <p:spPr>
          <a:xfrm>
            <a:off x="7798802" y="5629474"/>
            <a:ext cx="3709759" cy="112588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1007" name="Google Shape;1007;p38">
            <a:extLst>
              <a:ext uri="{FF2B5EF4-FFF2-40B4-BE49-F238E27FC236}">
                <a16:creationId xmlns:a16="http://schemas.microsoft.com/office/drawing/2014/main" id="{73FD8EA2-490D-4B75-9D01-8781F5D3036C}"/>
              </a:ext>
            </a:extLst>
          </p:cNvPr>
          <p:cNvSpPr>
            <a:spLocks noGrp="1"/>
          </p:cNvSpPr>
          <p:nvPr/>
        </p:nvSpPr>
        <p:spPr>
          <a:xfrm>
            <a:off x="8732061" y="5337138"/>
            <a:ext cx="1839121" cy="288761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8" name="Google Shape;1008;p38">
            <a:extLst>
              <a:ext uri="{FF2B5EF4-FFF2-40B4-BE49-F238E27FC236}">
                <a16:creationId xmlns:a16="http://schemas.microsoft.com/office/drawing/2014/main" id="{81BDEDE8-4FA6-4D72-B211-623A172942C2}"/>
              </a:ext>
            </a:extLst>
          </p:cNvPr>
          <p:cNvSpPr>
            <a:spLocks noGrp="1"/>
          </p:cNvSpPr>
          <p:nvPr/>
        </p:nvSpPr>
        <p:spPr>
          <a:xfrm>
            <a:off x="9221231" y="5523572"/>
            <a:ext cx="785930" cy="144927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1009" name="Google Shape;1009;p38">
            <a:extLst>
              <a:ext uri="{FF2B5EF4-FFF2-40B4-BE49-F238E27FC236}">
                <a16:creationId xmlns:a16="http://schemas.microsoft.com/office/drawing/2014/main" id="{52EFF0EC-B6C8-442A-AAE2-B9C89DF794C8}"/>
              </a:ext>
            </a:extLst>
          </p:cNvPr>
          <p:cNvSpPr>
            <a:spLocks noGrp="1"/>
          </p:cNvSpPr>
          <p:nvPr/>
        </p:nvSpPr>
        <p:spPr>
          <a:xfrm>
            <a:off x="7798802" y="5619337"/>
            <a:ext cx="1422425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1010" name="Google Shape;1010;p38">
            <a:extLst>
              <a:ext uri="{FF2B5EF4-FFF2-40B4-BE49-F238E27FC236}">
                <a16:creationId xmlns:a16="http://schemas.microsoft.com/office/drawing/2014/main" id="{91593A86-499D-4F4D-8AB4-73845599BA4C}"/>
              </a:ext>
            </a:extLst>
          </p:cNvPr>
          <p:cNvSpPr>
            <a:spLocks noGrp="1"/>
          </p:cNvSpPr>
          <p:nvPr/>
        </p:nvSpPr>
        <p:spPr>
          <a:xfrm>
            <a:off x="10007161" y="5620664"/>
            <a:ext cx="1501400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graphicFrame>
        <p:nvGraphicFramePr>
          <p:cNvPr id="1097" name="Google Shape;1011;p38"/>
          <p:cNvGraphicFramePr/>
          <p:nvPr/>
        </p:nvGraphicFramePr>
        <p:xfrm>
          <a:off x="719289" y="2977285"/>
          <a:ext cx="5249150" cy="518170"/>
        </p:xfrm>
        <a:graphic>
          <a:graphicData uri="http://schemas.openxmlformats.org/drawingml/2006/table">
            <a:tbl>
              <a:tblPr/>
              <a:tblGrid>
                <a:gridCol w="524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/>
                        <a:t>Gate Contact </a:t>
                      </a:r>
                      <a:r>
                        <a:rPr sz="1400" dirty="0" err="1"/>
                        <a:t>배치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공간을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확보하고</a:t>
                      </a:r>
                      <a:r>
                        <a:rPr sz="1400" dirty="0"/>
                        <a:t> Overlay </a:t>
                      </a:r>
                      <a:r>
                        <a:rPr sz="1400" dirty="0" err="1"/>
                        <a:t>오차를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보상하기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위해</a:t>
                      </a:r>
                      <a:r>
                        <a:rPr sz="1400" dirty="0"/>
                        <a:t> Gate </a:t>
                      </a:r>
                      <a:r>
                        <a:rPr sz="1400" dirty="0" err="1"/>
                        <a:t>Poly를</a:t>
                      </a:r>
                      <a:r>
                        <a:rPr sz="1400" dirty="0"/>
                        <a:t> Active </a:t>
                      </a:r>
                      <a:r>
                        <a:rPr sz="1400" dirty="0" err="1"/>
                        <a:t>밖으로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충분히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연장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76" name="Slide 5 copied left comparison heading">
            <a:extLst>
              <a:ext uri="{FF2B5EF4-FFF2-40B4-BE49-F238E27FC236}">
                <a16:creationId xmlns:a16="http://schemas.microsoft.com/office/drawing/2014/main" id="{39611E90-510E-4A7B-94F0-8113A2A939A1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077" name="Slide 5 copied right comparison heading">
            <a:extLst>
              <a:ext uri="{FF2B5EF4-FFF2-40B4-BE49-F238E27FC236}">
                <a16:creationId xmlns:a16="http://schemas.microsoft.com/office/drawing/2014/main" id="{F37760F0-63BB-475B-B680-4C0830C3EC83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A437CB4-A382-4931-B0E7-24CCB1F02FBB}"/>
              </a:ext>
            </a:extLst>
          </p:cNvPr>
          <p:cNvCxnSpPr>
            <a:cxnSpLocks/>
          </p:cNvCxnSpPr>
          <p:nvPr/>
        </p:nvCxnSpPr>
        <p:spPr>
          <a:xfrm>
            <a:off x="3501190" y="4523874"/>
            <a:ext cx="0" cy="406996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ACFF2AE-E17E-4980-988E-3493EFB2951E}"/>
              </a:ext>
            </a:extLst>
          </p:cNvPr>
          <p:cNvSpPr txBox="1"/>
          <p:nvPr/>
        </p:nvSpPr>
        <p:spPr>
          <a:xfrm>
            <a:off x="2735595" y="4985082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0.18um</a:t>
            </a: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044204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4" name="Google Shape;1016;p3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76995" y="1092341"/>
            <a:ext cx="2205046" cy="2303872"/>
          </a:xfrm>
          <a:prstGeom prst="rect">
            <a:avLst/>
          </a:prstGeom>
          <a:ln>
            <a:noFill/>
          </a:ln>
        </p:spPr>
      </p:pic>
      <p:sp>
        <p:nvSpPr>
          <p:cNvPr id="1017" name="Google Shape;1017;p39">
            <a:extLst>
              <a:ext uri="{FF2B5EF4-FFF2-40B4-BE49-F238E27FC236}">
                <a16:creationId xmlns:a16="http://schemas.microsoft.com/office/drawing/2014/main" id="{80785992-7ECA-47E9-B42F-9FDD7A4E8739}"/>
              </a:ext>
            </a:extLst>
          </p:cNvPr>
          <p:cNvSpPr>
            <a:spLocks noGrp="1"/>
          </p:cNvSpPr>
          <p:nvPr/>
        </p:nvSpPr>
        <p:spPr>
          <a:xfrm>
            <a:off x="7626484" y="5287515"/>
            <a:ext cx="3709759" cy="112588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1018" name="Google Shape;1018;p39">
            <a:extLst>
              <a:ext uri="{FF2B5EF4-FFF2-40B4-BE49-F238E27FC236}">
                <a16:creationId xmlns:a16="http://schemas.microsoft.com/office/drawing/2014/main" id="{5EF02869-5A02-4201-8006-73AA32A8ADBE}"/>
              </a:ext>
            </a:extLst>
          </p:cNvPr>
          <p:cNvSpPr>
            <a:spLocks noGrp="1"/>
          </p:cNvSpPr>
          <p:nvPr/>
        </p:nvSpPr>
        <p:spPr>
          <a:xfrm>
            <a:off x="7848495" y="5308393"/>
            <a:ext cx="3200455" cy="448756"/>
          </a:xfrm>
          <a:prstGeom prst="rect">
            <a:avLst/>
          </a:prstGeom>
          <a:solidFill>
            <a:srgbClr val="CDACE6"/>
          </a:solidFill>
          <a:ln w="12700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Nwell</a:t>
            </a:r>
          </a:p>
        </p:txBody>
      </p:sp>
      <p:cxnSp>
        <p:nvCxnSpPr>
          <p:cNvPr id="1117" name="Google Shape;1019;p39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118" name="Google Shape;1020;p39"/>
          <p:cNvPicPr>
            <a:picLocks noChangeAspect="1"/>
          </p:cNvPicPr>
          <p:nvPr/>
        </p:nvPicPr>
        <p:blipFill rotWithShape="1">
          <a:blip r:embed="rId4">
            <a:alphaModFix/>
          </a:blip>
          <a:srcRect r="4885"/>
          <a:stretch>
            <a:fillRect/>
          </a:stretch>
        </p:blipFill>
        <p:spPr>
          <a:xfrm rot="-5400000">
            <a:off x="8033801" y="1337182"/>
            <a:ext cx="2722033" cy="2770394"/>
          </a:xfrm>
          <a:prstGeom prst="rect">
            <a:avLst/>
          </a:prstGeom>
          <a:ln>
            <a:noFill/>
          </a:ln>
        </p:spPr>
      </p:pic>
      <p:graphicFrame>
        <p:nvGraphicFramePr>
          <p:cNvPr id="1119" name="Google Shape;1021;p39"/>
          <p:cNvGraphicFramePr/>
          <p:nvPr>
            <p:extLst>
              <p:ext uri="{D42A27DB-BD31-4B8C-83A1-F6EECF244321}">
                <p14:modId xmlns:p14="http://schemas.microsoft.com/office/powerpoint/2010/main" val="1592393735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POLY.E.2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0.18um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P-channel gate extension beyond Active Area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22" name="Google Shape;1022;p39">
            <a:extLst>
              <a:ext uri="{FF2B5EF4-FFF2-40B4-BE49-F238E27FC236}">
                <a16:creationId xmlns:a16="http://schemas.microsoft.com/office/drawing/2014/main" id="{95E500AD-AFC1-4B02-AE6C-7DC3A1D2D31F}"/>
              </a:ext>
            </a:extLst>
          </p:cNvPr>
          <p:cNvSpPr>
            <a:spLocks noGrp="1"/>
          </p:cNvSpPr>
          <p:nvPr/>
        </p:nvSpPr>
        <p:spPr>
          <a:xfrm>
            <a:off x="8933138" y="4223285"/>
            <a:ext cx="100094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0.18um</a:t>
            </a:r>
          </a:p>
        </p:txBody>
      </p:sp>
      <p:cxnSp>
        <p:nvCxnSpPr>
          <p:cNvPr id="1121" name="Google Shape;1025;p39"/>
          <p:cNvCxnSpPr/>
          <p:nvPr/>
        </p:nvCxnSpPr>
        <p:spPr>
          <a:xfrm>
            <a:off x="8266146" y="4410942"/>
            <a:ext cx="543188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026" name="Google Shape;1026;p39">
            <a:extLst>
              <a:ext uri="{FF2B5EF4-FFF2-40B4-BE49-F238E27FC236}">
                <a16:creationId xmlns:a16="http://schemas.microsoft.com/office/drawing/2014/main" id="{5058B374-5CCF-4397-868E-81340C041FAA}"/>
              </a:ext>
            </a:extLst>
          </p:cNvPr>
          <p:cNvSpPr>
            <a:spLocks noGrp="1"/>
          </p:cNvSpPr>
          <p:nvPr/>
        </p:nvSpPr>
        <p:spPr>
          <a:xfrm>
            <a:off x="6689719" y="260795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cxnSp>
        <p:nvCxnSpPr>
          <p:cNvPr id="1123" name="Google Shape;1027;p39"/>
          <p:cNvCxnSpPr>
            <a:endCxn id="1028" idx="1"/>
          </p:cNvCxnSpPr>
          <p:nvPr/>
        </p:nvCxnSpPr>
        <p:spPr>
          <a:xfrm>
            <a:off x="8179951" y="2927060"/>
            <a:ext cx="0" cy="221250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24" name="Google Shape;1029;p39"/>
          <p:cNvCxnSpPr/>
          <p:nvPr/>
        </p:nvCxnSpPr>
        <p:spPr>
          <a:xfrm>
            <a:off x="9876288" y="3899037"/>
            <a:ext cx="0" cy="109614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25" name="Google Shape;1030;p39"/>
          <p:cNvCxnSpPr/>
          <p:nvPr/>
        </p:nvCxnSpPr>
        <p:spPr>
          <a:xfrm>
            <a:off x="7078502" y="2792619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126" name="Google Shape;1031;p39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7417" y="3801217"/>
            <a:ext cx="4414293" cy="2893660"/>
          </a:xfrm>
          <a:prstGeom prst="rect">
            <a:avLst/>
          </a:prstGeom>
          <a:ln>
            <a:noFill/>
          </a:ln>
        </p:spPr>
      </p:pic>
      <p:cxnSp>
        <p:nvCxnSpPr>
          <p:cNvPr id="1127" name="Google Shape;1032;p39"/>
          <p:cNvCxnSpPr/>
          <p:nvPr/>
        </p:nvCxnSpPr>
        <p:spPr>
          <a:xfrm>
            <a:off x="10520560" y="2947203"/>
            <a:ext cx="1" cy="204440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28" name="Google Shape;1033;p39"/>
          <p:cNvCxnSpPr/>
          <p:nvPr/>
        </p:nvCxnSpPr>
        <p:spPr>
          <a:xfrm>
            <a:off x="8841478" y="3915186"/>
            <a:ext cx="0" cy="107999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29" name="Google Shape;1034;p39"/>
          <p:cNvCxnSpPr/>
          <p:nvPr/>
        </p:nvCxnSpPr>
        <p:spPr>
          <a:xfrm>
            <a:off x="9934080" y="4404885"/>
            <a:ext cx="543188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028" name="Google Shape;1028;p39">
            <a:extLst>
              <a:ext uri="{FF2B5EF4-FFF2-40B4-BE49-F238E27FC236}">
                <a16:creationId xmlns:a16="http://schemas.microsoft.com/office/drawing/2014/main" id="{D94E841F-038C-408D-9394-6D8B7F5590BB}"/>
              </a:ext>
            </a:extLst>
          </p:cNvPr>
          <p:cNvSpPr>
            <a:spLocks noGrp="1"/>
          </p:cNvSpPr>
          <p:nvPr/>
        </p:nvSpPr>
        <p:spPr>
          <a:xfrm>
            <a:off x="8179951" y="4995179"/>
            <a:ext cx="2347992" cy="288761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5" name="Google Shape;1035;p39">
            <a:extLst>
              <a:ext uri="{FF2B5EF4-FFF2-40B4-BE49-F238E27FC236}">
                <a16:creationId xmlns:a16="http://schemas.microsoft.com/office/drawing/2014/main" id="{668391C2-C1AB-4D32-A938-48629D2901EB}"/>
              </a:ext>
            </a:extLst>
          </p:cNvPr>
          <p:cNvSpPr>
            <a:spLocks noGrp="1"/>
          </p:cNvSpPr>
          <p:nvPr/>
        </p:nvSpPr>
        <p:spPr>
          <a:xfrm>
            <a:off x="8841478" y="5181613"/>
            <a:ext cx="1034807" cy="132869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1036" name="Google Shape;1036;p39">
            <a:extLst>
              <a:ext uri="{FF2B5EF4-FFF2-40B4-BE49-F238E27FC236}">
                <a16:creationId xmlns:a16="http://schemas.microsoft.com/office/drawing/2014/main" id="{262487F1-2D71-454B-9275-FD6A116886F3}"/>
              </a:ext>
            </a:extLst>
          </p:cNvPr>
          <p:cNvSpPr>
            <a:spLocks noGrp="1"/>
          </p:cNvSpPr>
          <p:nvPr/>
        </p:nvSpPr>
        <p:spPr>
          <a:xfrm>
            <a:off x="7626485" y="5277378"/>
            <a:ext cx="1207612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1037" name="Google Shape;1037;p39">
            <a:extLst>
              <a:ext uri="{FF2B5EF4-FFF2-40B4-BE49-F238E27FC236}">
                <a16:creationId xmlns:a16="http://schemas.microsoft.com/office/drawing/2014/main" id="{268F75E6-0748-4133-86F2-495343CEB974}"/>
              </a:ext>
            </a:extLst>
          </p:cNvPr>
          <p:cNvSpPr>
            <a:spLocks noGrp="1"/>
          </p:cNvSpPr>
          <p:nvPr/>
        </p:nvSpPr>
        <p:spPr>
          <a:xfrm>
            <a:off x="9876287" y="5278705"/>
            <a:ext cx="1459955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graphicFrame>
        <p:nvGraphicFramePr>
          <p:cNvPr id="1134" name="Google Shape;1038;p39"/>
          <p:cNvGraphicFramePr/>
          <p:nvPr/>
        </p:nvGraphicFramePr>
        <p:xfrm>
          <a:off x="731986" y="3311543"/>
          <a:ext cx="5249150" cy="518170"/>
        </p:xfrm>
        <a:graphic>
          <a:graphicData uri="http://schemas.openxmlformats.org/drawingml/2006/table">
            <a:tbl>
              <a:tblPr/>
              <a:tblGrid>
                <a:gridCol w="524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/>
                        <a:t>Gate Contact </a:t>
                      </a:r>
                      <a:r>
                        <a:rPr sz="1400" dirty="0" err="1"/>
                        <a:t>배치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공간을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확보하고</a:t>
                      </a:r>
                      <a:r>
                        <a:rPr sz="1400" dirty="0"/>
                        <a:t> Overlay </a:t>
                      </a:r>
                      <a:r>
                        <a:rPr sz="1400" dirty="0" err="1"/>
                        <a:t>오차를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보상하기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위해</a:t>
                      </a:r>
                      <a:r>
                        <a:rPr sz="1400" dirty="0"/>
                        <a:t> Gate </a:t>
                      </a:r>
                      <a:r>
                        <a:rPr sz="1400" dirty="0" err="1"/>
                        <a:t>Poly를</a:t>
                      </a:r>
                      <a:r>
                        <a:rPr sz="1400" dirty="0"/>
                        <a:t> Active </a:t>
                      </a:r>
                      <a:r>
                        <a:rPr sz="1400" dirty="0" err="1"/>
                        <a:t>밖으로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충분히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연장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12" name="Slide 5 copied left comparison heading">
            <a:extLst>
              <a:ext uri="{FF2B5EF4-FFF2-40B4-BE49-F238E27FC236}">
                <a16:creationId xmlns:a16="http://schemas.microsoft.com/office/drawing/2014/main" id="{BADF6985-FDE0-4077-9932-768552C1CBEC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113" name="Slide 5 copied right comparison heading">
            <a:extLst>
              <a:ext uri="{FF2B5EF4-FFF2-40B4-BE49-F238E27FC236}">
                <a16:creationId xmlns:a16="http://schemas.microsoft.com/office/drawing/2014/main" id="{30B67A54-4F79-43E3-A3C9-A02DEA3F44A8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03E8E14-DF28-4C80-AFE7-50D0AE66E96A}"/>
              </a:ext>
            </a:extLst>
          </p:cNvPr>
          <p:cNvCxnSpPr>
            <a:cxnSpLocks/>
          </p:cNvCxnSpPr>
          <p:nvPr/>
        </p:nvCxnSpPr>
        <p:spPr>
          <a:xfrm>
            <a:off x="3242511" y="4530396"/>
            <a:ext cx="0" cy="406996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EA444E7-2E8A-4984-B8AC-6704FA5B2505}"/>
              </a:ext>
            </a:extLst>
          </p:cNvPr>
          <p:cNvSpPr txBox="1"/>
          <p:nvPr/>
        </p:nvSpPr>
        <p:spPr>
          <a:xfrm>
            <a:off x="2476916" y="4991604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0.18um</a:t>
            </a: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20308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3" name="Google Shape;1043;p4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8279" y="1338590"/>
            <a:ext cx="2184404" cy="1278676"/>
          </a:xfrm>
          <a:prstGeom prst="rect">
            <a:avLst/>
          </a:prstGeom>
          <a:ln>
            <a:noFill/>
          </a:ln>
        </p:spPr>
      </p:pic>
      <p:cxnSp>
        <p:nvCxnSpPr>
          <p:cNvPr id="1134" name="Google Shape;1044;p40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135" name="Google Shape;1045;p40"/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5033"/>
          <a:stretch>
            <a:fillRect/>
          </a:stretch>
        </p:blipFill>
        <p:spPr>
          <a:xfrm>
            <a:off x="7925376" y="1338590"/>
            <a:ext cx="2891012" cy="2493042"/>
          </a:xfrm>
          <a:prstGeom prst="rect">
            <a:avLst/>
          </a:prstGeom>
          <a:ln>
            <a:noFill/>
          </a:ln>
        </p:spPr>
      </p:pic>
      <p:graphicFrame>
        <p:nvGraphicFramePr>
          <p:cNvPr id="1136" name="Google Shape;1046;p40"/>
          <p:cNvGraphicFramePr/>
          <p:nvPr>
            <p:extLst>
              <p:ext uri="{D42A27DB-BD31-4B8C-83A1-F6EECF244321}">
                <p14:modId xmlns:p14="http://schemas.microsoft.com/office/powerpoint/2010/main" val="424734622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POLY.E.3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Active Area (source/drain) to gate enclosure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37" name="Google Shape;1049;p40"/>
          <p:cNvCxnSpPr/>
          <p:nvPr/>
        </p:nvCxnSpPr>
        <p:spPr>
          <a:xfrm rot="10800000" flipH="1">
            <a:off x="8909384" y="4268369"/>
            <a:ext cx="360948" cy="1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050" name="Google Shape;1050;p40">
            <a:extLst>
              <a:ext uri="{FF2B5EF4-FFF2-40B4-BE49-F238E27FC236}">
                <a16:creationId xmlns:a16="http://schemas.microsoft.com/office/drawing/2014/main" id="{B91C0350-AA70-4F98-9457-EA0173EDAD2D}"/>
              </a:ext>
            </a:extLst>
          </p:cNvPr>
          <p:cNvSpPr>
            <a:spLocks noGrp="1"/>
          </p:cNvSpPr>
          <p:nvPr/>
        </p:nvSpPr>
        <p:spPr>
          <a:xfrm>
            <a:off x="6613973" y="2418328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cxnSp>
        <p:nvCxnSpPr>
          <p:cNvPr id="1139" name="Google Shape;1051;p40"/>
          <p:cNvCxnSpPr/>
          <p:nvPr/>
        </p:nvCxnSpPr>
        <p:spPr>
          <a:xfrm>
            <a:off x="8843088" y="2835841"/>
            <a:ext cx="30527" cy="233464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40" name="Google Shape;1052;p40"/>
          <p:cNvCxnSpPr/>
          <p:nvPr/>
        </p:nvCxnSpPr>
        <p:spPr>
          <a:xfrm>
            <a:off x="7105217" y="2609246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141" name="Google Shape;1053;p40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3237" y="3482797"/>
            <a:ext cx="3907591" cy="3163577"/>
          </a:xfrm>
          <a:prstGeom prst="rect">
            <a:avLst/>
          </a:prstGeom>
          <a:ln>
            <a:noFill/>
          </a:ln>
        </p:spPr>
      </p:pic>
      <p:cxnSp>
        <p:nvCxnSpPr>
          <p:cNvPr id="1142" name="Google Shape;1054;p40"/>
          <p:cNvCxnSpPr/>
          <p:nvPr/>
        </p:nvCxnSpPr>
        <p:spPr>
          <a:xfrm>
            <a:off x="10027115" y="2822706"/>
            <a:ext cx="0" cy="235701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43" name="Google Shape;1055;p40"/>
          <p:cNvCxnSpPr>
            <a:endCxn id="1056" idx="1"/>
          </p:cNvCxnSpPr>
          <p:nvPr/>
        </p:nvCxnSpPr>
        <p:spPr>
          <a:xfrm>
            <a:off x="9318238" y="3657006"/>
            <a:ext cx="0" cy="144960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44" name="Google Shape;1057;p40"/>
          <p:cNvCxnSpPr/>
          <p:nvPr/>
        </p:nvCxnSpPr>
        <p:spPr>
          <a:xfrm>
            <a:off x="9551202" y="3678169"/>
            <a:ext cx="24631" cy="138641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45" name="Google Shape;1058;p40"/>
          <p:cNvCxnSpPr/>
          <p:nvPr/>
        </p:nvCxnSpPr>
        <p:spPr>
          <a:xfrm rot="10800000" flipH="1">
            <a:off x="9632413" y="4268369"/>
            <a:ext cx="360948" cy="1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059" name="Google Shape;1059;p40">
            <a:extLst>
              <a:ext uri="{FF2B5EF4-FFF2-40B4-BE49-F238E27FC236}">
                <a16:creationId xmlns:a16="http://schemas.microsoft.com/office/drawing/2014/main" id="{43B17B7D-A2C4-48B6-89BD-99E3F0C32E0F}"/>
              </a:ext>
            </a:extLst>
          </p:cNvPr>
          <p:cNvSpPr>
            <a:spLocks noGrp="1"/>
          </p:cNvSpPr>
          <p:nvPr/>
        </p:nvSpPr>
        <p:spPr>
          <a:xfrm>
            <a:off x="9040399" y="3921475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0.2um</a:t>
            </a:r>
          </a:p>
        </p:txBody>
      </p:sp>
      <p:sp>
        <p:nvSpPr>
          <p:cNvPr id="1060" name="Google Shape;1060;p40">
            <a:extLst>
              <a:ext uri="{FF2B5EF4-FFF2-40B4-BE49-F238E27FC236}">
                <a16:creationId xmlns:a16="http://schemas.microsoft.com/office/drawing/2014/main" id="{05E0A54F-195F-4770-80EF-84DC720AE245}"/>
              </a:ext>
            </a:extLst>
          </p:cNvPr>
          <p:cNvSpPr>
            <a:spLocks noGrp="1"/>
          </p:cNvSpPr>
          <p:nvPr/>
        </p:nvSpPr>
        <p:spPr>
          <a:xfrm>
            <a:off x="7648887" y="5297760"/>
            <a:ext cx="3709759" cy="112588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1056" name="Google Shape;1056;p40">
            <a:extLst>
              <a:ext uri="{FF2B5EF4-FFF2-40B4-BE49-F238E27FC236}">
                <a16:creationId xmlns:a16="http://schemas.microsoft.com/office/drawing/2014/main" id="{28F6D28D-DCCD-4D0A-9ED4-214BB88EE2AB}"/>
              </a:ext>
            </a:extLst>
          </p:cNvPr>
          <p:cNvSpPr>
            <a:spLocks noGrp="1"/>
          </p:cNvSpPr>
          <p:nvPr/>
        </p:nvSpPr>
        <p:spPr>
          <a:xfrm>
            <a:off x="9318238" y="5017437"/>
            <a:ext cx="257592" cy="178338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1" name="Google Shape;1061;p40">
            <a:extLst>
              <a:ext uri="{FF2B5EF4-FFF2-40B4-BE49-F238E27FC236}">
                <a16:creationId xmlns:a16="http://schemas.microsoft.com/office/drawing/2014/main" id="{62C4D05C-5CBE-4A91-9B2D-102AA9654A6E}"/>
              </a:ext>
            </a:extLst>
          </p:cNvPr>
          <p:cNvSpPr>
            <a:spLocks noGrp="1"/>
          </p:cNvSpPr>
          <p:nvPr/>
        </p:nvSpPr>
        <p:spPr>
          <a:xfrm>
            <a:off x="8867722" y="5191857"/>
            <a:ext cx="1182729" cy="122351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1062" name="Google Shape;1062;p40">
            <a:extLst>
              <a:ext uri="{FF2B5EF4-FFF2-40B4-BE49-F238E27FC236}">
                <a16:creationId xmlns:a16="http://schemas.microsoft.com/office/drawing/2014/main" id="{277DE334-8269-4E79-BE9A-B6511F78FE51}"/>
              </a:ext>
            </a:extLst>
          </p:cNvPr>
          <p:cNvSpPr>
            <a:spLocks noGrp="1"/>
          </p:cNvSpPr>
          <p:nvPr/>
        </p:nvSpPr>
        <p:spPr>
          <a:xfrm>
            <a:off x="7648886" y="5290627"/>
            <a:ext cx="1216600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1063" name="Google Shape;1063;p40">
            <a:extLst>
              <a:ext uri="{FF2B5EF4-FFF2-40B4-BE49-F238E27FC236}">
                <a16:creationId xmlns:a16="http://schemas.microsoft.com/office/drawing/2014/main" id="{FC7DEB81-EA10-48C1-A27C-494F2AB8EE7E}"/>
              </a:ext>
            </a:extLst>
          </p:cNvPr>
          <p:cNvSpPr>
            <a:spLocks noGrp="1"/>
          </p:cNvSpPr>
          <p:nvPr/>
        </p:nvSpPr>
        <p:spPr>
          <a:xfrm>
            <a:off x="8867721" y="5314234"/>
            <a:ext cx="433188" cy="12235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sp>
        <p:nvSpPr>
          <p:cNvPr id="1064" name="Google Shape;1064;p40">
            <a:extLst>
              <a:ext uri="{FF2B5EF4-FFF2-40B4-BE49-F238E27FC236}">
                <a16:creationId xmlns:a16="http://schemas.microsoft.com/office/drawing/2014/main" id="{943E0309-ED43-4953-BFA0-73C87D4ECC85}"/>
              </a:ext>
            </a:extLst>
          </p:cNvPr>
          <p:cNvSpPr>
            <a:spLocks noGrp="1"/>
          </p:cNvSpPr>
          <p:nvPr/>
        </p:nvSpPr>
        <p:spPr>
          <a:xfrm>
            <a:off x="10050451" y="5288950"/>
            <a:ext cx="1308195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1065" name="Google Shape;1065;p40">
            <a:extLst>
              <a:ext uri="{FF2B5EF4-FFF2-40B4-BE49-F238E27FC236}">
                <a16:creationId xmlns:a16="http://schemas.microsoft.com/office/drawing/2014/main" id="{7F4A5DAA-8D9B-45DF-A289-B395A81ED68C}"/>
              </a:ext>
            </a:extLst>
          </p:cNvPr>
          <p:cNvSpPr>
            <a:spLocks noGrp="1"/>
          </p:cNvSpPr>
          <p:nvPr/>
        </p:nvSpPr>
        <p:spPr>
          <a:xfrm>
            <a:off x="9566762" y="5309894"/>
            <a:ext cx="483690" cy="11021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graphicFrame>
        <p:nvGraphicFramePr>
          <p:cNvPr id="1154" name="Google Shape;1066;p40"/>
          <p:cNvGraphicFramePr/>
          <p:nvPr/>
        </p:nvGraphicFramePr>
        <p:xfrm>
          <a:off x="753167" y="2738920"/>
          <a:ext cx="4831525" cy="518170"/>
        </p:xfrm>
        <a:graphic>
          <a:graphicData uri="http://schemas.openxmlformats.org/drawingml/2006/table">
            <a:tbl>
              <a:tblPr/>
              <a:tblGrid>
                <a:gridCol w="483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/>
                        <a:t>Source/</a:t>
                      </a:r>
                      <a:r>
                        <a:rPr sz="1400" dirty="0" err="1"/>
                        <a:t>Drain과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Gate의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정렬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오차를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보상하고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안정적인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채널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형성을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위해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충분한</a:t>
                      </a:r>
                      <a:r>
                        <a:rPr sz="1400" dirty="0"/>
                        <a:t> Active </a:t>
                      </a:r>
                      <a:r>
                        <a:rPr sz="1400" dirty="0" err="1"/>
                        <a:t>Enclosure를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확보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1" name="Slide 5 copied left comparison heading">
            <a:extLst>
              <a:ext uri="{FF2B5EF4-FFF2-40B4-BE49-F238E27FC236}">
                <a16:creationId xmlns:a16="http://schemas.microsoft.com/office/drawing/2014/main" id="{C88F69BF-6B7C-46EA-9077-0791C5CB0183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132" name="Slide 5 copied right comparison heading">
            <a:extLst>
              <a:ext uri="{FF2B5EF4-FFF2-40B4-BE49-F238E27FC236}">
                <a16:creationId xmlns:a16="http://schemas.microsoft.com/office/drawing/2014/main" id="{2E175973-FCB6-4665-8158-43BA8D19F988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55E3CB9-E074-4B15-80F8-D624FB711C5D}"/>
              </a:ext>
            </a:extLst>
          </p:cNvPr>
          <p:cNvCxnSpPr>
            <a:cxnSpLocks/>
          </p:cNvCxnSpPr>
          <p:nvPr/>
        </p:nvCxnSpPr>
        <p:spPr>
          <a:xfrm>
            <a:off x="2871736" y="5068256"/>
            <a:ext cx="397042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2BEFF28-2DB0-47F2-A839-CDA1A8C5AFF8}"/>
              </a:ext>
            </a:extLst>
          </p:cNvPr>
          <p:cNvSpPr txBox="1"/>
          <p:nvPr/>
        </p:nvSpPr>
        <p:spPr>
          <a:xfrm>
            <a:off x="2743815" y="5122468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0.2um</a:t>
            </a: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86907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0" name="Google Shape;1071;p4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0617" y="1351523"/>
            <a:ext cx="2649562" cy="1792175"/>
          </a:xfrm>
          <a:prstGeom prst="rect">
            <a:avLst/>
          </a:prstGeom>
          <a:ln>
            <a:noFill/>
          </a:ln>
        </p:spPr>
      </p:pic>
      <p:cxnSp>
        <p:nvCxnSpPr>
          <p:cNvPr id="1171" name="Google Shape;1072;p41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073" name="Google Shape;1073;p41">
            <a:extLst>
              <a:ext uri="{FF2B5EF4-FFF2-40B4-BE49-F238E27FC236}">
                <a16:creationId xmlns:a16="http://schemas.microsoft.com/office/drawing/2014/main" id="{2AC8F89C-49A0-43AE-AB8A-AFC893771950}"/>
              </a:ext>
            </a:extLst>
          </p:cNvPr>
          <p:cNvSpPr>
            <a:spLocks noGrp="1"/>
          </p:cNvSpPr>
          <p:nvPr/>
        </p:nvSpPr>
        <p:spPr>
          <a:xfrm>
            <a:off x="7342924" y="5201439"/>
            <a:ext cx="3976387" cy="106093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pic>
        <p:nvPicPr>
          <p:cNvPr id="1173" name="Google Shape;1074;p4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6145" y="2017926"/>
            <a:ext cx="3932046" cy="2251545"/>
          </a:xfrm>
          <a:prstGeom prst="rect">
            <a:avLst/>
          </a:prstGeom>
          <a:ln>
            <a:noFill/>
          </a:ln>
        </p:spPr>
      </p:pic>
      <p:graphicFrame>
        <p:nvGraphicFramePr>
          <p:cNvPr id="1174" name="Google Shape;1075;p41"/>
          <p:cNvGraphicFramePr/>
          <p:nvPr>
            <p:extLst>
              <p:ext uri="{D42A27DB-BD31-4B8C-83A1-F6EECF244321}">
                <p14:modId xmlns:p14="http://schemas.microsoft.com/office/powerpoint/2010/main" val="1165654708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POLY.SE.1_2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Poly interconnect to unrelated/related Active Area space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76" name="Google Shape;1076;p41">
            <a:extLst>
              <a:ext uri="{FF2B5EF4-FFF2-40B4-BE49-F238E27FC236}">
                <a16:creationId xmlns:a16="http://schemas.microsoft.com/office/drawing/2014/main" id="{63E0693F-77A2-4155-A47B-711ECC66EFD6}"/>
              </a:ext>
            </a:extLst>
          </p:cNvPr>
          <p:cNvSpPr>
            <a:spLocks noGrp="1"/>
          </p:cNvSpPr>
          <p:nvPr/>
        </p:nvSpPr>
        <p:spPr>
          <a:xfrm>
            <a:off x="9123230" y="4308425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0.1um</a:t>
            </a:r>
          </a:p>
        </p:txBody>
      </p:sp>
      <p:cxnSp>
        <p:nvCxnSpPr>
          <p:cNvPr id="1176" name="Google Shape;1079;p41"/>
          <p:cNvCxnSpPr/>
          <p:nvPr/>
        </p:nvCxnSpPr>
        <p:spPr>
          <a:xfrm>
            <a:off x="8863620" y="4671444"/>
            <a:ext cx="224365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080" name="Google Shape;1080;p41">
            <a:extLst>
              <a:ext uri="{FF2B5EF4-FFF2-40B4-BE49-F238E27FC236}">
                <a16:creationId xmlns:a16="http://schemas.microsoft.com/office/drawing/2014/main" id="{475230AF-EEA2-4A8C-9B1F-3B9661B088DC}"/>
              </a:ext>
            </a:extLst>
          </p:cNvPr>
          <p:cNvSpPr>
            <a:spLocks noGrp="1"/>
          </p:cNvSpPr>
          <p:nvPr/>
        </p:nvSpPr>
        <p:spPr>
          <a:xfrm>
            <a:off x="6744005" y="301702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cxnSp>
        <p:nvCxnSpPr>
          <p:cNvPr id="1178" name="Google Shape;1081;p41"/>
          <p:cNvCxnSpPr/>
          <p:nvPr/>
        </p:nvCxnSpPr>
        <p:spPr>
          <a:xfrm>
            <a:off x="8039045" y="3483924"/>
            <a:ext cx="7383" cy="192035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79" name="Google Shape;1082;p41"/>
          <p:cNvCxnSpPr/>
          <p:nvPr/>
        </p:nvCxnSpPr>
        <p:spPr>
          <a:xfrm>
            <a:off x="10439532" y="4037960"/>
            <a:ext cx="0" cy="103647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80" name="Google Shape;1083;p41"/>
          <p:cNvCxnSpPr/>
          <p:nvPr/>
        </p:nvCxnSpPr>
        <p:spPr>
          <a:xfrm>
            <a:off x="7132788" y="3201693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181" name="Google Shape;1084;p41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4717" y="3429000"/>
            <a:ext cx="4627752" cy="3162401"/>
          </a:xfrm>
          <a:prstGeom prst="rect">
            <a:avLst/>
          </a:prstGeom>
          <a:ln>
            <a:noFill/>
          </a:ln>
        </p:spPr>
      </p:pic>
      <p:cxnSp>
        <p:nvCxnSpPr>
          <p:cNvPr id="1182" name="Google Shape;1085;p41"/>
          <p:cNvCxnSpPr/>
          <p:nvPr/>
        </p:nvCxnSpPr>
        <p:spPr>
          <a:xfrm>
            <a:off x="10584525" y="3484041"/>
            <a:ext cx="7382" cy="1590396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83" name="Google Shape;1086;p41"/>
          <p:cNvCxnSpPr/>
          <p:nvPr/>
        </p:nvCxnSpPr>
        <p:spPr>
          <a:xfrm>
            <a:off x="8799924" y="4037960"/>
            <a:ext cx="0" cy="103647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84" name="Google Shape;1087;p41"/>
          <p:cNvCxnSpPr/>
          <p:nvPr/>
        </p:nvCxnSpPr>
        <p:spPr>
          <a:xfrm>
            <a:off x="9087985" y="4037960"/>
            <a:ext cx="0" cy="103647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85" name="Google Shape;1088;p41"/>
          <p:cNvCxnSpPr/>
          <p:nvPr/>
        </p:nvCxnSpPr>
        <p:spPr>
          <a:xfrm>
            <a:off x="10233793" y="3433288"/>
            <a:ext cx="0" cy="248375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089" name="Google Shape;1089;p41">
            <a:extLst>
              <a:ext uri="{FF2B5EF4-FFF2-40B4-BE49-F238E27FC236}">
                <a16:creationId xmlns:a16="http://schemas.microsoft.com/office/drawing/2014/main" id="{9C8EF5A9-3A8B-4CC0-A454-BFA84D37FF08}"/>
              </a:ext>
            </a:extLst>
          </p:cNvPr>
          <p:cNvSpPr>
            <a:spLocks noGrp="1"/>
          </p:cNvSpPr>
          <p:nvPr/>
        </p:nvSpPr>
        <p:spPr>
          <a:xfrm>
            <a:off x="7346782" y="5191350"/>
            <a:ext cx="699646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1090" name="Google Shape;1090;p41">
            <a:extLst>
              <a:ext uri="{FF2B5EF4-FFF2-40B4-BE49-F238E27FC236}">
                <a16:creationId xmlns:a16="http://schemas.microsoft.com/office/drawing/2014/main" id="{4FD29DE5-3FA0-42A5-A889-42315DC23312}"/>
              </a:ext>
            </a:extLst>
          </p:cNvPr>
          <p:cNvSpPr>
            <a:spLocks noGrp="1"/>
          </p:cNvSpPr>
          <p:nvPr/>
        </p:nvSpPr>
        <p:spPr>
          <a:xfrm>
            <a:off x="10609247" y="5183556"/>
            <a:ext cx="712644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1091" name="Google Shape;1091;p41">
            <a:extLst>
              <a:ext uri="{FF2B5EF4-FFF2-40B4-BE49-F238E27FC236}">
                <a16:creationId xmlns:a16="http://schemas.microsoft.com/office/drawing/2014/main" id="{74B542F1-E886-4A3D-8261-D31BA17D35F3}"/>
              </a:ext>
            </a:extLst>
          </p:cNvPr>
          <p:cNvSpPr>
            <a:spLocks noGrp="1"/>
          </p:cNvSpPr>
          <p:nvPr/>
        </p:nvSpPr>
        <p:spPr>
          <a:xfrm>
            <a:off x="8056785" y="5184092"/>
            <a:ext cx="2549882" cy="17269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sp>
        <p:nvSpPr>
          <p:cNvPr id="1092" name="Google Shape;1092;p41">
            <a:extLst>
              <a:ext uri="{FF2B5EF4-FFF2-40B4-BE49-F238E27FC236}">
                <a16:creationId xmlns:a16="http://schemas.microsoft.com/office/drawing/2014/main" id="{C2142C65-6163-49E7-9D2F-8BFB1500ED5B}"/>
              </a:ext>
            </a:extLst>
          </p:cNvPr>
          <p:cNvSpPr>
            <a:spLocks noGrp="1"/>
          </p:cNvSpPr>
          <p:nvPr/>
        </p:nvSpPr>
        <p:spPr>
          <a:xfrm>
            <a:off x="8046428" y="5082721"/>
            <a:ext cx="2560235" cy="118717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1093" name="Google Shape;1093;p41">
            <a:extLst>
              <a:ext uri="{FF2B5EF4-FFF2-40B4-BE49-F238E27FC236}">
                <a16:creationId xmlns:a16="http://schemas.microsoft.com/office/drawing/2014/main" id="{7621AC04-8104-47F8-AFF6-11D079C62C15}"/>
              </a:ext>
            </a:extLst>
          </p:cNvPr>
          <p:cNvSpPr>
            <a:spLocks noGrp="1"/>
          </p:cNvSpPr>
          <p:nvPr/>
        </p:nvSpPr>
        <p:spPr>
          <a:xfrm>
            <a:off x="8807308" y="4873129"/>
            <a:ext cx="1632224" cy="206088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POLY / Gate</a:t>
            </a:r>
          </a:p>
        </p:txBody>
      </p:sp>
      <p:graphicFrame>
        <p:nvGraphicFramePr>
          <p:cNvPr id="1191" name="Google Shape;1094;p41"/>
          <p:cNvGraphicFramePr/>
          <p:nvPr/>
        </p:nvGraphicFramePr>
        <p:xfrm>
          <a:off x="2156048" y="2774973"/>
          <a:ext cx="3993400" cy="518170"/>
        </p:xfrm>
        <a:graphic>
          <a:graphicData uri="http://schemas.openxmlformats.org/drawingml/2006/table">
            <a:tbl>
              <a:tblPr/>
              <a:tblGrid>
                <a:gridCol w="399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 err="1"/>
                        <a:t>의도하지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않은</a:t>
                      </a:r>
                      <a:r>
                        <a:rPr sz="1400" dirty="0"/>
                        <a:t> MOS </a:t>
                      </a:r>
                      <a:r>
                        <a:rPr sz="1400" dirty="0" err="1"/>
                        <a:t>채널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형성과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단락을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방지하기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위해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Poly와</a:t>
                      </a:r>
                      <a:r>
                        <a:rPr sz="1400" dirty="0"/>
                        <a:t> Active </a:t>
                      </a:r>
                      <a:r>
                        <a:rPr sz="1400" dirty="0" err="1"/>
                        <a:t>사이의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최소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간격을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유지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68" name="Slide 5 copied left comparison heading">
            <a:extLst>
              <a:ext uri="{FF2B5EF4-FFF2-40B4-BE49-F238E27FC236}">
                <a16:creationId xmlns:a16="http://schemas.microsoft.com/office/drawing/2014/main" id="{DF6B11A8-5B96-4C1C-B28C-9AF09B8BD0E2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169" name="Slide 5 copied right comparison heading">
            <a:extLst>
              <a:ext uri="{FF2B5EF4-FFF2-40B4-BE49-F238E27FC236}">
                <a16:creationId xmlns:a16="http://schemas.microsoft.com/office/drawing/2014/main" id="{BC30B770-7CD8-47A9-8B8F-B6627786E02D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8E304C5-61C6-4C54-9BB7-A2415FF27E4C}"/>
              </a:ext>
            </a:extLst>
          </p:cNvPr>
          <p:cNvCxnSpPr>
            <a:cxnSpLocks/>
          </p:cNvCxnSpPr>
          <p:nvPr/>
        </p:nvCxnSpPr>
        <p:spPr>
          <a:xfrm>
            <a:off x="3194462" y="4972370"/>
            <a:ext cx="356260" cy="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187C684-EDB2-4B4E-A5C8-C0CEC85EF17F}"/>
              </a:ext>
            </a:extLst>
          </p:cNvPr>
          <p:cNvSpPr txBox="1"/>
          <p:nvPr/>
        </p:nvSpPr>
        <p:spPr>
          <a:xfrm>
            <a:off x="3728273" y="4703852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0.1um</a:t>
            </a: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0F425C08-1CA7-45BD-B870-B4B16B06242A}"/>
              </a:ext>
            </a:extLst>
          </p:cNvPr>
          <p:cNvCxnSpPr>
            <a:cxnSpLocks/>
          </p:cNvCxnSpPr>
          <p:nvPr/>
        </p:nvCxnSpPr>
        <p:spPr>
          <a:xfrm>
            <a:off x="3810001" y="5082721"/>
            <a:ext cx="0" cy="321561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3817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8" name="Google Shape;1099;p42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1179" name="Google Shape;1100;p42"/>
          <p:cNvGraphicFramePr/>
          <p:nvPr>
            <p:extLst>
              <p:ext uri="{D42A27DB-BD31-4B8C-83A1-F6EECF244321}">
                <p14:modId xmlns:p14="http://schemas.microsoft.com/office/powerpoint/2010/main" val="2874021671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POLY.W.6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0.18um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bent Poly width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180" name="Google Shape;1103;p42"/>
          <p:cNvCxnSpPr/>
          <p:nvPr/>
        </p:nvCxnSpPr>
        <p:spPr>
          <a:xfrm>
            <a:off x="8888618" y="3683553"/>
            <a:ext cx="7383" cy="192035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181" name="Google Shape;1104;p42"/>
          <p:cNvCxnSpPr/>
          <p:nvPr/>
        </p:nvCxnSpPr>
        <p:spPr>
          <a:xfrm>
            <a:off x="9401347" y="3307171"/>
            <a:ext cx="0" cy="225083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182" name="Google Shape;1105;p4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0453" y="3429000"/>
            <a:ext cx="3601394" cy="3274701"/>
          </a:xfrm>
          <a:prstGeom prst="rect">
            <a:avLst/>
          </a:prstGeom>
          <a:ln>
            <a:noFill/>
          </a:ln>
        </p:spPr>
      </p:pic>
      <p:pic>
        <p:nvPicPr>
          <p:cNvPr id="1183" name="Google Shape;1106;p4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135" y="1520474"/>
            <a:ext cx="1968902" cy="1556641"/>
          </a:xfrm>
          <a:prstGeom prst="rect">
            <a:avLst/>
          </a:prstGeom>
          <a:ln>
            <a:noFill/>
          </a:ln>
        </p:spPr>
      </p:pic>
      <p:sp>
        <p:nvSpPr>
          <p:cNvPr id="1107" name="Google Shape;1107;p42">
            <a:extLst>
              <a:ext uri="{FF2B5EF4-FFF2-40B4-BE49-F238E27FC236}">
                <a16:creationId xmlns:a16="http://schemas.microsoft.com/office/drawing/2014/main" id="{A1580D06-7E9F-4798-AC2E-91A7D4CC91CE}"/>
              </a:ext>
            </a:extLst>
          </p:cNvPr>
          <p:cNvSpPr>
            <a:spLocks noGrp="1"/>
          </p:cNvSpPr>
          <p:nvPr/>
        </p:nvSpPr>
        <p:spPr>
          <a:xfrm rot="-2169406">
            <a:off x="8347356" y="1975111"/>
            <a:ext cx="1598898" cy="1312155"/>
          </a:xfrm>
          <a:prstGeom prst="parallelogram">
            <a:avLst>
              <a:gd name="adj" fmla="val 73928"/>
            </a:avLst>
          </a:prstGeom>
          <a:solidFill>
            <a:srgbClr val="C4E0B2">
              <a:alpha val="80000"/>
            </a:srgbClr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8" name="Google Shape;1108;p42">
            <a:extLst>
              <a:ext uri="{FF2B5EF4-FFF2-40B4-BE49-F238E27FC236}">
                <a16:creationId xmlns:a16="http://schemas.microsoft.com/office/drawing/2014/main" id="{3FFEE4DC-3E85-4F02-BC98-A5F7C5F01B60}"/>
              </a:ext>
            </a:extLst>
          </p:cNvPr>
          <p:cNvSpPr>
            <a:spLocks noGrp="1"/>
          </p:cNvSpPr>
          <p:nvPr/>
        </p:nvSpPr>
        <p:spPr>
          <a:xfrm rot="-2169406">
            <a:off x="8928047" y="3413992"/>
            <a:ext cx="626931" cy="313267"/>
          </a:xfrm>
          <a:prstGeom prst="rect">
            <a:avLst/>
          </a:prstGeom>
          <a:solidFill>
            <a:srgbClr val="C4E0B2">
              <a:alpha val="80000"/>
            </a:srgbClr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9" name="Google Shape;1109;p42">
            <a:extLst>
              <a:ext uri="{FF2B5EF4-FFF2-40B4-BE49-F238E27FC236}">
                <a16:creationId xmlns:a16="http://schemas.microsoft.com/office/drawing/2014/main" id="{4AC3CFA1-10A9-40F6-82FA-868B7F86CE30}"/>
              </a:ext>
            </a:extLst>
          </p:cNvPr>
          <p:cNvSpPr>
            <a:spLocks noGrp="1"/>
          </p:cNvSpPr>
          <p:nvPr/>
        </p:nvSpPr>
        <p:spPr>
          <a:xfrm rot="-2169406">
            <a:off x="8742374" y="1518906"/>
            <a:ext cx="626931" cy="313267"/>
          </a:xfrm>
          <a:prstGeom prst="rect">
            <a:avLst/>
          </a:prstGeom>
          <a:solidFill>
            <a:srgbClr val="C4E0B2">
              <a:alpha val="80000"/>
            </a:srgbClr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0" name="Google Shape;1110;p42">
            <a:extLst>
              <a:ext uri="{FF2B5EF4-FFF2-40B4-BE49-F238E27FC236}">
                <a16:creationId xmlns:a16="http://schemas.microsoft.com/office/drawing/2014/main" id="{F80F6639-A505-4092-9238-6234BC2EB515}"/>
              </a:ext>
            </a:extLst>
          </p:cNvPr>
          <p:cNvSpPr>
            <a:spLocks noGrp="1"/>
          </p:cNvSpPr>
          <p:nvPr/>
        </p:nvSpPr>
        <p:spPr>
          <a:xfrm>
            <a:off x="7425302" y="4904847"/>
            <a:ext cx="3601399" cy="165915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1111" name="Google Shape;1111;p42">
            <a:extLst>
              <a:ext uri="{FF2B5EF4-FFF2-40B4-BE49-F238E27FC236}">
                <a16:creationId xmlns:a16="http://schemas.microsoft.com/office/drawing/2014/main" id="{E87A9F84-D49A-47A8-8C7F-3A744E4F2EF8}"/>
              </a:ext>
            </a:extLst>
          </p:cNvPr>
          <p:cNvSpPr>
            <a:spLocks noGrp="1"/>
          </p:cNvSpPr>
          <p:nvPr/>
        </p:nvSpPr>
        <p:spPr>
          <a:xfrm>
            <a:off x="7425302" y="4904847"/>
            <a:ext cx="3601395" cy="42541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1112" name="Google Shape;1112;p42">
            <a:extLst>
              <a:ext uri="{FF2B5EF4-FFF2-40B4-BE49-F238E27FC236}">
                <a16:creationId xmlns:a16="http://schemas.microsoft.com/office/drawing/2014/main" id="{24F8E534-D486-439B-BAE7-CE666E9FD4F7}"/>
              </a:ext>
            </a:extLst>
          </p:cNvPr>
          <p:cNvSpPr>
            <a:spLocks noGrp="1"/>
          </p:cNvSpPr>
          <p:nvPr/>
        </p:nvSpPr>
        <p:spPr>
          <a:xfrm>
            <a:off x="8710332" y="2298795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0.18um</a:t>
            </a:r>
          </a:p>
        </p:txBody>
      </p:sp>
      <p:cxnSp>
        <p:nvCxnSpPr>
          <p:cNvPr id="1190" name="Google Shape;1113;p42"/>
          <p:cNvCxnSpPr/>
          <p:nvPr/>
        </p:nvCxnSpPr>
        <p:spPr>
          <a:xfrm>
            <a:off x="8888618" y="2669801"/>
            <a:ext cx="50534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114" name="Google Shape;1114;p42">
            <a:extLst>
              <a:ext uri="{FF2B5EF4-FFF2-40B4-BE49-F238E27FC236}">
                <a16:creationId xmlns:a16="http://schemas.microsoft.com/office/drawing/2014/main" id="{C1AA3572-04FD-4D5B-B1E3-575B5C32B2DC}"/>
              </a:ext>
            </a:extLst>
          </p:cNvPr>
          <p:cNvSpPr>
            <a:spLocks noGrp="1"/>
          </p:cNvSpPr>
          <p:nvPr/>
        </p:nvSpPr>
        <p:spPr>
          <a:xfrm>
            <a:off x="8896001" y="4503902"/>
            <a:ext cx="512128" cy="400945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POLY / Gate</a:t>
            </a:r>
          </a:p>
        </p:txBody>
      </p:sp>
      <p:graphicFrame>
        <p:nvGraphicFramePr>
          <p:cNvPr id="1192" name="Google Shape;1115;p42"/>
          <p:cNvGraphicFramePr/>
          <p:nvPr/>
        </p:nvGraphicFramePr>
        <p:xfrm>
          <a:off x="2422185" y="2085434"/>
          <a:ext cx="3756025" cy="518170"/>
        </p:xfrm>
        <a:graphic>
          <a:graphicData uri="http://schemas.openxmlformats.org/drawingml/2006/table">
            <a:tbl>
              <a:tblPr/>
              <a:tblGrid>
                <a:gridCol w="375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/>
                        <a:t>Corner </a:t>
                      </a:r>
                      <a:r>
                        <a:rPr sz="1400" dirty="0" err="1"/>
                        <a:t>Rounding으로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인한</a:t>
                      </a:r>
                      <a:r>
                        <a:rPr sz="1400" dirty="0"/>
                        <a:t> 폭 </a:t>
                      </a:r>
                      <a:r>
                        <a:rPr sz="1400" dirty="0" err="1"/>
                        <a:t>감소와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단선을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방지하기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위해</a:t>
                      </a:r>
                      <a:r>
                        <a:rPr sz="1400" dirty="0"/>
                        <a:t> Bent </a:t>
                      </a:r>
                      <a:r>
                        <a:rPr sz="1400" dirty="0" err="1"/>
                        <a:t>Poly의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최소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폭을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규정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76" name="Slide 5 copied left comparison heading">
            <a:extLst>
              <a:ext uri="{FF2B5EF4-FFF2-40B4-BE49-F238E27FC236}">
                <a16:creationId xmlns:a16="http://schemas.microsoft.com/office/drawing/2014/main" id="{4CBEFA7A-852E-4DDF-9B7C-BF31EE3FA306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177" name="Slide 5 copied right comparison heading">
            <a:extLst>
              <a:ext uri="{FF2B5EF4-FFF2-40B4-BE49-F238E27FC236}">
                <a16:creationId xmlns:a16="http://schemas.microsoft.com/office/drawing/2014/main" id="{3B788069-9944-4FBC-933E-78FAA0E76B55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21D40B6-D598-4480-B56C-E4CB5E78FB16}"/>
              </a:ext>
            </a:extLst>
          </p:cNvPr>
          <p:cNvCxnSpPr>
            <a:cxnSpLocks/>
          </p:cNvCxnSpPr>
          <p:nvPr/>
        </p:nvCxnSpPr>
        <p:spPr>
          <a:xfrm>
            <a:off x="3355087" y="5399104"/>
            <a:ext cx="285580" cy="335320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BFAEE4D-0194-465E-83FA-B653ADCCCD05}"/>
              </a:ext>
            </a:extLst>
          </p:cNvPr>
          <p:cNvSpPr txBox="1"/>
          <p:nvPr/>
        </p:nvSpPr>
        <p:spPr>
          <a:xfrm>
            <a:off x="2970211" y="5652835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0.18um</a:t>
            </a:r>
            <a:endParaRPr lang="ko-KR" altLang="en-US" sz="16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12046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9" name="Google Shape;1120;p4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19" y="1301168"/>
            <a:ext cx="2978303" cy="1568531"/>
          </a:xfrm>
          <a:prstGeom prst="rect">
            <a:avLst/>
          </a:prstGeom>
          <a:ln>
            <a:noFill/>
          </a:ln>
        </p:spPr>
      </p:pic>
      <p:cxnSp>
        <p:nvCxnSpPr>
          <p:cNvPr id="1240" name="Google Shape;1121;p43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241" name="Google Shape;1122;p43"/>
          <p:cNvCxnSpPr/>
          <p:nvPr/>
        </p:nvCxnSpPr>
        <p:spPr>
          <a:xfrm>
            <a:off x="9786853" y="3683553"/>
            <a:ext cx="7383" cy="192035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242" name="Google Shape;1123;p43"/>
          <p:cNvCxnSpPr/>
          <p:nvPr/>
        </p:nvCxnSpPr>
        <p:spPr>
          <a:xfrm>
            <a:off x="10299582" y="3307171"/>
            <a:ext cx="0" cy="225083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124" name="Google Shape;1124;p43">
            <a:extLst>
              <a:ext uri="{FF2B5EF4-FFF2-40B4-BE49-F238E27FC236}">
                <a16:creationId xmlns:a16="http://schemas.microsoft.com/office/drawing/2014/main" id="{9E3A4A38-2C1D-453B-BB0A-7457841F3869}"/>
              </a:ext>
            </a:extLst>
          </p:cNvPr>
          <p:cNvSpPr>
            <a:spLocks noGrp="1"/>
          </p:cNvSpPr>
          <p:nvPr/>
        </p:nvSpPr>
        <p:spPr>
          <a:xfrm rot="-2169406">
            <a:off x="9826282" y="3413992"/>
            <a:ext cx="626931" cy="313267"/>
          </a:xfrm>
          <a:prstGeom prst="rect">
            <a:avLst/>
          </a:prstGeom>
          <a:solidFill>
            <a:srgbClr val="C4E0B2">
              <a:alpha val="80000"/>
            </a:srgbClr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43">
            <a:extLst>
              <a:ext uri="{FF2B5EF4-FFF2-40B4-BE49-F238E27FC236}">
                <a16:creationId xmlns:a16="http://schemas.microsoft.com/office/drawing/2014/main" id="{0D5D34AA-8964-4B24-84F7-2845D66B17C5}"/>
              </a:ext>
            </a:extLst>
          </p:cNvPr>
          <p:cNvSpPr>
            <a:spLocks noGrp="1"/>
          </p:cNvSpPr>
          <p:nvPr/>
        </p:nvSpPr>
        <p:spPr>
          <a:xfrm rot="-2169406">
            <a:off x="9640609" y="1518906"/>
            <a:ext cx="626931" cy="313267"/>
          </a:xfrm>
          <a:prstGeom prst="rect">
            <a:avLst/>
          </a:prstGeom>
          <a:solidFill>
            <a:srgbClr val="C4E0B2">
              <a:alpha val="80000"/>
            </a:srgbClr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43">
            <a:extLst>
              <a:ext uri="{FF2B5EF4-FFF2-40B4-BE49-F238E27FC236}">
                <a16:creationId xmlns:a16="http://schemas.microsoft.com/office/drawing/2014/main" id="{6B7DCF3D-9D95-4067-B422-D34DC299EEF1}"/>
              </a:ext>
            </a:extLst>
          </p:cNvPr>
          <p:cNvSpPr>
            <a:spLocks noGrp="1"/>
          </p:cNvSpPr>
          <p:nvPr/>
        </p:nvSpPr>
        <p:spPr>
          <a:xfrm>
            <a:off x="9794236" y="4503902"/>
            <a:ext cx="512128" cy="400945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POLY / Gate</a:t>
            </a:r>
          </a:p>
        </p:txBody>
      </p:sp>
      <p:pic>
        <p:nvPicPr>
          <p:cNvPr id="1247" name="Google Shape;1130;p43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605" y="3165642"/>
            <a:ext cx="5438377" cy="3217707"/>
          </a:xfrm>
          <a:prstGeom prst="rect">
            <a:avLst/>
          </a:prstGeom>
          <a:ln>
            <a:noFill/>
          </a:ln>
        </p:spPr>
      </p:pic>
      <p:cxnSp>
        <p:nvCxnSpPr>
          <p:cNvPr id="1248" name="Google Shape;1131;p43"/>
          <p:cNvCxnSpPr/>
          <p:nvPr/>
        </p:nvCxnSpPr>
        <p:spPr>
          <a:xfrm>
            <a:off x="8008608" y="3683553"/>
            <a:ext cx="7383" cy="192035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249" name="Google Shape;1132;p43"/>
          <p:cNvCxnSpPr/>
          <p:nvPr/>
        </p:nvCxnSpPr>
        <p:spPr>
          <a:xfrm>
            <a:off x="8521337" y="3307171"/>
            <a:ext cx="0" cy="225083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133" name="Google Shape;1133;p43">
            <a:extLst>
              <a:ext uri="{FF2B5EF4-FFF2-40B4-BE49-F238E27FC236}">
                <a16:creationId xmlns:a16="http://schemas.microsoft.com/office/drawing/2014/main" id="{12DE3B82-637D-4CAD-A758-C5311126BA7C}"/>
              </a:ext>
            </a:extLst>
          </p:cNvPr>
          <p:cNvSpPr>
            <a:spLocks noGrp="1"/>
          </p:cNvSpPr>
          <p:nvPr/>
        </p:nvSpPr>
        <p:spPr>
          <a:xfrm rot="-2169406">
            <a:off x="7461832" y="1976121"/>
            <a:ext cx="1598898" cy="1312155"/>
          </a:xfrm>
          <a:prstGeom prst="parallelogram">
            <a:avLst>
              <a:gd name="adj" fmla="val 73928"/>
            </a:avLst>
          </a:prstGeom>
          <a:solidFill>
            <a:srgbClr val="C4E0B2">
              <a:alpha val="80000"/>
            </a:srgbClr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43">
            <a:extLst>
              <a:ext uri="{FF2B5EF4-FFF2-40B4-BE49-F238E27FC236}">
                <a16:creationId xmlns:a16="http://schemas.microsoft.com/office/drawing/2014/main" id="{5DE3D34D-9D81-405C-88E9-97C9A8479C9B}"/>
              </a:ext>
            </a:extLst>
          </p:cNvPr>
          <p:cNvSpPr>
            <a:spLocks noGrp="1"/>
          </p:cNvSpPr>
          <p:nvPr/>
        </p:nvSpPr>
        <p:spPr>
          <a:xfrm rot="-2169406">
            <a:off x="8040645" y="3425790"/>
            <a:ext cx="626931" cy="313267"/>
          </a:xfrm>
          <a:prstGeom prst="rect">
            <a:avLst/>
          </a:prstGeom>
          <a:solidFill>
            <a:srgbClr val="C4E0B2">
              <a:alpha val="80000"/>
            </a:srgbClr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43">
            <a:extLst>
              <a:ext uri="{FF2B5EF4-FFF2-40B4-BE49-F238E27FC236}">
                <a16:creationId xmlns:a16="http://schemas.microsoft.com/office/drawing/2014/main" id="{09EF1281-D158-4E5D-B2F2-1FFB1EF08148}"/>
              </a:ext>
            </a:extLst>
          </p:cNvPr>
          <p:cNvSpPr>
            <a:spLocks noGrp="1"/>
          </p:cNvSpPr>
          <p:nvPr/>
        </p:nvSpPr>
        <p:spPr>
          <a:xfrm rot="-2169406">
            <a:off x="7862364" y="1518906"/>
            <a:ext cx="626931" cy="313267"/>
          </a:xfrm>
          <a:prstGeom prst="rect">
            <a:avLst/>
          </a:prstGeom>
          <a:solidFill>
            <a:srgbClr val="C4E0B2">
              <a:alpha val="80000"/>
            </a:srgbClr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43">
            <a:extLst>
              <a:ext uri="{FF2B5EF4-FFF2-40B4-BE49-F238E27FC236}">
                <a16:creationId xmlns:a16="http://schemas.microsoft.com/office/drawing/2014/main" id="{64055DF4-8269-452E-B1D0-EE7C85684230}"/>
              </a:ext>
            </a:extLst>
          </p:cNvPr>
          <p:cNvSpPr>
            <a:spLocks noGrp="1"/>
          </p:cNvSpPr>
          <p:nvPr/>
        </p:nvSpPr>
        <p:spPr>
          <a:xfrm>
            <a:off x="7425302" y="4904847"/>
            <a:ext cx="3601399" cy="165915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1137" name="Google Shape;1137;p43">
            <a:extLst>
              <a:ext uri="{FF2B5EF4-FFF2-40B4-BE49-F238E27FC236}">
                <a16:creationId xmlns:a16="http://schemas.microsoft.com/office/drawing/2014/main" id="{428515B5-FEA2-4EF4-9F52-449F3662E338}"/>
              </a:ext>
            </a:extLst>
          </p:cNvPr>
          <p:cNvSpPr>
            <a:spLocks noGrp="1"/>
          </p:cNvSpPr>
          <p:nvPr/>
        </p:nvSpPr>
        <p:spPr>
          <a:xfrm>
            <a:off x="7425302" y="4904847"/>
            <a:ext cx="3601395" cy="42541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138" name="Google Shape;1138;p43">
            <a:extLst>
              <a:ext uri="{FF2B5EF4-FFF2-40B4-BE49-F238E27FC236}">
                <a16:creationId xmlns:a16="http://schemas.microsoft.com/office/drawing/2014/main" id="{60EF99C5-6266-4C2E-B9A7-F1FCC3565E62}"/>
              </a:ext>
            </a:extLst>
          </p:cNvPr>
          <p:cNvSpPr>
            <a:spLocks noGrp="1"/>
          </p:cNvSpPr>
          <p:nvPr/>
        </p:nvSpPr>
        <p:spPr>
          <a:xfrm>
            <a:off x="7830322" y="2298795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0.18um</a:t>
            </a:r>
          </a:p>
        </p:txBody>
      </p:sp>
      <p:cxnSp>
        <p:nvCxnSpPr>
          <p:cNvPr id="1256" name="Google Shape;1139;p43"/>
          <p:cNvCxnSpPr/>
          <p:nvPr/>
        </p:nvCxnSpPr>
        <p:spPr>
          <a:xfrm>
            <a:off x="8008608" y="2669801"/>
            <a:ext cx="50534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140" name="Google Shape;1140;p43">
            <a:extLst>
              <a:ext uri="{FF2B5EF4-FFF2-40B4-BE49-F238E27FC236}">
                <a16:creationId xmlns:a16="http://schemas.microsoft.com/office/drawing/2014/main" id="{58282D1F-B732-4CEF-BDCF-6900A98313EC}"/>
              </a:ext>
            </a:extLst>
          </p:cNvPr>
          <p:cNvSpPr>
            <a:spLocks noGrp="1"/>
          </p:cNvSpPr>
          <p:nvPr/>
        </p:nvSpPr>
        <p:spPr>
          <a:xfrm>
            <a:off x="8015991" y="4503902"/>
            <a:ext cx="512128" cy="400945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POLY / Gate</a:t>
            </a:r>
          </a:p>
        </p:txBody>
      </p:sp>
      <p:sp>
        <p:nvSpPr>
          <p:cNvPr id="1141" name="Google Shape;1141;p43">
            <a:extLst>
              <a:ext uri="{FF2B5EF4-FFF2-40B4-BE49-F238E27FC236}">
                <a16:creationId xmlns:a16="http://schemas.microsoft.com/office/drawing/2014/main" id="{64099913-E75F-4402-9560-424CEE82B83A}"/>
              </a:ext>
            </a:extLst>
          </p:cNvPr>
          <p:cNvSpPr>
            <a:spLocks noGrp="1"/>
          </p:cNvSpPr>
          <p:nvPr/>
        </p:nvSpPr>
        <p:spPr>
          <a:xfrm rot="-2169406">
            <a:off x="9246862" y="1972187"/>
            <a:ext cx="1598898" cy="1312155"/>
          </a:xfrm>
          <a:prstGeom prst="parallelogram">
            <a:avLst>
              <a:gd name="adj" fmla="val 73928"/>
            </a:avLst>
          </a:prstGeom>
          <a:solidFill>
            <a:srgbClr val="C4E0B2">
              <a:alpha val="80000"/>
            </a:srgbClr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59" name="Google Shape;1142;p43"/>
          <p:cNvCxnSpPr/>
          <p:nvPr/>
        </p:nvCxnSpPr>
        <p:spPr>
          <a:xfrm>
            <a:off x="9786853" y="2669801"/>
            <a:ext cx="50534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143" name="Google Shape;1143;p43">
            <a:extLst>
              <a:ext uri="{FF2B5EF4-FFF2-40B4-BE49-F238E27FC236}">
                <a16:creationId xmlns:a16="http://schemas.microsoft.com/office/drawing/2014/main" id="{3EF8E4B5-5071-4384-8A92-43785C0A5C1B}"/>
              </a:ext>
            </a:extLst>
          </p:cNvPr>
          <p:cNvSpPr>
            <a:spLocks noGrp="1"/>
          </p:cNvSpPr>
          <p:nvPr/>
        </p:nvSpPr>
        <p:spPr>
          <a:xfrm>
            <a:off x="8777414" y="4363831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0.22um</a:t>
            </a:r>
          </a:p>
        </p:txBody>
      </p:sp>
      <p:cxnSp>
        <p:nvCxnSpPr>
          <p:cNvPr id="1261" name="Google Shape;1144;p43"/>
          <p:cNvCxnSpPr>
            <a:endCxn id="1126" idx="1"/>
          </p:cNvCxnSpPr>
          <p:nvPr/>
        </p:nvCxnSpPr>
        <p:spPr>
          <a:xfrm>
            <a:off x="8528236" y="4704375"/>
            <a:ext cx="1266000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145" name="Google Shape;1145;p43">
            <a:extLst>
              <a:ext uri="{FF2B5EF4-FFF2-40B4-BE49-F238E27FC236}">
                <a16:creationId xmlns:a16="http://schemas.microsoft.com/office/drawing/2014/main" id="{5E504A51-E65F-4311-99E4-AC0948E028C1}"/>
              </a:ext>
            </a:extLst>
          </p:cNvPr>
          <p:cNvSpPr>
            <a:spLocks noGrp="1"/>
          </p:cNvSpPr>
          <p:nvPr/>
        </p:nvSpPr>
        <p:spPr>
          <a:xfrm>
            <a:off x="9615954" y="2330253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0.18um</a:t>
            </a:r>
          </a:p>
        </p:txBody>
      </p:sp>
      <p:graphicFrame>
        <p:nvGraphicFramePr>
          <p:cNvPr id="1263" name="Google Shape;1146;p43"/>
          <p:cNvGraphicFramePr/>
          <p:nvPr>
            <p:extLst>
              <p:ext uri="{D42A27DB-BD31-4B8C-83A1-F6EECF244321}">
                <p14:modId xmlns:p14="http://schemas.microsoft.com/office/powerpoint/2010/main" val="1086761331"/>
              </p:ext>
            </p:extLst>
          </p:nvPr>
        </p:nvGraphicFramePr>
        <p:xfrm>
          <a:off x="2454861" y="2330253"/>
          <a:ext cx="3756025" cy="518170"/>
        </p:xfrm>
        <a:graphic>
          <a:graphicData uri="http://schemas.openxmlformats.org/drawingml/2006/table">
            <a:tbl>
              <a:tblPr/>
              <a:tblGrid>
                <a:gridCol w="375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/>
                        <a:t>Bent </a:t>
                      </a:r>
                      <a:r>
                        <a:rPr sz="1400" dirty="0" err="1"/>
                        <a:t>Poly에서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발생하는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패턴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왜곡과</a:t>
                      </a:r>
                      <a:r>
                        <a:rPr sz="1400" dirty="0"/>
                        <a:t> 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sz="1400" dirty="0" err="1"/>
                        <a:t>브리징을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방지하기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위해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최소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간격을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적용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7" name="Slide 5 copied left comparison heading">
            <a:extLst>
              <a:ext uri="{FF2B5EF4-FFF2-40B4-BE49-F238E27FC236}">
                <a16:creationId xmlns:a16="http://schemas.microsoft.com/office/drawing/2014/main" id="{45AB25E0-A002-4DB6-9142-EA8D4057EC11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238" name="Slide 5 copied right comparison heading">
            <a:extLst>
              <a:ext uri="{FF2B5EF4-FFF2-40B4-BE49-F238E27FC236}">
                <a16:creationId xmlns:a16="http://schemas.microsoft.com/office/drawing/2014/main" id="{4B77E53F-F2AB-49D4-89CC-2850912E134A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1B30EB9-15CF-46C7-8D68-4CE851C7AED3}"/>
              </a:ext>
            </a:extLst>
          </p:cNvPr>
          <p:cNvCxnSpPr>
            <a:cxnSpLocks/>
          </p:cNvCxnSpPr>
          <p:nvPr/>
        </p:nvCxnSpPr>
        <p:spPr>
          <a:xfrm>
            <a:off x="3400520" y="4702385"/>
            <a:ext cx="487278" cy="461208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7F00E13-711D-4B19-924F-37961085BF28}"/>
              </a:ext>
            </a:extLst>
          </p:cNvPr>
          <p:cNvSpPr txBox="1"/>
          <p:nvPr/>
        </p:nvSpPr>
        <p:spPr>
          <a:xfrm>
            <a:off x="2884737" y="5124197"/>
            <a:ext cx="923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</a:rPr>
              <a:t>0.22um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Google Shape;1100;p42">
            <a:extLst>
              <a:ext uri="{FF2B5EF4-FFF2-40B4-BE49-F238E27FC236}">
                <a16:creationId xmlns:a16="http://schemas.microsoft.com/office/drawing/2014/main" id="{7E29C03C-CA4D-BFFD-2592-A2D4D6FB0C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8008834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</a:t>
                      </a:r>
                      <a:r>
                        <a:rPr lang="en-US" altLang="ko-KR"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.4</a:t>
                      </a:r>
                      <a:endParaRPr sz="1800" b="1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bent Poly </a:t>
                      </a:r>
                      <a:r>
                        <a:rPr lang="en-US"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space</a:t>
                      </a:r>
                      <a:endParaRPr sz="1400" b="0" i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3624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1" name="Google Shape;1151;p4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1259" y="1203813"/>
            <a:ext cx="2827959" cy="1544588"/>
          </a:xfrm>
          <a:prstGeom prst="rect">
            <a:avLst/>
          </a:prstGeom>
          <a:ln>
            <a:noFill/>
          </a:ln>
        </p:spPr>
      </p:pic>
      <p:cxnSp>
        <p:nvCxnSpPr>
          <p:cNvPr id="1262" name="Google Shape;1152;p44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264" name="Google Shape;1156;p4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7761" y="3500709"/>
            <a:ext cx="4105304" cy="3109164"/>
          </a:xfrm>
          <a:prstGeom prst="rect">
            <a:avLst/>
          </a:prstGeom>
          <a:ln>
            <a:noFill/>
          </a:ln>
        </p:spPr>
      </p:pic>
      <p:sp>
        <p:nvSpPr>
          <p:cNvPr id="1157" name="Google Shape;1157;p44">
            <a:extLst>
              <a:ext uri="{FF2B5EF4-FFF2-40B4-BE49-F238E27FC236}">
                <a16:creationId xmlns:a16="http://schemas.microsoft.com/office/drawing/2014/main" id="{EF2B82E6-958B-4026-BCAF-E3D196D8F3F0}"/>
              </a:ext>
            </a:extLst>
          </p:cNvPr>
          <p:cNvSpPr>
            <a:spLocks noGrp="1"/>
          </p:cNvSpPr>
          <p:nvPr/>
        </p:nvSpPr>
        <p:spPr>
          <a:xfrm>
            <a:off x="7673005" y="5291103"/>
            <a:ext cx="3709759" cy="112588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pic>
        <p:nvPicPr>
          <p:cNvPr id="1266" name="Google Shape;1158;p4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5970" y="1433212"/>
            <a:ext cx="2990755" cy="2265057"/>
          </a:xfrm>
          <a:prstGeom prst="rect">
            <a:avLst/>
          </a:prstGeom>
          <a:ln>
            <a:noFill/>
          </a:ln>
        </p:spPr>
      </p:pic>
      <p:sp>
        <p:nvSpPr>
          <p:cNvPr id="1159" name="Google Shape;1159;p44">
            <a:extLst>
              <a:ext uri="{FF2B5EF4-FFF2-40B4-BE49-F238E27FC236}">
                <a16:creationId xmlns:a16="http://schemas.microsoft.com/office/drawing/2014/main" id="{A1CA1768-1532-479D-9C9F-0145269F8F83}"/>
              </a:ext>
            </a:extLst>
          </p:cNvPr>
          <p:cNvSpPr>
            <a:spLocks noGrp="1"/>
          </p:cNvSpPr>
          <p:nvPr/>
        </p:nvSpPr>
        <p:spPr>
          <a:xfrm>
            <a:off x="6689719" y="260795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cxnSp>
        <p:nvCxnSpPr>
          <p:cNvPr id="1268" name="Google Shape;1160;p44"/>
          <p:cNvCxnSpPr/>
          <p:nvPr/>
        </p:nvCxnSpPr>
        <p:spPr>
          <a:xfrm>
            <a:off x="8744398" y="2900880"/>
            <a:ext cx="8964" cy="240841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269" name="Google Shape;1161;p44"/>
          <p:cNvCxnSpPr/>
          <p:nvPr/>
        </p:nvCxnSpPr>
        <p:spPr>
          <a:xfrm flipH="1">
            <a:off x="9324557" y="3659055"/>
            <a:ext cx="6606" cy="150146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270" name="Google Shape;1162;p44"/>
          <p:cNvCxnSpPr/>
          <p:nvPr/>
        </p:nvCxnSpPr>
        <p:spPr>
          <a:xfrm>
            <a:off x="10157198" y="2856219"/>
            <a:ext cx="8964" cy="242868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271" name="Google Shape;1163;p44"/>
          <p:cNvCxnSpPr/>
          <p:nvPr/>
        </p:nvCxnSpPr>
        <p:spPr>
          <a:xfrm>
            <a:off x="7078502" y="2792619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272" name="Google Shape;1164;p44"/>
          <p:cNvCxnSpPr/>
          <p:nvPr/>
        </p:nvCxnSpPr>
        <p:spPr>
          <a:xfrm>
            <a:off x="9576696" y="3659054"/>
            <a:ext cx="9306" cy="150146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165" name="Google Shape;1165;p44">
            <a:extLst>
              <a:ext uri="{FF2B5EF4-FFF2-40B4-BE49-F238E27FC236}">
                <a16:creationId xmlns:a16="http://schemas.microsoft.com/office/drawing/2014/main" id="{1F6A0C55-0DD0-4486-A866-D4E0F0778777}"/>
              </a:ext>
            </a:extLst>
          </p:cNvPr>
          <p:cNvSpPr>
            <a:spLocks noGrp="1"/>
          </p:cNvSpPr>
          <p:nvPr/>
        </p:nvSpPr>
        <p:spPr>
          <a:xfrm>
            <a:off x="10252438" y="4226800"/>
            <a:ext cx="12166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Bends==0</a:t>
            </a:r>
          </a:p>
        </p:txBody>
      </p:sp>
      <p:sp>
        <p:nvSpPr>
          <p:cNvPr id="1166" name="Google Shape;1166;p44">
            <a:extLst>
              <a:ext uri="{FF2B5EF4-FFF2-40B4-BE49-F238E27FC236}">
                <a16:creationId xmlns:a16="http://schemas.microsoft.com/office/drawing/2014/main" id="{45CBE8A1-1FA6-4CF6-B272-EB9830A30B19}"/>
              </a:ext>
            </a:extLst>
          </p:cNvPr>
          <p:cNvSpPr>
            <a:spLocks noGrp="1"/>
          </p:cNvSpPr>
          <p:nvPr/>
        </p:nvSpPr>
        <p:spPr>
          <a:xfrm>
            <a:off x="9316688" y="4998768"/>
            <a:ext cx="269313" cy="178874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67" name="Google Shape;1167;p44">
            <a:extLst>
              <a:ext uri="{FF2B5EF4-FFF2-40B4-BE49-F238E27FC236}">
                <a16:creationId xmlns:a16="http://schemas.microsoft.com/office/drawing/2014/main" id="{44F817D5-7869-4A4F-B695-437A04A9CF3F}"/>
              </a:ext>
            </a:extLst>
          </p:cNvPr>
          <p:cNvSpPr>
            <a:spLocks noGrp="1"/>
          </p:cNvSpPr>
          <p:nvPr/>
        </p:nvSpPr>
        <p:spPr>
          <a:xfrm>
            <a:off x="8753361" y="5185201"/>
            <a:ext cx="1403837" cy="105902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1168" name="Google Shape;1168;p44">
            <a:extLst>
              <a:ext uri="{FF2B5EF4-FFF2-40B4-BE49-F238E27FC236}">
                <a16:creationId xmlns:a16="http://schemas.microsoft.com/office/drawing/2014/main" id="{C858C1AE-603B-4D2C-824F-8B1F69FBE1BD}"/>
              </a:ext>
            </a:extLst>
          </p:cNvPr>
          <p:cNvSpPr>
            <a:spLocks noGrp="1"/>
          </p:cNvSpPr>
          <p:nvPr/>
        </p:nvSpPr>
        <p:spPr>
          <a:xfrm>
            <a:off x="7673005" y="5280966"/>
            <a:ext cx="1071393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1169" name="Google Shape;1169;p44">
            <a:extLst>
              <a:ext uri="{FF2B5EF4-FFF2-40B4-BE49-F238E27FC236}">
                <a16:creationId xmlns:a16="http://schemas.microsoft.com/office/drawing/2014/main" id="{B0C4E77E-60CE-453A-AFC0-4EDC823F2C0E}"/>
              </a:ext>
            </a:extLst>
          </p:cNvPr>
          <p:cNvSpPr>
            <a:spLocks noGrp="1"/>
          </p:cNvSpPr>
          <p:nvPr/>
        </p:nvSpPr>
        <p:spPr>
          <a:xfrm>
            <a:off x="8761853" y="5307577"/>
            <a:ext cx="563174" cy="1172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sp>
        <p:nvSpPr>
          <p:cNvPr id="1170" name="Google Shape;1170;p44">
            <a:extLst>
              <a:ext uri="{FF2B5EF4-FFF2-40B4-BE49-F238E27FC236}">
                <a16:creationId xmlns:a16="http://schemas.microsoft.com/office/drawing/2014/main" id="{AB3C9747-1375-4470-B7FC-014E82AEB257}"/>
              </a:ext>
            </a:extLst>
          </p:cNvPr>
          <p:cNvSpPr>
            <a:spLocks noGrp="1"/>
          </p:cNvSpPr>
          <p:nvPr/>
        </p:nvSpPr>
        <p:spPr>
          <a:xfrm>
            <a:off x="10166162" y="5282293"/>
            <a:ext cx="1216602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1171" name="Google Shape;1171;p44">
            <a:extLst>
              <a:ext uri="{FF2B5EF4-FFF2-40B4-BE49-F238E27FC236}">
                <a16:creationId xmlns:a16="http://schemas.microsoft.com/office/drawing/2014/main" id="{8E5B8846-678B-4E16-B3FD-A7EDBE01DDCD}"/>
              </a:ext>
            </a:extLst>
          </p:cNvPr>
          <p:cNvSpPr>
            <a:spLocks noGrp="1"/>
          </p:cNvSpPr>
          <p:nvPr/>
        </p:nvSpPr>
        <p:spPr>
          <a:xfrm>
            <a:off x="9590879" y="5303237"/>
            <a:ext cx="580161" cy="11282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cxnSp>
        <p:nvCxnSpPr>
          <p:cNvPr id="1280" name="Google Shape;1172;p44"/>
          <p:cNvCxnSpPr/>
          <p:nvPr/>
        </p:nvCxnSpPr>
        <p:spPr>
          <a:xfrm>
            <a:off x="9462621" y="3500709"/>
            <a:ext cx="848442" cy="789466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graphicFrame>
        <p:nvGraphicFramePr>
          <p:cNvPr id="1281" name="Google Shape;1173;p44"/>
          <p:cNvGraphicFramePr/>
          <p:nvPr>
            <p:extLst>
              <p:ext uri="{D42A27DB-BD31-4B8C-83A1-F6EECF244321}">
                <p14:modId xmlns:p14="http://schemas.microsoft.com/office/powerpoint/2010/main" val="3002507089"/>
              </p:ext>
            </p:extLst>
          </p:nvPr>
        </p:nvGraphicFramePr>
        <p:xfrm>
          <a:off x="88202" y="2988116"/>
          <a:ext cx="5942102" cy="518170"/>
        </p:xfrm>
        <a:graphic>
          <a:graphicData uri="http://schemas.openxmlformats.org/drawingml/2006/table">
            <a:tbl>
              <a:tblPr/>
              <a:tblGrid>
                <a:gridCol w="5942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 err="1"/>
                        <a:t>균일한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채널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형성과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안정적인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소자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특성을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위해</a:t>
                      </a:r>
                      <a:r>
                        <a:rPr sz="1400" dirty="0"/>
                        <a:t> 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sz="1400" dirty="0"/>
                        <a:t>Bent </a:t>
                      </a:r>
                      <a:r>
                        <a:rPr sz="1400" dirty="0" err="1"/>
                        <a:t>Gate를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금지</a:t>
                      </a:r>
                      <a:r>
                        <a:rPr sz="1400" dirty="0"/>
                        <a:t>. </a:t>
                      </a:r>
                      <a:r>
                        <a:rPr sz="1400" dirty="0" err="1"/>
                        <a:t>직선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구조만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사용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59" name="Slide 5 copied left comparison heading">
            <a:extLst>
              <a:ext uri="{FF2B5EF4-FFF2-40B4-BE49-F238E27FC236}">
                <a16:creationId xmlns:a16="http://schemas.microsoft.com/office/drawing/2014/main" id="{8373A638-98A3-453A-8AE2-FAF089797D4D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260" name="Slide 5 copied right comparison heading">
            <a:extLst>
              <a:ext uri="{FF2B5EF4-FFF2-40B4-BE49-F238E27FC236}">
                <a16:creationId xmlns:a16="http://schemas.microsoft.com/office/drawing/2014/main" id="{B8E0DFDD-438C-4025-B15E-C5D43D80C385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graphicFrame>
        <p:nvGraphicFramePr>
          <p:cNvPr id="3" name="Google Shape;1100;p42">
            <a:extLst>
              <a:ext uri="{FF2B5EF4-FFF2-40B4-BE49-F238E27FC236}">
                <a16:creationId xmlns:a16="http://schemas.microsoft.com/office/drawing/2014/main" id="{0A43B5A0-0851-8E00-2A70-9459579175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1210464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X.1</a:t>
                      </a:r>
                      <a:endParaRPr sz="1800" b="1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---</a:t>
                      </a:r>
                      <a:endParaRPr sz="1800" b="1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Bent gate is not allowed</a:t>
                      </a:r>
                      <a:endParaRPr sz="1400" b="0" i="0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5402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8" name="Google Shape;1178;p4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8941" y="1199571"/>
            <a:ext cx="2709504" cy="1441661"/>
          </a:xfrm>
          <a:prstGeom prst="rect">
            <a:avLst/>
          </a:prstGeom>
          <a:ln>
            <a:noFill/>
          </a:ln>
        </p:spPr>
      </p:pic>
      <p:cxnSp>
        <p:nvCxnSpPr>
          <p:cNvPr id="1269" name="Google Shape;1179;p45"/>
          <p:cNvCxnSpPr/>
          <p:nvPr/>
        </p:nvCxnSpPr>
        <p:spPr>
          <a:xfrm>
            <a:off x="8777187" y="4099029"/>
            <a:ext cx="0" cy="134223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270" name="Google Shape;1180;p4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5972" y="1448025"/>
            <a:ext cx="2667207" cy="2803986"/>
          </a:xfrm>
          <a:prstGeom prst="rect">
            <a:avLst/>
          </a:prstGeom>
          <a:ln>
            <a:noFill/>
          </a:ln>
        </p:spPr>
      </p:pic>
      <p:cxnSp>
        <p:nvCxnSpPr>
          <p:cNvPr id="1271" name="Google Shape;1181;p45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1272" name="Google Shape;1182;p45"/>
          <p:cNvGraphicFramePr/>
          <p:nvPr>
            <p:extLst>
              <p:ext uri="{D42A27DB-BD31-4B8C-83A1-F6EECF244321}">
                <p14:modId xmlns:p14="http://schemas.microsoft.com/office/powerpoint/2010/main" val="3578225870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POLY.X.2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</a:t>
                      </a:r>
                      <a:endParaRPr sz="1800" b="1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Bent Poly resistor is not allowed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85" name="Google Shape;1185;p45">
            <a:extLst>
              <a:ext uri="{FF2B5EF4-FFF2-40B4-BE49-F238E27FC236}">
                <a16:creationId xmlns:a16="http://schemas.microsoft.com/office/drawing/2014/main" id="{309D19BD-4EDF-4420-AF61-99CC44CCB1F2}"/>
              </a:ext>
            </a:extLst>
          </p:cNvPr>
          <p:cNvSpPr>
            <a:spLocks noGrp="1"/>
          </p:cNvSpPr>
          <p:nvPr/>
        </p:nvSpPr>
        <p:spPr>
          <a:xfrm>
            <a:off x="7673005" y="5291103"/>
            <a:ext cx="3709759" cy="112588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1186" name="Google Shape;1186;p45">
            <a:extLst>
              <a:ext uri="{FF2B5EF4-FFF2-40B4-BE49-F238E27FC236}">
                <a16:creationId xmlns:a16="http://schemas.microsoft.com/office/drawing/2014/main" id="{BAF68730-2D0D-495E-9057-95CBB856E346}"/>
              </a:ext>
            </a:extLst>
          </p:cNvPr>
          <p:cNvSpPr>
            <a:spLocks noGrp="1"/>
          </p:cNvSpPr>
          <p:nvPr/>
        </p:nvSpPr>
        <p:spPr>
          <a:xfrm>
            <a:off x="6689719" y="260795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cxnSp>
        <p:nvCxnSpPr>
          <p:cNvPr id="1275" name="Google Shape;1187;p45"/>
          <p:cNvCxnSpPr/>
          <p:nvPr/>
        </p:nvCxnSpPr>
        <p:spPr>
          <a:xfrm flipH="1">
            <a:off x="9071247" y="3765644"/>
            <a:ext cx="6606" cy="150146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276" name="Google Shape;1188;p45"/>
          <p:cNvCxnSpPr/>
          <p:nvPr/>
        </p:nvCxnSpPr>
        <p:spPr>
          <a:xfrm flipH="1">
            <a:off x="9741416" y="4100604"/>
            <a:ext cx="9306" cy="120190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277" name="Google Shape;1189;p45"/>
          <p:cNvCxnSpPr/>
          <p:nvPr/>
        </p:nvCxnSpPr>
        <p:spPr>
          <a:xfrm>
            <a:off x="7078502" y="2792619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278" name="Google Shape;1190;p45"/>
          <p:cNvCxnSpPr/>
          <p:nvPr/>
        </p:nvCxnSpPr>
        <p:spPr>
          <a:xfrm>
            <a:off x="9480948" y="3784565"/>
            <a:ext cx="9306" cy="150146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191" name="Google Shape;1191;p45">
            <a:extLst>
              <a:ext uri="{FF2B5EF4-FFF2-40B4-BE49-F238E27FC236}">
                <a16:creationId xmlns:a16="http://schemas.microsoft.com/office/drawing/2014/main" id="{497902DE-F5DF-41E1-A191-E9F44921D4FA}"/>
              </a:ext>
            </a:extLst>
          </p:cNvPr>
          <p:cNvSpPr>
            <a:spLocks noGrp="1"/>
          </p:cNvSpPr>
          <p:nvPr/>
        </p:nvSpPr>
        <p:spPr>
          <a:xfrm>
            <a:off x="10252438" y="4226800"/>
            <a:ext cx="121660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Bends==0</a:t>
            </a:r>
          </a:p>
        </p:txBody>
      </p:sp>
      <p:sp>
        <p:nvSpPr>
          <p:cNvPr id="1192" name="Google Shape;1192;p45">
            <a:extLst>
              <a:ext uri="{FF2B5EF4-FFF2-40B4-BE49-F238E27FC236}">
                <a16:creationId xmlns:a16="http://schemas.microsoft.com/office/drawing/2014/main" id="{17E3038C-37AB-4B12-BECE-D37AF569ECE7}"/>
              </a:ext>
            </a:extLst>
          </p:cNvPr>
          <p:cNvSpPr>
            <a:spLocks noGrp="1"/>
          </p:cNvSpPr>
          <p:nvPr/>
        </p:nvSpPr>
        <p:spPr>
          <a:xfrm>
            <a:off x="9074567" y="5059278"/>
            <a:ext cx="422633" cy="243229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3" name="Google Shape;1193;p45">
            <a:extLst>
              <a:ext uri="{FF2B5EF4-FFF2-40B4-BE49-F238E27FC236}">
                <a16:creationId xmlns:a16="http://schemas.microsoft.com/office/drawing/2014/main" id="{2A3C3439-D16D-49A0-B79E-58FA05685953}"/>
              </a:ext>
            </a:extLst>
          </p:cNvPr>
          <p:cNvSpPr>
            <a:spLocks noGrp="1"/>
          </p:cNvSpPr>
          <p:nvPr/>
        </p:nvSpPr>
        <p:spPr>
          <a:xfrm>
            <a:off x="7673005" y="5280966"/>
            <a:ext cx="3709757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cxnSp>
        <p:nvCxnSpPr>
          <p:cNvPr id="1282" name="Google Shape;1194;p45"/>
          <p:cNvCxnSpPr/>
          <p:nvPr/>
        </p:nvCxnSpPr>
        <p:spPr>
          <a:xfrm>
            <a:off x="9462621" y="3500709"/>
            <a:ext cx="848442" cy="789466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pic>
        <p:nvPicPr>
          <p:cNvPr id="1283" name="Google Shape;1195;p45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66232" y="3062038"/>
            <a:ext cx="3979777" cy="3593748"/>
          </a:xfrm>
          <a:prstGeom prst="rect">
            <a:avLst/>
          </a:prstGeom>
          <a:ln>
            <a:noFill/>
          </a:ln>
        </p:spPr>
      </p:pic>
      <p:graphicFrame>
        <p:nvGraphicFramePr>
          <p:cNvPr id="1284" name="Google Shape;1196;p45"/>
          <p:cNvGraphicFramePr/>
          <p:nvPr>
            <p:extLst>
              <p:ext uri="{D42A27DB-BD31-4B8C-83A1-F6EECF244321}">
                <p14:modId xmlns:p14="http://schemas.microsoft.com/office/powerpoint/2010/main" val="3844836690"/>
              </p:ext>
            </p:extLst>
          </p:nvPr>
        </p:nvGraphicFramePr>
        <p:xfrm>
          <a:off x="136573" y="2600981"/>
          <a:ext cx="6046063" cy="518170"/>
        </p:xfrm>
        <a:graphic>
          <a:graphicData uri="http://schemas.openxmlformats.org/drawingml/2006/table">
            <a:tbl>
              <a:tblPr/>
              <a:tblGrid>
                <a:gridCol w="604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/>
                        <a:t>Current </a:t>
                      </a:r>
                      <a:r>
                        <a:rPr sz="1400" dirty="0" err="1"/>
                        <a:t>Crowding과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저항값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오차를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방지하기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위해</a:t>
                      </a:r>
                      <a:r>
                        <a:rPr sz="1400" dirty="0"/>
                        <a:t> 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sz="1400" dirty="0"/>
                        <a:t>Bent Poly </a:t>
                      </a:r>
                      <a:r>
                        <a:rPr sz="1400" dirty="0" err="1"/>
                        <a:t>Resistor를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금지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66" name="Slide 5 copied left comparison heading">
            <a:extLst>
              <a:ext uri="{FF2B5EF4-FFF2-40B4-BE49-F238E27FC236}">
                <a16:creationId xmlns:a16="http://schemas.microsoft.com/office/drawing/2014/main" id="{F061170F-A666-4CF1-AD46-1D4B5BBEAF0D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267" name="Slide 5 copied right comparison heading">
            <a:extLst>
              <a:ext uri="{FF2B5EF4-FFF2-40B4-BE49-F238E27FC236}">
                <a16:creationId xmlns:a16="http://schemas.microsoft.com/office/drawing/2014/main" id="{1FEF461F-66C8-4BF2-AABE-DD02447A44B9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4585171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8" name="Google Shape;1201;p46"/>
          <p:cNvGraphicFramePr/>
          <p:nvPr>
            <p:extLst>
              <p:ext uri="{D42A27DB-BD31-4B8C-83A1-F6EECF244321}">
                <p14:modId xmlns:p14="http://schemas.microsoft.com/office/powerpoint/2010/main" val="3305552089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POLY.D.1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50%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Maximum Poly density across full chip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09" name="Google Shape;1203;p4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18225" y="1051981"/>
            <a:ext cx="5964714" cy="5533282"/>
          </a:xfrm>
          <a:prstGeom prst="rect">
            <a:avLst/>
          </a:prstGeom>
          <a:ln>
            <a:noFill/>
          </a:ln>
        </p:spPr>
      </p:pic>
      <p:pic>
        <p:nvPicPr>
          <p:cNvPr id="1210" name="Google Shape;1204;p4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3681" y="1970432"/>
            <a:ext cx="4864543" cy="2805101"/>
          </a:xfrm>
          <a:prstGeom prst="rect">
            <a:avLst/>
          </a:prstGeom>
          <a:ln>
            <a:noFill/>
          </a:ln>
        </p:spPr>
      </p:pic>
      <p:graphicFrame>
        <p:nvGraphicFramePr>
          <p:cNvPr id="1211" name="Google Shape;1205;p46"/>
          <p:cNvGraphicFramePr/>
          <p:nvPr/>
        </p:nvGraphicFramePr>
        <p:xfrm>
          <a:off x="387978" y="4883818"/>
          <a:ext cx="4524675" cy="518170"/>
        </p:xfrm>
        <a:graphic>
          <a:graphicData uri="http://schemas.openxmlformats.org/drawingml/2006/table">
            <a:tbl>
              <a:tblPr/>
              <a:tblGrid>
                <a:gridCol w="452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/>
                        <a:t>Poly Density </a:t>
                      </a:r>
                      <a:r>
                        <a:rPr sz="1400" dirty="0" err="1"/>
                        <a:t>Ratio를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제한하여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CMP와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식각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공정의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균일성을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확보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07" name="Slide 5 copied left comparison heading">
            <a:extLst>
              <a:ext uri="{FF2B5EF4-FFF2-40B4-BE49-F238E27FC236}">
                <a16:creationId xmlns:a16="http://schemas.microsoft.com/office/drawing/2014/main" id="{BF437FB2-559E-4256-A6BD-98EE54225B40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</p:spTree>
    <p:extLst>
      <p:ext uri="{BB962C8B-B14F-4D97-AF65-F5344CB8AC3E}">
        <p14:creationId xmlns:p14="http://schemas.microsoft.com/office/powerpoint/2010/main" val="14406263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8" name="Google Shape;1210;p47"/>
          <p:cNvGraphicFramePr/>
          <p:nvPr>
            <p:extLst>
              <p:ext uri="{D42A27DB-BD31-4B8C-83A1-F6EECF244321}">
                <p14:modId xmlns:p14="http://schemas.microsoft.com/office/powerpoint/2010/main" val="16460804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POLY.SE.3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25.0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Poly segment length (width &lt; 0.14) between two contacts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19" name="Google Shape;1212;p4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674" y="1618345"/>
            <a:ext cx="3865396" cy="2604200"/>
          </a:xfrm>
          <a:prstGeom prst="rect">
            <a:avLst/>
          </a:prstGeom>
          <a:ln>
            <a:noFill/>
          </a:ln>
        </p:spPr>
      </p:pic>
      <p:pic>
        <p:nvPicPr>
          <p:cNvPr id="1220" name="Google Shape;1213;p47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08133" y="1570219"/>
            <a:ext cx="4142512" cy="2732907"/>
          </a:xfrm>
          <a:prstGeom prst="rect">
            <a:avLst/>
          </a:prstGeom>
          <a:ln>
            <a:noFill/>
          </a:ln>
        </p:spPr>
      </p:pic>
      <p:pic>
        <p:nvPicPr>
          <p:cNvPr id="1221" name="Google Shape;1214;p47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201" y="5102031"/>
            <a:ext cx="11327598" cy="822300"/>
          </a:xfrm>
          <a:prstGeom prst="rect">
            <a:avLst/>
          </a:prstGeom>
          <a:ln>
            <a:noFill/>
          </a:ln>
        </p:spPr>
      </p:pic>
      <p:graphicFrame>
        <p:nvGraphicFramePr>
          <p:cNvPr id="1222" name="Google Shape;1215;p47"/>
          <p:cNvGraphicFramePr/>
          <p:nvPr/>
        </p:nvGraphicFramePr>
        <p:xfrm>
          <a:off x="3582362" y="4487031"/>
          <a:ext cx="4524675" cy="518170"/>
        </p:xfrm>
        <a:graphic>
          <a:graphicData uri="http://schemas.openxmlformats.org/drawingml/2006/table">
            <a:tbl>
              <a:tblPr/>
              <a:tblGrid>
                <a:gridCol w="452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 err="1"/>
                        <a:t>좁고</a:t>
                      </a:r>
                      <a:r>
                        <a:rPr sz="1400" dirty="0"/>
                        <a:t> 긴 </a:t>
                      </a:r>
                      <a:r>
                        <a:rPr sz="1400" dirty="0" err="1"/>
                        <a:t>Poly의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높은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저항과</a:t>
                      </a:r>
                      <a:r>
                        <a:rPr sz="1400" dirty="0"/>
                        <a:t> IR </a:t>
                      </a:r>
                      <a:r>
                        <a:rPr sz="1400" dirty="0" err="1"/>
                        <a:t>Drop을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방지하기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위해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최대</a:t>
                      </a:r>
                      <a:r>
                        <a:rPr sz="1400" dirty="0"/>
                        <a:t> Poly Segment </a:t>
                      </a:r>
                      <a:r>
                        <a:rPr sz="1400" dirty="0" err="1"/>
                        <a:t>Length를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제한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17" name="Slide 5 copied left comparison heading">
            <a:extLst>
              <a:ext uri="{FF2B5EF4-FFF2-40B4-BE49-F238E27FC236}">
                <a16:creationId xmlns:a16="http://schemas.microsoft.com/office/drawing/2014/main" id="{3B6DEC4C-9263-4449-BFB6-5CA4B89DC5F4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</p:spTree>
    <p:extLst>
      <p:ext uri="{BB962C8B-B14F-4D97-AF65-F5344CB8AC3E}">
        <p14:creationId xmlns:p14="http://schemas.microsoft.com/office/powerpoint/2010/main" val="8856860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7" name="Google Shape;1220;p48"/>
          <p:cNvGraphicFramePr/>
          <p:nvPr>
            <p:extLst>
              <p:ext uri="{D42A27DB-BD31-4B8C-83A1-F6EECF244321}">
                <p14:modId xmlns:p14="http://schemas.microsoft.com/office/powerpoint/2010/main" val="4199846235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/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POLY.A.1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i="0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area for Poly interconnect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28" name="Google Shape;1222;p4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6828" y="1110302"/>
            <a:ext cx="5840113" cy="5493255"/>
          </a:xfrm>
          <a:prstGeom prst="rect">
            <a:avLst/>
          </a:prstGeom>
          <a:ln>
            <a:noFill/>
          </a:ln>
        </p:spPr>
      </p:pic>
      <p:pic>
        <p:nvPicPr>
          <p:cNvPr id="1229" name="Google Shape;1223;p4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580" y="2329924"/>
            <a:ext cx="3851044" cy="2717324"/>
          </a:xfrm>
          <a:prstGeom prst="rect">
            <a:avLst/>
          </a:prstGeom>
          <a:ln>
            <a:noFill/>
          </a:ln>
        </p:spPr>
      </p:pic>
      <p:graphicFrame>
        <p:nvGraphicFramePr>
          <p:cNvPr id="1230" name="Google Shape;1224;p48"/>
          <p:cNvGraphicFramePr/>
          <p:nvPr/>
        </p:nvGraphicFramePr>
        <p:xfrm>
          <a:off x="313681" y="5234920"/>
          <a:ext cx="4685450" cy="518170"/>
        </p:xfrm>
        <a:graphic>
          <a:graphicData uri="http://schemas.openxmlformats.org/drawingml/2006/table">
            <a:tbl>
              <a:tblPr/>
              <a:tblGrid>
                <a:gridCol w="468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32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“</a:t>
                      </a:r>
                      <a:r>
                        <a:rPr sz="1400" dirty="0" err="1"/>
                        <a:t>공정에서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안정적으로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패턴을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형성하기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위해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Poly의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최소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면적을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확보</a:t>
                      </a:r>
                      <a:r>
                        <a:rPr sz="1400" b="0" dirty="0"/>
                        <a:t>”</a:t>
                      </a:r>
                    </a:p>
                  </a:txBody>
                  <a:tcPr marL="91450" marR="91450" marT="45725" marB="457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26" name="Slide 5 copied left comparison heading">
            <a:extLst>
              <a:ext uri="{FF2B5EF4-FFF2-40B4-BE49-F238E27FC236}">
                <a16:creationId xmlns:a16="http://schemas.microsoft.com/office/drawing/2014/main" id="{49509714-DF4C-434E-B902-F27200A1C4E2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</p:spTree>
    <p:extLst>
      <p:ext uri="{BB962C8B-B14F-4D97-AF65-F5344CB8AC3E}">
        <p14:creationId xmlns:p14="http://schemas.microsoft.com/office/powerpoint/2010/main" val="559331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0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49">
            <a:extLst>
              <a:ext uri="{FF2B5EF4-FFF2-40B4-BE49-F238E27FC236}">
                <a16:creationId xmlns:a16="http://schemas.microsoft.com/office/drawing/2014/main" id="{1C4FCB2B-0E3D-4942-A635-1C0F39EED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478" y="2301478"/>
            <a:ext cx="4879043" cy="225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/>
              <a:t>Implant</a:t>
            </a:r>
          </a:p>
        </p:txBody>
      </p:sp>
    </p:spTree>
    <p:extLst>
      <p:ext uri="{BB962C8B-B14F-4D97-AF65-F5344CB8AC3E}">
        <p14:creationId xmlns:p14="http://schemas.microsoft.com/office/powerpoint/2010/main" val="20521063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50">
            <a:extLst>
              <a:ext uri="{FF2B5EF4-FFF2-40B4-BE49-F238E27FC236}">
                <a16:creationId xmlns:a16="http://schemas.microsoft.com/office/drawing/2014/main" id="{1A1F307C-B195-48CC-A136-DEE8673DDAD1}"/>
              </a:ext>
            </a:extLst>
          </p:cNvPr>
          <p:cNvSpPr>
            <a:spLocks noGrp="1"/>
          </p:cNvSpPr>
          <p:nvPr/>
        </p:nvSpPr>
        <p:spPr>
          <a:xfrm>
            <a:off x="7474164" y="5242772"/>
            <a:ext cx="3731380" cy="101821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325" name="Google Shape;1235;p50"/>
          <p:cNvGraphicFramePr/>
          <p:nvPr>
            <p:extLst>
              <p:ext uri="{D42A27DB-BD31-4B8C-83A1-F6EECF244321}">
                <p14:modId xmlns:p14="http://schemas.microsoft.com/office/powerpoint/2010/main" val="2155567871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NIMP.W.1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0.24</a:t>
                      </a:r>
                      <a:r>
                        <a:rPr sz="1800" b="0" dirty="0">
                          <a:solidFill>
                            <a:schemeClr val="dk1"/>
                          </a:solidFill>
                        </a:rPr>
                        <a:t>um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N+ Implant width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326" name="Google Shape;1236;p50"/>
          <p:cNvCxnSpPr/>
          <p:nvPr/>
        </p:nvCxnSpPr>
        <p:spPr>
          <a:xfrm>
            <a:off x="8983114" y="4511788"/>
            <a:ext cx="67375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237" name="Google Shape;1237;p50">
            <a:extLst>
              <a:ext uri="{FF2B5EF4-FFF2-40B4-BE49-F238E27FC236}">
                <a16:creationId xmlns:a16="http://schemas.microsoft.com/office/drawing/2014/main" id="{51178B8A-0D28-4D5F-8A4D-942F04CAA67B}"/>
              </a:ext>
            </a:extLst>
          </p:cNvPr>
          <p:cNvSpPr>
            <a:spLocks noGrp="1"/>
          </p:cNvSpPr>
          <p:nvPr/>
        </p:nvSpPr>
        <p:spPr>
          <a:xfrm>
            <a:off x="9022382" y="4154183"/>
            <a:ext cx="9665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0.24</a:t>
            </a:r>
          </a:p>
        </p:txBody>
      </p:sp>
      <p:pic>
        <p:nvPicPr>
          <p:cNvPr id="1328" name="Google Shape;1238;p5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0902" y="3941725"/>
            <a:ext cx="2950854" cy="2524894"/>
          </a:xfrm>
          <a:prstGeom prst="rect">
            <a:avLst/>
          </a:prstGeom>
          <a:ln>
            <a:noFill/>
          </a:ln>
        </p:spPr>
      </p:pic>
      <p:pic>
        <p:nvPicPr>
          <p:cNvPr id="1329" name="Google Shape;1239;p50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98" y="2257062"/>
            <a:ext cx="1568531" cy="1485976"/>
          </a:xfrm>
          <a:prstGeom prst="rect">
            <a:avLst/>
          </a:prstGeom>
          <a:ln>
            <a:noFill/>
          </a:ln>
        </p:spPr>
      </p:pic>
      <p:pic>
        <p:nvPicPr>
          <p:cNvPr id="1330" name="Google Shape;1240;p50"/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63822" t="17173" r="6756" b="16464"/>
          <a:stretch/>
        </p:blipFill>
        <p:spPr>
          <a:xfrm>
            <a:off x="8821168" y="1781924"/>
            <a:ext cx="1119085" cy="2159801"/>
          </a:xfrm>
          <a:prstGeom prst="rect">
            <a:avLst/>
          </a:prstGeom>
          <a:ln>
            <a:noFill/>
          </a:ln>
        </p:spPr>
      </p:pic>
      <p:cxnSp>
        <p:nvCxnSpPr>
          <p:cNvPr id="1331" name="Google Shape;1241;p50"/>
          <p:cNvCxnSpPr/>
          <p:nvPr/>
        </p:nvCxnSpPr>
        <p:spPr>
          <a:xfrm>
            <a:off x="9656870" y="2804104"/>
            <a:ext cx="0" cy="2592118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32" name="Google Shape;1242;p50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333" name="Google Shape;1245;p50"/>
          <p:cNvCxnSpPr/>
          <p:nvPr/>
        </p:nvCxnSpPr>
        <p:spPr>
          <a:xfrm>
            <a:off x="8995146" y="2775644"/>
            <a:ext cx="0" cy="2620578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46" name="Google Shape;1246;p50">
            <a:extLst>
              <a:ext uri="{FF2B5EF4-FFF2-40B4-BE49-F238E27FC236}">
                <a16:creationId xmlns:a16="http://schemas.microsoft.com/office/drawing/2014/main" id="{113FA94E-8E9D-4575-9D51-84F814DA5046}"/>
              </a:ext>
            </a:extLst>
          </p:cNvPr>
          <p:cNvSpPr>
            <a:spLocks noGrp="1"/>
          </p:cNvSpPr>
          <p:nvPr/>
        </p:nvSpPr>
        <p:spPr>
          <a:xfrm>
            <a:off x="7474162" y="5238954"/>
            <a:ext cx="3731380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247" name="Google Shape;1247;p50">
            <a:extLst>
              <a:ext uri="{FF2B5EF4-FFF2-40B4-BE49-F238E27FC236}">
                <a16:creationId xmlns:a16="http://schemas.microsoft.com/office/drawing/2014/main" id="{9F3F8551-E997-4C04-92D1-9DA2BC79EBB0}"/>
              </a:ext>
            </a:extLst>
          </p:cNvPr>
          <p:cNvSpPr>
            <a:spLocks noGrp="1"/>
          </p:cNvSpPr>
          <p:nvPr/>
        </p:nvSpPr>
        <p:spPr>
          <a:xfrm>
            <a:off x="847798" y="1610731"/>
            <a:ext cx="51825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도핑 균일성과 Source/Drain 특성 확보를 위한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 N+ Implant width</a:t>
            </a:r>
          </a:p>
        </p:txBody>
      </p:sp>
      <p:cxnSp>
        <p:nvCxnSpPr>
          <p:cNvPr id="1336" name="Google Shape;1248;p50"/>
          <p:cNvCxnSpPr/>
          <p:nvPr/>
        </p:nvCxnSpPr>
        <p:spPr>
          <a:xfrm>
            <a:off x="2968137" y="3130661"/>
            <a:ext cx="498324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249" name="Google Shape;1249;p50">
            <a:extLst>
              <a:ext uri="{FF2B5EF4-FFF2-40B4-BE49-F238E27FC236}">
                <a16:creationId xmlns:a16="http://schemas.microsoft.com/office/drawing/2014/main" id="{A0D47A76-941C-44B7-A8A9-013060F01459}"/>
              </a:ext>
            </a:extLst>
          </p:cNvPr>
          <p:cNvSpPr>
            <a:spLocks noGrp="1"/>
          </p:cNvSpPr>
          <p:nvPr/>
        </p:nvSpPr>
        <p:spPr>
          <a:xfrm>
            <a:off x="2925224" y="2769142"/>
            <a:ext cx="96653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0.24</a:t>
            </a:r>
          </a:p>
        </p:txBody>
      </p:sp>
      <p:cxnSp>
        <p:nvCxnSpPr>
          <p:cNvPr id="1338" name="Google Shape;1250;p50"/>
          <p:cNvCxnSpPr/>
          <p:nvPr/>
        </p:nvCxnSpPr>
        <p:spPr>
          <a:xfrm>
            <a:off x="3466461" y="3042790"/>
            <a:ext cx="0" cy="2592118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39" name="Google Shape;1251;p50"/>
          <p:cNvCxnSpPr/>
          <p:nvPr/>
        </p:nvCxnSpPr>
        <p:spPr>
          <a:xfrm>
            <a:off x="2968137" y="3042790"/>
            <a:ext cx="0" cy="2620578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22" name="Slide 5 copied left comparison heading">
            <a:extLst>
              <a:ext uri="{FF2B5EF4-FFF2-40B4-BE49-F238E27FC236}">
                <a16:creationId xmlns:a16="http://schemas.microsoft.com/office/drawing/2014/main" id="{5D1B5760-0493-4EA6-8B89-91AD0BAB2080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323" name="Slide 5 copied right comparison heading">
            <a:extLst>
              <a:ext uri="{FF2B5EF4-FFF2-40B4-BE49-F238E27FC236}">
                <a16:creationId xmlns:a16="http://schemas.microsoft.com/office/drawing/2014/main" id="{6EFEE6F7-B4FF-4599-A95D-B24809EE59A9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20003625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256;p51"/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48220" t="15500" b="12171"/>
          <a:stretch/>
        </p:blipFill>
        <p:spPr>
          <a:xfrm>
            <a:off x="8073204" y="1731956"/>
            <a:ext cx="2561115" cy="2201485"/>
          </a:xfrm>
          <a:prstGeom prst="rect">
            <a:avLst/>
          </a:prstGeom>
          <a:ln>
            <a:noFill/>
          </a:ln>
        </p:spPr>
      </p:pic>
      <p:cxnSp>
        <p:nvCxnSpPr>
          <p:cNvPr id="1371" name="Google Shape;1257;p51"/>
          <p:cNvCxnSpPr/>
          <p:nvPr/>
        </p:nvCxnSpPr>
        <p:spPr>
          <a:xfrm>
            <a:off x="8318928" y="3028950"/>
            <a:ext cx="0" cy="2705490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372" name="Google Shape;1258;p5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172" y="2509189"/>
            <a:ext cx="2521606" cy="1554238"/>
          </a:xfrm>
          <a:prstGeom prst="rect">
            <a:avLst/>
          </a:prstGeom>
          <a:ln>
            <a:noFill/>
          </a:ln>
        </p:spPr>
      </p:pic>
      <p:pic>
        <p:nvPicPr>
          <p:cNvPr id="1373" name="Google Shape;1259;p5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98" y="4162509"/>
            <a:ext cx="3652063" cy="2277443"/>
          </a:xfrm>
          <a:prstGeom prst="rect">
            <a:avLst/>
          </a:prstGeom>
          <a:ln>
            <a:noFill/>
          </a:ln>
        </p:spPr>
      </p:pic>
      <p:graphicFrame>
        <p:nvGraphicFramePr>
          <p:cNvPr id="1374" name="Google Shape;1260;p51"/>
          <p:cNvGraphicFramePr/>
          <p:nvPr>
            <p:extLst>
              <p:ext uri="{D42A27DB-BD31-4B8C-83A1-F6EECF244321}">
                <p14:modId xmlns:p14="http://schemas.microsoft.com/office/powerpoint/2010/main" val="183636388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NIMP.SP.1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0.24</a:t>
                      </a:r>
                      <a:r>
                        <a:rPr sz="1800" b="0" dirty="0">
                          <a:solidFill>
                            <a:schemeClr val="dk1"/>
                          </a:solidFill>
                        </a:rPr>
                        <a:t>um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N+ Implant space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375" name="Google Shape;1261;p51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264" name="Google Shape;1264;p51">
            <a:extLst>
              <a:ext uri="{FF2B5EF4-FFF2-40B4-BE49-F238E27FC236}">
                <a16:creationId xmlns:a16="http://schemas.microsoft.com/office/drawing/2014/main" id="{7BC53A72-4F36-48A8-B4DC-5A9B144C0090}"/>
              </a:ext>
            </a:extLst>
          </p:cNvPr>
          <p:cNvSpPr>
            <a:spLocks noGrp="1"/>
          </p:cNvSpPr>
          <p:nvPr/>
        </p:nvSpPr>
        <p:spPr>
          <a:xfrm>
            <a:off x="8976995" y="4159323"/>
            <a:ext cx="6212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0.24</a:t>
            </a:r>
          </a:p>
        </p:txBody>
      </p:sp>
      <p:cxnSp>
        <p:nvCxnSpPr>
          <p:cNvPr id="1377" name="Google Shape;1265;p51"/>
          <p:cNvCxnSpPr/>
          <p:nvPr/>
        </p:nvCxnSpPr>
        <p:spPr>
          <a:xfrm>
            <a:off x="9602978" y="3028950"/>
            <a:ext cx="4512" cy="2184894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78" name="Google Shape;1266;p51"/>
          <p:cNvCxnSpPr/>
          <p:nvPr/>
        </p:nvCxnSpPr>
        <p:spPr>
          <a:xfrm>
            <a:off x="8960559" y="3028950"/>
            <a:ext cx="7162" cy="2184894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379" name="Google Shape;1267;p51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78823" y="4427153"/>
            <a:ext cx="817627" cy="174775"/>
          </a:xfrm>
          <a:prstGeom prst="rect">
            <a:avLst/>
          </a:prstGeom>
          <a:ln>
            <a:noFill/>
          </a:ln>
        </p:spPr>
      </p:pic>
      <p:sp>
        <p:nvSpPr>
          <p:cNvPr id="1268" name="Google Shape;1268;p51">
            <a:extLst>
              <a:ext uri="{FF2B5EF4-FFF2-40B4-BE49-F238E27FC236}">
                <a16:creationId xmlns:a16="http://schemas.microsoft.com/office/drawing/2014/main" id="{AD0290D1-6CB3-44C3-A76A-4CF7C3BE851F}"/>
              </a:ext>
            </a:extLst>
          </p:cNvPr>
          <p:cNvSpPr>
            <a:spLocks noGrp="1"/>
          </p:cNvSpPr>
          <p:nvPr/>
        </p:nvSpPr>
        <p:spPr>
          <a:xfrm>
            <a:off x="7420018" y="5217662"/>
            <a:ext cx="3731380" cy="101821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9" name="Google Shape;1269;p51">
            <a:extLst>
              <a:ext uri="{FF2B5EF4-FFF2-40B4-BE49-F238E27FC236}">
                <a16:creationId xmlns:a16="http://schemas.microsoft.com/office/drawing/2014/main" id="{34B1559D-477F-4257-909E-A86FFCA8093D}"/>
              </a:ext>
            </a:extLst>
          </p:cNvPr>
          <p:cNvSpPr>
            <a:spLocks noGrp="1"/>
          </p:cNvSpPr>
          <p:nvPr/>
        </p:nvSpPr>
        <p:spPr>
          <a:xfrm>
            <a:off x="7420016" y="5213844"/>
            <a:ext cx="3731380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270" name="Google Shape;1270;p51">
            <a:extLst>
              <a:ext uri="{FF2B5EF4-FFF2-40B4-BE49-F238E27FC236}">
                <a16:creationId xmlns:a16="http://schemas.microsoft.com/office/drawing/2014/main" id="{B7C25CCF-828E-4020-8EBD-49F1BA36F0E2}"/>
              </a:ext>
            </a:extLst>
          </p:cNvPr>
          <p:cNvSpPr>
            <a:spLocks noGrp="1"/>
          </p:cNvSpPr>
          <p:nvPr/>
        </p:nvSpPr>
        <p:spPr>
          <a:xfrm>
            <a:off x="8333217" y="5213844"/>
            <a:ext cx="639266" cy="17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1271" name="Google Shape;1271;p51">
            <a:extLst>
              <a:ext uri="{FF2B5EF4-FFF2-40B4-BE49-F238E27FC236}">
                <a16:creationId xmlns:a16="http://schemas.microsoft.com/office/drawing/2014/main" id="{4F526C1A-729E-46CE-942C-03FDEF08BDE6}"/>
              </a:ext>
            </a:extLst>
          </p:cNvPr>
          <p:cNvSpPr>
            <a:spLocks noGrp="1"/>
          </p:cNvSpPr>
          <p:nvPr/>
        </p:nvSpPr>
        <p:spPr>
          <a:xfrm>
            <a:off x="9602727" y="5213844"/>
            <a:ext cx="662613" cy="17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1272" name="Google Shape;1272;p51">
            <a:extLst>
              <a:ext uri="{FF2B5EF4-FFF2-40B4-BE49-F238E27FC236}">
                <a16:creationId xmlns:a16="http://schemas.microsoft.com/office/drawing/2014/main" id="{C304EBFF-FBF8-45F2-A9DC-3C4597B7FE35}"/>
              </a:ext>
            </a:extLst>
          </p:cNvPr>
          <p:cNvSpPr>
            <a:spLocks noGrp="1"/>
          </p:cNvSpPr>
          <p:nvPr/>
        </p:nvSpPr>
        <p:spPr>
          <a:xfrm>
            <a:off x="847798" y="1610731"/>
            <a:ext cx="51825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도핑 영역 간 간섭 및 Short 방지를 위한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 Implant space</a:t>
            </a:r>
          </a:p>
        </p:txBody>
      </p:sp>
      <p:sp>
        <p:nvSpPr>
          <p:cNvPr id="1273" name="Google Shape;1273;p51">
            <a:extLst>
              <a:ext uri="{FF2B5EF4-FFF2-40B4-BE49-F238E27FC236}">
                <a16:creationId xmlns:a16="http://schemas.microsoft.com/office/drawing/2014/main" id="{0B43ED1A-78F1-4E9E-BB2C-7AF3287F1856}"/>
              </a:ext>
            </a:extLst>
          </p:cNvPr>
          <p:cNvSpPr>
            <a:spLocks noGrp="1"/>
          </p:cNvSpPr>
          <p:nvPr/>
        </p:nvSpPr>
        <p:spPr>
          <a:xfrm>
            <a:off x="3188201" y="2886124"/>
            <a:ext cx="6188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0.24</a:t>
            </a:r>
          </a:p>
        </p:txBody>
      </p:sp>
      <p:cxnSp>
        <p:nvCxnSpPr>
          <p:cNvPr id="1386" name="Google Shape;1274;p51"/>
          <p:cNvCxnSpPr/>
          <p:nvPr/>
        </p:nvCxnSpPr>
        <p:spPr>
          <a:xfrm>
            <a:off x="3736508" y="3230297"/>
            <a:ext cx="0" cy="2568485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87" name="Google Shape;1275;p51"/>
          <p:cNvCxnSpPr/>
          <p:nvPr/>
        </p:nvCxnSpPr>
        <p:spPr>
          <a:xfrm>
            <a:off x="3250799" y="3230297"/>
            <a:ext cx="15238" cy="2495533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388" name="Google Shape;1276;p51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67285" y="3169872"/>
            <a:ext cx="660712" cy="174775"/>
          </a:xfrm>
          <a:prstGeom prst="rect">
            <a:avLst/>
          </a:prstGeom>
          <a:ln>
            <a:noFill/>
          </a:ln>
        </p:spPr>
      </p:pic>
      <p:cxnSp>
        <p:nvCxnSpPr>
          <p:cNvPr id="1389" name="Google Shape;1277;p51"/>
          <p:cNvCxnSpPr/>
          <p:nvPr/>
        </p:nvCxnSpPr>
        <p:spPr>
          <a:xfrm>
            <a:off x="10244284" y="3027041"/>
            <a:ext cx="4512" cy="2184894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68" name="Slide 5 copied left comparison heading">
            <a:extLst>
              <a:ext uri="{FF2B5EF4-FFF2-40B4-BE49-F238E27FC236}">
                <a16:creationId xmlns:a16="http://schemas.microsoft.com/office/drawing/2014/main" id="{FBF8E83F-E6D5-4534-8591-88B7CB2F089D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369" name="Slide 5 copied right comparison heading">
            <a:extLst>
              <a:ext uri="{FF2B5EF4-FFF2-40B4-BE49-F238E27FC236}">
                <a16:creationId xmlns:a16="http://schemas.microsoft.com/office/drawing/2014/main" id="{5DF5C26E-1B07-411F-9FC9-78F4E506581E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20153466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2">
            <a:extLst>
              <a:ext uri="{FF2B5EF4-FFF2-40B4-BE49-F238E27FC236}">
                <a16:creationId xmlns:a16="http://schemas.microsoft.com/office/drawing/2014/main" id="{C62D6D93-D1B0-4159-BF80-ABF0228D66FC}"/>
              </a:ext>
            </a:extLst>
          </p:cNvPr>
          <p:cNvSpPr>
            <a:spLocks noGrp="1"/>
          </p:cNvSpPr>
          <p:nvPr/>
        </p:nvSpPr>
        <p:spPr>
          <a:xfrm>
            <a:off x="7519737" y="5110552"/>
            <a:ext cx="3530697" cy="101821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94" name="Google Shape;1283;p5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6524" y="2243966"/>
            <a:ext cx="2163230" cy="1558869"/>
          </a:xfrm>
          <a:prstGeom prst="rect">
            <a:avLst/>
          </a:prstGeom>
          <a:ln>
            <a:noFill/>
          </a:ln>
        </p:spPr>
      </p:pic>
      <p:pic>
        <p:nvPicPr>
          <p:cNvPr id="1395" name="Google Shape;1284;p5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798" y="3998268"/>
            <a:ext cx="3727771" cy="2066311"/>
          </a:xfrm>
          <a:prstGeom prst="rect">
            <a:avLst/>
          </a:prstGeom>
          <a:ln>
            <a:noFill/>
          </a:ln>
        </p:spPr>
      </p:pic>
      <p:pic>
        <p:nvPicPr>
          <p:cNvPr id="1396" name="Google Shape;1285;p52"/>
          <p:cNvPicPr>
            <a:picLocks noChangeAspect="1"/>
          </p:cNvPicPr>
          <p:nvPr/>
        </p:nvPicPr>
        <p:blipFill rotWithShape="1">
          <a:blip r:embed="rId4">
            <a:alphaModFix/>
          </a:blip>
          <a:srcRect l="38435" t="21595" r="1" b="7443"/>
          <a:stretch/>
        </p:blipFill>
        <p:spPr>
          <a:xfrm>
            <a:off x="7790446" y="1820381"/>
            <a:ext cx="3084628" cy="1970847"/>
          </a:xfrm>
          <a:prstGeom prst="rect">
            <a:avLst/>
          </a:prstGeom>
          <a:ln>
            <a:noFill/>
          </a:ln>
        </p:spPr>
      </p:pic>
      <p:cxnSp>
        <p:nvCxnSpPr>
          <p:cNvPr id="1397" name="Google Shape;1286;p52"/>
          <p:cNvCxnSpPr/>
          <p:nvPr/>
        </p:nvCxnSpPr>
        <p:spPr>
          <a:xfrm>
            <a:off x="8212504" y="2348978"/>
            <a:ext cx="0" cy="2763749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98" name="Google Shape;1287;p52"/>
          <p:cNvCxnSpPr/>
          <p:nvPr/>
        </p:nvCxnSpPr>
        <p:spPr>
          <a:xfrm>
            <a:off x="10350115" y="2354158"/>
            <a:ext cx="0" cy="2758569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399" name="Google Shape;1288;p52"/>
          <p:cNvCxnSpPr/>
          <p:nvPr/>
        </p:nvCxnSpPr>
        <p:spPr>
          <a:xfrm>
            <a:off x="8553399" y="2785311"/>
            <a:ext cx="0" cy="2327416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00" name="Google Shape;1289;p52"/>
          <p:cNvCxnSpPr/>
          <p:nvPr/>
        </p:nvCxnSpPr>
        <p:spPr>
          <a:xfrm>
            <a:off x="10017241" y="2785311"/>
            <a:ext cx="0" cy="2327416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graphicFrame>
        <p:nvGraphicFramePr>
          <p:cNvPr id="1401" name="Google Shape;1290;p52"/>
          <p:cNvGraphicFramePr/>
          <p:nvPr>
            <p:extLst>
              <p:ext uri="{D42A27DB-BD31-4B8C-83A1-F6EECF244321}">
                <p14:modId xmlns:p14="http://schemas.microsoft.com/office/powerpoint/2010/main" val="3195819735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NIMP.E.1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/>
                        <a:t>0.14</a:t>
                      </a:r>
                      <a:r>
                        <a:rPr sz="1800" b="0">
                          <a:solidFill>
                            <a:schemeClr val="dk1"/>
                          </a:solidFill>
                        </a:rPr>
                        <a:t>um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N+ Implant to Active Area enclosure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02" name="Google Shape;1291;p52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294" name="Google Shape;1294;p52">
            <a:extLst>
              <a:ext uri="{FF2B5EF4-FFF2-40B4-BE49-F238E27FC236}">
                <a16:creationId xmlns:a16="http://schemas.microsoft.com/office/drawing/2014/main" id="{257B7988-DAA8-4167-8FA2-76E7EADE342A}"/>
              </a:ext>
            </a:extLst>
          </p:cNvPr>
          <p:cNvSpPr>
            <a:spLocks noGrp="1"/>
          </p:cNvSpPr>
          <p:nvPr/>
        </p:nvSpPr>
        <p:spPr>
          <a:xfrm>
            <a:off x="7519737" y="5112727"/>
            <a:ext cx="1033653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295" name="Google Shape;1295;p52">
            <a:extLst>
              <a:ext uri="{FF2B5EF4-FFF2-40B4-BE49-F238E27FC236}">
                <a16:creationId xmlns:a16="http://schemas.microsoft.com/office/drawing/2014/main" id="{CDF2581D-95A3-499A-98F0-CD08CAF11CF9}"/>
              </a:ext>
            </a:extLst>
          </p:cNvPr>
          <p:cNvSpPr>
            <a:spLocks noGrp="1"/>
          </p:cNvSpPr>
          <p:nvPr/>
        </p:nvSpPr>
        <p:spPr>
          <a:xfrm>
            <a:off x="10017236" y="5112726"/>
            <a:ext cx="1033200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296" name="Google Shape;1296;p52">
            <a:extLst>
              <a:ext uri="{FF2B5EF4-FFF2-40B4-BE49-F238E27FC236}">
                <a16:creationId xmlns:a16="http://schemas.microsoft.com/office/drawing/2014/main" id="{D9E4F4A8-D898-483D-B27D-7C3F13505A4D}"/>
              </a:ext>
            </a:extLst>
          </p:cNvPr>
          <p:cNvSpPr>
            <a:spLocks noGrp="1"/>
          </p:cNvSpPr>
          <p:nvPr/>
        </p:nvSpPr>
        <p:spPr>
          <a:xfrm>
            <a:off x="8558189" y="5112725"/>
            <a:ext cx="1459036" cy="15710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1297" name="Google Shape;1297;p52">
            <a:extLst>
              <a:ext uri="{FF2B5EF4-FFF2-40B4-BE49-F238E27FC236}">
                <a16:creationId xmlns:a16="http://schemas.microsoft.com/office/drawing/2014/main" id="{93B4C4A7-B504-4BD6-A99B-91C215BD16BA}"/>
              </a:ext>
            </a:extLst>
          </p:cNvPr>
          <p:cNvSpPr>
            <a:spLocks noGrp="1"/>
          </p:cNvSpPr>
          <p:nvPr/>
        </p:nvSpPr>
        <p:spPr>
          <a:xfrm>
            <a:off x="8556362" y="5047246"/>
            <a:ext cx="1452855" cy="65477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cxnSp>
        <p:nvCxnSpPr>
          <p:cNvPr id="1407" name="Google Shape;1298;p52"/>
          <p:cNvCxnSpPr/>
          <p:nvPr/>
        </p:nvCxnSpPr>
        <p:spPr>
          <a:xfrm>
            <a:off x="8212504" y="4713615"/>
            <a:ext cx="34088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1408" name="Google Shape;1299;p52"/>
          <p:cNvCxnSpPr/>
          <p:nvPr/>
        </p:nvCxnSpPr>
        <p:spPr>
          <a:xfrm>
            <a:off x="10024805" y="4708978"/>
            <a:ext cx="34088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300" name="Google Shape;1300;p52">
            <a:extLst>
              <a:ext uri="{FF2B5EF4-FFF2-40B4-BE49-F238E27FC236}">
                <a16:creationId xmlns:a16="http://schemas.microsoft.com/office/drawing/2014/main" id="{4C72DEBF-3C9E-414E-A1D3-5F628CF7C02F}"/>
              </a:ext>
            </a:extLst>
          </p:cNvPr>
          <p:cNvSpPr>
            <a:spLocks noGrp="1"/>
          </p:cNvSpPr>
          <p:nvPr/>
        </p:nvSpPr>
        <p:spPr>
          <a:xfrm>
            <a:off x="847798" y="1610731"/>
            <a:ext cx="51825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Active Area의 안정적인 도핑을 위한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 Enclosure</a:t>
            </a:r>
          </a:p>
        </p:txBody>
      </p:sp>
      <p:cxnSp>
        <p:nvCxnSpPr>
          <p:cNvPr id="1410" name="Google Shape;1301;p52"/>
          <p:cNvCxnSpPr/>
          <p:nvPr/>
        </p:nvCxnSpPr>
        <p:spPr>
          <a:xfrm>
            <a:off x="4181184" y="3110407"/>
            <a:ext cx="0" cy="2327416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11" name="Google Shape;1302;p52"/>
          <p:cNvCxnSpPr/>
          <p:nvPr/>
        </p:nvCxnSpPr>
        <p:spPr>
          <a:xfrm>
            <a:off x="3924931" y="3110407"/>
            <a:ext cx="0" cy="2327416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12" name="Google Shape;1303;p52"/>
          <p:cNvCxnSpPr/>
          <p:nvPr/>
        </p:nvCxnSpPr>
        <p:spPr>
          <a:xfrm>
            <a:off x="3918581" y="3136974"/>
            <a:ext cx="256253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304" name="Google Shape;1304;p52">
            <a:extLst>
              <a:ext uri="{FF2B5EF4-FFF2-40B4-BE49-F238E27FC236}">
                <a16:creationId xmlns:a16="http://schemas.microsoft.com/office/drawing/2014/main" id="{FC7AD962-E25C-479B-BBB0-C9C401F6FA5B}"/>
              </a:ext>
            </a:extLst>
          </p:cNvPr>
          <p:cNvSpPr>
            <a:spLocks noGrp="1"/>
          </p:cNvSpPr>
          <p:nvPr/>
        </p:nvSpPr>
        <p:spPr>
          <a:xfrm>
            <a:off x="3703592" y="2744813"/>
            <a:ext cx="6862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0.14</a:t>
            </a:r>
          </a:p>
        </p:txBody>
      </p:sp>
      <p:sp>
        <p:nvSpPr>
          <p:cNvPr id="1305" name="Google Shape;1305;p52">
            <a:extLst>
              <a:ext uri="{FF2B5EF4-FFF2-40B4-BE49-F238E27FC236}">
                <a16:creationId xmlns:a16="http://schemas.microsoft.com/office/drawing/2014/main" id="{8DF01391-8566-4BD0-A0FB-BB0464089673}"/>
              </a:ext>
            </a:extLst>
          </p:cNvPr>
          <p:cNvSpPr>
            <a:spLocks noGrp="1"/>
          </p:cNvSpPr>
          <p:nvPr/>
        </p:nvSpPr>
        <p:spPr>
          <a:xfrm>
            <a:off x="8101447" y="4381075"/>
            <a:ext cx="528204" cy="2927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6" name="Google Shape;1306;p52">
            <a:extLst>
              <a:ext uri="{FF2B5EF4-FFF2-40B4-BE49-F238E27FC236}">
                <a16:creationId xmlns:a16="http://schemas.microsoft.com/office/drawing/2014/main" id="{142CE2C6-48D6-4A08-9802-78A4FB3842AF}"/>
              </a:ext>
            </a:extLst>
          </p:cNvPr>
          <p:cNvSpPr>
            <a:spLocks noGrp="1"/>
          </p:cNvSpPr>
          <p:nvPr/>
        </p:nvSpPr>
        <p:spPr>
          <a:xfrm>
            <a:off x="9940440" y="4381075"/>
            <a:ext cx="546585" cy="2639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52">
            <a:extLst>
              <a:ext uri="{FF2B5EF4-FFF2-40B4-BE49-F238E27FC236}">
                <a16:creationId xmlns:a16="http://schemas.microsoft.com/office/drawing/2014/main" id="{E085A9B6-1B59-4EE7-A3AF-A4F2340B0066}"/>
              </a:ext>
            </a:extLst>
          </p:cNvPr>
          <p:cNvSpPr>
            <a:spLocks noGrp="1"/>
          </p:cNvSpPr>
          <p:nvPr/>
        </p:nvSpPr>
        <p:spPr>
          <a:xfrm>
            <a:off x="8060957" y="4319825"/>
            <a:ext cx="6862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0.14</a:t>
            </a:r>
          </a:p>
        </p:txBody>
      </p:sp>
      <p:sp>
        <p:nvSpPr>
          <p:cNvPr id="1308" name="Google Shape;1308;p52">
            <a:extLst>
              <a:ext uri="{FF2B5EF4-FFF2-40B4-BE49-F238E27FC236}">
                <a16:creationId xmlns:a16="http://schemas.microsoft.com/office/drawing/2014/main" id="{C22A514C-D887-4CF4-B767-F67CA527B61A}"/>
              </a:ext>
            </a:extLst>
          </p:cNvPr>
          <p:cNvSpPr>
            <a:spLocks noGrp="1"/>
          </p:cNvSpPr>
          <p:nvPr/>
        </p:nvSpPr>
        <p:spPr>
          <a:xfrm>
            <a:off x="9879679" y="4319233"/>
            <a:ext cx="6862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0.14</a:t>
            </a:r>
          </a:p>
        </p:txBody>
      </p:sp>
      <p:sp>
        <p:nvSpPr>
          <p:cNvPr id="1391" name="Slide 5 copied left comparison heading">
            <a:extLst>
              <a:ext uri="{FF2B5EF4-FFF2-40B4-BE49-F238E27FC236}">
                <a16:creationId xmlns:a16="http://schemas.microsoft.com/office/drawing/2014/main" id="{B3036BC5-159A-43C7-BEC5-993D120FE941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392" name="Slide 5 copied right comparison heading">
            <a:extLst>
              <a:ext uri="{FF2B5EF4-FFF2-40B4-BE49-F238E27FC236}">
                <a16:creationId xmlns:a16="http://schemas.microsoft.com/office/drawing/2014/main" id="{26EF6E0C-D3E2-4E9E-9FC8-AE0F0396E612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4341719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6" name="Google Shape;1314;p5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92" y="2311685"/>
            <a:ext cx="2254366" cy="1568531"/>
          </a:xfrm>
          <a:prstGeom prst="rect">
            <a:avLst/>
          </a:prstGeom>
          <a:ln>
            <a:noFill/>
          </a:ln>
        </p:spPr>
      </p:pic>
      <p:pic>
        <p:nvPicPr>
          <p:cNvPr id="1437" name="Google Shape;1315;p53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0443" y="4405603"/>
            <a:ext cx="4834283" cy="1814907"/>
          </a:xfrm>
          <a:prstGeom prst="rect">
            <a:avLst/>
          </a:prstGeom>
          <a:ln>
            <a:noFill/>
          </a:ln>
        </p:spPr>
      </p:pic>
      <p:pic>
        <p:nvPicPr>
          <p:cNvPr id="1438" name="Google Shape;1316;p53"/>
          <p:cNvPicPr>
            <a:picLocks noChangeAspect="1"/>
          </p:cNvPicPr>
          <p:nvPr/>
        </p:nvPicPr>
        <p:blipFill rotWithShape="1">
          <a:blip r:embed="rId4">
            <a:alphaModFix/>
          </a:blip>
          <a:srcRect l="53816" b="7010"/>
          <a:stretch/>
        </p:blipFill>
        <p:spPr>
          <a:xfrm>
            <a:off x="7790446" y="1774690"/>
            <a:ext cx="2785444" cy="2105526"/>
          </a:xfrm>
          <a:prstGeom prst="rect">
            <a:avLst/>
          </a:prstGeom>
          <a:ln>
            <a:noFill/>
          </a:ln>
        </p:spPr>
      </p:pic>
      <p:graphicFrame>
        <p:nvGraphicFramePr>
          <p:cNvPr id="1439" name="Google Shape;1317;p53"/>
          <p:cNvGraphicFramePr/>
          <p:nvPr>
            <p:extLst>
              <p:ext uri="{D42A27DB-BD31-4B8C-83A1-F6EECF244321}">
                <p14:modId xmlns:p14="http://schemas.microsoft.com/office/powerpoint/2010/main" val="3012186975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NIMP.O.1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0.16</a:t>
                      </a:r>
                      <a:r>
                        <a:rPr sz="1800" b="0" dirty="0">
                          <a:solidFill>
                            <a:schemeClr val="dk1"/>
                          </a:solidFill>
                        </a:rPr>
                        <a:t>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N+ Implant to Active Area overlap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40" name="Google Shape;1318;p53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441" name="Google Shape;1321;p53"/>
          <p:cNvCxnSpPr/>
          <p:nvPr/>
        </p:nvCxnSpPr>
        <p:spPr>
          <a:xfrm>
            <a:off x="8407284" y="3152273"/>
            <a:ext cx="0" cy="1962000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42" name="Google Shape;1322;p53"/>
          <p:cNvCxnSpPr/>
          <p:nvPr/>
        </p:nvCxnSpPr>
        <p:spPr>
          <a:xfrm>
            <a:off x="9836767" y="3152273"/>
            <a:ext cx="0" cy="1962000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43" name="Google Shape;1323;p53"/>
          <p:cNvCxnSpPr/>
          <p:nvPr/>
        </p:nvCxnSpPr>
        <p:spPr>
          <a:xfrm>
            <a:off x="9417668" y="3152274"/>
            <a:ext cx="0" cy="1962000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24" name="Google Shape;1324;p53">
            <a:extLst>
              <a:ext uri="{FF2B5EF4-FFF2-40B4-BE49-F238E27FC236}">
                <a16:creationId xmlns:a16="http://schemas.microsoft.com/office/drawing/2014/main" id="{5876FAC6-1244-4302-999B-5183CD40D0F5}"/>
              </a:ext>
            </a:extLst>
          </p:cNvPr>
          <p:cNvSpPr>
            <a:spLocks noGrp="1"/>
          </p:cNvSpPr>
          <p:nvPr/>
        </p:nvSpPr>
        <p:spPr>
          <a:xfrm>
            <a:off x="7399420" y="5105134"/>
            <a:ext cx="3649437" cy="101821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45" name="Google Shape;1325;p53"/>
          <p:cNvCxnSpPr/>
          <p:nvPr/>
        </p:nvCxnSpPr>
        <p:spPr>
          <a:xfrm>
            <a:off x="10261884" y="3152273"/>
            <a:ext cx="0" cy="1962000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46" name="Google Shape;1326;p53"/>
          <p:cNvCxnSpPr/>
          <p:nvPr/>
        </p:nvCxnSpPr>
        <p:spPr>
          <a:xfrm>
            <a:off x="8088178" y="3152273"/>
            <a:ext cx="0" cy="1962000"/>
          </a:xfrm>
          <a:prstGeom prst="straightConnector1">
            <a:avLst/>
          </a:prstGeom>
          <a:ln w="9525" cap="flat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27" name="Google Shape;1327;p53">
            <a:extLst>
              <a:ext uri="{FF2B5EF4-FFF2-40B4-BE49-F238E27FC236}">
                <a16:creationId xmlns:a16="http://schemas.microsoft.com/office/drawing/2014/main" id="{38C335FB-DE34-4EEA-845C-F183567F803F}"/>
              </a:ext>
            </a:extLst>
          </p:cNvPr>
          <p:cNvSpPr>
            <a:spLocks noGrp="1"/>
          </p:cNvSpPr>
          <p:nvPr/>
        </p:nvSpPr>
        <p:spPr>
          <a:xfrm>
            <a:off x="9836222" y="5105134"/>
            <a:ext cx="1212090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328" name="Google Shape;1328;p53">
            <a:extLst>
              <a:ext uri="{FF2B5EF4-FFF2-40B4-BE49-F238E27FC236}">
                <a16:creationId xmlns:a16="http://schemas.microsoft.com/office/drawing/2014/main" id="{B9867FC7-E9B2-4EED-BFC3-FDD6F6E24CE4}"/>
              </a:ext>
            </a:extLst>
          </p:cNvPr>
          <p:cNvSpPr>
            <a:spLocks noGrp="1"/>
          </p:cNvSpPr>
          <p:nvPr/>
        </p:nvSpPr>
        <p:spPr>
          <a:xfrm>
            <a:off x="7399420" y="5105134"/>
            <a:ext cx="1012239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329" name="Google Shape;1329;p53">
            <a:extLst>
              <a:ext uri="{FF2B5EF4-FFF2-40B4-BE49-F238E27FC236}">
                <a16:creationId xmlns:a16="http://schemas.microsoft.com/office/drawing/2014/main" id="{AC6DFFA8-73DC-4772-8315-C5AF146710C7}"/>
              </a:ext>
            </a:extLst>
          </p:cNvPr>
          <p:cNvSpPr>
            <a:spLocks noGrp="1"/>
          </p:cNvSpPr>
          <p:nvPr/>
        </p:nvSpPr>
        <p:spPr>
          <a:xfrm>
            <a:off x="8412753" y="5048795"/>
            <a:ext cx="1423468" cy="56339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1330" name="Google Shape;1330;p53">
            <a:extLst>
              <a:ext uri="{FF2B5EF4-FFF2-40B4-BE49-F238E27FC236}">
                <a16:creationId xmlns:a16="http://schemas.microsoft.com/office/drawing/2014/main" id="{A24FBCB6-43CB-44D3-B97F-92153B4B9FDE}"/>
              </a:ext>
            </a:extLst>
          </p:cNvPr>
          <p:cNvSpPr>
            <a:spLocks noGrp="1"/>
          </p:cNvSpPr>
          <p:nvPr/>
        </p:nvSpPr>
        <p:spPr>
          <a:xfrm>
            <a:off x="9411106" y="5105134"/>
            <a:ext cx="425116" cy="15266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1331" name="Google Shape;1331;p53">
            <a:extLst>
              <a:ext uri="{FF2B5EF4-FFF2-40B4-BE49-F238E27FC236}">
                <a16:creationId xmlns:a16="http://schemas.microsoft.com/office/drawing/2014/main" id="{FF4DACC4-F741-4123-B959-D84359280EC4}"/>
              </a:ext>
            </a:extLst>
          </p:cNvPr>
          <p:cNvSpPr>
            <a:spLocks noGrp="1"/>
          </p:cNvSpPr>
          <p:nvPr/>
        </p:nvSpPr>
        <p:spPr>
          <a:xfrm>
            <a:off x="8412753" y="5105135"/>
            <a:ext cx="997259" cy="1526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P+</a:t>
            </a:r>
          </a:p>
        </p:txBody>
      </p:sp>
      <p:cxnSp>
        <p:nvCxnSpPr>
          <p:cNvPr id="1452" name="Google Shape;1332;p53"/>
          <p:cNvCxnSpPr/>
          <p:nvPr/>
        </p:nvCxnSpPr>
        <p:spPr>
          <a:xfrm>
            <a:off x="9410012" y="4779327"/>
            <a:ext cx="432773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334" name="Google Shape;1334;p53">
            <a:extLst>
              <a:ext uri="{FF2B5EF4-FFF2-40B4-BE49-F238E27FC236}">
                <a16:creationId xmlns:a16="http://schemas.microsoft.com/office/drawing/2014/main" id="{8B07DA42-701E-45C9-8A21-B44F775078B0}"/>
              </a:ext>
            </a:extLst>
          </p:cNvPr>
          <p:cNvSpPr>
            <a:spLocks noGrp="1"/>
          </p:cNvSpPr>
          <p:nvPr/>
        </p:nvSpPr>
        <p:spPr>
          <a:xfrm>
            <a:off x="9280549" y="4405603"/>
            <a:ext cx="649898" cy="2918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53">
            <a:extLst>
              <a:ext uri="{FF2B5EF4-FFF2-40B4-BE49-F238E27FC236}">
                <a16:creationId xmlns:a16="http://schemas.microsoft.com/office/drawing/2014/main" id="{7917A379-5ECC-465F-9F4C-213179414BB7}"/>
              </a:ext>
            </a:extLst>
          </p:cNvPr>
          <p:cNvSpPr>
            <a:spLocks noGrp="1"/>
          </p:cNvSpPr>
          <p:nvPr/>
        </p:nvSpPr>
        <p:spPr>
          <a:xfrm>
            <a:off x="9280549" y="4351048"/>
            <a:ext cx="6862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0.16</a:t>
            </a:r>
          </a:p>
        </p:txBody>
      </p:sp>
      <p:sp>
        <p:nvSpPr>
          <p:cNvPr id="1336" name="Google Shape;1336;p53">
            <a:extLst>
              <a:ext uri="{FF2B5EF4-FFF2-40B4-BE49-F238E27FC236}">
                <a16:creationId xmlns:a16="http://schemas.microsoft.com/office/drawing/2014/main" id="{994D58EB-CF27-4CBA-A308-21BE02D67096}"/>
              </a:ext>
            </a:extLst>
          </p:cNvPr>
          <p:cNvSpPr>
            <a:spLocks noGrp="1"/>
          </p:cNvSpPr>
          <p:nvPr/>
        </p:nvSpPr>
        <p:spPr>
          <a:xfrm>
            <a:off x="847798" y="1610731"/>
            <a:ext cx="51825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 오차를 고려한 Active Area와 Implant의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 Overlap</a:t>
            </a:r>
          </a:p>
        </p:txBody>
      </p:sp>
      <p:cxnSp>
        <p:nvCxnSpPr>
          <p:cNvPr id="1456" name="Google Shape;1337;p53"/>
          <p:cNvCxnSpPr/>
          <p:nvPr/>
        </p:nvCxnSpPr>
        <p:spPr>
          <a:xfrm>
            <a:off x="4785553" y="3828707"/>
            <a:ext cx="0" cy="1342800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57" name="Google Shape;1338;p53"/>
          <p:cNvCxnSpPr/>
          <p:nvPr/>
        </p:nvCxnSpPr>
        <p:spPr>
          <a:xfrm>
            <a:off x="4438422" y="3837175"/>
            <a:ext cx="0" cy="1344292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58" name="Google Shape;1339;p53"/>
          <p:cNvCxnSpPr/>
          <p:nvPr/>
        </p:nvCxnSpPr>
        <p:spPr>
          <a:xfrm>
            <a:off x="4438422" y="3857383"/>
            <a:ext cx="347131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341" name="Google Shape;1341;p53">
            <a:extLst>
              <a:ext uri="{FF2B5EF4-FFF2-40B4-BE49-F238E27FC236}">
                <a16:creationId xmlns:a16="http://schemas.microsoft.com/office/drawing/2014/main" id="{3DE9BA53-5C4E-4C28-AA71-CC3D91711724}"/>
              </a:ext>
            </a:extLst>
          </p:cNvPr>
          <p:cNvSpPr>
            <a:spLocks noGrp="1"/>
          </p:cNvSpPr>
          <p:nvPr/>
        </p:nvSpPr>
        <p:spPr>
          <a:xfrm>
            <a:off x="4317980" y="3394759"/>
            <a:ext cx="649898" cy="2918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53">
            <a:extLst>
              <a:ext uri="{FF2B5EF4-FFF2-40B4-BE49-F238E27FC236}">
                <a16:creationId xmlns:a16="http://schemas.microsoft.com/office/drawing/2014/main" id="{3AD14643-081A-460B-9676-5505FA1522F0}"/>
              </a:ext>
            </a:extLst>
          </p:cNvPr>
          <p:cNvSpPr>
            <a:spLocks noGrp="1"/>
          </p:cNvSpPr>
          <p:nvPr/>
        </p:nvSpPr>
        <p:spPr>
          <a:xfrm>
            <a:off x="4268872" y="3445962"/>
            <a:ext cx="6862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0.16</a:t>
            </a:r>
          </a:p>
        </p:txBody>
      </p:sp>
      <p:sp>
        <p:nvSpPr>
          <p:cNvPr id="1434" name="Slide 5 copied left comparison heading">
            <a:extLst>
              <a:ext uri="{FF2B5EF4-FFF2-40B4-BE49-F238E27FC236}">
                <a16:creationId xmlns:a16="http://schemas.microsoft.com/office/drawing/2014/main" id="{9F00444B-1A8E-4967-8058-9C228DED1325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435" name="Slide 5 copied right comparison heading">
            <a:extLst>
              <a:ext uri="{FF2B5EF4-FFF2-40B4-BE49-F238E27FC236}">
                <a16:creationId xmlns:a16="http://schemas.microsoft.com/office/drawing/2014/main" id="{2E59437F-986C-4BEC-AD7A-0DEBC1EDB793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6397493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7" name="Google Shape;1347;p54"/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28172" t="20973" r="1672" b="19191"/>
          <a:stretch/>
        </p:blipFill>
        <p:spPr>
          <a:xfrm>
            <a:off x="7275902" y="1812633"/>
            <a:ext cx="3678522" cy="1981673"/>
          </a:xfrm>
          <a:prstGeom prst="rect">
            <a:avLst/>
          </a:prstGeom>
          <a:ln>
            <a:noFill/>
          </a:ln>
        </p:spPr>
      </p:pic>
      <p:cxnSp>
        <p:nvCxnSpPr>
          <p:cNvPr id="1478" name="Google Shape;1348;p54"/>
          <p:cNvCxnSpPr/>
          <p:nvPr/>
        </p:nvCxnSpPr>
        <p:spPr>
          <a:xfrm>
            <a:off x="10791273" y="2851485"/>
            <a:ext cx="0" cy="2386832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79" name="Google Shape;1349;p54"/>
          <p:cNvCxnSpPr/>
          <p:nvPr/>
        </p:nvCxnSpPr>
        <p:spPr>
          <a:xfrm>
            <a:off x="9489857" y="2851485"/>
            <a:ext cx="0" cy="2386832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50" name="Google Shape;1350;p54">
            <a:extLst>
              <a:ext uri="{FF2B5EF4-FFF2-40B4-BE49-F238E27FC236}">
                <a16:creationId xmlns:a16="http://schemas.microsoft.com/office/drawing/2014/main" id="{F032A5DB-F74F-45F6-8B37-DC7CA4BB2515}"/>
              </a:ext>
            </a:extLst>
          </p:cNvPr>
          <p:cNvSpPr>
            <a:spLocks noGrp="1"/>
          </p:cNvSpPr>
          <p:nvPr/>
        </p:nvSpPr>
        <p:spPr>
          <a:xfrm>
            <a:off x="7275911" y="5178901"/>
            <a:ext cx="3678515" cy="1107006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54">
            <a:extLst>
              <a:ext uri="{FF2B5EF4-FFF2-40B4-BE49-F238E27FC236}">
                <a16:creationId xmlns:a16="http://schemas.microsoft.com/office/drawing/2014/main" id="{71B054F5-8DCF-4EE1-862D-4B04184B5054}"/>
              </a:ext>
            </a:extLst>
          </p:cNvPr>
          <p:cNvSpPr>
            <a:spLocks noGrp="1"/>
          </p:cNvSpPr>
          <p:nvPr/>
        </p:nvSpPr>
        <p:spPr>
          <a:xfrm>
            <a:off x="7348234" y="5184008"/>
            <a:ext cx="2065422" cy="697733"/>
          </a:xfrm>
          <a:prstGeom prst="rect">
            <a:avLst/>
          </a:prstGeom>
          <a:solidFill>
            <a:srgbClr val="CDACE6"/>
          </a:solidFill>
          <a:ln w="12700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          Nwell</a:t>
            </a:r>
          </a:p>
        </p:txBody>
      </p:sp>
      <p:pic>
        <p:nvPicPr>
          <p:cNvPr id="1482" name="Google Shape;1352;p5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687" y="2196748"/>
            <a:ext cx="2662388" cy="1213442"/>
          </a:xfrm>
          <a:prstGeom prst="rect">
            <a:avLst/>
          </a:prstGeom>
          <a:ln>
            <a:noFill/>
          </a:ln>
        </p:spPr>
      </p:pic>
      <p:pic>
        <p:nvPicPr>
          <p:cNvPr id="1483" name="Google Shape;1353;p5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533" y="3664970"/>
            <a:ext cx="4852589" cy="2649693"/>
          </a:xfrm>
          <a:prstGeom prst="rect">
            <a:avLst/>
          </a:prstGeom>
          <a:ln>
            <a:noFill/>
          </a:ln>
        </p:spPr>
      </p:pic>
      <p:cxnSp>
        <p:nvCxnSpPr>
          <p:cNvPr id="1484" name="Google Shape;1354;p54"/>
          <p:cNvCxnSpPr/>
          <p:nvPr/>
        </p:nvCxnSpPr>
        <p:spPr>
          <a:xfrm>
            <a:off x="8469179" y="2851485"/>
            <a:ext cx="0" cy="2327416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85" name="Google Shape;1355;p54"/>
          <p:cNvCxnSpPr/>
          <p:nvPr/>
        </p:nvCxnSpPr>
        <p:spPr>
          <a:xfrm>
            <a:off x="9171017" y="2857501"/>
            <a:ext cx="0" cy="2327416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86" name="Google Shape;1356;p54"/>
          <p:cNvCxnSpPr/>
          <p:nvPr/>
        </p:nvCxnSpPr>
        <p:spPr>
          <a:xfrm>
            <a:off x="7348236" y="2474568"/>
            <a:ext cx="0" cy="2763749"/>
          </a:xfrm>
          <a:prstGeom prst="straightConnector1">
            <a:avLst/>
          </a:prstGeom>
          <a:ln w="9525" cap="flat">
            <a:solidFill>
              <a:srgbClr val="7030A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487" name="Google Shape;1357;p54"/>
          <p:cNvCxnSpPr/>
          <p:nvPr/>
        </p:nvCxnSpPr>
        <p:spPr>
          <a:xfrm>
            <a:off x="9413657" y="2415152"/>
            <a:ext cx="0" cy="2763749"/>
          </a:xfrm>
          <a:prstGeom prst="straightConnector1">
            <a:avLst/>
          </a:prstGeom>
          <a:ln w="9525" cap="flat">
            <a:solidFill>
              <a:srgbClr val="7030A0"/>
            </a:solidFill>
            <a:prstDash val="dash"/>
            <a:round/>
            <a:headEnd type="none" w="sm" len="sm"/>
            <a:tailEnd type="none" w="sm" len="sm"/>
          </a:ln>
        </p:spPr>
      </p:cxnSp>
      <p:graphicFrame>
        <p:nvGraphicFramePr>
          <p:cNvPr id="1488" name="Google Shape;1358;p54"/>
          <p:cNvGraphicFramePr/>
          <p:nvPr>
            <p:extLst>
              <p:ext uri="{D42A27DB-BD31-4B8C-83A1-F6EECF244321}">
                <p14:modId xmlns:p14="http://schemas.microsoft.com/office/powerpoint/2010/main" val="1106343318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NIMP.SE.1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0.16</a:t>
                      </a:r>
                      <a:r>
                        <a:rPr sz="1800" b="0" dirty="0">
                          <a:solidFill>
                            <a:schemeClr val="dk1"/>
                          </a:solidFill>
                        </a:rPr>
                        <a:t>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0" dirty="0"/>
                        <a:t>Minimum N+ Implant to P+ Active (inside </a:t>
                      </a:r>
                      <a:r>
                        <a:rPr sz="1600" b="0" dirty="0" err="1"/>
                        <a:t>Nwell</a:t>
                      </a:r>
                      <a:r>
                        <a:rPr sz="1600" b="0" dirty="0"/>
                        <a:t>) Area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489" name="Google Shape;1359;p54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362" name="Google Shape;1362;p54">
            <a:extLst>
              <a:ext uri="{FF2B5EF4-FFF2-40B4-BE49-F238E27FC236}">
                <a16:creationId xmlns:a16="http://schemas.microsoft.com/office/drawing/2014/main" id="{AF12A934-FD1C-42FF-A6F3-E2DB72814A0B}"/>
              </a:ext>
            </a:extLst>
          </p:cNvPr>
          <p:cNvSpPr>
            <a:spLocks noGrp="1"/>
          </p:cNvSpPr>
          <p:nvPr/>
        </p:nvSpPr>
        <p:spPr>
          <a:xfrm>
            <a:off x="7275902" y="5178901"/>
            <a:ext cx="1193266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363" name="Google Shape;1363;p54">
            <a:extLst>
              <a:ext uri="{FF2B5EF4-FFF2-40B4-BE49-F238E27FC236}">
                <a16:creationId xmlns:a16="http://schemas.microsoft.com/office/drawing/2014/main" id="{020240E3-10C6-42BA-9E79-80391FB1F114}"/>
              </a:ext>
            </a:extLst>
          </p:cNvPr>
          <p:cNvSpPr>
            <a:spLocks noGrp="1"/>
          </p:cNvSpPr>
          <p:nvPr/>
        </p:nvSpPr>
        <p:spPr>
          <a:xfrm>
            <a:off x="9171015" y="5178901"/>
            <a:ext cx="1783408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364" name="Google Shape;1364;p54">
            <a:extLst>
              <a:ext uri="{FF2B5EF4-FFF2-40B4-BE49-F238E27FC236}">
                <a16:creationId xmlns:a16="http://schemas.microsoft.com/office/drawing/2014/main" id="{37D06660-9762-47DE-AC04-819555E5EC3E}"/>
              </a:ext>
            </a:extLst>
          </p:cNvPr>
          <p:cNvSpPr>
            <a:spLocks noGrp="1"/>
          </p:cNvSpPr>
          <p:nvPr/>
        </p:nvSpPr>
        <p:spPr>
          <a:xfrm>
            <a:off x="8469176" y="5178901"/>
            <a:ext cx="701835" cy="163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P+</a:t>
            </a:r>
          </a:p>
        </p:txBody>
      </p:sp>
      <p:sp>
        <p:nvSpPr>
          <p:cNvPr id="1365" name="Google Shape;1365;p54">
            <a:extLst>
              <a:ext uri="{FF2B5EF4-FFF2-40B4-BE49-F238E27FC236}">
                <a16:creationId xmlns:a16="http://schemas.microsoft.com/office/drawing/2014/main" id="{0326DF88-923E-4642-8245-684A0373271F}"/>
              </a:ext>
            </a:extLst>
          </p:cNvPr>
          <p:cNvSpPr>
            <a:spLocks noGrp="1"/>
          </p:cNvSpPr>
          <p:nvPr/>
        </p:nvSpPr>
        <p:spPr>
          <a:xfrm>
            <a:off x="8469160" y="5133228"/>
            <a:ext cx="701835" cy="45719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1366" name="Google Shape;1366;p54">
            <a:extLst>
              <a:ext uri="{FF2B5EF4-FFF2-40B4-BE49-F238E27FC236}">
                <a16:creationId xmlns:a16="http://schemas.microsoft.com/office/drawing/2014/main" id="{B56A9171-A6BA-4C07-A52B-828293924EAF}"/>
              </a:ext>
            </a:extLst>
          </p:cNvPr>
          <p:cNvSpPr>
            <a:spLocks noGrp="1"/>
          </p:cNvSpPr>
          <p:nvPr/>
        </p:nvSpPr>
        <p:spPr>
          <a:xfrm>
            <a:off x="9228445" y="4477215"/>
            <a:ext cx="246088" cy="18015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95" name="Google Shape;1367;p54"/>
          <p:cNvCxnSpPr/>
          <p:nvPr/>
        </p:nvCxnSpPr>
        <p:spPr>
          <a:xfrm>
            <a:off x="9170995" y="4670158"/>
            <a:ext cx="318862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368" name="Google Shape;1368;p54">
            <a:extLst>
              <a:ext uri="{FF2B5EF4-FFF2-40B4-BE49-F238E27FC236}">
                <a16:creationId xmlns:a16="http://schemas.microsoft.com/office/drawing/2014/main" id="{97C19782-8DBE-40F7-8393-BC7094C806BB}"/>
              </a:ext>
            </a:extLst>
          </p:cNvPr>
          <p:cNvSpPr>
            <a:spLocks noGrp="1"/>
          </p:cNvSpPr>
          <p:nvPr/>
        </p:nvSpPr>
        <p:spPr>
          <a:xfrm>
            <a:off x="847798" y="1610731"/>
            <a:ext cx="51825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Nwell 내부 N+/P+ 간 누설전류 방지를 위한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 space</a:t>
            </a:r>
          </a:p>
        </p:txBody>
      </p:sp>
      <p:sp>
        <p:nvSpPr>
          <p:cNvPr id="1370" name="Google Shape;1370;p54">
            <a:extLst>
              <a:ext uri="{FF2B5EF4-FFF2-40B4-BE49-F238E27FC236}">
                <a16:creationId xmlns:a16="http://schemas.microsoft.com/office/drawing/2014/main" id="{455AA89F-4398-4265-B5B1-B11B662E443D}"/>
              </a:ext>
            </a:extLst>
          </p:cNvPr>
          <p:cNvSpPr>
            <a:spLocks noGrp="1"/>
          </p:cNvSpPr>
          <p:nvPr/>
        </p:nvSpPr>
        <p:spPr>
          <a:xfrm>
            <a:off x="9030031" y="4221376"/>
            <a:ext cx="649898" cy="2918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54">
            <a:extLst>
              <a:ext uri="{FF2B5EF4-FFF2-40B4-BE49-F238E27FC236}">
                <a16:creationId xmlns:a16="http://schemas.microsoft.com/office/drawing/2014/main" id="{8B3BBF45-B3DD-4941-8C2D-E1F1AAE360CF}"/>
              </a:ext>
            </a:extLst>
          </p:cNvPr>
          <p:cNvSpPr>
            <a:spLocks noGrp="1"/>
          </p:cNvSpPr>
          <p:nvPr/>
        </p:nvSpPr>
        <p:spPr>
          <a:xfrm>
            <a:off x="8980923" y="4272579"/>
            <a:ext cx="6862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0.16</a:t>
            </a:r>
          </a:p>
        </p:txBody>
      </p:sp>
      <p:cxnSp>
        <p:nvCxnSpPr>
          <p:cNvPr id="1499" name="Google Shape;1372;p54"/>
          <p:cNvCxnSpPr/>
          <p:nvPr/>
        </p:nvCxnSpPr>
        <p:spPr>
          <a:xfrm>
            <a:off x="4016158" y="3370302"/>
            <a:ext cx="0" cy="1440000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00" name="Google Shape;1373;p54"/>
          <p:cNvCxnSpPr/>
          <p:nvPr/>
        </p:nvCxnSpPr>
        <p:spPr>
          <a:xfrm>
            <a:off x="3722717" y="3370302"/>
            <a:ext cx="0" cy="1440000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01" name="Google Shape;1374;p54"/>
          <p:cNvCxnSpPr/>
          <p:nvPr/>
        </p:nvCxnSpPr>
        <p:spPr>
          <a:xfrm>
            <a:off x="3737344" y="3388821"/>
            <a:ext cx="278814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376" name="Google Shape;1376;p54">
            <a:extLst>
              <a:ext uri="{FF2B5EF4-FFF2-40B4-BE49-F238E27FC236}">
                <a16:creationId xmlns:a16="http://schemas.microsoft.com/office/drawing/2014/main" id="{326582CB-E677-4238-B0E3-50BCB21FA024}"/>
              </a:ext>
            </a:extLst>
          </p:cNvPr>
          <p:cNvSpPr>
            <a:spLocks noGrp="1"/>
          </p:cNvSpPr>
          <p:nvPr/>
        </p:nvSpPr>
        <p:spPr>
          <a:xfrm>
            <a:off x="4620932" y="2675467"/>
            <a:ext cx="503468" cy="2569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54">
            <a:extLst>
              <a:ext uri="{FF2B5EF4-FFF2-40B4-BE49-F238E27FC236}">
                <a16:creationId xmlns:a16="http://schemas.microsoft.com/office/drawing/2014/main" id="{92244819-8F36-4B71-92EE-F7F5877610CB}"/>
              </a:ext>
            </a:extLst>
          </p:cNvPr>
          <p:cNvSpPr>
            <a:spLocks noGrp="1"/>
          </p:cNvSpPr>
          <p:nvPr/>
        </p:nvSpPr>
        <p:spPr>
          <a:xfrm>
            <a:off x="3513552" y="2988711"/>
            <a:ext cx="82536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0.16</a:t>
            </a:r>
          </a:p>
        </p:txBody>
      </p:sp>
      <p:sp>
        <p:nvSpPr>
          <p:cNvPr id="1475" name="Slide 5 copied left comparison heading">
            <a:extLst>
              <a:ext uri="{FF2B5EF4-FFF2-40B4-BE49-F238E27FC236}">
                <a16:creationId xmlns:a16="http://schemas.microsoft.com/office/drawing/2014/main" id="{86478DAF-20EF-410B-BDB1-013BAFD1E183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476" name="Slide 5 copied right comparison heading">
            <a:extLst>
              <a:ext uri="{FF2B5EF4-FFF2-40B4-BE49-F238E27FC236}">
                <a16:creationId xmlns:a16="http://schemas.microsoft.com/office/drawing/2014/main" id="{BD23D52A-7BEC-4F8F-ABC6-4CECC0987AF5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4929723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7" name="Google Shape;1382;p55"/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29095"/>
          <a:stretch/>
        </p:blipFill>
        <p:spPr>
          <a:xfrm>
            <a:off x="7503491" y="1782310"/>
            <a:ext cx="3346492" cy="2175357"/>
          </a:xfrm>
          <a:prstGeom prst="rect">
            <a:avLst/>
          </a:prstGeom>
          <a:ln>
            <a:noFill/>
          </a:ln>
        </p:spPr>
      </p:pic>
      <p:cxnSp>
        <p:nvCxnSpPr>
          <p:cNvPr id="1528" name="Google Shape;1383;p55"/>
          <p:cNvCxnSpPr/>
          <p:nvPr/>
        </p:nvCxnSpPr>
        <p:spPr>
          <a:xfrm>
            <a:off x="8845636" y="2914871"/>
            <a:ext cx="0" cy="2327416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29" name="Google Shape;1384;p55"/>
          <p:cNvCxnSpPr/>
          <p:nvPr/>
        </p:nvCxnSpPr>
        <p:spPr>
          <a:xfrm>
            <a:off x="9773288" y="2927033"/>
            <a:ext cx="0" cy="2327416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85" name="Google Shape;1385;p55">
            <a:extLst>
              <a:ext uri="{FF2B5EF4-FFF2-40B4-BE49-F238E27FC236}">
                <a16:creationId xmlns:a16="http://schemas.microsoft.com/office/drawing/2014/main" id="{03627544-3CFD-4816-BA82-9D4E02C6D2DA}"/>
              </a:ext>
            </a:extLst>
          </p:cNvPr>
          <p:cNvSpPr>
            <a:spLocks noGrp="1"/>
          </p:cNvSpPr>
          <p:nvPr/>
        </p:nvSpPr>
        <p:spPr>
          <a:xfrm>
            <a:off x="7528573" y="5254449"/>
            <a:ext cx="3321410" cy="1107006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6" name="Google Shape;1386;p55">
            <a:extLst>
              <a:ext uri="{FF2B5EF4-FFF2-40B4-BE49-F238E27FC236}">
                <a16:creationId xmlns:a16="http://schemas.microsoft.com/office/drawing/2014/main" id="{967113FE-F1D1-4453-B05F-FC0863E08BB6}"/>
              </a:ext>
            </a:extLst>
          </p:cNvPr>
          <p:cNvSpPr>
            <a:spLocks noGrp="1"/>
          </p:cNvSpPr>
          <p:nvPr/>
        </p:nvSpPr>
        <p:spPr>
          <a:xfrm>
            <a:off x="7630138" y="5253733"/>
            <a:ext cx="3046834" cy="697733"/>
          </a:xfrm>
          <a:prstGeom prst="rect">
            <a:avLst/>
          </a:prstGeom>
          <a:solidFill>
            <a:srgbClr val="CDACE6"/>
          </a:solidFill>
          <a:ln w="12700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    Nwell</a:t>
            </a:r>
          </a:p>
        </p:txBody>
      </p:sp>
      <p:pic>
        <p:nvPicPr>
          <p:cNvPr id="1532" name="Google Shape;1387;p5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92" y="3961537"/>
            <a:ext cx="4816171" cy="2219826"/>
          </a:xfrm>
          <a:prstGeom prst="rect">
            <a:avLst/>
          </a:prstGeom>
          <a:ln>
            <a:noFill/>
          </a:ln>
        </p:spPr>
      </p:pic>
      <p:pic>
        <p:nvPicPr>
          <p:cNvPr id="1533" name="Google Shape;1388;p5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292" y="2148180"/>
            <a:ext cx="2218604" cy="1574010"/>
          </a:xfrm>
          <a:prstGeom prst="rect">
            <a:avLst/>
          </a:prstGeom>
          <a:ln>
            <a:noFill/>
          </a:ln>
        </p:spPr>
      </p:pic>
      <p:cxnSp>
        <p:nvCxnSpPr>
          <p:cNvPr id="1534" name="Google Shape;1389;p55"/>
          <p:cNvCxnSpPr/>
          <p:nvPr/>
        </p:nvCxnSpPr>
        <p:spPr>
          <a:xfrm>
            <a:off x="8818094" y="2915587"/>
            <a:ext cx="0" cy="2327416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35" name="Google Shape;1390;p55"/>
          <p:cNvCxnSpPr/>
          <p:nvPr/>
        </p:nvCxnSpPr>
        <p:spPr>
          <a:xfrm>
            <a:off x="9813285" y="2935185"/>
            <a:ext cx="0" cy="2327416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36" name="Google Shape;1391;p55"/>
          <p:cNvCxnSpPr/>
          <p:nvPr/>
        </p:nvCxnSpPr>
        <p:spPr>
          <a:xfrm>
            <a:off x="7630138" y="2461408"/>
            <a:ext cx="0" cy="2763749"/>
          </a:xfrm>
          <a:prstGeom prst="straightConnector1">
            <a:avLst/>
          </a:prstGeom>
          <a:ln w="9525" cap="flat">
            <a:solidFill>
              <a:srgbClr val="7030A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37" name="Google Shape;1392;p55"/>
          <p:cNvCxnSpPr/>
          <p:nvPr/>
        </p:nvCxnSpPr>
        <p:spPr>
          <a:xfrm>
            <a:off x="10676973" y="2471912"/>
            <a:ext cx="0" cy="2763749"/>
          </a:xfrm>
          <a:prstGeom prst="straightConnector1">
            <a:avLst/>
          </a:prstGeom>
          <a:ln w="9525" cap="flat">
            <a:solidFill>
              <a:srgbClr val="7030A0"/>
            </a:solidFill>
            <a:prstDash val="dash"/>
            <a:round/>
            <a:headEnd type="none" w="sm" len="sm"/>
            <a:tailEnd type="none" w="sm" len="sm"/>
          </a:ln>
        </p:spPr>
      </p:cxnSp>
      <p:graphicFrame>
        <p:nvGraphicFramePr>
          <p:cNvPr id="1538" name="Google Shape;1393;p55"/>
          <p:cNvGraphicFramePr/>
          <p:nvPr>
            <p:extLst>
              <p:ext uri="{D42A27DB-BD31-4B8C-83A1-F6EECF244321}">
                <p14:modId xmlns:p14="http://schemas.microsoft.com/office/powerpoint/2010/main" val="2251192530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NIMP.E.2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0.02</a:t>
                      </a:r>
                      <a:r>
                        <a:rPr sz="1800" b="0" dirty="0">
                          <a:solidFill>
                            <a:schemeClr val="dk1"/>
                          </a:solidFill>
                        </a:rPr>
                        <a:t>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N+ Implant to Active Area (</a:t>
                      </a:r>
                      <a:r>
                        <a:rPr sz="1400" b="0" dirty="0" err="1"/>
                        <a:t>Nwell</a:t>
                      </a:r>
                      <a:r>
                        <a:rPr sz="1400" b="0" dirty="0"/>
                        <a:t> tie) enclosure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39" name="Google Shape;1394;p55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397" name="Google Shape;1397;p55">
            <a:extLst>
              <a:ext uri="{FF2B5EF4-FFF2-40B4-BE49-F238E27FC236}">
                <a16:creationId xmlns:a16="http://schemas.microsoft.com/office/drawing/2014/main" id="{AC7A41C4-E6A8-4646-9C02-71DEADDA581B}"/>
              </a:ext>
            </a:extLst>
          </p:cNvPr>
          <p:cNvSpPr>
            <a:spLocks noGrp="1"/>
          </p:cNvSpPr>
          <p:nvPr/>
        </p:nvSpPr>
        <p:spPr>
          <a:xfrm>
            <a:off x="7527095" y="5246403"/>
            <a:ext cx="1317131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398" name="Google Shape;1398;p55">
            <a:extLst>
              <a:ext uri="{FF2B5EF4-FFF2-40B4-BE49-F238E27FC236}">
                <a16:creationId xmlns:a16="http://schemas.microsoft.com/office/drawing/2014/main" id="{E2202054-7D6E-4A07-B7B9-579CE6F9727C}"/>
              </a:ext>
            </a:extLst>
          </p:cNvPr>
          <p:cNvSpPr>
            <a:spLocks noGrp="1"/>
          </p:cNvSpPr>
          <p:nvPr/>
        </p:nvSpPr>
        <p:spPr>
          <a:xfrm>
            <a:off x="8845634" y="5201217"/>
            <a:ext cx="926252" cy="45719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1399" name="Google Shape;1399;p55">
            <a:extLst>
              <a:ext uri="{FF2B5EF4-FFF2-40B4-BE49-F238E27FC236}">
                <a16:creationId xmlns:a16="http://schemas.microsoft.com/office/drawing/2014/main" id="{CBC7FF39-1C2B-4589-A8E0-7FC33ADF03B3}"/>
              </a:ext>
            </a:extLst>
          </p:cNvPr>
          <p:cNvSpPr>
            <a:spLocks noGrp="1"/>
          </p:cNvSpPr>
          <p:nvPr/>
        </p:nvSpPr>
        <p:spPr>
          <a:xfrm>
            <a:off x="8845634" y="5247592"/>
            <a:ext cx="967648" cy="14352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1400" name="Google Shape;1400;p55">
            <a:extLst>
              <a:ext uri="{FF2B5EF4-FFF2-40B4-BE49-F238E27FC236}">
                <a16:creationId xmlns:a16="http://schemas.microsoft.com/office/drawing/2014/main" id="{81DD3D58-A7B8-4305-AA67-F0575C4B3F3D}"/>
              </a:ext>
            </a:extLst>
          </p:cNvPr>
          <p:cNvSpPr>
            <a:spLocks noGrp="1"/>
          </p:cNvSpPr>
          <p:nvPr/>
        </p:nvSpPr>
        <p:spPr>
          <a:xfrm>
            <a:off x="9771884" y="5246403"/>
            <a:ext cx="1078099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cxnSp>
        <p:nvCxnSpPr>
          <p:cNvPr id="1544" name="Google Shape;1401;p55"/>
          <p:cNvCxnSpPr/>
          <p:nvPr/>
        </p:nvCxnSpPr>
        <p:spPr>
          <a:xfrm>
            <a:off x="8730276" y="4679960"/>
            <a:ext cx="23071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1545" name="Google Shape;1402;p55"/>
          <p:cNvCxnSpPr/>
          <p:nvPr/>
        </p:nvCxnSpPr>
        <p:spPr>
          <a:xfrm>
            <a:off x="9662935" y="4677295"/>
            <a:ext cx="23071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403" name="Google Shape;1403;p55">
            <a:extLst>
              <a:ext uri="{FF2B5EF4-FFF2-40B4-BE49-F238E27FC236}">
                <a16:creationId xmlns:a16="http://schemas.microsoft.com/office/drawing/2014/main" id="{43BCF04C-A41C-4389-8B01-1CAD247496C9}"/>
              </a:ext>
            </a:extLst>
          </p:cNvPr>
          <p:cNvSpPr>
            <a:spLocks noGrp="1"/>
          </p:cNvSpPr>
          <p:nvPr/>
        </p:nvSpPr>
        <p:spPr>
          <a:xfrm>
            <a:off x="847798" y="1610731"/>
            <a:ext cx="51825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Nwell tie의 안정적인 전위 유지를 위한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 enclosure</a:t>
            </a:r>
          </a:p>
        </p:txBody>
      </p:sp>
      <p:cxnSp>
        <p:nvCxnSpPr>
          <p:cNvPr id="1547" name="Google Shape;1404;p55"/>
          <p:cNvCxnSpPr/>
          <p:nvPr/>
        </p:nvCxnSpPr>
        <p:spPr>
          <a:xfrm>
            <a:off x="3283037" y="3554652"/>
            <a:ext cx="0" cy="1620000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48" name="Google Shape;1405;p55"/>
          <p:cNvCxnSpPr/>
          <p:nvPr/>
        </p:nvCxnSpPr>
        <p:spPr>
          <a:xfrm>
            <a:off x="3255495" y="3555368"/>
            <a:ext cx="0" cy="1620000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407" name="Google Shape;1407;p55">
            <a:extLst>
              <a:ext uri="{FF2B5EF4-FFF2-40B4-BE49-F238E27FC236}">
                <a16:creationId xmlns:a16="http://schemas.microsoft.com/office/drawing/2014/main" id="{3DC3A35A-9532-455D-A88B-5C70F5BFB2A5}"/>
              </a:ext>
            </a:extLst>
          </p:cNvPr>
          <p:cNvSpPr>
            <a:spLocks noGrp="1"/>
          </p:cNvSpPr>
          <p:nvPr/>
        </p:nvSpPr>
        <p:spPr>
          <a:xfrm>
            <a:off x="8545589" y="4332142"/>
            <a:ext cx="566253" cy="291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8" name="Google Shape;1408;p55">
            <a:extLst>
              <a:ext uri="{FF2B5EF4-FFF2-40B4-BE49-F238E27FC236}">
                <a16:creationId xmlns:a16="http://schemas.microsoft.com/office/drawing/2014/main" id="{57C1EA73-3446-4D4F-BC0D-8339F1AA306C}"/>
              </a:ext>
            </a:extLst>
          </p:cNvPr>
          <p:cNvSpPr>
            <a:spLocks noGrp="1"/>
          </p:cNvSpPr>
          <p:nvPr/>
        </p:nvSpPr>
        <p:spPr>
          <a:xfrm>
            <a:off x="8479813" y="4260573"/>
            <a:ext cx="760248" cy="396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0.02</a:t>
            </a:r>
          </a:p>
        </p:txBody>
      </p:sp>
      <p:sp>
        <p:nvSpPr>
          <p:cNvPr id="1410" name="Google Shape;1410;p55">
            <a:extLst>
              <a:ext uri="{FF2B5EF4-FFF2-40B4-BE49-F238E27FC236}">
                <a16:creationId xmlns:a16="http://schemas.microsoft.com/office/drawing/2014/main" id="{0699E866-A7E3-4CDE-95CD-4F20B5DC14CC}"/>
              </a:ext>
            </a:extLst>
          </p:cNvPr>
          <p:cNvSpPr>
            <a:spLocks noGrp="1"/>
          </p:cNvSpPr>
          <p:nvPr/>
        </p:nvSpPr>
        <p:spPr>
          <a:xfrm>
            <a:off x="9463945" y="4332142"/>
            <a:ext cx="566253" cy="291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1" name="Google Shape;1411;p55">
            <a:extLst>
              <a:ext uri="{FF2B5EF4-FFF2-40B4-BE49-F238E27FC236}">
                <a16:creationId xmlns:a16="http://schemas.microsoft.com/office/drawing/2014/main" id="{F1363DDB-6D06-4331-9810-E6145810350A}"/>
              </a:ext>
            </a:extLst>
          </p:cNvPr>
          <p:cNvSpPr>
            <a:spLocks noGrp="1"/>
          </p:cNvSpPr>
          <p:nvPr/>
        </p:nvSpPr>
        <p:spPr>
          <a:xfrm>
            <a:off x="9398169" y="4260573"/>
            <a:ext cx="760248" cy="396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0.02</a:t>
            </a:r>
          </a:p>
        </p:txBody>
      </p:sp>
      <p:sp>
        <p:nvSpPr>
          <p:cNvPr id="1413" name="Google Shape;1413;p55">
            <a:extLst>
              <a:ext uri="{FF2B5EF4-FFF2-40B4-BE49-F238E27FC236}">
                <a16:creationId xmlns:a16="http://schemas.microsoft.com/office/drawing/2014/main" id="{23606A02-E387-413C-A8C0-4E5C590E185F}"/>
              </a:ext>
            </a:extLst>
          </p:cNvPr>
          <p:cNvSpPr>
            <a:spLocks noGrp="1"/>
          </p:cNvSpPr>
          <p:nvPr/>
        </p:nvSpPr>
        <p:spPr>
          <a:xfrm>
            <a:off x="3001267" y="3224382"/>
            <a:ext cx="566253" cy="291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55">
            <a:extLst>
              <a:ext uri="{FF2B5EF4-FFF2-40B4-BE49-F238E27FC236}">
                <a16:creationId xmlns:a16="http://schemas.microsoft.com/office/drawing/2014/main" id="{0B276423-4BF9-4BDA-8850-D76F634225F0}"/>
              </a:ext>
            </a:extLst>
          </p:cNvPr>
          <p:cNvSpPr>
            <a:spLocks noGrp="1"/>
          </p:cNvSpPr>
          <p:nvPr/>
        </p:nvSpPr>
        <p:spPr>
          <a:xfrm>
            <a:off x="2935491" y="3152813"/>
            <a:ext cx="760248" cy="396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0.02</a:t>
            </a:r>
          </a:p>
        </p:txBody>
      </p:sp>
      <p:cxnSp>
        <p:nvCxnSpPr>
          <p:cNvPr id="1555" name="Google Shape;1415;p55"/>
          <p:cNvCxnSpPr/>
          <p:nvPr/>
        </p:nvCxnSpPr>
        <p:spPr>
          <a:xfrm>
            <a:off x="3153669" y="3549607"/>
            <a:ext cx="23071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525" name="Slide 5 copied left comparison heading">
            <a:extLst>
              <a:ext uri="{FF2B5EF4-FFF2-40B4-BE49-F238E27FC236}">
                <a16:creationId xmlns:a16="http://schemas.microsoft.com/office/drawing/2014/main" id="{11C7A4E3-0C56-4788-8D9D-E5B314783014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526" name="Slide 5 copied right comparison heading">
            <a:extLst>
              <a:ext uri="{FF2B5EF4-FFF2-40B4-BE49-F238E27FC236}">
                <a16:creationId xmlns:a16="http://schemas.microsoft.com/office/drawing/2014/main" id="{01711872-CB94-493D-9EF7-E3387F54C882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0082291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56">
            <a:extLst>
              <a:ext uri="{FF2B5EF4-FFF2-40B4-BE49-F238E27FC236}">
                <a16:creationId xmlns:a16="http://schemas.microsoft.com/office/drawing/2014/main" id="{1890F60D-34EE-45D4-A65B-4A98B3F31C5E}"/>
              </a:ext>
            </a:extLst>
          </p:cNvPr>
          <p:cNvSpPr>
            <a:spLocks noGrp="1"/>
          </p:cNvSpPr>
          <p:nvPr/>
        </p:nvSpPr>
        <p:spPr>
          <a:xfrm>
            <a:off x="9123046" y="4774568"/>
            <a:ext cx="200997" cy="330868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6" name="Google Shape;1421;p5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499" y="2183084"/>
            <a:ext cx="2230640" cy="1469313"/>
          </a:xfrm>
          <a:prstGeom prst="rect">
            <a:avLst/>
          </a:prstGeom>
          <a:ln>
            <a:noFill/>
          </a:ln>
        </p:spPr>
      </p:pic>
      <p:pic>
        <p:nvPicPr>
          <p:cNvPr id="1547" name="Google Shape;1422;p5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991" y="3796455"/>
            <a:ext cx="4536728" cy="2800182"/>
          </a:xfrm>
          <a:prstGeom prst="rect">
            <a:avLst/>
          </a:prstGeom>
          <a:ln>
            <a:noFill/>
          </a:ln>
        </p:spPr>
      </p:pic>
      <p:pic>
        <p:nvPicPr>
          <p:cNvPr id="1548" name="Google Shape;1423;p56"/>
          <p:cNvPicPr>
            <a:picLocks noChangeAspect="1"/>
          </p:cNvPicPr>
          <p:nvPr/>
        </p:nvPicPr>
        <p:blipFill rotWithShape="1">
          <a:blip r:embed="rId4">
            <a:alphaModFix/>
          </a:blip>
          <a:srcRect l="54539" t="6677" r="3197" b="5585"/>
          <a:stretch/>
        </p:blipFill>
        <p:spPr>
          <a:xfrm>
            <a:off x="8368100" y="1748078"/>
            <a:ext cx="1745774" cy="2236975"/>
          </a:xfrm>
          <a:prstGeom prst="rect">
            <a:avLst/>
          </a:prstGeom>
          <a:ln>
            <a:noFill/>
          </a:ln>
        </p:spPr>
      </p:pic>
      <p:sp>
        <p:nvSpPr>
          <p:cNvPr id="1424" name="Google Shape;1424;p56">
            <a:extLst>
              <a:ext uri="{FF2B5EF4-FFF2-40B4-BE49-F238E27FC236}">
                <a16:creationId xmlns:a16="http://schemas.microsoft.com/office/drawing/2014/main" id="{5617F238-6A83-4B07-9474-DA1F60E8F61A}"/>
              </a:ext>
            </a:extLst>
          </p:cNvPr>
          <p:cNvSpPr>
            <a:spLocks noGrp="1"/>
          </p:cNvSpPr>
          <p:nvPr/>
        </p:nvSpPr>
        <p:spPr>
          <a:xfrm>
            <a:off x="7863773" y="5105435"/>
            <a:ext cx="2627761" cy="1107008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550" name="Google Shape;1425;p56"/>
          <p:cNvGraphicFramePr/>
          <p:nvPr>
            <p:extLst>
              <p:ext uri="{D42A27DB-BD31-4B8C-83A1-F6EECF244321}">
                <p14:modId xmlns:p14="http://schemas.microsoft.com/office/powerpoint/2010/main" val="3174305869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NIMP.E.3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/>
                        <a:t>0.18</a:t>
                      </a:r>
                      <a:r>
                        <a:rPr sz="1800" b="0">
                          <a:solidFill>
                            <a:schemeClr val="dk1"/>
                          </a:solidFill>
                        </a:rPr>
                        <a:t>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N+ Implant to gate side enclosure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51" name="Google Shape;1426;p56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552" name="Google Shape;1429;p56"/>
          <p:cNvCxnSpPr/>
          <p:nvPr/>
        </p:nvCxnSpPr>
        <p:spPr>
          <a:xfrm>
            <a:off x="8747210" y="2797823"/>
            <a:ext cx="0" cy="2327416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53" name="Google Shape;1430;p56"/>
          <p:cNvCxnSpPr/>
          <p:nvPr/>
        </p:nvCxnSpPr>
        <p:spPr>
          <a:xfrm>
            <a:off x="9690186" y="2804174"/>
            <a:ext cx="0" cy="2327416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431" name="Google Shape;1431;p56">
            <a:extLst>
              <a:ext uri="{FF2B5EF4-FFF2-40B4-BE49-F238E27FC236}">
                <a16:creationId xmlns:a16="http://schemas.microsoft.com/office/drawing/2014/main" id="{87AE5BD3-18A2-4298-8053-2BB6E9CB128B}"/>
              </a:ext>
            </a:extLst>
          </p:cNvPr>
          <p:cNvSpPr>
            <a:spLocks noGrp="1"/>
          </p:cNvSpPr>
          <p:nvPr/>
        </p:nvSpPr>
        <p:spPr>
          <a:xfrm>
            <a:off x="9692341" y="5100344"/>
            <a:ext cx="801349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cxnSp>
        <p:nvCxnSpPr>
          <p:cNvPr id="1555" name="Google Shape;1432;p56"/>
          <p:cNvCxnSpPr/>
          <p:nvPr/>
        </p:nvCxnSpPr>
        <p:spPr>
          <a:xfrm>
            <a:off x="9321886" y="2794654"/>
            <a:ext cx="0" cy="2327416"/>
          </a:xfrm>
          <a:prstGeom prst="straightConnector1">
            <a:avLst/>
          </a:prstGeom>
          <a:ln w="9525" cap="flat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56" name="Google Shape;1433;p56"/>
          <p:cNvCxnSpPr/>
          <p:nvPr/>
        </p:nvCxnSpPr>
        <p:spPr>
          <a:xfrm>
            <a:off x="9124065" y="2794654"/>
            <a:ext cx="0" cy="2327416"/>
          </a:xfrm>
          <a:prstGeom prst="straightConnector1">
            <a:avLst/>
          </a:prstGeom>
          <a:ln w="9525" cap="flat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57" name="Google Shape;1434;p56"/>
          <p:cNvCxnSpPr/>
          <p:nvPr/>
        </p:nvCxnSpPr>
        <p:spPr>
          <a:xfrm>
            <a:off x="8784228" y="2795706"/>
            <a:ext cx="0" cy="2327416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58" name="Google Shape;1435;p56"/>
          <p:cNvCxnSpPr/>
          <p:nvPr/>
        </p:nvCxnSpPr>
        <p:spPr>
          <a:xfrm>
            <a:off x="9654178" y="2804174"/>
            <a:ext cx="0" cy="2327416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436" name="Google Shape;1436;p56">
            <a:extLst>
              <a:ext uri="{FF2B5EF4-FFF2-40B4-BE49-F238E27FC236}">
                <a16:creationId xmlns:a16="http://schemas.microsoft.com/office/drawing/2014/main" id="{4F591CB4-18F4-49FB-9A9A-1ABB6EC474F3}"/>
              </a:ext>
            </a:extLst>
          </p:cNvPr>
          <p:cNvSpPr>
            <a:spLocks noGrp="1"/>
          </p:cNvSpPr>
          <p:nvPr/>
        </p:nvSpPr>
        <p:spPr>
          <a:xfrm>
            <a:off x="7862700" y="5100345"/>
            <a:ext cx="882354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437" name="Google Shape;1437;p56">
            <a:extLst>
              <a:ext uri="{FF2B5EF4-FFF2-40B4-BE49-F238E27FC236}">
                <a16:creationId xmlns:a16="http://schemas.microsoft.com/office/drawing/2014/main" id="{83B6B084-AFC2-44BA-92A9-CC4EFC49CD0B}"/>
              </a:ext>
            </a:extLst>
          </p:cNvPr>
          <p:cNvSpPr>
            <a:spLocks noGrp="1"/>
          </p:cNvSpPr>
          <p:nvPr/>
        </p:nvSpPr>
        <p:spPr>
          <a:xfrm>
            <a:off x="8747310" y="5056677"/>
            <a:ext cx="942876" cy="46212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1438" name="Google Shape;1438;p56">
            <a:extLst>
              <a:ext uri="{FF2B5EF4-FFF2-40B4-BE49-F238E27FC236}">
                <a16:creationId xmlns:a16="http://schemas.microsoft.com/office/drawing/2014/main" id="{CDA13474-8507-46CC-AFE3-56935BE579F4}"/>
              </a:ext>
            </a:extLst>
          </p:cNvPr>
          <p:cNvSpPr>
            <a:spLocks noGrp="1"/>
          </p:cNvSpPr>
          <p:nvPr/>
        </p:nvSpPr>
        <p:spPr>
          <a:xfrm>
            <a:off x="8749364" y="5097547"/>
            <a:ext cx="371524" cy="14352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1439" name="Google Shape;1439;p56">
            <a:extLst>
              <a:ext uri="{FF2B5EF4-FFF2-40B4-BE49-F238E27FC236}">
                <a16:creationId xmlns:a16="http://schemas.microsoft.com/office/drawing/2014/main" id="{5B6B4A47-6FC2-4E4C-9621-39B337A4798D}"/>
              </a:ext>
            </a:extLst>
          </p:cNvPr>
          <p:cNvSpPr>
            <a:spLocks noGrp="1"/>
          </p:cNvSpPr>
          <p:nvPr/>
        </p:nvSpPr>
        <p:spPr>
          <a:xfrm>
            <a:off x="9325118" y="5100343"/>
            <a:ext cx="362910" cy="14352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cxnSp>
        <p:nvCxnSpPr>
          <p:cNvPr id="1563" name="Google Shape;1440;p56"/>
          <p:cNvCxnSpPr/>
          <p:nvPr/>
        </p:nvCxnSpPr>
        <p:spPr>
          <a:xfrm>
            <a:off x="8784228" y="4683987"/>
            <a:ext cx="336660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441" name="Google Shape;1441;p56">
            <a:extLst>
              <a:ext uri="{FF2B5EF4-FFF2-40B4-BE49-F238E27FC236}">
                <a16:creationId xmlns:a16="http://schemas.microsoft.com/office/drawing/2014/main" id="{266A7147-E989-45CF-95B6-AC984F24B880}"/>
              </a:ext>
            </a:extLst>
          </p:cNvPr>
          <p:cNvSpPr>
            <a:spLocks noGrp="1"/>
          </p:cNvSpPr>
          <p:nvPr/>
        </p:nvSpPr>
        <p:spPr>
          <a:xfrm>
            <a:off x="847798" y="1610731"/>
            <a:ext cx="51825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Gate 주변 Source/Drain 형성 보장을 위한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 enclosure</a:t>
            </a:r>
          </a:p>
        </p:txBody>
      </p:sp>
      <p:cxnSp>
        <p:nvCxnSpPr>
          <p:cNvPr id="1565" name="Google Shape;1442;p56"/>
          <p:cNvCxnSpPr/>
          <p:nvPr/>
        </p:nvCxnSpPr>
        <p:spPr>
          <a:xfrm>
            <a:off x="3846993" y="3178649"/>
            <a:ext cx="0" cy="1980000"/>
          </a:xfrm>
          <a:prstGeom prst="straightConnector1">
            <a:avLst/>
          </a:prstGeom>
          <a:ln w="9525" cap="flat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66" name="Google Shape;1443;p56"/>
          <p:cNvCxnSpPr/>
          <p:nvPr/>
        </p:nvCxnSpPr>
        <p:spPr>
          <a:xfrm>
            <a:off x="3473289" y="3186049"/>
            <a:ext cx="0" cy="1980000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444" name="Google Shape;1444;p56">
            <a:extLst>
              <a:ext uri="{FF2B5EF4-FFF2-40B4-BE49-F238E27FC236}">
                <a16:creationId xmlns:a16="http://schemas.microsoft.com/office/drawing/2014/main" id="{4042AF46-BF84-429F-82BB-ADEB9416B0D2}"/>
              </a:ext>
            </a:extLst>
          </p:cNvPr>
          <p:cNvSpPr>
            <a:spLocks noGrp="1"/>
          </p:cNvSpPr>
          <p:nvPr/>
        </p:nvSpPr>
        <p:spPr>
          <a:xfrm>
            <a:off x="3342624" y="2787690"/>
            <a:ext cx="6350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</a:t>
            </a:r>
          </a:p>
        </p:txBody>
      </p:sp>
      <p:cxnSp>
        <p:nvCxnSpPr>
          <p:cNvPr id="1568" name="Google Shape;1445;p56"/>
          <p:cNvCxnSpPr/>
          <p:nvPr/>
        </p:nvCxnSpPr>
        <p:spPr>
          <a:xfrm>
            <a:off x="3473314" y="3198693"/>
            <a:ext cx="373679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447" name="Google Shape;1447;p56">
            <a:extLst>
              <a:ext uri="{FF2B5EF4-FFF2-40B4-BE49-F238E27FC236}">
                <a16:creationId xmlns:a16="http://schemas.microsoft.com/office/drawing/2014/main" id="{649E67FC-F85D-4B50-ACAC-5A3FAA64663F}"/>
              </a:ext>
            </a:extLst>
          </p:cNvPr>
          <p:cNvSpPr>
            <a:spLocks noGrp="1"/>
          </p:cNvSpPr>
          <p:nvPr/>
        </p:nvSpPr>
        <p:spPr>
          <a:xfrm>
            <a:off x="8712023" y="4328366"/>
            <a:ext cx="471013" cy="23278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56">
            <a:extLst>
              <a:ext uri="{FF2B5EF4-FFF2-40B4-BE49-F238E27FC236}">
                <a16:creationId xmlns:a16="http://schemas.microsoft.com/office/drawing/2014/main" id="{70FCD2C4-2EC4-47CA-A9D8-6851E75BFA96}"/>
              </a:ext>
            </a:extLst>
          </p:cNvPr>
          <p:cNvSpPr>
            <a:spLocks noGrp="1"/>
          </p:cNvSpPr>
          <p:nvPr/>
        </p:nvSpPr>
        <p:spPr>
          <a:xfrm>
            <a:off x="8566477" y="4248908"/>
            <a:ext cx="77216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</a:t>
            </a:r>
          </a:p>
        </p:txBody>
      </p:sp>
      <p:sp>
        <p:nvSpPr>
          <p:cNvPr id="1543" name="Slide 5 copied left comparison heading">
            <a:extLst>
              <a:ext uri="{FF2B5EF4-FFF2-40B4-BE49-F238E27FC236}">
                <a16:creationId xmlns:a16="http://schemas.microsoft.com/office/drawing/2014/main" id="{E24245F6-3DFC-4B0D-9E0E-05ED07099DFB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544" name="Slide 5 copied right comparison heading">
            <a:extLst>
              <a:ext uri="{FF2B5EF4-FFF2-40B4-BE49-F238E27FC236}">
                <a16:creationId xmlns:a16="http://schemas.microsoft.com/office/drawing/2014/main" id="{E0A35F4F-1FE4-461F-8583-DDD64074A5B9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2738455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5" name="Google Shape;1453;p5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92" y="2397069"/>
            <a:ext cx="2418408" cy="1150906"/>
          </a:xfrm>
          <a:prstGeom prst="rect">
            <a:avLst/>
          </a:prstGeom>
          <a:ln>
            <a:noFill/>
          </a:ln>
        </p:spPr>
      </p:pic>
      <p:pic>
        <p:nvPicPr>
          <p:cNvPr id="1576" name="Google Shape;1454;p57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292" y="3892401"/>
            <a:ext cx="3660836" cy="2709736"/>
          </a:xfrm>
          <a:prstGeom prst="rect">
            <a:avLst/>
          </a:prstGeom>
          <a:ln>
            <a:noFill/>
          </a:ln>
        </p:spPr>
      </p:pic>
      <p:pic>
        <p:nvPicPr>
          <p:cNvPr id="1577" name="Google Shape;1455;p57"/>
          <p:cNvPicPr>
            <a:picLocks noChangeAspect="1"/>
          </p:cNvPicPr>
          <p:nvPr/>
        </p:nvPicPr>
        <p:blipFill rotWithShape="1">
          <a:blip r:embed="rId4">
            <a:alphaModFix/>
          </a:blip>
          <a:srcRect l="27733"/>
          <a:stretch/>
        </p:blipFill>
        <p:spPr>
          <a:xfrm>
            <a:off x="7918163" y="1835223"/>
            <a:ext cx="2405451" cy="2463799"/>
          </a:xfrm>
          <a:prstGeom prst="rect">
            <a:avLst/>
          </a:prstGeom>
          <a:ln>
            <a:noFill/>
          </a:ln>
        </p:spPr>
      </p:pic>
      <p:graphicFrame>
        <p:nvGraphicFramePr>
          <p:cNvPr id="1578" name="Google Shape;1456;p57"/>
          <p:cNvGraphicFramePr/>
          <p:nvPr>
            <p:extLst>
              <p:ext uri="{D42A27DB-BD31-4B8C-83A1-F6EECF244321}">
                <p14:modId xmlns:p14="http://schemas.microsoft.com/office/powerpoint/2010/main" val="3334062692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NIMP.SE.2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0.02</a:t>
                      </a:r>
                      <a:r>
                        <a:rPr sz="1800" b="0" dirty="0">
                          <a:solidFill>
                            <a:schemeClr val="dk1"/>
                          </a:solidFill>
                        </a:rPr>
                        <a:t>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N+ Implant to P+ Active Area (substrate tie)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579" name="Google Shape;1457;p57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460" name="Google Shape;1460;p57">
            <a:extLst>
              <a:ext uri="{FF2B5EF4-FFF2-40B4-BE49-F238E27FC236}">
                <a16:creationId xmlns:a16="http://schemas.microsoft.com/office/drawing/2014/main" id="{E8CB81A8-9CDD-49CC-9681-51F38D184B43}"/>
              </a:ext>
            </a:extLst>
          </p:cNvPr>
          <p:cNvSpPr>
            <a:spLocks noGrp="1"/>
          </p:cNvSpPr>
          <p:nvPr/>
        </p:nvSpPr>
        <p:spPr>
          <a:xfrm>
            <a:off x="7572416" y="5110423"/>
            <a:ext cx="3321410" cy="1107006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1" name="Google Shape;1461;p57">
            <a:extLst>
              <a:ext uri="{FF2B5EF4-FFF2-40B4-BE49-F238E27FC236}">
                <a16:creationId xmlns:a16="http://schemas.microsoft.com/office/drawing/2014/main" id="{E40A57EF-3A64-4AF7-ABE4-DCACA0DEB120}"/>
              </a:ext>
            </a:extLst>
          </p:cNvPr>
          <p:cNvSpPr>
            <a:spLocks noGrp="1"/>
          </p:cNvSpPr>
          <p:nvPr/>
        </p:nvSpPr>
        <p:spPr>
          <a:xfrm>
            <a:off x="7572415" y="5083342"/>
            <a:ext cx="1077893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462" name="Google Shape;1462;p57">
            <a:extLst>
              <a:ext uri="{FF2B5EF4-FFF2-40B4-BE49-F238E27FC236}">
                <a16:creationId xmlns:a16="http://schemas.microsoft.com/office/drawing/2014/main" id="{719185CE-9CAA-455F-9562-84289206DDB4}"/>
              </a:ext>
            </a:extLst>
          </p:cNvPr>
          <p:cNvSpPr>
            <a:spLocks noGrp="1"/>
          </p:cNvSpPr>
          <p:nvPr/>
        </p:nvSpPr>
        <p:spPr>
          <a:xfrm>
            <a:off x="9450412" y="5083342"/>
            <a:ext cx="1443411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cxnSp>
        <p:nvCxnSpPr>
          <p:cNvPr id="1583" name="Google Shape;1463;p57"/>
          <p:cNvCxnSpPr/>
          <p:nvPr/>
        </p:nvCxnSpPr>
        <p:spPr>
          <a:xfrm>
            <a:off x="8655136" y="2763973"/>
            <a:ext cx="0" cy="2327416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84" name="Google Shape;1464;p57"/>
          <p:cNvCxnSpPr/>
          <p:nvPr/>
        </p:nvCxnSpPr>
        <p:spPr>
          <a:xfrm>
            <a:off x="9455236" y="2763973"/>
            <a:ext cx="0" cy="2327416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85" name="Google Shape;1465;p57"/>
          <p:cNvCxnSpPr/>
          <p:nvPr/>
        </p:nvCxnSpPr>
        <p:spPr>
          <a:xfrm>
            <a:off x="9486961" y="2783007"/>
            <a:ext cx="0" cy="2327416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86" name="Google Shape;1466;p57"/>
          <p:cNvCxnSpPr/>
          <p:nvPr/>
        </p:nvCxnSpPr>
        <p:spPr>
          <a:xfrm>
            <a:off x="8405677" y="3121343"/>
            <a:ext cx="0" cy="1962000"/>
          </a:xfrm>
          <a:prstGeom prst="straightConnector1">
            <a:avLst/>
          </a:prstGeom>
          <a:ln w="9525" cap="flat">
            <a:solidFill>
              <a:srgbClr val="C0000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467" name="Google Shape;1467;p57">
            <a:extLst>
              <a:ext uri="{FF2B5EF4-FFF2-40B4-BE49-F238E27FC236}">
                <a16:creationId xmlns:a16="http://schemas.microsoft.com/office/drawing/2014/main" id="{320A77BC-6DCA-490A-9E53-6FD7A2A8D6A6}"/>
              </a:ext>
            </a:extLst>
          </p:cNvPr>
          <p:cNvSpPr>
            <a:spLocks noGrp="1"/>
          </p:cNvSpPr>
          <p:nvPr/>
        </p:nvSpPr>
        <p:spPr>
          <a:xfrm>
            <a:off x="8650309" y="5082842"/>
            <a:ext cx="804927" cy="1526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P+</a:t>
            </a:r>
          </a:p>
        </p:txBody>
      </p:sp>
      <p:sp>
        <p:nvSpPr>
          <p:cNvPr id="1468" name="Google Shape;1468;p57">
            <a:extLst>
              <a:ext uri="{FF2B5EF4-FFF2-40B4-BE49-F238E27FC236}">
                <a16:creationId xmlns:a16="http://schemas.microsoft.com/office/drawing/2014/main" id="{163BB680-506C-4FDC-B8D2-89730EB4309C}"/>
              </a:ext>
            </a:extLst>
          </p:cNvPr>
          <p:cNvSpPr>
            <a:spLocks noGrp="1"/>
          </p:cNvSpPr>
          <p:nvPr/>
        </p:nvSpPr>
        <p:spPr>
          <a:xfrm>
            <a:off x="8650308" y="5037122"/>
            <a:ext cx="804923" cy="45719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1469" name="Google Shape;1469;p57">
            <a:extLst>
              <a:ext uri="{FF2B5EF4-FFF2-40B4-BE49-F238E27FC236}">
                <a16:creationId xmlns:a16="http://schemas.microsoft.com/office/drawing/2014/main" id="{E916A4CB-A650-43D8-BB79-18F499E86F0B}"/>
              </a:ext>
            </a:extLst>
          </p:cNvPr>
          <p:cNvSpPr>
            <a:spLocks noGrp="1"/>
          </p:cNvSpPr>
          <p:nvPr/>
        </p:nvSpPr>
        <p:spPr>
          <a:xfrm>
            <a:off x="9363917" y="4610101"/>
            <a:ext cx="246088" cy="10615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0" name="Google Shape;1470;p57">
            <a:extLst>
              <a:ext uri="{FF2B5EF4-FFF2-40B4-BE49-F238E27FC236}">
                <a16:creationId xmlns:a16="http://schemas.microsoft.com/office/drawing/2014/main" id="{74100349-6DFA-4488-B1ED-DBAB19AD3E21}"/>
              </a:ext>
            </a:extLst>
          </p:cNvPr>
          <p:cNvSpPr>
            <a:spLocks noGrp="1"/>
          </p:cNvSpPr>
          <p:nvPr/>
        </p:nvSpPr>
        <p:spPr>
          <a:xfrm>
            <a:off x="847798" y="1610731"/>
            <a:ext cx="518250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 Tie의 안정적인 기판 전위 유지를 위한 최소 space</a:t>
            </a:r>
          </a:p>
        </p:txBody>
      </p:sp>
      <p:cxnSp>
        <p:nvCxnSpPr>
          <p:cNvPr id="1591" name="Google Shape;1471;p57"/>
          <p:cNvCxnSpPr/>
          <p:nvPr/>
        </p:nvCxnSpPr>
        <p:spPr>
          <a:xfrm>
            <a:off x="9348610" y="4904123"/>
            <a:ext cx="23071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473" name="Google Shape;1473;p57">
            <a:extLst>
              <a:ext uri="{FF2B5EF4-FFF2-40B4-BE49-F238E27FC236}">
                <a16:creationId xmlns:a16="http://schemas.microsoft.com/office/drawing/2014/main" id="{89CD1C51-156F-4972-8E36-C54C76961854}"/>
              </a:ext>
            </a:extLst>
          </p:cNvPr>
          <p:cNvSpPr>
            <a:spLocks noGrp="1"/>
          </p:cNvSpPr>
          <p:nvPr/>
        </p:nvSpPr>
        <p:spPr>
          <a:xfrm>
            <a:off x="9172613" y="4549309"/>
            <a:ext cx="566253" cy="291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4" name="Google Shape;1474;p57">
            <a:extLst>
              <a:ext uri="{FF2B5EF4-FFF2-40B4-BE49-F238E27FC236}">
                <a16:creationId xmlns:a16="http://schemas.microsoft.com/office/drawing/2014/main" id="{AD1CF8CD-86FF-4B6E-A8E7-7421D48C1BAA}"/>
              </a:ext>
            </a:extLst>
          </p:cNvPr>
          <p:cNvSpPr>
            <a:spLocks noGrp="1"/>
          </p:cNvSpPr>
          <p:nvPr/>
        </p:nvSpPr>
        <p:spPr>
          <a:xfrm>
            <a:off x="9106837" y="4477740"/>
            <a:ext cx="760248" cy="396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0.02</a:t>
            </a:r>
          </a:p>
        </p:txBody>
      </p:sp>
      <p:cxnSp>
        <p:nvCxnSpPr>
          <p:cNvPr id="1594" name="Google Shape;1475;p57"/>
          <p:cNvCxnSpPr/>
          <p:nvPr/>
        </p:nvCxnSpPr>
        <p:spPr>
          <a:xfrm>
            <a:off x="3219536" y="3198656"/>
            <a:ext cx="0" cy="1980000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595" name="Google Shape;1476;p57"/>
          <p:cNvCxnSpPr/>
          <p:nvPr/>
        </p:nvCxnSpPr>
        <p:spPr>
          <a:xfrm>
            <a:off x="3257611" y="3198656"/>
            <a:ext cx="0" cy="1980000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477" name="Google Shape;1477;p57">
            <a:extLst>
              <a:ext uri="{FF2B5EF4-FFF2-40B4-BE49-F238E27FC236}">
                <a16:creationId xmlns:a16="http://schemas.microsoft.com/office/drawing/2014/main" id="{6CA6A5C5-BCF6-409F-B29C-07CF909A4D8D}"/>
              </a:ext>
            </a:extLst>
          </p:cNvPr>
          <p:cNvSpPr>
            <a:spLocks noGrp="1"/>
          </p:cNvSpPr>
          <p:nvPr/>
        </p:nvSpPr>
        <p:spPr>
          <a:xfrm>
            <a:off x="3133962" y="2934223"/>
            <a:ext cx="246088" cy="10615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97" name="Google Shape;1478;p57"/>
          <p:cNvCxnSpPr/>
          <p:nvPr/>
        </p:nvCxnSpPr>
        <p:spPr>
          <a:xfrm>
            <a:off x="3127611" y="3204960"/>
            <a:ext cx="230716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480" name="Google Shape;1480;p57">
            <a:extLst>
              <a:ext uri="{FF2B5EF4-FFF2-40B4-BE49-F238E27FC236}">
                <a16:creationId xmlns:a16="http://schemas.microsoft.com/office/drawing/2014/main" id="{264B91E2-F9D8-4B26-9A37-C4CF9B740496}"/>
              </a:ext>
            </a:extLst>
          </p:cNvPr>
          <p:cNvSpPr>
            <a:spLocks noGrp="1"/>
          </p:cNvSpPr>
          <p:nvPr/>
        </p:nvSpPr>
        <p:spPr>
          <a:xfrm>
            <a:off x="2942658" y="2860474"/>
            <a:ext cx="566253" cy="291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p57">
            <a:extLst>
              <a:ext uri="{FF2B5EF4-FFF2-40B4-BE49-F238E27FC236}">
                <a16:creationId xmlns:a16="http://schemas.microsoft.com/office/drawing/2014/main" id="{FCF37B0D-439D-49C7-B8D9-5120990E2149}"/>
              </a:ext>
            </a:extLst>
          </p:cNvPr>
          <p:cNvSpPr>
            <a:spLocks noGrp="1"/>
          </p:cNvSpPr>
          <p:nvPr/>
        </p:nvSpPr>
        <p:spPr>
          <a:xfrm>
            <a:off x="2876882" y="2788905"/>
            <a:ext cx="760248" cy="396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0.02</a:t>
            </a:r>
          </a:p>
        </p:txBody>
      </p:sp>
      <p:sp>
        <p:nvSpPr>
          <p:cNvPr id="1573" name="Slide 5 copied left comparison heading">
            <a:extLst>
              <a:ext uri="{FF2B5EF4-FFF2-40B4-BE49-F238E27FC236}">
                <a16:creationId xmlns:a16="http://schemas.microsoft.com/office/drawing/2014/main" id="{F3956A4F-6252-4DEE-84E1-DE683AF23A35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574" name="Slide 5 copied right comparison heading">
            <a:extLst>
              <a:ext uri="{FF2B5EF4-FFF2-40B4-BE49-F238E27FC236}">
                <a16:creationId xmlns:a16="http://schemas.microsoft.com/office/drawing/2014/main" id="{D2D5015A-B2DE-4E27-9DD1-38A537E40338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2507071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" name="Google Shape;1486;p5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5235" y="2252353"/>
            <a:ext cx="1757603" cy="1599760"/>
          </a:xfrm>
          <a:prstGeom prst="rect">
            <a:avLst/>
          </a:prstGeom>
          <a:ln>
            <a:noFill/>
          </a:ln>
        </p:spPr>
      </p:pic>
      <p:graphicFrame>
        <p:nvGraphicFramePr>
          <p:cNvPr id="1608" name="Google Shape;1487;p58"/>
          <p:cNvGraphicFramePr/>
          <p:nvPr>
            <p:extLst>
              <p:ext uri="{D42A27DB-BD31-4B8C-83A1-F6EECF244321}">
                <p14:modId xmlns:p14="http://schemas.microsoft.com/office/powerpoint/2010/main" val="3138450080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NIMP.E.4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0.18</a:t>
                      </a:r>
                      <a:r>
                        <a:rPr sz="1800" b="0" dirty="0">
                          <a:solidFill>
                            <a:schemeClr val="dk1"/>
                          </a:solidFill>
                        </a:rPr>
                        <a:t>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N+ to gate (endcap) enclosure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09" name="Google Shape;1488;p58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491" name="Google Shape;1491;p58">
            <a:extLst>
              <a:ext uri="{FF2B5EF4-FFF2-40B4-BE49-F238E27FC236}">
                <a16:creationId xmlns:a16="http://schemas.microsoft.com/office/drawing/2014/main" id="{9AAD2F64-6427-4F80-BEDF-B44F3FDE731F}"/>
              </a:ext>
            </a:extLst>
          </p:cNvPr>
          <p:cNvSpPr>
            <a:spLocks noGrp="1"/>
          </p:cNvSpPr>
          <p:nvPr/>
        </p:nvSpPr>
        <p:spPr>
          <a:xfrm>
            <a:off x="7585399" y="5083343"/>
            <a:ext cx="3321410" cy="1107006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2" name="Google Shape;1492;p58">
            <a:extLst>
              <a:ext uri="{FF2B5EF4-FFF2-40B4-BE49-F238E27FC236}">
                <a16:creationId xmlns:a16="http://schemas.microsoft.com/office/drawing/2014/main" id="{525D9444-2324-4A73-BB53-99491DAA4E6F}"/>
              </a:ext>
            </a:extLst>
          </p:cNvPr>
          <p:cNvSpPr>
            <a:spLocks noGrp="1"/>
          </p:cNvSpPr>
          <p:nvPr/>
        </p:nvSpPr>
        <p:spPr>
          <a:xfrm>
            <a:off x="7585399" y="5083342"/>
            <a:ext cx="984967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493" name="Google Shape;1493;p58">
            <a:extLst>
              <a:ext uri="{FF2B5EF4-FFF2-40B4-BE49-F238E27FC236}">
                <a16:creationId xmlns:a16="http://schemas.microsoft.com/office/drawing/2014/main" id="{EFF9D736-8553-4D0A-90B9-02D4C2178654}"/>
              </a:ext>
            </a:extLst>
          </p:cNvPr>
          <p:cNvSpPr>
            <a:spLocks noGrp="1"/>
          </p:cNvSpPr>
          <p:nvPr/>
        </p:nvSpPr>
        <p:spPr>
          <a:xfrm>
            <a:off x="9685952" y="5083343"/>
            <a:ext cx="1220858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pic>
        <p:nvPicPr>
          <p:cNvPr id="1613" name="Google Shape;1494;p5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8130134" y="1618788"/>
            <a:ext cx="1981511" cy="2293250"/>
          </a:xfrm>
          <a:prstGeom prst="rect">
            <a:avLst/>
          </a:prstGeom>
          <a:ln>
            <a:noFill/>
          </a:ln>
        </p:spPr>
      </p:pic>
      <p:cxnSp>
        <p:nvCxnSpPr>
          <p:cNvPr id="1614" name="Google Shape;1495;p58"/>
          <p:cNvCxnSpPr/>
          <p:nvPr/>
        </p:nvCxnSpPr>
        <p:spPr>
          <a:xfrm>
            <a:off x="8574703" y="2984500"/>
            <a:ext cx="0" cy="2098843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15" name="Google Shape;1496;p58"/>
          <p:cNvCxnSpPr/>
          <p:nvPr/>
        </p:nvCxnSpPr>
        <p:spPr>
          <a:xfrm>
            <a:off x="9685953" y="2984500"/>
            <a:ext cx="0" cy="2098843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16" name="Google Shape;1497;p58"/>
          <p:cNvCxnSpPr/>
          <p:nvPr/>
        </p:nvCxnSpPr>
        <p:spPr>
          <a:xfrm>
            <a:off x="8057265" y="2755926"/>
            <a:ext cx="0" cy="2327416"/>
          </a:xfrm>
          <a:prstGeom prst="straightConnector1">
            <a:avLst/>
          </a:prstGeom>
          <a:ln w="9525" cap="flat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17" name="Google Shape;1498;p58"/>
          <p:cNvCxnSpPr/>
          <p:nvPr/>
        </p:nvCxnSpPr>
        <p:spPr>
          <a:xfrm>
            <a:off x="10228965" y="2782861"/>
            <a:ext cx="0" cy="2327416"/>
          </a:xfrm>
          <a:prstGeom prst="straightConnector1">
            <a:avLst/>
          </a:prstGeom>
          <a:ln w="9525" cap="flat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18" name="Google Shape;1499;p58"/>
          <p:cNvCxnSpPr/>
          <p:nvPr/>
        </p:nvCxnSpPr>
        <p:spPr>
          <a:xfrm>
            <a:off x="8183094" y="3052233"/>
            <a:ext cx="0" cy="2058044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19" name="Google Shape;1500;p58"/>
          <p:cNvCxnSpPr/>
          <p:nvPr/>
        </p:nvCxnSpPr>
        <p:spPr>
          <a:xfrm>
            <a:off x="10075394" y="3025298"/>
            <a:ext cx="0" cy="2058044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01" name="Google Shape;1501;p58">
            <a:extLst>
              <a:ext uri="{FF2B5EF4-FFF2-40B4-BE49-F238E27FC236}">
                <a16:creationId xmlns:a16="http://schemas.microsoft.com/office/drawing/2014/main" id="{EBE17794-B24C-4CB1-BFCB-967C45834C1D}"/>
              </a:ext>
            </a:extLst>
          </p:cNvPr>
          <p:cNvSpPr>
            <a:spLocks noGrp="1"/>
          </p:cNvSpPr>
          <p:nvPr/>
        </p:nvSpPr>
        <p:spPr>
          <a:xfrm>
            <a:off x="8054307" y="4752475"/>
            <a:ext cx="2174654" cy="330868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21" name="Google Shape;1502;p58"/>
          <p:cNvCxnSpPr/>
          <p:nvPr/>
        </p:nvCxnSpPr>
        <p:spPr>
          <a:xfrm>
            <a:off x="8183094" y="4466865"/>
            <a:ext cx="391609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1622" name="Google Shape;1503;p58"/>
          <p:cNvCxnSpPr/>
          <p:nvPr/>
        </p:nvCxnSpPr>
        <p:spPr>
          <a:xfrm>
            <a:off x="9685952" y="4470817"/>
            <a:ext cx="391609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504" name="Google Shape;1504;p58">
            <a:extLst>
              <a:ext uri="{FF2B5EF4-FFF2-40B4-BE49-F238E27FC236}">
                <a16:creationId xmlns:a16="http://schemas.microsoft.com/office/drawing/2014/main" id="{15FCBAFB-B0E8-415F-B325-4E19218D574F}"/>
              </a:ext>
            </a:extLst>
          </p:cNvPr>
          <p:cNvSpPr>
            <a:spLocks noGrp="1"/>
          </p:cNvSpPr>
          <p:nvPr/>
        </p:nvSpPr>
        <p:spPr>
          <a:xfrm>
            <a:off x="8572535" y="5037621"/>
            <a:ext cx="1111251" cy="5760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1505" name="Google Shape;1505;p58">
            <a:extLst>
              <a:ext uri="{FF2B5EF4-FFF2-40B4-BE49-F238E27FC236}">
                <a16:creationId xmlns:a16="http://schemas.microsoft.com/office/drawing/2014/main" id="{759D7CD2-DB55-4EDD-B582-9E97BC16FA36}"/>
              </a:ext>
            </a:extLst>
          </p:cNvPr>
          <p:cNvSpPr>
            <a:spLocks noGrp="1"/>
          </p:cNvSpPr>
          <p:nvPr/>
        </p:nvSpPr>
        <p:spPr>
          <a:xfrm>
            <a:off x="847798" y="1610731"/>
            <a:ext cx="518250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Gate Endcap에서 안정적인 Source/Drain 형성을 위한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 Enclosure</a:t>
            </a:r>
          </a:p>
        </p:txBody>
      </p:sp>
      <p:pic>
        <p:nvPicPr>
          <p:cNvPr id="1625" name="Google Shape;1506;p58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5235" y="4005246"/>
            <a:ext cx="2617950" cy="2484046"/>
          </a:xfrm>
          <a:prstGeom prst="rect">
            <a:avLst/>
          </a:prstGeom>
          <a:ln>
            <a:noFill/>
          </a:ln>
        </p:spPr>
      </p:pic>
      <p:cxnSp>
        <p:nvCxnSpPr>
          <p:cNvPr id="1626" name="Google Shape;1507;p58"/>
          <p:cNvCxnSpPr/>
          <p:nvPr/>
        </p:nvCxnSpPr>
        <p:spPr>
          <a:xfrm>
            <a:off x="3183185" y="4032475"/>
            <a:ext cx="0" cy="1440000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27" name="Google Shape;1508;p58"/>
          <p:cNvCxnSpPr/>
          <p:nvPr/>
        </p:nvCxnSpPr>
        <p:spPr>
          <a:xfrm>
            <a:off x="3200110" y="3733885"/>
            <a:ext cx="0" cy="1440000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28" name="Google Shape;1509;p58"/>
          <p:cNvCxnSpPr/>
          <p:nvPr/>
        </p:nvCxnSpPr>
        <p:spPr>
          <a:xfrm rot="10800000">
            <a:off x="3834785" y="4448146"/>
            <a:ext cx="1163" cy="304329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510" name="Google Shape;1510;p58">
            <a:extLst>
              <a:ext uri="{FF2B5EF4-FFF2-40B4-BE49-F238E27FC236}">
                <a16:creationId xmlns:a16="http://schemas.microsoft.com/office/drawing/2014/main" id="{1D194571-98B7-424B-8260-A7F35F072A9C}"/>
              </a:ext>
            </a:extLst>
          </p:cNvPr>
          <p:cNvSpPr>
            <a:spLocks noGrp="1"/>
          </p:cNvSpPr>
          <p:nvPr/>
        </p:nvSpPr>
        <p:spPr>
          <a:xfrm>
            <a:off x="3865587" y="4401913"/>
            <a:ext cx="760248" cy="396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</a:t>
            </a:r>
          </a:p>
        </p:txBody>
      </p:sp>
      <p:sp>
        <p:nvSpPr>
          <p:cNvPr id="1512" name="Google Shape;1512;p58">
            <a:extLst>
              <a:ext uri="{FF2B5EF4-FFF2-40B4-BE49-F238E27FC236}">
                <a16:creationId xmlns:a16="http://schemas.microsoft.com/office/drawing/2014/main" id="{C373D9F7-518F-4FD2-A3B8-67B2ADE1227B}"/>
              </a:ext>
            </a:extLst>
          </p:cNvPr>
          <p:cNvSpPr>
            <a:spLocks noGrp="1"/>
          </p:cNvSpPr>
          <p:nvPr/>
        </p:nvSpPr>
        <p:spPr>
          <a:xfrm>
            <a:off x="8126339" y="4103069"/>
            <a:ext cx="486832" cy="262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3" name="Google Shape;1513;p58">
            <a:extLst>
              <a:ext uri="{FF2B5EF4-FFF2-40B4-BE49-F238E27FC236}">
                <a16:creationId xmlns:a16="http://schemas.microsoft.com/office/drawing/2014/main" id="{3CCB277F-2480-4BEC-8270-F8C9B9F76E52}"/>
              </a:ext>
            </a:extLst>
          </p:cNvPr>
          <p:cNvSpPr>
            <a:spLocks noGrp="1"/>
          </p:cNvSpPr>
          <p:nvPr/>
        </p:nvSpPr>
        <p:spPr>
          <a:xfrm>
            <a:off x="8039275" y="4035906"/>
            <a:ext cx="679246" cy="396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</a:t>
            </a:r>
          </a:p>
        </p:txBody>
      </p:sp>
      <p:sp>
        <p:nvSpPr>
          <p:cNvPr id="1515" name="Google Shape;1515;p58">
            <a:extLst>
              <a:ext uri="{FF2B5EF4-FFF2-40B4-BE49-F238E27FC236}">
                <a16:creationId xmlns:a16="http://schemas.microsoft.com/office/drawing/2014/main" id="{BDE14C39-1C24-477D-B1A9-86030DE1515B}"/>
              </a:ext>
            </a:extLst>
          </p:cNvPr>
          <p:cNvSpPr>
            <a:spLocks noGrp="1"/>
          </p:cNvSpPr>
          <p:nvPr/>
        </p:nvSpPr>
        <p:spPr>
          <a:xfrm>
            <a:off x="9629197" y="4103069"/>
            <a:ext cx="486832" cy="262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p58">
            <a:extLst>
              <a:ext uri="{FF2B5EF4-FFF2-40B4-BE49-F238E27FC236}">
                <a16:creationId xmlns:a16="http://schemas.microsoft.com/office/drawing/2014/main" id="{361DB648-59F1-4B0B-8CEE-3B1CE34419BF}"/>
              </a:ext>
            </a:extLst>
          </p:cNvPr>
          <p:cNvSpPr>
            <a:spLocks noGrp="1"/>
          </p:cNvSpPr>
          <p:nvPr/>
        </p:nvSpPr>
        <p:spPr>
          <a:xfrm>
            <a:off x="9542133" y="4035906"/>
            <a:ext cx="679246" cy="396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</a:t>
            </a:r>
          </a:p>
        </p:txBody>
      </p:sp>
      <p:sp>
        <p:nvSpPr>
          <p:cNvPr id="1605" name="Slide 5 copied left comparison heading">
            <a:extLst>
              <a:ext uri="{FF2B5EF4-FFF2-40B4-BE49-F238E27FC236}">
                <a16:creationId xmlns:a16="http://schemas.microsoft.com/office/drawing/2014/main" id="{C9EE1B61-6F64-44AF-8118-8C23822A07DF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606" name="Slide 5 copied right comparison heading">
            <a:extLst>
              <a:ext uri="{FF2B5EF4-FFF2-40B4-BE49-F238E27FC236}">
                <a16:creationId xmlns:a16="http://schemas.microsoft.com/office/drawing/2014/main" id="{D9D93BAA-3D2E-4E8B-BCE0-2831080C5690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0341685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3" name="Google Shape;1521;p59"/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1558" r="7563"/>
          <a:stretch/>
        </p:blipFill>
        <p:spPr>
          <a:xfrm>
            <a:off x="8115238" y="1774658"/>
            <a:ext cx="2255980" cy="1985089"/>
          </a:xfrm>
          <a:prstGeom prst="rect">
            <a:avLst/>
          </a:prstGeom>
          <a:ln>
            <a:noFill/>
          </a:ln>
        </p:spPr>
      </p:pic>
      <p:cxnSp>
        <p:nvCxnSpPr>
          <p:cNvPr id="1664" name="Google Shape;1522;p59"/>
          <p:cNvCxnSpPr/>
          <p:nvPr/>
        </p:nvCxnSpPr>
        <p:spPr>
          <a:xfrm>
            <a:off x="9089140" y="2661623"/>
            <a:ext cx="0" cy="2327416"/>
          </a:xfrm>
          <a:prstGeom prst="straightConnector1">
            <a:avLst/>
          </a:prstGeom>
          <a:ln w="9525" cap="flat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65" name="Google Shape;1523;p59"/>
          <p:cNvCxnSpPr/>
          <p:nvPr/>
        </p:nvCxnSpPr>
        <p:spPr>
          <a:xfrm>
            <a:off x="8997065" y="2789360"/>
            <a:ext cx="0" cy="2327416"/>
          </a:xfrm>
          <a:prstGeom prst="straightConnector1">
            <a:avLst/>
          </a:prstGeom>
          <a:ln w="9525" cap="flat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66" name="Google Shape;1524;p59"/>
          <p:cNvCxnSpPr/>
          <p:nvPr/>
        </p:nvCxnSpPr>
        <p:spPr>
          <a:xfrm>
            <a:off x="9258360" y="3268133"/>
            <a:ext cx="0" cy="1755943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67" name="Google Shape;1525;p59"/>
          <p:cNvCxnSpPr/>
          <p:nvPr/>
        </p:nvCxnSpPr>
        <p:spPr>
          <a:xfrm>
            <a:off x="9785518" y="3017933"/>
            <a:ext cx="0" cy="2098843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68" name="Google Shape;1526;p59"/>
          <p:cNvCxnSpPr/>
          <p:nvPr/>
        </p:nvCxnSpPr>
        <p:spPr>
          <a:xfrm>
            <a:off x="8705936" y="3017933"/>
            <a:ext cx="0" cy="2098843"/>
          </a:xfrm>
          <a:prstGeom prst="straightConnector1">
            <a:avLst/>
          </a:prstGeom>
          <a:ln w="9525" cap="flat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669" name="Google Shape;1527;p59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292" y="1980063"/>
            <a:ext cx="2465358" cy="1501716"/>
          </a:xfrm>
          <a:prstGeom prst="rect">
            <a:avLst/>
          </a:prstGeom>
          <a:ln>
            <a:noFill/>
          </a:ln>
        </p:spPr>
      </p:pic>
      <p:pic>
        <p:nvPicPr>
          <p:cNvPr id="1670" name="Google Shape;1528;p5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92" y="3673165"/>
            <a:ext cx="3378710" cy="2701821"/>
          </a:xfrm>
          <a:prstGeom prst="rect">
            <a:avLst/>
          </a:prstGeom>
          <a:ln>
            <a:noFill/>
          </a:ln>
        </p:spPr>
      </p:pic>
      <p:graphicFrame>
        <p:nvGraphicFramePr>
          <p:cNvPr id="1671" name="Google Shape;1529;p59"/>
          <p:cNvGraphicFramePr/>
          <p:nvPr>
            <p:extLst>
              <p:ext uri="{D42A27DB-BD31-4B8C-83A1-F6EECF244321}">
                <p14:modId xmlns:p14="http://schemas.microsoft.com/office/powerpoint/2010/main" val="3823782881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NIMP.SE.3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0.18</a:t>
                      </a:r>
                      <a:r>
                        <a:rPr sz="1800" b="0" dirty="0">
                          <a:solidFill>
                            <a:schemeClr val="dk1"/>
                          </a:solidFill>
                        </a:rPr>
                        <a:t>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N+ Implant to P+ gate side (butted Implant)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72" name="Google Shape;1530;p59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533" name="Google Shape;1533;p59">
            <a:extLst>
              <a:ext uri="{FF2B5EF4-FFF2-40B4-BE49-F238E27FC236}">
                <a16:creationId xmlns:a16="http://schemas.microsoft.com/office/drawing/2014/main" id="{6DAAB4ED-5B2C-43A9-9289-3A4623E66D24}"/>
              </a:ext>
            </a:extLst>
          </p:cNvPr>
          <p:cNvSpPr>
            <a:spLocks noGrp="1"/>
          </p:cNvSpPr>
          <p:nvPr/>
        </p:nvSpPr>
        <p:spPr>
          <a:xfrm>
            <a:off x="7534589" y="4989755"/>
            <a:ext cx="3321410" cy="1107006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4" name="Google Shape;1534;p59">
            <a:extLst>
              <a:ext uri="{FF2B5EF4-FFF2-40B4-BE49-F238E27FC236}">
                <a16:creationId xmlns:a16="http://schemas.microsoft.com/office/drawing/2014/main" id="{E004C83C-C7D1-478A-A168-4F7FDC93B89E}"/>
              </a:ext>
            </a:extLst>
          </p:cNvPr>
          <p:cNvSpPr>
            <a:spLocks noGrp="1"/>
          </p:cNvSpPr>
          <p:nvPr/>
        </p:nvSpPr>
        <p:spPr>
          <a:xfrm>
            <a:off x="8212062" y="4989039"/>
            <a:ext cx="2077545" cy="697733"/>
          </a:xfrm>
          <a:prstGeom prst="rect">
            <a:avLst/>
          </a:prstGeom>
          <a:solidFill>
            <a:srgbClr val="CDACE6"/>
          </a:solidFill>
          <a:ln w="12700" cmpd="sng">
            <a:solidFill>
              <a:srgbClr val="7030A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7030A0"/>
                </a:solidFill>
                <a:latin typeface="Malgun Gothic"/>
                <a:ea typeface="Malgun Gothic"/>
                <a:cs typeface="Malgun Gothic"/>
              </a:rPr>
              <a:t>    Nwell</a:t>
            </a:r>
          </a:p>
        </p:txBody>
      </p:sp>
      <p:cxnSp>
        <p:nvCxnSpPr>
          <p:cNvPr id="1675" name="Google Shape;1535;p59"/>
          <p:cNvCxnSpPr/>
          <p:nvPr/>
        </p:nvCxnSpPr>
        <p:spPr>
          <a:xfrm>
            <a:off x="8212063" y="2172774"/>
            <a:ext cx="0" cy="2763749"/>
          </a:xfrm>
          <a:prstGeom prst="straightConnector1">
            <a:avLst/>
          </a:prstGeom>
          <a:ln w="9525" cap="flat">
            <a:solidFill>
              <a:srgbClr val="7030A0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76" name="Google Shape;1536;p59"/>
          <p:cNvCxnSpPr/>
          <p:nvPr/>
        </p:nvCxnSpPr>
        <p:spPr>
          <a:xfrm>
            <a:off x="10289607" y="2204099"/>
            <a:ext cx="0" cy="2763749"/>
          </a:xfrm>
          <a:prstGeom prst="straightConnector1">
            <a:avLst/>
          </a:prstGeom>
          <a:ln w="9525" cap="flat">
            <a:solidFill>
              <a:srgbClr val="7030A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37" name="Google Shape;1537;p59">
            <a:extLst>
              <a:ext uri="{FF2B5EF4-FFF2-40B4-BE49-F238E27FC236}">
                <a16:creationId xmlns:a16="http://schemas.microsoft.com/office/drawing/2014/main" id="{983E3AAE-C33B-48A2-99FB-843241A3C573}"/>
              </a:ext>
            </a:extLst>
          </p:cNvPr>
          <p:cNvSpPr>
            <a:spLocks noGrp="1"/>
          </p:cNvSpPr>
          <p:nvPr/>
        </p:nvSpPr>
        <p:spPr>
          <a:xfrm>
            <a:off x="7533112" y="4981709"/>
            <a:ext cx="1172824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538" name="Google Shape;1538;p59">
            <a:extLst>
              <a:ext uri="{FF2B5EF4-FFF2-40B4-BE49-F238E27FC236}">
                <a16:creationId xmlns:a16="http://schemas.microsoft.com/office/drawing/2014/main" id="{83007F55-4516-441E-A0AC-40EE43730C0E}"/>
              </a:ext>
            </a:extLst>
          </p:cNvPr>
          <p:cNvSpPr>
            <a:spLocks noGrp="1"/>
          </p:cNvSpPr>
          <p:nvPr/>
        </p:nvSpPr>
        <p:spPr>
          <a:xfrm>
            <a:off x="8705203" y="4936523"/>
            <a:ext cx="1080314" cy="45719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1539" name="Google Shape;1539;p59">
            <a:extLst>
              <a:ext uri="{FF2B5EF4-FFF2-40B4-BE49-F238E27FC236}">
                <a16:creationId xmlns:a16="http://schemas.microsoft.com/office/drawing/2014/main" id="{98995F56-4D78-460C-BE17-B18188A79B4F}"/>
              </a:ext>
            </a:extLst>
          </p:cNvPr>
          <p:cNvSpPr>
            <a:spLocks noGrp="1"/>
          </p:cNvSpPr>
          <p:nvPr/>
        </p:nvSpPr>
        <p:spPr>
          <a:xfrm>
            <a:off x="9258360" y="4982899"/>
            <a:ext cx="560937" cy="1477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1540" name="Google Shape;1540;p59">
            <a:extLst>
              <a:ext uri="{FF2B5EF4-FFF2-40B4-BE49-F238E27FC236}">
                <a16:creationId xmlns:a16="http://schemas.microsoft.com/office/drawing/2014/main" id="{E3C00B01-277B-496C-A8D7-1EAE2AC497B6}"/>
              </a:ext>
            </a:extLst>
          </p:cNvPr>
          <p:cNvSpPr>
            <a:spLocks noGrp="1"/>
          </p:cNvSpPr>
          <p:nvPr/>
        </p:nvSpPr>
        <p:spPr>
          <a:xfrm>
            <a:off x="9793135" y="4981709"/>
            <a:ext cx="1062864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541" name="Google Shape;1541;p59">
            <a:extLst>
              <a:ext uri="{FF2B5EF4-FFF2-40B4-BE49-F238E27FC236}">
                <a16:creationId xmlns:a16="http://schemas.microsoft.com/office/drawing/2014/main" id="{33A83F18-BAFE-4DB1-89AB-DFB7DA9045F0}"/>
              </a:ext>
            </a:extLst>
          </p:cNvPr>
          <p:cNvSpPr>
            <a:spLocks noGrp="1"/>
          </p:cNvSpPr>
          <p:nvPr/>
        </p:nvSpPr>
        <p:spPr>
          <a:xfrm>
            <a:off x="8705935" y="4984226"/>
            <a:ext cx="290391" cy="1526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6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P+</a:t>
            </a:r>
          </a:p>
        </p:txBody>
      </p:sp>
      <p:sp>
        <p:nvSpPr>
          <p:cNvPr id="1542" name="Google Shape;1542;p59">
            <a:extLst>
              <a:ext uri="{FF2B5EF4-FFF2-40B4-BE49-F238E27FC236}">
                <a16:creationId xmlns:a16="http://schemas.microsoft.com/office/drawing/2014/main" id="{48782C5B-C894-4105-879B-D0816F00E8EE}"/>
              </a:ext>
            </a:extLst>
          </p:cNvPr>
          <p:cNvSpPr>
            <a:spLocks noGrp="1"/>
          </p:cNvSpPr>
          <p:nvPr/>
        </p:nvSpPr>
        <p:spPr>
          <a:xfrm>
            <a:off x="9088402" y="4980484"/>
            <a:ext cx="177681" cy="15266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59">
            <a:extLst>
              <a:ext uri="{FF2B5EF4-FFF2-40B4-BE49-F238E27FC236}">
                <a16:creationId xmlns:a16="http://schemas.microsoft.com/office/drawing/2014/main" id="{5FA3C85F-A31F-4A85-BC0C-82C1BC6DAE30}"/>
              </a:ext>
            </a:extLst>
          </p:cNvPr>
          <p:cNvSpPr>
            <a:spLocks noGrp="1"/>
          </p:cNvSpPr>
          <p:nvPr/>
        </p:nvSpPr>
        <p:spPr>
          <a:xfrm>
            <a:off x="8996326" y="4787942"/>
            <a:ext cx="98113" cy="148581"/>
          </a:xfrm>
          <a:prstGeom prst="rect">
            <a:avLst/>
          </a:prstGeom>
          <a:solidFill>
            <a:srgbClr val="C4E0B2"/>
          </a:solidFill>
          <a:ln w="12700" cmpd="sng">
            <a:solidFill>
              <a:schemeClr val="accent6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9">
            <a:extLst>
              <a:ext uri="{FF2B5EF4-FFF2-40B4-BE49-F238E27FC236}">
                <a16:creationId xmlns:a16="http://schemas.microsoft.com/office/drawing/2014/main" id="{6D9C3807-B6AB-4E4C-B1B1-CF3372DF59B0}"/>
              </a:ext>
            </a:extLst>
          </p:cNvPr>
          <p:cNvSpPr>
            <a:spLocks noGrp="1"/>
          </p:cNvSpPr>
          <p:nvPr/>
        </p:nvSpPr>
        <p:spPr>
          <a:xfrm>
            <a:off x="847798" y="1610731"/>
            <a:ext cx="51825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N+/P+ 도핑 간 간섭 방지를 위한 최소 space</a:t>
            </a:r>
          </a:p>
        </p:txBody>
      </p:sp>
      <p:cxnSp>
        <p:nvCxnSpPr>
          <p:cNvPr id="1685" name="Google Shape;1545;p59"/>
          <p:cNvCxnSpPr/>
          <p:nvPr/>
        </p:nvCxnSpPr>
        <p:spPr>
          <a:xfrm>
            <a:off x="1894591" y="3611563"/>
            <a:ext cx="0" cy="1257437"/>
          </a:xfrm>
          <a:prstGeom prst="straightConnector1">
            <a:avLst/>
          </a:prstGeom>
          <a:ln w="9525" cap="flat">
            <a:solidFill>
              <a:schemeClr val="accent6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86" name="Google Shape;1546;p59"/>
          <p:cNvCxnSpPr/>
          <p:nvPr/>
        </p:nvCxnSpPr>
        <p:spPr>
          <a:xfrm>
            <a:off x="2117785" y="3611563"/>
            <a:ext cx="0" cy="1257437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87" name="Google Shape;1547;p59"/>
          <p:cNvCxnSpPr/>
          <p:nvPr/>
        </p:nvCxnSpPr>
        <p:spPr>
          <a:xfrm>
            <a:off x="1891415" y="3611563"/>
            <a:ext cx="226370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549" name="Google Shape;1549;p59">
            <a:extLst>
              <a:ext uri="{FF2B5EF4-FFF2-40B4-BE49-F238E27FC236}">
                <a16:creationId xmlns:a16="http://schemas.microsoft.com/office/drawing/2014/main" id="{73E38155-4C29-45CD-8B3E-84B5DA072F99}"/>
              </a:ext>
            </a:extLst>
          </p:cNvPr>
          <p:cNvSpPr>
            <a:spLocks noGrp="1"/>
          </p:cNvSpPr>
          <p:nvPr/>
        </p:nvSpPr>
        <p:spPr>
          <a:xfrm>
            <a:off x="4643481" y="3245819"/>
            <a:ext cx="486832" cy="262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0" name="Google Shape;1550;p59">
            <a:extLst>
              <a:ext uri="{FF2B5EF4-FFF2-40B4-BE49-F238E27FC236}">
                <a16:creationId xmlns:a16="http://schemas.microsoft.com/office/drawing/2014/main" id="{065D0DE9-4954-4286-9860-FAE34D3D5D45}"/>
              </a:ext>
            </a:extLst>
          </p:cNvPr>
          <p:cNvSpPr>
            <a:spLocks noGrp="1"/>
          </p:cNvSpPr>
          <p:nvPr/>
        </p:nvSpPr>
        <p:spPr>
          <a:xfrm>
            <a:off x="1664977" y="3230603"/>
            <a:ext cx="679246" cy="396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</a:t>
            </a:r>
          </a:p>
        </p:txBody>
      </p:sp>
      <p:cxnSp>
        <p:nvCxnSpPr>
          <p:cNvPr id="1690" name="Google Shape;1551;p59"/>
          <p:cNvCxnSpPr/>
          <p:nvPr/>
        </p:nvCxnSpPr>
        <p:spPr>
          <a:xfrm>
            <a:off x="9088402" y="4407015"/>
            <a:ext cx="169958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553" name="Google Shape;1553;p59">
            <a:extLst>
              <a:ext uri="{FF2B5EF4-FFF2-40B4-BE49-F238E27FC236}">
                <a16:creationId xmlns:a16="http://schemas.microsoft.com/office/drawing/2014/main" id="{D625242A-4F13-4A30-9E6F-7F21A2234F4A}"/>
              </a:ext>
            </a:extLst>
          </p:cNvPr>
          <p:cNvSpPr>
            <a:spLocks noGrp="1"/>
          </p:cNvSpPr>
          <p:nvPr/>
        </p:nvSpPr>
        <p:spPr>
          <a:xfrm>
            <a:off x="8927951" y="4048363"/>
            <a:ext cx="486832" cy="2624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59">
            <a:extLst>
              <a:ext uri="{FF2B5EF4-FFF2-40B4-BE49-F238E27FC236}">
                <a16:creationId xmlns:a16="http://schemas.microsoft.com/office/drawing/2014/main" id="{392F9831-52A3-477E-8982-865C844855E9}"/>
              </a:ext>
            </a:extLst>
          </p:cNvPr>
          <p:cNvSpPr>
            <a:spLocks noGrp="1"/>
          </p:cNvSpPr>
          <p:nvPr/>
        </p:nvSpPr>
        <p:spPr>
          <a:xfrm>
            <a:off x="8833758" y="3973934"/>
            <a:ext cx="679246" cy="396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</a:t>
            </a:r>
          </a:p>
        </p:txBody>
      </p:sp>
      <p:sp>
        <p:nvSpPr>
          <p:cNvPr id="1661" name="Slide 5 copied left comparison heading">
            <a:extLst>
              <a:ext uri="{FF2B5EF4-FFF2-40B4-BE49-F238E27FC236}">
                <a16:creationId xmlns:a16="http://schemas.microsoft.com/office/drawing/2014/main" id="{098FFFD9-538C-411F-AB59-5174737FC9B6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662" name="Slide 5 copied right comparison heading">
            <a:extLst>
              <a:ext uri="{FF2B5EF4-FFF2-40B4-BE49-F238E27FC236}">
                <a16:creationId xmlns:a16="http://schemas.microsoft.com/office/drawing/2014/main" id="{759E8357-3C20-4D7E-8700-1C45954FAA94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99572980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0" name="Google Shape;1559;p6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001" y="2027999"/>
            <a:ext cx="1905098" cy="1447874"/>
          </a:xfrm>
          <a:prstGeom prst="rect">
            <a:avLst/>
          </a:prstGeom>
          <a:ln>
            <a:noFill/>
          </a:ln>
        </p:spPr>
      </p:pic>
      <p:pic>
        <p:nvPicPr>
          <p:cNvPr id="1631" name="Google Shape;1560;p60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3999" y="3683490"/>
            <a:ext cx="3554200" cy="2751354"/>
          </a:xfrm>
          <a:prstGeom prst="rect">
            <a:avLst/>
          </a:prstGeom>
          <a:ln>
            <a:noFill/>
          </a:ln>
        </p:spPr>
      </p:pic>
      <p:pic>
        <p:nvPicPr>
          <p:cNvPr id="1632" name="Google Shape;1561;p60"/>
          <p:cNvPicPr>
            <a:picLocks noChangeAspect="1"/>
          </p:cNvPicPr>
          <p:nvPr/>
        </p:nvPicPr>
        <p:blipFill rotWithShape="1">
          <a:blip r:embed="rId4">
            <a:alphaModFix/>
          </a:blip>
          <a:srcRect l="48310" t="41266" r="1870" b="13522"/>
          <a:stretch/>
        </p:blipFill>
        <p:spPr>
          <a:xfrm>
            <a:off x="7542568" y="1820382"/>
            <a:ext cx="2652085" cy="1863108"/>
          </a:xfrm>
          <a:prstGeom prst="rect">
            <a:avLst/>
          </a:prstGeom>
          <a:ln>
            <a:noFill/>
          </a:ln>
        </p:spPr>
      </p:pic>
      <p:graphicFrame>
        <p:nvGraphicFramePr>
          <p:cNvPr id="1633" name="Google Shape;1562;p60"/>
          <p:cNvGraphicFramePr/>
          <p:nvPr>
            <p:extLst>
              <p:ext uri="{D42A27DB-BD31-4B8C-83A1-F6EECF244321}">
                <p14:modId xmlns:p14="http://schemas.microsoft.com/office/powerpoint/2010/main" val="2489293642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NIMP.A.1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0.15</a:t>
                      </a:r>
                      <a:r>
                        <a:rPr sz="1800" b="0" dirty="0">
                          <a:solidFill>
                            <a:schemeClr val="dk1"/>
                          </a:solidFill>
                        </a:rPr>
                        <a:t>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area for N+ Implant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34" name="Google Shape;1563;p60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566" name="Google Shape;1566;p60">
            <a:extLst>
              <a:ext uri="{FF2B5EF4-FFF2-40B4-BE49-F238E27FC236}">
                <a16:creationId xmlns:a16="http://schemas.microsoft.com/office/drawing/2014/main" id="{7DC706C2-9BC8-4BC2-9E7A-BE11279B3D9A}"/>
              </a:ext>
            </a:extLst>
          </p:cNvPr>
          <p:cNvSpPr>
            <a:spLocks noGrp="1"/>
          </p:cNvSpPr>
          <p:nvPr/>
        </p:nvSpPr>
        <p:spPr>
          <a:xfrm>
            <a:off x="7364435" y="5207472"/>
            <a:ext cx="3731380" cy="101821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36" name="Google Shape;1567;p60"/>
          <p:cNvCxnSpPr/>
          <p:nvPr/>
        </p:nvCxnSpPr>
        <p:spPr>
          <a:xfrm>
            <a:off x="9890380" y="2768804"/>
            <a:ext cx="0" cy="2592118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37" name="Google Shape;1568;p60"/>
          <p:cNvCxnSpPr/>
          <p:nvPr/>
        </p:nvCxnSpPr>
        <p:spPr>
          <a:xfrm>
            <a:off x="8865097" y="2768804"/>
            <a:ext cx="0" cy="2620578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69" name="Google Shape;1569;p60">
            <a:extLst>
              <a:ext uri="{FF2B5EF4-FFF2-40B4-BE49-F238E27FC236}">
                <a16:creationId xmlns:a16="http://schemas.microsoft.com/office/drawing/2014/main" id="{59AE1D24-F276-4A1E-9FAD-547C0C0B485D}"/>
              </a:ext>
            </a:extLst>
          </p:cNvPr>
          <p:cNvSpPr>
            <a:spLocks noGrp="1"/>
          </p:cNvSpPr>
          <p:nvPr/>
        </p:nvSpPr>
        <p:spPr>
          <a:xfrm>
            <a:off x="7364433" y="5203654"/>
            <a:ext cx="3731380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cxnSp>
        <p:nvCxnSpPr>
          <p:cNvPr id="1639" name="Google Shape;1570;p60"/>
          <p:cNvCxnSpPr/>
          <p:nvPr/>
        </p:nvCxnSpPr>
        <p:spPr>
          <a:xfrm>
            <a:off x="8290180" y="2648601"/>
            <a:ext cx="0" cy="2592118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40" name="Google Shape;1571;p60"/>
          <p:cNvCxnSpPr/>
          <p:nvPr/>
        </p:nvCxnSpPr>
        <p:spPr>
          <a:xfrm>
            <a:off x="7798297" y="2583076"/>
            <a:ext cx="0" cy="2620578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72" name="Google Shape;1572;p60">
            <a:extLst>
              <a:ext uri="{FF2B5EF4-FFF2-40B4-BE49-F238E27FC236}">
                <a16:creationId xmlns:a16="http://schemas.microsoft.com/office/drawing/2014/main" id="{6C815021-1AB0-4290-956D-03931F9A4B5D}"/>
              </a:ext>
            </a:extLst>
          </p:cNvPr>
          <p:cNvSpPr>
            <a:spLocks noGrp="1"/>
          </p:cNvSpPr>
          <p:nvPr/>
        </p:nvSpPr>
        <p:spPr>
          <a:xfrm>
            <a:off x="847798" y="1610731"/>
            <a:ext cx="51825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 재현성 확보를 위한 최소 Implant area</a:t>
            </a:r>
          </a:p>
        </p:txBody>
      </p:sp>
      <p:sp>
        <p:nvSpPr>
          <p:cNvPr id="1628" name="Slide 5 copied left comparison heading">
            <a:extLst>
              <a:ext uri="{FF2B5EF4-FFF2-40B4-BE49-F238E27FC236}">
                <a16:creationId xmlns:a16="http://schemas.microsoft.com/office/drawing/2014/main" id="{C667ABD9-D2E2-47A9-BD9F-B53B969012A1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629" name="Slide 5 copied right comparison heading">
            <a:extLst>
              <a:ext uri="{FF2B5EF4-FFF2-40B4-BE49-F238E27FC236}">
                <a16:creationId xmlns:a16="http://schemas.microsoft.com/office/drawing/2014/main" id="{A9059D5F-E182-43F9-8F34-141A5C689165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4891196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" name="Google Shape;1577;p6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950" y="2384778"/>
            <a:ext cx="2195557" cy="1364949"/>
          </a:xfrm>
          <a:prstGeom prst="rect">
            <a:avLst/>
          </a:prstGeom>
          <a:ln>
            <a:noFill/>
          </a:ln>
        </p:spPr>
      </p:pic>
      <p:pic>
        <p:nvPicPr>
          <p:cNvPr id="1649" name="Google Shape;1578;p6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950" y="3865297"/>
            <a:ext cx="3963562" cy="2599193"/>
          </a:xfrm>
          <a:prstGeom prst="rect">
            <a:avLst/>
          </a:prstGeom>
          <a:ln>
            <a:noFill/>
          </a:ln>
        </p:spPr>
      </p:pic>
      <p:pic>
        <p:nvPicPr>
          <p:cNvPr id="1650" name="Google Shape;1579;p61"/>
          <p:cNvPicPr>
            <a:picLocks noChangeAspect="1"/>
          </p:cNvPicPr>
          <p:nvPr/>
        </p:nvPicPr>
        <p:blipFill rotWithShape="1">
          <a:blip r:embed="rId4">
            <a:alphaModFix/>
          </a:blip>
          <a:srcRect l="37866" t="25597"/>
          <a:stretch/>
        </p:blipFill>
        <p:spPr>
          <a:xfrm>
            <a:off x="7675117" y="1774657"/>
            <a:ext cx="2485551" cy="1951796"/>
          </a:xfrm>
          <a:prstGeom prst="rect">
            <a:avLst/>
          </a:prstGeom>
          <a:ln>
            <a:noFill/>
          </a:ln>
        </p:spPr>
      </p:pic>
      <p:graphicFrame>
        <p:nvGraphicFramePr>
          <p:cNvPr id="1651" name="Google Shape;1580;p61"/>
          <p:cNvGraphicFramePr/>
          <p:nvPr>
            <p:extLst>
              <p:ext uri="{D42A27DB-BD31-4B8C-83A1-F6EECF244321}">
                <p14:modId xmlns:p14="http://schemas.microsoft.com/office/powerpoint/2010/main" val="2288907542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NIMP.EA.1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0.16</a:t>
                      </a:r>
                      <a:r>
                        <a:rPr sz="1800" b="0" dirty="0">
                          <a:solidFill>
                            <a:schemeClr val="dk1"/>
                          </a:solidFill>
                        </a:rPr>
                        <a:t>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N+ Implant ring enclosed area ("donut" hole surrounded by N+ Implant)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52" name="Google Shape;1581;p61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584" name="Google Shape;1584;p61">
            <a:extLst>
              <a:ext uri="{FF2B5EF4-FFF2-40B4-BE49-F238E27FC236}">
                <a16:creationId xmlns:a16="http://schemas.microsoft.com/office/drawing/2014/main" id="{1E2CDF49-1D5A-4451-9822-1F50E0DD6510}"/>
              </a:ext>
            </a:extLst>
          </p:cNvPr>
          <p:cNvSpPr>
            <a:spLocks noGrp="1"/>
          </p:cNvSpPr>
          <p:nvPr/>
        </p:nvSpPr>
        <p:spPr>
          <a:xfrm>
            <a:off x="7087709" y="5087161"/>
            <a:ext cx="3731380" cy="101821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54" name="Google Shape;1585;p61"/>
          <p:cNvCxnSpPr/>
          <p:nvPr/>
        </p:nvCxnSpPr>
        <p:spPr>
          <a:xfrm>
            <a:off x="9613654" y="2648493"/>
            <a:ext cx="0" cy="2592118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55" name="Google Shape;1586;p61"/>
          <p:cNvCxnSpPr/>
          <p:nvPr/>
        </p:nvCxnSpPr>
        <p:spPr>
          <a:xfrm>
            <a:off x="8492119" y="2620033"/>
            <a:ext cx="0" cy="2620578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87" name="Google Shape;1587;p61">
            <a:extLst>
              <a:ext uri="{FF2B5EF4-FFF2-40B4-BE49-F238E27FC236}">
                <a16:creationId xmlns:a16="http://schemas.microsoft.com/office/drawing/2014/main" id="{57CF2EFD-B2B6-4738-8A97-52B396A67509}"/>
              </a:ext>
            </a:extLst>
          </p:cNvPr>
          <p:cNvSpPr>
            <a:spLocks noGrp="1"/>
          </p:cNvSpPr>
          <p:nvPr/>
        </p:nvSpPr>
        <p:spPr>
          <a:xfrm>
            <a:off x="7087707" y="5083343"/>
            <a:ext cx="3731380" cy="30432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cxnSp>
        <p:nvCxnSpPr>
          <p:cNvPr id="1657" name="Google Shape;1588;p61"/>
          <p:cNvCxnSpPr/>
          <p:nvPr/>
        </p:nvCxnSpPr>
        <p:spPr>
          <a:xfrm>
            <a:off x="8169864" y="2491225"/>
            <a:ext cx="0" cy="2592118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658" name="Google Shape;1589;p61"/>
          <p:cNvCxnSpPr/>
          <p:nvPr/>
        </p:nvCxnSpPr>
        <p:spPr>
          <a:xfrm>
            <a:off x="9097707" y="2462765"/>
            <a:ext cx="0" cy="2620578"/>
          </a:xfrm>
          <a:prstGeom prst="straightConnector1">
            <a:avLst/>
          </a:prstGeom>
          <a:ln w="9525" cap="flat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590" name="Google Shape;1590;p61">
            <a:extLst>
              <a:ext uri="{FF2B5EF4-FFF2-40B4-BE49-F238E27FC236}">
                <a16:creationId xmlns:a16="http://schemas.microsoft.com/office/drawing/2014/main" id="{C4D2FF5F-6807-4140-9A54-D389032E310A}"/>
              </a:ext>
            </a:extLst>
          </p:cNvPr>
          <p:cNvSpPr>
            <a:spLocks noGrp="1"/>
          </p:cNvSpPr>
          <p:nvPr/>
        </p:nvSpPr>
        <p:spPr>
          <a:xfrm>
            <a:off x="847798" y="1610731"/>
            <a:ext cx="518250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Donut Implant의 제조 가능성 확보를 위한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 Enclosed Area</a:t>
            </a:r>
          </a:p>
        </p:txBody>
      </p:sp>
      <p:sp>
        <p:nvSpPr>
          <p:cNvPr id="1646" name="Slide 5 copied left comparison heading">
            <a:extLst>
              <a:ext uri="{FF2B5EF4-FFF2-40B4-BE49-F238E27FC236}">
                <a16:creationId xmlns:a16="http://schemas.microsoft.com/office/drawing/2014/main" id="{8DED0F22-3040-4303-9706-FE860863A9C5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647" name="Slide 5 copied right comparison heading">
            <a:extLst>
              <a:ext uri="{FF2B5EF4-FFF2-40B4-BE49-F238E27FC236}">
                <a16:creationId xmlns:a16="http://schemas.microsoft.com/office/drawing/2014/main" id="{A768EEB4-7281-406C-AB69-762D3BE8B7C1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21200504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6" name="Google Shape;1595;p6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92" y="2529003"/>
            <a:ext cx="2368672" cy="1416123"/>
          </a:xfrm>
          <a:prstGeom prst="rect">
            <a:avLst/>
          </a:prstGeom>
          <a:ln>
            <a:noFill/>
          </a:ln>
        </p:spPr>
      </p:pic>
      <p:pic>
        <p:nvPicPr>
          <p:cNvPr id="1647" name="Google Shape;1596;p6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08" y="4070903"/>
            <a:ext cx="2322642" cy="2478177"/>
          </a:xfrm>
          <a:prstGeom prst="rect">
            <a:avLst/>
          </a:prstGeom>
          <a:ln>
            <a:noFill/>
          </a:ln>
        </p:spPr>
      </p:pic>
      <p:pic>
        <p:nvPicPr>
          <p:cNvPr id="1648" name="Google Shape;1597;p62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7352" y="4070903"/>
            <a:ext cx="2644544" cy="2473191"/>
          </a:xfrm>
          <a:prstGeom prst="rect">
            <a:avLst/>
          </a:prstGeom>
          <a:ln>
            <a:noFill/>
          </a:ln>
        </p:spPr>
      </p:pic>
      <p:graphicFrame>
        <p:nvGraphicFramePr>
          <p:cNvPr id="1649" name="Google Shape;1598;p62"/>
          <p:cNvGraphicFramePr/>
          <p:nvPr>
            <p:extLst>
              <p:ext uri="{D42A27DB-BD31-4B8C-83A1-F6EECF244321}">
                <p14:modId xmlns:p14="http://schemas.microsoft.com/office/powerpoint/2010/main" val="2749836466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NIMP.X.1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0" dirty="0"/>
                        <a:t>---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N+ Implant is NOT allowed over P+ Implant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50" name="Google Shape;1599;p62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602" name="Google Shape;1602;p62">
            <a:extLst>
              <a:ext uri="{FF2B5EF4-FFF2-40B4-BE49-F238E27FC236}">
                <a16:creationId xmlns:a16="http://schemas.microsoft.com/office/drawing/2014/main" id="{B6DD1282-9034-4B51-BF90-679C5C9E3BF4}"/>
              </a:ext>
            </a:extLst>
          </p:cNvPr>
          <p:cNvSpPr>
            <a:spLocks noGrp="1"/>
          </p:cNvSpPr>
          <p:nvPr/>
        </p:nvSpPr>
        <p:spPr>
          <a:xfrm>
            <a:off x="8608794" y="4606467"/>
            <a:ext cx="1587082" cy="1601147"/>
          </a:xfrm>
          <a:prstGeom prst="rect">
            <a:avLst/>
          </a:prstGeom>
          <a:solidFill>
            <a:srgbClr val="FF4B4B">
              <a:alpha val="63922"/>
            </a:srgbClr>
          </a:solidFill>
          <a:ln w="12700" cmpd="sng">
            <a:solidFill>
              <a:srgbClr val="FF6D6E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3" name="Google Shape;1603;p62">
            <a:extLst>
              <a:ext uri="{FF2B5EF4-FFF2-40B4-BE49-F238E27FC236}">
                <a16:creationId xmlns:a16="http://schemas.microsoft.com/office/drawing/2014/main" id="{F2685EEA-9BBE-425A-AD75-963055D27B7D}"/>
              </a:ext>
            </a:extLst>
          </p:cNvPr>
          <p:cNvSpPr>
            <a:spLocks noGrp="1"/>
          </p:cNvSpPr>
          <p:nvPr/>
        </p:nvSpPr>
        <p:spPr>
          <a:xfrm>
            <a:off x="7551331" y="4606468"/>
            <a:ext cx="1436257" cy="1601147"/>
          </a:xfrm>
          <a:prstGeom prst="rect">
            <a:avLst/>
          </a:prstGeom>
          <a:solidFill>
            <a:srgbClr val="FFFF93">
              <a:alpha val="80000"/>
            </a:srgbClr>
          </a:solidFill>
          <a:ln w="12700" cmpd="sng">
            <a:solidFill>
              <a:srgbClr val="FFFF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5" name="Google Shape;1605;p62">
            <a:extLst>
              <a:ext uri="{FF2B5EF4-FFF2-40B4-BE49-F238E27FC236}">
                <a16:creationId xmlns:a16="http://schemas.microsoft.com/office/drawing/2014/main" id="{3DADFA7F-569E-4971-A5FA-6DA5E173DADD}"/>
              </a:ext>
            </a:extLst>
          </p:cNvPr>
          <p:cNvSpPr>
            <a:spLocks noGrp="1"/>
          </p:cNvSpPr>
          <p:nvPr/>
        </p:nvSpPr>
        <p:spPr>
          <a:xfrm rot="-8075113" flipH="1">
            <a:off x="8666872" y="5402811"/>
            <a:ext cx="254387" cy="8457"/>
          </a:xfrm>
          <a:prstGeom prst="flowChartProcess">
            <a:avLst/>
          </a:prstGeom>
          <a:solidFill>
            <a:srgbClr val="FF0000"/>
          </a:solidFill>
          <a:ln w="1270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6" name="Google Shape;1606;p62">
            <a:extLst>
              <a:ext uri="{FF2B5EF4-FFF2-40B4-BE49-F238E27FC236}">
                <a16:creationId xmlns:a16="http://schemas.microsoft.com/office/drawing/2014/main" id="{93A78428-80CD-409E-9113-8BF531E1AE2F}"/>
              </a:ext>
            </a:extLst>
          </p:cNvPr>
          <p:cNvSpPr>
            <a:spLocks noGrp="1"/>
          </p:cNvSpPr>
          <p:nvPr/>
        </p:nvSpPr>
        <p:spPr>
          <a:xfrm rot="-2675113" flipH="1">
            <a:off x="8666873" y="5398063"/>
            <a:ext cx="254387" cy="8457"/>
          </a:xfrm>
          <a:prstGeom prst="flowChartProcess">
            <a:avLst/>
          </a:prstGeom>
          <a:solidFill>
            <a:srgbClr val="FF0000"/>
          </a:solidFill>
          <a:ln w="12700" cmpd="sng">
            <a:solidFill>
              <a:srgbClr val="FF000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55" name="Google Shape;1607;p62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51331" y="1708857"/>
            <a:ext cx="2644544" cy="2473191"/>
          </a:xfrm>
          <a:prstGeom prst="rect">
            <a:avLst/>
          </a:prstGeom>
          <a:ln>
            <a:noFill/>
          </a:ln>
        </p:spPr>
      </p:pic>
      <p:sp>
        <p:nvSpPr>
          <p:cNvPr id="1608" name="Google Shape;1608;p62">
            <a:extLst>
              <a:ext uri="{FF2B5EF4-FFF2-40B4-BE49-F238E27FC236}">
                <a16:creationId xmlns:a16="http://schemas.microsoft.com/office/drawing/2014/main" id="{56AAE175-C319-4A44-BDD7-E9401C239A38}"/>
              </a:ext>
            </a:extLst>
          </p:cNvPr>
          <p:cNvSpPr>
            <a:spLocks noGrp="1"/>
          </p:cNvSpPr>
          <p:nvPr/>
        </p:nvSpPr>
        <p:spPr>
          <a:xfrm>
            <a:off x="847798" y="1610731"/>
            <a:ext cx="518250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정상적인 PN Junction 형성을 위한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N+/P+ Implant 중첩 금지 </a:t>
            </a:r>
          </a:p>
        </p:txBody>
      </p:sp>
      <p:sp>
        <p:nvSpPr>
          <p:cNvPr id="1644" name="Slide 5 copied left comparison heading">
            <a:extLst>
              <a:ext uri="{FF2B5EF4-FFF2-40B4-BE49-F238E27FC236}">
                <a16:creationId xmlns:a16="http://schemas.microsoft.com/office/drawing/2014/main" id="{691C5333-E7AB-47AB-B61D-74523433BFAE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645" name="Slide 5 copied right comparison heading">
            <a:extLst>
              <a:ext uri="{FF2B5EF4-FFF2-40B4-BE49-F238E27FC236}">
                <a16:creationId xmlns:a16="http://schemas.microsoft.com/office/drawing/2014/main" id="{649FB34B-D5D9-4E97-ABBB-C5609859ED29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8748587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0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63">
            <a:extLst>
              <a:ext uri="{FF2B5EF4-FFF2-40B4-BE49-F238E27FC236}">
                <a16:creationId xmlns:a16="http://schemas.microsoft.com/office/drawing/2014/main" id="{FF0BE4E5-BDA9-40FD-825E-2B4B92D10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007" y="2301478"/>
            <a:ext cx="4903985" cy="225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>
                <a:solidFill>
                  <a:srgbClr val="222222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4847169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9" name="Google Shape;1620;p64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621" name="Google Shape;1621;p64">
            <a:extLst>
              <a:ext uri="{FF2B5EF4-FFF2-40B4-BE49-F238E27FC236}">
                <a16:creationId xmlns:a16="http://schemas.microsoft.com/office/drawing/2014/main" id="{A7F2B772-85E0-4BC0-9181-0C5008865091}"/>
              </a:ext>
            </a:extLst>
          </p:cNvPr>
          <p:cNvSpPr>
            <a:spLocks noGrp="1"/>
          </p:cNvSpPr>
          <p:nvPr/>
        </p:nvSpPr>
        <p:spPr>
          <a:xfrm>
            <a:off x="6563022" y="2814338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pic>
        <p:nvPicPr>
          <p:cNvPr id="1731" name="Google Shape;1622;p6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94" y="1517788"/>
            <a:ext cx="2071584" cy="939342"/>
          </a:xfrm>
          <a:prstGeom prst="rect">
            <a:avLst/>
          </a:prstGeom>
          <a:ln>
            <a:noFill/>
          </a:ln>
        </p:spPr>
      </p:pic>
      <p:graphicFrame>
        <p:nvGraphicFramePr>
          <p:cNvPr id="1732" name="Google Shape;1623;p64"/>
          <p:cNvGraphicFramePr/>
          <p:nvPr>
            <p:extLst>
              <p:ext uri="{D42A27DB-BD31-4B8C-83A1-F6EECF244321}">
                <p14:modId xmlns:p14="http://schemas.microsoft.com/office/powerpoint/2010/main" val="98163377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CONT.W.1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0.12um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 err="1">
                          <a:solidFill>
                            <a:schemeClr val="dk1"/>
                          </a:solidFill>
                        </a:rPr>
                        <a:t>Minimun</a:t>
                      </a:r>
                      <a:r>
                        <a:rPr sz="1400" b="0" dirty="0">
                          <a:solidFill>
                            <a:schemeClr val="dk1"/>
                          </a:solidFill>
                        </a:rPr>
                        <a:t> Contact to Contact width/length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33" name="Google Shape;1624;p6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294" y="3586050"/>
            <a:ext cx="3340515" cy="3071842"/>
          </a:xfrm>
          <a:prstGeom prst="rect">
            <a:avLst/>
          </a:prstGeom>
          <a:ln>
            <a:noFill/>
          </a:ln>
        </p:spPr>
      </p:pic>
      <p:cxnSp>
        <p:nvCxnSpPr>
          <p:cNvPr id="1734" name="Google Shape;1625;p64"/>
          <p:cNvCxnSpPr/>
          <p:nvPr/>
        </p:nvCxnSpPr>
        <p:spPr>
          <a:xfrm rot="10800000">
            <a:off x="3559011" y="3929141"/>
            <a:ext cx="0" cy="2406044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626" name="Google Shape;1626;p64">
            <a:extLst>
              <a:ext uri="{FF2B5EF4-FFF2-40B4-BE49-F238E27FC236}">
                <a16:creationId xmlns:a16="http://schemas.microsoft.com/office/drawing/2014/main" id="{C860509E-2E9D-4079-BAEA-B2E9E7B18801}"/>
              </a:ext>
            </a:extLst>
          </p:cNvPr>
          <p:cNvSpPr>
            <a:spLocks noGrp="1"/>
          </p:cNvSpPr>
          <p:nvPr/>
        </p:nvSpPr>
        <p:spPr>
          <a:xfrm>
            <a:off x="3585779" y="4932856"/>
            <a:ext cx="1075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cxnSp>
        <p:nvCxnSpPr>
          <p:cNvPr id="1736" name="Google Shape;1627;p64"/>
          <p:cNvCxnSpPr/>
          <p:nvPr/>
        </p:nvCxnSpPr>
        <p:spPr>
          <a:xfrm rot="10800000">
            <a:off x="1021062" y="3448005"/>
            <a:ext cx="2381219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628" name="Google Shape;1628;p64">
            <a:extLst>
              <a:ext uri="{FF2B5EF4-FFF2-40B4-BE49-F238E27FC236}">
                <a16:creationId xmlns:a16="http://schemas.microsoft.com/office/drawing/2014/main" id="{F25844FA-7F91-4A99-B791-DCC8F55810E0}"/>
              </a:ext>
            </a:extLst>
          </p:cNvPr>
          <p:cNvSpPr>
            <a:spLocks noGrp="1"/>
          </p:cNvSpPr>
          <p:nvPr/>
        </p:nvSpPr>
        <p:spPr>
          <a:xfrm>
            <a:off x="1733589" y="3071761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pic>
        <p:nvPicPr>
          <p:cNvPr id="1738" name="Google Shape;1629;p64"/>
          <p:cNvPicPr>
            <a:picLocks noChangeAspect="1"/>
          </p:cNvPicPr>
          <p:nvPr/>
        </p:nvPicPr>
        <p:blipFill rotWithShape="1">
          <a:blip r:embed="rId5">
            <a:alphaModFix/>
          </a:blip>
          <a:srcRect l="7531" r="10453"/>
          <a:stretch/>
        </p:blipFill>
        <p:spPr>
          <a:xfrm>
            <a:off x="7772400" y="1805435"/>
            <a:ext cx="3046022" cy="2164661"/>
          </a:xfrm>
          <a:prstGeom prst="rect">
            <a:avLst/>
          </a:prstGeom>
          <a:ln>
            <a:noFill/>
          </a:ln>
        </p:spPr>
      </p:pic>
      <p:cxnSp>
        <p:nvCxnSpPr>
          <p:cNvPr id="1739" name="Google Shape;1630;p64"/>
          <p:cNvCxnSpPr/>
          <p:nvPr/>
        </p:nvCxnSpPr>
        <p:spPr>
          <a:xfrm>
            <a:off x="8336882" y="3059536"/>
            <a:ext cx="7382" cy="216466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740" name="Google Shape;1631;p64"/>
          <p:cNvCxnSpPr/>
          <p:nvPr/>
        </p:nvCxnSpPr>
        <p:spPr>
          <a:xfrm>
            <a:off x="9780467" y="3040526"/>
            <a:ext cx="0" cy="218367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632" name="Google Shape;1632;p64">
            <a:extLst>
              <a:ext uri="{FF2B5EF4-FFF2-40B4-BE49-F238E27FC236}">
                <a16:creationId xmlns:a16="http://schemas.microsoft.com/office/drawing/2014/main" id="{49B63348-DB5A-4AD3-984D-FC71D4EC1F37}"/>
              </a:ext>
            </a:extLst>
          </p:cNvPr>
          <p:cNvSpPr>
            <a:spLocks noGrp="1"/>
          </p:cNvSpPr>
          <p:nvPr/>
        </p:nvSpPr>
        <p:spPr>
          <a:xfrm>
            <a:off x="8546681" y="3988817"/>
            <a:ext cx="15468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cxnSp>
        <p:nvCxnSpPr>
          <p:cNvPr id="1742" name="Google Shape;1633;p64"/>
          <p:cNvCxnSpPr/>
          <p:nvPr/>
        </p:nvCxnSpPr>
        <p:spPr>
          <a:xfrm rot="10800000" flipH="1">
            <a:off x="8336882" y="4297816"/>
            <a:ext cx="1428148" cy="1199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634" name="Google Shape;1634;p64">
            <a:extLst>
              <a:ext uri="{FF2B5EF4-FFF2-40B4-BE49-F238E27FC236}">
                <a16:creationId xmlns:a16="http://schemas.microsoft.com/office/drawing/2014/main" id="{29038854-7764-4047-9EAF-1251DC3807AD}"/>
              </a:ext>
            </a:extLst>
          </p:cNvPr>
          <p:cNvSpPr>
            <a:spLocks noGrp="1"/>
          </p:cNvSpPr>
          <p:nvPr/>
        </p:nvSpPr>
        <p:spPr>
          <a:xfrm>
            <a:off x="7681858" y="5361865"/>
            <a:ext cx="3574585" cy="1082358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1635" name="Google Shape;1635;p64">
            <a:extLst>
              <a:ext uri="{FF2B5EF4-FFF2-40B4-BE49-F238E27FC236}">
                <a16:creationId xmlns:a16="http://schemas.microsoft.com/office/drawing/2014/main" id="{30E972C1-A4A4-40E9-A808-5F772E2E3792}"/>
              </a:ext>
            </a:extLst>
          </p:cNvPr>
          <p:cNvSpPr>
            <a:spLocks noGrp="1"/>
          </p:cNvSpPr>
          <p:nvPr/>
        </p:nvSpPr>
        <p:spPr>
          <a:xfrm>
            <a:off x="8359265" y="5121971"/>
            <a:ext cx="1421036" cy="2666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Silicide</a:t>
            </a:r>
          </a:p>
        </p:txBody>
      </p:sp>
      <p:sp>
        <p:nvSpPr>
          <p:cNvPr id="1636" name="Google Shape;1636;p64">
            <a:extLst>
              <a:ext uri="{FF2B5EF4-FFF2-40B4-BE49-F238E27FC236}">
                <a16:creationId xmlns:a16="http://schemas.microsoft.com/office/drawing/2014/main" id="{DB7B3E49-7D11-4649-90EA-1DCAAD8D154A}"/>
              </a:ext>
            </a:extLst>
          </p:cNvPr>
          <p:cNvSpPr>
            <a:spLocks noGrp="1"/>
          </p:cNvSpPr>
          <p:nvPr/>
        </p:nvSpPr>
        <p:spPr>
          <a:xfrm>
            <a:off x="7679594" y="5117274"/>
            <a:ext cx="672126" cy="28283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37" name="Google Shape;1637;p64">
            <a:extLst>
              <a:ext uri="{FF2B5EF4-FFF2-40B4-BE49-F238E27FC236}">
                <a16:creationId xmlns:a16="http://schemas.microsoft.com/office/drawing/2014/main" id="{37FAD347-6E32-43A3-BD93-89995F9CCFCF}"/>
              </a:ext>
            </a:extLst>
          </p:cNvPr>
          <p:cNvSpPr>
            <a:spLocks noGrp="1"/>
          </p:cNvSpPr>
          <p:nvPr/>
        </p:nvSpPr>
        <p:spPr>
          <a:xfrm>
            <a:off x="9780304" y="5089669"/>
            <a:ext cx="1491413" cy="30145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1638" name="Google Shape;1638;p64">
            <a:extLst>
              <a:ext uri="{FF2B5EF4-FFF2-40B4-BE49-F238E27FC236}">
                <a16:creationId xmlns:a16="http://schemas.microsoft.com/office/drawing/2014/main" id="{73D4685D-EFB6-4A35-A482-3E763A38BFF4}"/>
              </a:ext>
            </a:extLst>
          </p:cNvPr>
          <p:cNvSpPr>
            <a:spLocks noGrp="1"/>
          </p:cNvSpPr>
          <p:nvPr/>
        </p:nvSpPr>
        <p:spPr>
          <a:xfrm>
            <a:off x="8356725" y="4746925"/>
            <a:ext cx="1413471" cy="368105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CONTACT</a:t>
            </a:r>
            <a:r>
              <a:rPr sz="16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t</a:t>
            </a:r>
          </a:p>
        </p:txBody>
      </p:sp>
      <p:sp>
        <p:nvSpPr>
          <p:cNvPr id="1639" name="Google Shape;1639;p64">
            <a:extLst>
              <a:ext uri="{FF2B5EF4-FFF2-40B4-BE49-F238E27FC236}">
                <a16:creationId xmlns:a16="http://schemas.microsoft.com/office/drawing/2014/main" id="{E3ADFE92-5630-4AE4-8250-9CF6529D26FD}"/>
              </a:ext>
            </a:extLst>
          </p:cNvPr>
          <p:cNvSpPr>
            <a:spLocks noGrp="1"/>
          </p:cNvSpPr>
          <p:nvPr/>
        </p:nvSpPr>
        <p:spPr>
          <a:xfrm>
            <a:off x="8273617" y="5391119"/>
            <a:ext cx="1654154" cy="26125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cxnSp>
        <p:nvCxnSpPr>
          <p:cNvPr id="1749" name="Google Shape;1640;p64"/>
          <p:cNvCxnSpPr/>
          <p:nvPr/>
        </p:nvCxnSpPr>
        <p:spPr>
          <a:xfrm>
            <a:off x="7030644" y="2999004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641" name="Google Shape;1641;p64">
            <a:extLst>
              <a:ext uri="{FF2B5EF4-FFF2-40B4-BE49-F238E27FC236}">
                <a16:creationId xmlns:a16="http://schemas.microsoft.com/office/drawing/2014/main" id="{6FBD8F9B-8970-4575-9ACE-9074D9689032}"/>
              </a:ext>
            </a:extLst>
          </p:cNvPr>
          <p:cNvSpPr>
            <a:spLocks noGrp="1"/>
          </p:cNvSpPr>
          <p:nvPr/>
        </p:nvSpPr>
        <p:spPr>
          <a:xfrm>
            <a:off x="469735" y="2479508"/>
            <a:ext cx="483966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공정</a:t>
            </a:r>
            <a:r>
              <a:rPr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안정성</a:t>
            </a:r>
            <a:r>
              <a:rPr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및 Contact </a:t>
            </a:r>
            <a:r>
              <a:rPr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저항</a:t>
            </a:r>
            <a:r>
              <a:rPr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감소를</a:t>
            </a:r>
            <a:r>
              <a:rPr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위한</a:t>
            </a:r>
            <a:endParaRPr lang="en-US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최소</a:t>
            </a:r>
            <a:r>
              <a:rPr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Contact </a:t>
            </a:r>
            <a:r>
              <a:rPr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크기</a:t>
            </a:r>
            <a:endParaRPr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1727" name="Slide 5 copied left comparison heading">
            <a:extLst>
              <a:ext uri="{FF2B5EF4-FFF2-40B4-BE49-F238E27FC236}">
                <a16:creationId xmlns:a16="http://schemas.microsoft.com/office/drawing/2014/main" id="{EA22A358-F9E9-45A6-B841-963AEA24F440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728" name="Slide 5 copied right comparison heading">
            <a:extLst>
              <a:ext uri="{FF2B5EF4-FFF2-40B4-BE49-F238E27FC236}">
                <a16:creationId xmlns:a16="http://schemas.microsoft.com/office/drawing/2014/main" id="{31739CE0-EFDD-4506-918C-A477CB78B761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B3014B-9A88-7F61-7F4A-C86560A90FE3}"/>
              </a:ext>
            </a:extLst>
          </p:cNvPr>
          <p:cNvSpPr/>
          <p:nvPr/>
        </p:nvSpPr>
        <p:spPr>
          <a:xfrm>
            <a:off x="8356797" y="5105066"/>
            <a:ext cx="1421036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Silicide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8025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6" name="Google Shape;1646;p65"/>
          <p:cNvPicPr>
            <a:picLocks noChangeAspect="1"/>
          </p:cNvPicPr>
          <p:nvPr/>
        </p:nvPicPr>
        <p:blipFill rotWithShape="1">
          <a:blip r:embed="rId3">
            <a:alphaModFix/>
          </a:blip>
          <a:srcRect r="54862"/>
          <a:stretch/>
        </p:blipFill>
        <p:spPr>
          <a:xfrm rot="-5400000">
            <a:off x="8946565" y="782019"/>
            <a:ext cx="1199201" cy="4079351"/>
          </a:xfrm>
          <a:prstGeom prst="rect">
            <a:avLst/>
          </a:prstGeom>
          <a:ln>
            <a:noFill/>
          </a:ln>
        </p:spPr>
      </p:pic>
      <p:pic>
        <p:nvPicPr>
          <p:cNvPr id="1747" name="Google Shape;1647;p6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94" y="3607986"/>
            <a:ext cx="1947863" cy="2990850"/>
          </a:xfrm>
          <a:prstGeom prst="rect">
            <a:avLst/>
          </a:prstGeom>
          <a:ln>
            <a:noFill/>
          </a:ln>
        </p:spPr>
      </p:pic>
      <p:cxnSp>
        <p:nvCxnSpPr>
          <p:cNvPr id="1749" name="Google Shape;1651;p65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1750" name="Google Shape;1652;p65"/>
          <p:cNvGraphicFramePr/>
          <p:nvPr>
            <p:extLst>
              <p:ext uri="{D42A27DB-BD31-4B8C-83A1-F6EECF244321}">
                <p14:modId xmlns:p14="http://schemas.microsoft.com/office/powerpoint/2010/main" val="2722095871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CONT.SP.1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0.14um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 err="1">
                          <a:solidFill>
                            <a:schemeClr val="dk1"/>
                          </a:solidFill>
                        </a:rPr>
                        <a:t>Minimun</a:t>
                      </a:r>
                      <a:r>
                        <a:rPr sz="1400" b="0" dirty="0">
                          <a:solidFill>
                            <a:schemeClr val="dk1"/>
                          </a:solidFill>
                        </a:rPr>
                        <a:t> Contact to Contact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51" name="Google Shape;1653;p6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294" y="1442595"/>
            <a:ext cx="2586614" cy="1022027"/>
          </a:xfrm>
          <a:prstGeom prst="rect">
            <a:avLst/>
          </a:prstGeom>
          <a:ln>
            <a:noFill/>
          </a:ln>
        </p:spPr>
      </p:pic>
      <p:cxnSp>
        <p:nvCxnSpPr>
          <p:cNvPr id="1752" name="Google Shape;1654;p65"/>
          <p:cNvCxnSpPr/>
          <p:nvPr/>
        </p:nvCxnSpPr>
        <p:spPr>
          <a:xfrm rot="10800000">
            <a:off x="1411101" y="4429778"/>
            <a:ext cx="0" cy="1353787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655" name="Google Shape;1655;p65">
            <a:extLst>
              <a:ext uri="{FF2B5EF4-FFF2-40B4-BE49-F238E27FC236}">
                <a16:creationId xmlns:a16="http://schemas.microsoft.com/office/drawing/2014/main" id="{FAE45747-B6D8-4896-8A34-FF03BC13AFC7}"/>
              </a:ext>
            </a:extLst>
          </p:cNvPr>
          <p:cNvSpPr>
            <a:spLocks noGrp="1"/>
          </p:cNvSpPr>
          <p:nvPr/>
        </p:nvSpPr>
        <p:spPr>
          <a:xfrm>
            <a:off x="1513313" y="4891599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  <p:cxnSp>
        <p:nvCxnSpPr>
          <p:cNvPr id="1754" name="Google Shape;1656;p65"/>
          <p:cNvCxnSpPr/>
          <p:nvPr/>
        </p:nvCxnSpPr>
        <p:spPr>
          <a:xfrm>
            <a:off x="8615157" y="4745517"/>
            <a:ext cx="1882630" cy="10548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657" name="Google Shape;1657;p65">
            <a:extLst>
              <a:ext uri="{FF2B5EF4-FFF2-40B4-BE49-F238E27FC236}">
                <a16:creationId xmlns:a16="http://schemas.microsoft.com/office/drawing/2014/main" id="{38200347-8AA3-43B7-A1C6-D858B88D7FF0}"/>
              </a:ext>
            </a:extLst>
          </p:cNvPr>
          <p:cNvSpPr>
            <a:spLocks noGrp="1"/>
          </p:cNvSpPr>
          <p:nvPr/>
        </p:nvSpPr>
        <p:spPr>
          <a:xfrm>
            <a:off x="8919803" y="4290471"/>
            <a:ext cx="10495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0.14um</a:t>
            </a:r>
          </a:p>
        </p:txBody>
      </p:sp>
      <p:sp>
        <p:nvSpPr>
          <p:cNvPr id="1658" name="Google Shape;1658;p65">
            <a:extLst>
              <a:ext uri="{FF2B5EF4-FFF2-40B4-BE49-F238E27FC236}">
                <a16:creationId xmlns:a16="http://schemas.microsoft.com/office/drawing/2014/main" id="{B2948074-E3AD-406B-B82D-10017E714D5A}"/>
              </a:ext>
            </a:extLst>
          </p:cNvPr>
          <p:cNvSpPr>
            <a:spLocks noGrp="1"/>
          </p:cNvSpPr>
          <p:nvPr/>
        </p:nvSpPr>
        <p:spPr>
          <a:xfrm>
            <a:off x="7690348" y="4790243"/>
            <a:ext cx="842257" cy="3385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9" name="Google Shape;1659;p65">
            <a:extLst>
              <a:ext uri="{FF2B5EF4-FFF2-40B4-BE49-F238E27FC236}">
                <a16:creationId xmlns:a16="http://schemas.microsoft.com/office/drawing/2014/main" id="{3AFA1CD9-E089-4C12-85C2-56AAD119DE65}"/>
              </a:ext>
            </a:extLst>
          </p:cNvPr>
          <p:cNvSpPr>
            <a:spLocks noGrp="1"/>
          </p:cNvSpPr>
          <p:nvPr/>
        </p:nvSpPr>
        <p:spPr>
          <a:xfrm>
            <a:off x="6405833" y="2878479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sp>
        <p:nvSpPr>
          <p:cNvPr id="1660" name="Google Shape;1660;p65">
            <a:extLst>
              <a:ext uri="{FF2B5EF4-FFF2-40B4-BE49-F238E27FC236}">
                <a16:creationId xmlns:a16="http://schemas.microsoft.com/office/drawing/2014/main" id="{3298C7A7-D1A8-47D8-95D4-6F49F37BB7AA}"/>
              </a:ext>
            </a:extLst>
          </p:cNvPr>
          <p:cNvSpPr>
            <a:spLocks noGrp="1"/>
          </p:cNvSpPr>
          <p:nvPr/>
        </p:nvSpPr>
        <p:spPr>
          <a:xfrm>
            <a:off x="10283427" y="4790243"/>
            <a:ext cx="842257" cy="3385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59" name="Google Shape;1661;p65"/>
          <p:cNvCxnSpPr/>
          <p:nvPr/>
        </p:nvCxnSpPr>
        <p:spPr>
          <a:xfrm>
            <a:off x="6876409" y="3069381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760" name="Google Shape;1662;p65"/>
          <p:cNvCxnSpPr/>
          <p:nvPr/>
        </p:nvCxnSpPr>
        <p:spPr>
          <a:xfrm flipH="1">
            <a:off x="8550419" y="3071083"/>
            <a:ext cx="7636" cy="205767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761" name="Google Shape;1663;p65"/>
          <p:cNvCxnSpPr/>
          <p:nvPr/>
        </p:nvCxnSpPr>
        <p:spPr>
          <a:xfrm flipH="1">
            <a:off x="10497184" y="3063145"/>
            <a:ext cx="13043" cy="206561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664" name="Google Shape;1664;p65">
            <a:extLst>
              <a:ext uri="{FF2B5EF4-FFF2-40B4-BE49-F238E27FC236}">
                <a16:creationId xmlns:a16="http://schemas.microsoft.com/office/drawing/2014/main" id="{F8203F8C-EF75-4788-86F8-5E69BFF11443}"/>
              </a:ext>
            </a:extLst>
          </p:cNvPr>
          <p:cNvSpPr>
            <a:spLocks noGrp="1"/>
          </p:cNvSpPr>
          <p:nvPr/>
        </p:nvSpPr>
        <p:spPr>
          <a:xfrm>
            <a:off x="7557719" y="5501502"/>
            <a:ext cx="4028121" cy="109733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1665" name="Google Shape;1665;p65">
            <a:extLst>
              <a:ext uri="{FF2B5EF4-FFF2-40B4-BE49-F238E27FC236}">
                <a16:creationId xmlns:a16="http://schemas.microsoft.com/office/drawing/2014/main" id="{13AF8A08-CC25-4250-826D-008E65733375}"/>
              </a:ext>
            </a:extLst>
          </p:cNvPr>
          <p:cNvSpPr>
            <a:spLocks noGrp="1"/>
          </p:cNvSpPr>
          <p:nvPr/>
        </p:nvSpPr>
        <p:spPr>
          <a:xfrm>
            <a:off x="7655420" y="4894231"/>
            <a:ext cx="888824" cy="330868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CONTACT</a:t>
            </a:r>
          </a:p>
        </p:txBody>
      </p:sp>
      <p:sp>
        <p:nvSpPr>
          <p:cNvPr id="1666" name="Google Shape;1666;p65">
            <a:extLst>
              <a:ext uri="{FF2B5EF4-FFF2-40B4-BE49-F238E27FC236}">
                <a16:creationId xmlns:a16="http://schemas.microsoft.com/office/drawing/2014/main" id="{D3740043-05BB-4F0B-BF4A-8FB26A9CAFF8}"/>
              </a:ext>
            </a:extLst>
          </p:cNvPr>
          <p:cNvSpPr>
            <a:spLocks noGrp="1"/>
          </p:cNvSpPr>
          <p:nvPr/>
        </p:nvSpPr>
        <p:spPr>
          <a:xfrm>
            <a:off x="7570895" y="5491716"/>
            <a:ext cx="4014943" cy="30715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1667" name="Google Shape;1667;p65">
            <a:extLst>
              <a:ext uri="{FF2B5EF4-FFF2-40B4-BE49-F238E27FC236}">
                <a16:creationId xmlns:a16="http://schemas.microsoft.com/office/drawing/2014/main" id="{1BED4C37-E08F-4E0E-9D2A-2791DE70E116}"/>
              </a:ext>
            </a:extLst>
          </p:cNvPr>
          <p:cNvSpPr>
            <a:spLocks noGrp="1"/>
          </p:cNvSpPr>
          <p:nvPr/>
        </p:nvSpPr>
        <p:spPr>
          <a:xfrm>
            <a:off x="7645630" y="5229183"/>
            <a:ext cx="912422" cy="2666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Silicide</a:t>
            </a:r>
          </a:p>
        </p:txBody>
      </p:sp>
      <p:sp>
        <p:nvSpPr>
          <p:cNvPr id="1668" name="Google Shape;1668;p65">
            <a:extLst>
              <a:ext uri="{FF2B5EF4-FFF2-40B4-BE49-F238E27FC236}">
                <a16:creationId xmlns:a16="http://schemas.microsoft.com/office/drawing/2014/main" id="{51275966-C250-408A-968B-1C7D77667A15}"/>
              </a:ext>
            </a:extLst>
          </p:cNvPr>
          <p:cNvSpPr>
            <a:spLocks noGrp="1"/>
          </p:cNvSpPr>
          <p:nvPr/>
        </p:nvSpPr>
        <p:spPr>
          <a:xfrm>
            <a:off x="10537645" y="5234885"/>
            <a:ext cx="912429" cy="2666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Silicide</a:t>
            </a:r>
          </a:p>
        </p:txBody>
      </p:sp>
      <p:sp>
        <p:nvSpPr>
          <p:cNvPr id="1669" name="Google Shape;1669;p65">
            <a:extLst>
              <a:ext uri="{FF2B5EF4-FFF2-40B4-BE49-F238E27FC236}">
                <a16:creationId xmlns:a16="http://schemas.microsoft.com/office/drawing/2014/main" id="{A7EAFB75-C5B7-4CED-A5BB-BF555743B7AA}"/>
              </a:ext>
            </a:extLst>
          </p:cNvPr>
          <p:cNvSpPr>
            <a:spLocks noGrp="1"/>
          </p:cNvSpPr>
          <p:nvPr/>
        </p:nvSpPr>
        <p:spPr>
          <a:xfrm>
            <a:off x="8550418" y="5203139"/>
            <a:ext cx="1987217" cy="30145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1670" name="Google Shape;1670;p65">
            <a:extLst>
              <a:ext uri="{FF2B5EF4-FFF2-40B4-BE49-F238E27FC236}">
                <a16:creationId xmlns:a16="http://schemas.microsoft.com/office/drawing/2014/main" id="{CE6B78AF-82C0-4393-B18B-A8B4D87C3BC6}"/>
              </a:ext>
            </a:extLst>
          </p:cNvPr>
          <p:cNvSpPr>
            <a:spLocks noGrp="1"/>
          </p:cNvSpPr>
          <p:nvPr/>
        </p:nvSpPr>
        <p:spPr>
          <a:xfrm>
            <a:off x="7556810" y="5208841"/>
            <a:ext cx="88803" cy="30145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1" name="Google Shape;1671;p65">
            <a:extLst>
              <a:ext uri="{FF2B5EF4-FFF2-40B4-BE49-F238E27FC236}">
                <a16:creationId xmlns:a16="http://schemas.microsoft.com/office/drawing/2014/main" id="{DFAA5BC2-0AC0-475C-85C8-F9E4386385DF}"/>
              </a:ext>
            </a:extLst>
          </p:cNvPr>
          <p:cNvSpPr>
            <a:spLocks noGrp="1"/>
          </p:cNvSpPr>
          <p:nvPr/>
        </p:nvSpPr>
        <p:spPr>
          <a:xfrm>
            <a:off x="11450074" y="5217469"/>
            <a:ext cx="135764" cy="30145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2" name="Google Shape;1672;p65">
            <a:extLst>
              <a:ext uri="{FF2B5EF4-FFF2-40B4-BE49-F238E27FC236}">
                <a16:creationId xmlns:a16="http://schemas.microsoft.com/office/drawing/2014/main" id="{17531824-4537-4BE7-81F0-1CDB2487455D}"/>
              </a:ext>
            </a:extLst>
          </p:cNvPr>
          <p:cNvSpPr>
            <a:spLocks noGrp="1"/>
          </p:cNvSpPr>
          <p:nvPr/>
        </p:nvSpPr>
        <p:spPr>
          <a:xfrm>
            <a:off x="10537635" y="4882972"/>
            <a:ext cx="888824" cy="330868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CONTACT</a:t>
            </a:r>
          </a:p>
        </p:txBody>
      </p:sp>
      <p:sp>
        <p:nvSpPr>
          <p:cNvPr id="1673" name="Google Shape;1673;p65">
            <a:extLst>
              <a:ext uri="{FF2B5EF4-FFF2-40B4-BE49-F238E27FC236}">
                <a16:creationId xmlns:a16="http://schemas.microsoft.com/office/drawing/2014/main" id="{64BF859C-CA6B-4662-B76A-2B2A55201329}"/>
              </a:ext>
            </a:extLst>
          </p:cNvPr>
          <p:cNvSpPr>
            <a:spLocks noGrp="1"/>
          </p:cNvSpPr>
          <p:nvPr/>
        </p:nvSpPr>
        <p:spPr>
          <a:xfrm>
            <a:off x="515294" y="2637028"/>
            <a:ext cx="3993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안정성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및 Short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방지를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                      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Contact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간격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44" name="Slide 5 copied left comparison heading">
            <a:extLst>
              <a:ext uri="{FF2B5EF4-FFF2-40B4-BE49-F238E27FC236}">
                <a16:creationId xmlns:a16="http://schemas.microsoft.com/office/drawing/2014/main" id="{2B96A5CD-5940-4B4B-A01D-32B7A67D742F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745" name="Slide 5 copied right comparison heading">
            <a:extLst>
              <a:ext uri="{FF2B5EF4-FFF2-40B4-BE49-F238E27FC236}">
                <a16:creationId xmlns:a16="http://schemas.microsoft.com/office/drawing/2014/main" id="{121DD17A-12F6-4839-A745-A1E82880035C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A80F55-894E-BCDB-C2EC-06F21FE84A01}"/>
              </a:ext>
            </a:extLst>
          </p:cNvPr>
          <p:cNvSpPr/>
          <p:nvPr/>
        </p:nvSpPr>
        <p:spPr>
          <a:xfrm>
            <a:off x="7631822" y="5230801"/>
            <a:ext cx="912422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Silicide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8C56AD-FF53-5ACD-7F1B-AFE98BE1F353}"/>
              </a:ext>
            </a:extLst>
          </p:cNvPr>
          <p:cNvSpPr/>
          <p:nvPr/>
        </p:nvSpPr>
        <p:spPr>
          <a:xfrm>
            <a:off x="10523837" y="5236503"/>
            <a:ext cx="912429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Silicide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773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5" name="Google Shape;1678;p6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3386" y="1492652"/>
            <a:ext cx="3450754" cy="2245467"/>
          </a:xfrm>
          <a:prstGeom prst="rect">
            <a:avLst/>
          </a:prstGeom>
          <a:ln>
            <a:noFill/>
          </a:ln>
        </p:spPr>
      </p:pic>
      <p:cxnSp>
        <p:nvCxnSpPr>
          <p:cNvPr id="1777" name="Google Shape;1682;p66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1778" name="Google Shape;1683;p66"/>
          <p:cNvGraphicFramePr/>
          <p:nvPr>
            <p:extLst>
              <p:ext uri="{D42A27DB-BD31-4B8C-83A1-F6EECF244321}">
                <p14:modId xmlns:p14="http://schemas.microsoft.com/office/powerpoint/2010/main" val="218539640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CONT.SE.1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0.10um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Contact on Active Area to gate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84" name="Google Shape;1684;p66">
            <a:extLst>
              <a:ext uri="{FF2B5EF4-FFF2-40B4-BE49-F238E27FC236}">
                <a16:creationId xmlns:a16="http://schemas.microsoft.com/office/drawing/2014/main" id="{B185905F-B1E0-4D93-8150-93A70565F02B}"/>
              </a:ext>
            </a:extLst>
          </p:cNvPr>
          <p:cNvSpPr>
            <a:spLocks noGrp="1"/>
          </p:cNvSpPr>
          <p:nvPr/>
        </p:nvSpPr>
        <p:spPr>
          <a:xfrm>
            <a:off x="6405833" y="2751867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cxnSp>
        <p:nvCxnSpPr>
          <p:cNvPr id="1780" name="Google Shape;1685;p66"/>
          <p:cNvCxnSpPr/>
          <p:nvPr/>
        </p:nvCxnSpPr>
        <p:spPr>
          <a:xfrm>
            <a:off x="6806203" y="2944690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781" name="Google Shape;1686;p66"/>
          <p:cNvCxnSpPr/>
          <p:nvPr/>
        </p:nvCxnSpPr>
        <p:spPr>
          <a:xfrm>
            <a:off x="7997415" y="2960883"/>
            <a:ext cx="0" cy="206561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782" name="Google Shape;1687;p66"/>
          <p:cNvCxnSpPr/>
          <p:nvPr/>
        </p:nvCxnSpPr>
        <p:spPr>
          <a:xfrm flipH="1">
            <a:off x="9553235" y="2964853"/>
            <a:ext cx="7636" cy="205767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783" name="Google Shape;1688;p66"/>
          <p:cNvCxnSpPr/>
          <p:nvPr/>
        </p:nvCxnSpPr>
        <p:spPr>
          <a:xfrm>
            <a:off x="10808807" y="3085340"/>
            <a:ext cx="0" cy="203562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784" name="Google Shape;1689;p6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1428" y="1562592"/>
            <a:ext cx="1742129" cy="1163889"/>
          </a:xfrm>
          <a:prstGeom prst="rect">
            <a:avLst/>
          </a:prstGeom>
          <a:ln>
            <a:noFill/>
          </a:ln>
        </p:spPr>
      </p:pic>
      <p:pic>
        <p:nvPicPr>
          <p:cNvPr id="1785" name="Google Shape;1690;p6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573" y="3827875"/>
            <a:ext cx="4086438" cy="2659118"/>
          </a:xfrm>
          <a:prstGeom prst="rect">
            <a:avLst/>
          </a:prstGeom>
          <a:ln>
            <a:noFill/>
          </a:ln>
        </p:spPr>
      </p:pic>
      <p:cxnSp>
        <p:nvCxnSpPr>
          <p:cNvPr id="1786" name="Google Shape;1691;p66"/>
          <p:cNvCxnSpPr/>
          <p:nvPr/>
        </p:nvCxnSpPr>
        <p:spPr>
          <a:xfrm rot="10800000">
            <a:off x="2629579" y="5270660"/>
            <a:ext cx="1606760" cy="20275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692" name="Google Shape;1692;p66">
            <a:extLst>
              <a:ext uri="{FF2B5EF4-FFF2-40B4-BE49-F238E27FC236}">
                <a16:creationId xmlns:a16="http://schemas.microsoft.com/office/drawing/2014/main" id="{DE394B0C-40F8-4D39-B1AB-D7DF5041D939}"/>
              </a:ext>
            </a:extLst>
          </p:cNvPr>
          <p:cNvSpPr>
            <a:spLocks noGrp="1"/>
          </p:cNvSpPr>
          <p:nvPr/>
        </p:nvSpPr>
        <p:spPr>
          <a:xfrm>
            <a:off x="2947119" y="4788102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0.10um</a:t>
            </a:r>
          </a:p>
        </p:txBody>
      </p:sp>
      <p:sp>
        <p:nvSpPr>
          <p:cNvPr id="1693" name="Google Shape;1693;p66">
            <a:extLst>
              <a:ext uri="{FF2B5EF4-FFF2-40B4-BE49-F238E27FC236}">
                <a16:creationId xmlns:a16="http://schemas.microsoft.com/office/drawing/2014/main" id="{117BBEB2-9F89-4F2A-83C8-2186F3A5F62A}"/>
              </a:ext>
            </a:extLst>
          </p:cNvPr>
          <p:cNvSpPr>
            <a:spLocks noGrp="1"/>
          </p:cNvSpPr>
          <p:nvPr/>
        </p:nvSpPr>
        <p:spPr>
          <a:xfrm>
            <a:off x="9646611" y="3934459"/>
            <a:ext cx="15468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0.10um</a:t>
            </a:r>
          </a:p>
        </p:txBody>
      </p:sp>
      <p:cxnSp>
        <p:nvCxnSpPr>
          <p:cNvPr id="1789" name="Google Shape;1694;p66"/>
          <p:cNvCxnSpPr/>
          <p:nvPr/>
        </p:nvCxnSpPr>
        <p:spPr>
          <a:xfrm rot="10800000" flipH="1">
            <a:off x="9606055" y="4413530"/>
            <a:ext cx="1195207" cy="1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695" name="Google Shape;1695;p66">
            <a:extLst>
              <a:ext uri="{FF2B5EF4-FFF2-40B4-BE49-F238E27FC236}">
                <a16:creationId xmlns:a16="http://schemas.microsoft.com/office/drawing/2014/main" id="{56DD7D39-B563-43FF-ABFD-471ECDFE7673}"/>
              </a:ext>
            </a:extLst>
          </p:cNvPr>
          <p:cNvSpPr>
            <a:spLocks noGrp="1"/>
          </p:cNvSpPr>
          <p:nvPr/>
        </p:nvSpPr>
        <p:spPr>
          <a:xfrm>
            <a:off x="7681858" y="5361865"/>
            <a:ext cx="3574585" cy="1082358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1696" name="Google Shape;1696;p66">
            <a:extLst>
              <a:ext uri="{FF2B5EF4-FFF2-40B4-BE49-F238E27FC236}">
                <a16:creationId xmlns:a16="http://schemas.microsoft.com/office/drawing/2014/main" id="{1A3232CF-74F6-4661-89E5-7B62C686C21E}"/>
              </a:ext>
            </a:extLst>
          </p:cNvPr>
          <p:cNvSpPr>
            <a:spLocks noGrp="1"/>
          </p:cNvSpPr>
          <p:nvPr/>
        </p:nvSpPr>
        <p:spPr>
          <a:xfrm>
            <a:off x="7997413" y="5121971"/>
            <a:ext cx="1563364" cy="2666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Silicide</a:t>
            </a:r>
          </a:p>
        </p:txBody>
      </p:sp>
      <p:sp>
        <p:nvSpPr>
          <p:cNvPr id="1697" name="Google Shape;1697;p66">
            <a:extLst>
              <a:ext uri="{FF2B5EF4-FFF2-40B4-BE49-F238E27FC236}">
                <a16:creationId xmlns:a16="http://schemas.microsoft.com/office/drawing/2014/main" id="{31432335-1649-4923-82D6-7F3160A332DB}"/>
              </a:ext>
            </a:extLst>
          </p:cNvPr>
          <p:cNvSpPr>
            <a:spLocks noGrp="1"/>
          </p:cNvSpPr>
          <p:nvPr/>
        </p:nvSpPr>
        <p:spPr>
          <a:xfrm>
            <a:off x="7685532" y="5117274"/>
            <a:ext cx="317818" cy="28283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8" name="Google Shape;1698;p66">
            <a:extLst>
              <a:ext uri="{FF2B5EF4-FFF2-40B4-BE49-F238E27FC236}">
                <a16:creationId xmlns:a16="http://schemas.microsoft.com/office/drawing/2014/main" id="{97C0EFC1-4F2B-42AD-829A-98761D23A08A}"/>
              </a:ext>
            </a:extLst>
          </p:cNvPr>
          <p:cNvSpPr>
            <a:spLocks noGrp="1"/>
          </p:cNvSpPr>
          <p:nvPr/>
        </p:nvSpPr>
        <p:spPr>
          <a:xfrm>
            <a:off x="9562384" y="5089669"/>
            <a:ext cx="1703395" cy="30145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1699" name="Google Shape;1699;p66">
            <a:extLst>
              <a:ext uri="{FF2B5EF4-FFF2-40B4-BE49-F238E27FC236}">
                <a16:creationId xmlns:a16="http://schemas.microsoft.com/office/drawing/2014/main" id="{58C02767-5EF9-461E-9D0E-80FDC6C06747}"/>
              </a:ext>
            </a:extLst>
          </p:cNvPr>
          <p:cNvSpPr>
            <a:spLocks noGrp="1"/>
          </p:cNvSpPr>
          <p:nvPr/>
        </p:nvSpPr>
        <p:spPr>
          <a:xfrm>
            <a:off x="8004957" y="4752863"/>
            <a:ext cx="1548181" cy="368105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CONTACT</a:t>
            </a:r>
            <a:r>
              <a:rPr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t</a:t>
            </a:r>
          </a:p>
        </p:txBody>
      </p:sp>
      <p:sp>
        <p:nvSpPr>
          <p:cNvPr id="1700" name="Google Shape;1700;p66">
            <a:extLst>
              <a:ext uri="{FF2B5EF4-FFF2-40B4-BE49-F238E27FC236}">
                <a16:creationId xmlns:a16="http://schemas.microsoft.com/office/drawing/2014/main" id="{CD716350-45D2-42C3-B721-45632FA8A891}"/>
              </a:ext>
            </a:extLst>
          </p:cNvPr>
          <p:cNvSpPr>
            <a:spLocks noGrp="1"/>
          </p:cNvSpPr>
          <p:nvPr/>
        </p:nvSpPr>
        <p:spPr>
          <a:xfrm>
            <a:off x="7674005" y="4750333"/>
            <a:ext cx="329344" cy="3681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1" name="Google Shape;1701;p66">
            <a:extLst>
              <a:ext uri="{FF2B5EF4-FFF2-40B4-BE49-F238E27FC236}">
                <a16:creationId xmlns:a16="http://schemas.microsoft.com/office/drawing/2014/main" id="{E857EE6F-E263-4E99-BD9F-16E5811620F6}"/>
              </a:ext>
            </a:extLst>
          </p:cNvPr>
          <p:cNvSpPr>
            <a:spLocks noGrp="1"/>
          </p:cNvSpPr>
          <p:nvPr/>
        </p:nvSpPr>
        <p:spPr>
          <a:xfrm>
            <a:off x="9568229" y="4750333"/>
            <a:ext cx="1240479" cy="3531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ILD</a:t>
            </a:r>
          </a:p>
        </p:txBody>
      </p:sp>
      <p:sp>
        <p:nvSpPr>
          <p:cNvPr id="1702" name="Google Shape;1702;p66">
            <a:extLst>
              <a:ext uri="{FF2B5EF4-FFF2-40B4-BE49-F238E27FC236}">
                <a16:creationId xmlns:a16="http://schemas.microsoft.com/office/drawing/2014/main" id="{26461D0E-B132-4BB9-83A8-87C776024AAB}"/>
              </a:ext>
            </a:extLst>
          </p:cNvPr>
          <p:cNvSpPr>
            <a:spLocks noGrp="1"/>
          </p:cNvSpPr>
          <p:nvPr/>
        </p:nvSpPr>
        <p:spPr>
          <a:xfrm>
            <a:off x="8004960" y="4413527"/>
            <a:ext cx="1555817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METAL 1</a:t>
            </a:r>
          </a:p>
        </p:txBody>
      </p:sp>
      <p:sp>
        <p:nvSpPr>
          <p:cNvPr id="1703" name="Google Shape;1703;p66">
            <a:extLst>
              <a:ext uri="{FF2B5EF4-FFF2-40B4-BE49-F238E27FC236}">
                <a16:creationId xmlns:a16="http://schemas.microsoft.com/office/drawing/2014/main" id="{7944BF58-D9C4-402D-B4A9-40D34A8E10A7}"/>
              </a:ext>
            </a:extLst>
          </p:cNvPr>
          <p:cNvSpPr>
            <a:spLocks noGrp="1"/>
          </p:cNvSpPr>
          <p:nvPr/>
        </p:nvSpPr>
        <p:spPr>
          <a:xfrm>
            <a:off x="7964429" y="5391119"/>
            <a:ext cx="1641625" cy="26125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1704" name="Google Shape;1704;p66">
            <a:extLst>
              <a:ext uri="{FF2B5EF4-FFF2-40B4-BE49-F238E27FC236}">
                <a16:creationId xmlns:a16="http://schemas.microsoft.com/office/drawing/2014/main" id="{C4A94859-02CB-4F92-B6A8-94906AFEFDAD}"/>
              </a:ext>
            </a:extLst>
          </p:cNvPr>
          <p:cNvSpPr>
            <a:spLocks noGrp="1"/>
          </p:cNvSpPr>
          <p:nvPr/>
        </p:nvSpPr>
        <p:spPr>
          <a:xfrm>
            <a:off x="10808708" y="4770853"/>
            <a:ext cx="447733" cy="332620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5" name="Google Shape;1705;p66">
            <a:extLst>
              <a:ext uri="{FF2B5EF4-FFF2-40B4-BE49-F238E27FC236}">
                <a16:creationId xmlns:a16="http://schemas.microsoft.com/office/drawing/2014/main" id="{92784053-0B48-47B4-AFAB-50D210AE5D93}"/>
              </a:ext>
            </a:extLst>
          </p:cNvPr>
          <p:cNvSpPr>
            <a:spLocks noGrp="1"/>
          </p:cNvSpPr>
          <p:nvPr/>
        </p:nvSpPr>
        <p:spPr>
          <a:xfrm>
            <a:off x="517589" y="2749199"/>
            <a:ext cx="413180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Gate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손상·Short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방지를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Contact-Gate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간격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73" name="Slide 5 copied left comparison heading">
            <a:extLst>
              <a:ext uri="{FF2B5EF4-FFF2-40B4-BE49-F238E27FC236}">
                <a16:creationId xmlns:a16="http://schemas.microsoft.com/office/drawing/2014/main" id="{3ADA5F97-0072-461C-981C-71ACF422B7EA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774" name="Slide 5 copied right comparison heading">
            <a:extLst>
              <a:ext uri="{FF2B5EF4-FFF2-40B4-BE49-F238E27FC236}">
                <a16:creationId xmlns:a16="http://schemas.microsoft.com/office/drawing/2014/main" id="{5C5BCBBF-6F88-4AA3-B999-C1A1A941DF64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5E8452-0DCA-43AD-011F-6651B4C67CBD}"/>
              </a:ext>
            </a:extLst>
          </p:cNvPr>
          <p:cNvSpPr/>
          <p:nvPr/>
        </p:nvSpPr>
        <p:spPr>
          <a:xfrm>
            <a:off x="8005266" y="5114869"/>
            <a:ext cx="1563364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Silicide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00701B-BA7C-686E-0FB5-42D4FBD41604}"/>
              </a:ext>
            </a:extLst>
          </p:cNvPr>
          <p:cNvSpPr/>
          <p:nvPr/>
        </p:nvSpPr>
        <p:spPr>
          <a:xfrm>
            <a:off x="7681858" y="4743231"/>
            <a:ext cx="329344" cy="368105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AE1B03-5765-1EAB-B58D-50888D600C34}"/>
              </a:ext>
            </a:extLst>
          </p:cNvPr>
          <p:cNvSpPr/>
          <p:nvPr/>
        </p:nvSpPr>
        <p:spPr>
          <a:xfrm>
            <a:off x="9576082" y="4743231"/>
            <a:ext cx="1240479" cy="353140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3610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6CDA34D-FD73-344F-EB4D-6FA1815F3F46}"/>
              </a:ext>
            </a:extLst>
          </p:cNvPr>
          <p:cNvSpPr/>
          <p:nvPr/>
        </p:nvSpPr>
        <p:spPr>
          <a:xfrm>
            <a:off x="7555537" y="4925869"/>
            <a:ext cx="3700812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7DA4109-AB9B-C939-FEF5-129B1257A6D8}"/>
              </a:ext>
            </a:extLst>
          </p:cNvPr>
          <p:cNvSpPr/>
          <p:nvPr/>
        </p:nvSpPr>
        <p:spPr>
          <a:xfrm>
            <a:off x="7767203" y="5255000"/>
            <a:ext cx="3214935" cy="350564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31" name="Google Shape;1714;p67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1832" name="Google Shape;1715;p67"/>
          <p:cNvGraphicFramePr/>
          <p:nvPr>
            <p:extLst>
              <p:ext uri="{D42A27DB-BD31-4B8C-83A1-F6EECF244321}">
                <p14:modId xmlns:p14="http://schemas.microsoft.com/office/powerpoint/2010/main" val="3401481219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CONT.SE.3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0.12um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gate Contact to Active Area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33" name="Google Shape;1716;p6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101" y="1556925"/>
            <a:ext cx="1816464" cy="1225744"/>
          </a:xfrm>
          <a:prstGeom prst="rect">
            <a:avLst/>
          </a:prstGeom>
          <a:ln>
            <a:noFill/>
          </a:ln>
        </p:spPr>
      </p:pic>
      <p:pic>
        <p:nvPicPr>
          <p:cNvPr id="1834" name="Google Shape;1717;p67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9413" y="3672253"/>
            <a:ext cx="2834786" cy="2822901"/>
          </a:xfrm>
          <a:prstGeom prst="rect">
            <a:avLst/>
          </a:prstGeom>
          <a:ln>
            <a:noFill/>
          </a:ln>
        </p:spPr>
      </p:pic>
      <p:cxnSp>
        <p:nvCxnSpPr>
          <p:cNvPr id="1835" name="Google Shape;1718;p67"/>
          <p:cNvCxnSpPr/>
          <p:nvPr/>
        </p:nvCxnSpPr>
        <p:spPr>
          <a:xfrm rot="10800000">
            <a:off x="1588286" y="3950513"/>
            <a:ext cx="0" cy="652632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719" name="Google Shape;1719;p67">
            <a:extLst>
              <a:ext uri="{FF2B5EF4-FFF2-40B4-BE49-F238E27FC236}">
                <a16:creationId xmlns:a16="http://schemas.microsoft.com/office/drawing/2014/main" id="{F9B2F0AE-A78E-4002-A90B-597E289AF16D}"/>
              </a:ext>
            </a:extLst>
          </p:cNvPr>
          <p:cNvSpPr>
            <a:spLocks noGrp="1"/>
          </p:cNvSpPr>
          <p:nvPr/>
        </p:nvSpPr>
        <p:spPr>
          <a:xfrm>
            <a:off x="1682981" y="4053266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cxnSp>
        <p:nvCxnSpPr>
          <p:cNvPr id="1837" name="Google Shape;1720;p67"/>
          <p:cNvCxnSpPr/>
          <p:nvPr/>
        </p:nvCxnSpPr>
        <p:spPr>
          <a:xfrm>
            <a:off x="9909962" y="4388264"/>
            <a:ext cx="1042042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721" name="Google Shape;1721;p67">
            <a:extLst>
              <a:ext uri="{FF2B5EF4-FFF2-40B4-BE49-F238E27FC236}">
                <a16:creationId xmlns:a16="http://schemas.microsoft.com/office/drawing/2014/main" id="{345F7D82-238E-41A6-8B64-D6A6F500287D}"/>
              </a:ext>
            </a:extLst>
          </p:cNvPr>
          <p:cNvSpPr>
            <a:spLocks noGrp="1"/>
          </p:cNvSpPr>
          <p:nvPr/>
        </p:nvSpPr>
        <p:spPr>
          <a:xfrm>
            <a:off x="9975427" y="3935859"/>
            <a:ext cx="11487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sp>
        <p:nvSpPr>
          <p:cNvPr id="1722" name="Google Shape;1722;p67">
            <a:extLst>
              <a:ext uri="{FF2B5EF4-FFF2-40B4-BE49-F238E27FC236}">
                <a16:creationId xmlns:a16="http://schemas.microsoft.com/office/drawing/2014/main" id="{5628547B-95B1-4261-B323-6B4DFD4CC7F8}"/>
              </a:ext>
            </a:extLst>
          </p:cNvPr>
          <p:cNvSpPr>
            <a:spLocks noGrp="1"/>
          </p:cNvSpPr>
          <p:nvPr/>
        </p:nvSpPr>
        <p:spPr>
          <a:xfrm>
            <a:off x="8449308" y="5264784"/>
            <a:ext cx="1793803" cy="330868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23" name="Google Shape;1723;p67">
            <a:extLst>
              <a:ext uri="{FF2B5EF4-FFF2-40B4-BE49-F238E27FC236}">
                <a16:creationId xmlns:a16="http://schemas.microsoft.com/office/drawing/2014/main" id="{D7876E6B-6738-4504-894D-22917A15C157}"/>
              </a:ext>
            </a:extLst>
          </p:cNvPr>
          <p:cNvSpPr>
            <a:spLocks noGrp="1"/>
          </p:cNvSpPr>
          <p:nvPr/>
        </p:nvSpPr>
        <p:spPr>
          <a:xfrm>
            <a:off x="8792778" y="4920832"/>
            <a:ext cx="1100153" cy="3385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41" name="Google Shape;1724;p67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8397921" y="940537"/>
            <a:ext cx="1963774" cy="3693571"/>
          </a:xfrm>
          <a:prstGeom prst="rect">
            <a:avLst/>
          </a:prstGeom>
          <a:ln>
            <a:noFill/>
          </a:ln>
        </p:spPr>
      </p:pic>
      <p:sp>
        <p:nvSpPr>
          <p:cNvPr id="1725" name="Google Shape;1725;p67">
            <a:extLst>
              <a:ext uri="{FF2B5EF4-FFF2-40B4-BE49-F238E27FC236}">
                <a16:creationId xmlns:a16="http://schemas.microsoft.com/office/drawing/2014/main" id="{89391213-E010-41B7-BCDE-FB731CABD7A6}"/>
              </a:ext>
            </a:extLst>
          </p:cNvPr>
          <p:cNvSpPr>
            <a:spLocks noGrp="1"/>
          </p:cNvSpPr>
          <p:nvPr/>
        </p:nvSpPr>
        <p:spPr>
          <a:xfrm>
            <a:off x="7733128" y="5592240"/>
            <a:ext cx="3200455" cy="330868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843" name="Google Shape;1726;p67"/>
          <p:cNvCxnSpPr/>
          <p:nvPr/>
        </p:nvCxnSpPr>
        <p:spPr>
          <a:xfrm>
            <a:off x="6884738" y="3104543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727" name="Google Shape;1727;p67">
            <a:extLst>
              <a:ext uri="{FF2B5EF4-FFF2-40B4-BE49-F238E27FC236}">
                <a16:creationId xmlns:a16="http://schemas.microsoft.com/office/drawing/2014/main" id="{E3356DEF-F890-4193-B685-859C4D675C6F}"/>
              </a:ext>
            </a:extLst>
          </p:cNvPr>
          <p:cNvSpPr>
            <a:spLocks noGrp="1"/>
          </p:cNvSpPr>
          <p:nvPr/>
        </p:nvSpPr>
        <p:spPr>
          <a:xfrm>
            <a:off x="6451493" y="2909980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sp>
        <p:nvSpPr>
          <p:cNvPr id="1728" name="Google Shape;1728;p67">
            <a:extLst>
              <a:ext uri="{FF2B5EF4-FFF2-40B4-BE49-F238E27FC236}">
                <a16:creationId xmlns:a16="http://schemas.microsoft.com/office/drawing/2014/main" id="{0209BBAA-2714-459F-9102-67BF268239BF}"/>
              </a:ext>
            </a:extLst>
          </p:cNvPr>
          <p:cNvSpPr>
            <a:spLocks noGrp="1"/>
          </p:cNvSpPr>
          <p:nvPr/>
        </p:nvSpPr>
        <p:spPr>
          <a:xfrm>
            <a:off x="7528299" y="5613668"/>
            <a:ext cx="3699481" cy="1067752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cxnSp>
        <p:nvCxnSpPr>
          <p:cNvPr id="1846" name="Google Shape;1729;p67"/>
          <p:cNvCxnSpPr/>
          <p:nvPr/>
        </p:nvCxnSpPr>
        <p:spPr>
          <a:xfrm>
            <a:off x="7726010" y="3156393"/>
            <a:ext cx="14093" cy="176443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847" name="Google Shape;1730;p67"/>
          <p:cNvCxnSpPr/>
          <p:nvPr/>
        </p:nvCxnSpPr>
        <p:spPr>
          <a:xfrm>
            <a:off x="10940700" y="3114096"/>
            <a:ext cx="0" cy="176443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848" name="Google Shape;1731;p67"/>
          <p:cNvCxnSpPr/>
          <p:nvPr/>
        </p:nvCxnSpPr>
        <p:spPr>
          <a:xfrm>
            <a:off x="9887670" y="3073095"/>
            <a:ext cx="911" cy="179578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849" name="Google Shape;1732;p67"/>
          <p:cNvCxnSpPr/>
          <p:nvPr/>
        </p:nvCxnSpPr>
        <p:spPr>
          <a:xfrm>
            <a:off x="8797826" y="3322036"/>
            <a:ext cx="6164" cy="154684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733" name="Google Shape;1733;p67">
            <a:extLst>
              <a:ext uri="{FF2B5EF4-FFF2-40B4-BE49-F238E27FC236}">
                <a16:creationId xmlns:a16="http://schemas.microsoft.com/office/drawing/2014/main" id="{11472E24-D4B7-4D5E-AC72-B1A9D30F9E0B}"/>
              </a:ext>
            </a:extLst>
          </p:cNvPr>
          <p:cNvSpPr>
            <a:spLocks noGrp="1"/>
          </p:cNvSpPr>
          <p:nvPr/>
        </p:nvSpPr>
        <p:spPr>
          <a:xfrm>
            <a:off x="7733127" y="5612276"/>
            <a:ext cx="3206913" cy="30834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1735" name="Google Shape;1735;p67">
            <a:extLst>
              <a:ext uri="{FF2B5EF4-FFF2-40B4-BE49-F238E27FC236}">
                <a16:creationId xmlns:a16="http://schemas.microsoft.com/office/drawing/2014/main" id="{A7ED9164-DED8-4A52-A222-A910D1B8B30D}"/>
              </a:ext>
            </a:extLst>
          </p:cNvPr>
          <p:cNvSpPr>
            <a:spLocks noGrp="1"/>
          </p:cNvSpPr>
          <p:nvPr/>
        </p:nvSpPr>
        <p:spPr>
          <a:xfrm>
            <a:off x="8455215" y="5267031"/>
            <a:ext cx="1789979" cy="343482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POLY / Gate</a:t>
            </a:r>
          </a:p>
        </p:txBody>
      </p:sp>
      <p:sp>
        <p:nvSpPr>
          <p:cNvPr id="1736" name="Google Shape;1736;p67">
            <a:extLst>
              <a:ext uri="{FF2B5EF4-FFF2-40B4-BE49-F238E27FC236}">
                <a16:creationId xmlns:a16="http://schemas.microsoft.com/office/drawing/2014/main" id="{9F0E97AD-D18D-46D2-91CC-0F00D96011EC}"/>
              </a:ext>
            </a:extLst>
          </p:cNvPr>
          <p:cNvSpPr>
            <a:spLocks noGrp="1"/>
          </p:cNvSpPr>
          <p:nvPr/>
        </p:nvSpPr>
        <p:spPr>
          <a:xfrm>
            <a:off x="8803990" y="4930378"/>
            <a:ext cx="1084591" cy="300179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CONTACT</a:t>
            </a:r>
            <a:r>
              <a:rPr sz="105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t</a:t>
            </a:r>
          </a:p>
        </p:txBody>
      </p:sp>
      <p:sp>
        <p:nvSpPr>
          <p:cNvPr id="1737" name="Google Shape;1737;p67">
            <a:extLst>
              <a:ext uri="{FF2B5EF4-FFF2-40B4-BE49-F238E27FC236}">
                <a16:creationId xmlns:a16="http://schemas.microsoft.com/office/drawing/2014/main" id="{537DF8B8-FCB9-4377-953F-B2CB8D1C3500}"/>
              </a:ext>
            </a:extLst>
          </p:cNvPr>
          <p:cNvSpPr>
            <a:spLocks noGrp="1"/>
          </p:cNvSpPr>
          <p:nvPr/>
        </p:nvSpPr>
        <p:spPr>
          <a:xfrm>
            <a:off x="7528825" y="4588491"/>
            <a:ext cx="219208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8" name="Google Shape;1738;p67">
            <a:extLst>
              <a:ext uri="{FF2B5EF4-FFF2-40B4-BE49-F238E27FC236}">
                <a16:creationId xmlns:a16="http://schemas.microsoft.com/office/drawing/2014/main" id="{CF9EB39E-4DA1-46E5-951D-04F437F6EF7B}"/>
              </a:ext>
            </a:extLst>
          </p:cNvPr>
          <p:cNvSpPr>
            <a:spLocks noGrp="1"/>
          </p:cNvSpPr>
          <p:nvPr/>
        </p:nvSpPr>
        <p:spPr>
          <a:xfrm>
            <a:off x="10954898" y="4594429"/>
            <a:ext cx="271694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39" name="Google Shape;1739;p67">
            <a:extLst>
              <a:ext uri="{FF2B5EF4-FFF2-40B4-BE49-F238E27FC236}">
                <a16:creationId xmlns:a16="http://schemas.microsoft.com/office/drawing/2014/main" id="{86AC1ABB-7635-4A1B-8033-9071A36A3A5B}"/>
              </a:ext>
            </a:extLst>
          </p:cNvPr>
          <p:cNvSpPr>
            <a:spLocks noGrp="1"/>
          </p:cNvSpPr>
          <p:nvPr/>
        </p:nvSpPr>
        <p:spPr>
          <a:xfrm>
            <a:off x="7521842" y="5257840"/>
            <a:ext cx="227260" cy="355828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40" name="Google Shape;1740;p67">
            <a:extLst>
              <a:ext uri="{FF2B5EF4-FFF2-40B4-BE49-F238E27FC236}">
                <a16:creationId xmlns:a16="http://schemas.microsoft.com/office/drawing/2014/main" id="{B52EC02F-106A-4B3F-B4B6-529E9F46200F}"/>
              </a:ext>
            </a:extLst>
          </p:cNvPr>
          <p:cNvSpPr>
            <a:spLocks noGrp="1"/>
          </p:cNvSpPr>
          <p:nvPr/>
        </p:nvSpPr>
        <p:spPr>
          <a:xfrm>
            <a:off x="10961357" y="5256077"/>
            <a:ext cx="265237" cy="355828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41" name="Google Shape;1741;p67">
            <a:extLst>
              <a:ext uri="{FF2B5EF4-FFF2-40B4-BE49-F238E27FC236}">
                <a16:creationId xmlns:a16="http://schemas.microsoft.com/office/drawing/2014/main" id="{B06F2C11-F23F-47D9-9D2F-89BB5E5C7694}"/>
              </a:ext>
            </a:extLst>
          </p:cNvPr>
          <p:cNvSpPr>
            <a:spLocks noGrp="1"/>
          </p:cNvSpPr>
          <p:nvPr/>
        </p:nvSpPr>
        <p:spPr>
          <a:xfrm>
            <a:off x="515294" y="2782669"/>
            <a:ext cx="430839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Gate-Active Short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방지를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최소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Gate Contact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간격</a:t>
            </a:r>
            <a:endParaRPr sz="18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1827" name="Slide 5 copied left comparison heading">
            <a:extLst>
              <a:ext uri="{FF2B5EF4-FFF2-40B4-BE49-F238E27FC236}">
                <a16:creationId xmlns:a16="http://schemas.microsoft.com/office/drawing/2014/main" id="{AE3F983E-5FCB-4699-B199-9A1FC2E712D7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828" name="Slide 5 copied right comparison heading">
            <a:extLst>
              <a:ext uri="{FF2B5EF4-FFF2-40B4-BE49-F238E27FC236}">
                <a16:creationId xmlns:a16="http://schemas.microsoft.com/office/drawing/2014/main" id="{A594DFBA-C909-4497-A77E-FFCEBE462F3F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54274352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1" name="Google Shape;1746;p6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8988" y="1475106"/>
            <a:ext cx="2565716" cy="2516089"/>
          </a:xfrm>
          <a:prstGeom prst="rect">
            <a:avLst/>
          </a:prstGeom>
          <a:ln>
            <a:noFill/>
          </a:ln>
        </p:spPr>
      </p:pic>
      <p:cxnSp>
        <p:nvCxnSpPr>
          <p:cNvPr id="1883" name="Google Shape;1750;p68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1884" name="Google Shape;1751;p68"/>
          <p:cNvGraphicFramePr/>
          <p:nvPr>
            <p:extLst>
              <p:ext uri="{D42A27DB-BD31-4B8C-83A1-F6EECF244321}">
                <p14:modId xmlns:p14="http://schemas.microsoft.com/office/powerpoint/2010/main" val="99117736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CONT.E.1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0.06um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Active Area to Contact enclosure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85" name="Google Shape;1752;p6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294" y="1576896"/>
            <a:ext cx="1825087" cy="1077100"/>
          </a:xfrm>
          <a:prstGeom prst="rect">
            <a:avLst/>
          </a:prstGeom>
          <a:ln>
            <a:noFill/>
          </a:ln>
        </p:spPr>
      </p:pic>
      <p:pic>
        <p:nvPicPr>
          <p:cNvPr id="1886" name="Google Shape;1753;p6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6888" y="3479523"/>
            <a:ext cx="2958312" cy="2901091"/>
          </a:xfrm>
          <a:prstGeom prst="rect">
            <a:avLst/>
          </a:prstGeom>
          <a:ln>
            <a:noFill/>
          </a:ln>
        </p:spPr>
      </p:pic>
      <p:cxnSp>
        <p:nvCxnSpPr>
          <p:cNvPr id="1887" name="Google Shape;1754;p68"/>
          <p:cNvCxnSpPr/>
          <p:nvPr/>
        </p:nvCxnSpPr>
        <p:spPr>
          <a:xfrm rot="10800000">
            <a:off x="2335091" y="3694477"/>
            <a:ext cx="0" cy="852841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755" name="Google Shape;1755;p68">
            <a:extLst>
              <a:ext uri="{FF2B5EF4-FFF2-40B4-BE49-F238E27FC236}">
                <a16:creationId xmlns:a16="http://schemas.microsoft.com/office/drawing/2014/main" id="{9AA3B075-C01E-4AE7-8C72-C9D736C24612}"/>
              </a:ext>
            </a:extLst>
          </p:cNvPr>
          <p:cNvSpPr>
            <a:spLocks noGrp="1"/>
          </p:cNvSpPr>
          <p:nvPr/>
        </p:nvSpPr>
        <p:spPr>
          <a:xfrm>
            <a:off x="2544086" y="3991195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0.06um</a:t>
            </a:r>
          </a:p>
        </p:txBody>
      </p:sp>
      <p:cxnSp>
        <p:nvCxnSpPr>
          <p:cNvPr id="1889" name="Google Shape;1756;p68"/>
          <p:cNvCxnSpPr/>
          <p:nvPr/>
        </p:nvCxnSpPr>
        <p:spPr>
          <a:xfrm rot="10800000">
            <a:off x="935558" y="5089669"/>
            <a:ext cx="723910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757" name="Google Shape;1757;p68">
            <a:extLst>
              <a:ext uri="{FF2B5EF4-FFF2-40B4-BE49-F238E27FC236}">
                <a16:creationId xmlns:a16="http://schemas.microsoft.com/office/drawing/2014/main" id="{D64A3261-8BD8-4D56-8A17-6BA5AA081A76}"/>
              </a:ext>
            </a:extLst>
          </p:cNvPr>
          <p:cNvSpPr>
            <a:spLocks noGrp="1"/>
          </p:cNvSpPr>
          <p:nvPr/>
        </p:nvSpPr>
        <p:spPr>
          <a:xfrm>
            <a:off x="809860" y="4585429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0.06um</a:t>
            </a:r>
          </a:p>
        </p:txBody>
      </p:sp>
      <p:cxnSp>
        <p:nvCxnSpPr>
          <p:cNvPr id="1891" name="Google Shape;1758;p68"/>
          <p:cNvCxnSpPr/>
          <p:nvPr/>
        </p:nvCxnSpPr>
        <p:spPr>
          <a:xfrm>
            <a:off x="10839378" y="3782287"/>
            <a:ext cx="0" cy="1789554"/>
          </a:xfrm>
          <a:prstGeom prst="straightConnector1">
            <a:avLst/>
          </a:prstGeom>
          <a:ln>
            <a:noFill/>
          </a:ln>
        </p:spPr>
      </p:cxnSp>
      <p:cxnSp>
        <p:nvCxnSpPr>
          <p:cNvPr id="1892" name="Google Shape;1759;p68"/>
          <p:cNvCxnSpPr/>
          <p:nvPr/>
        </p:nvCxnSpPr>
        <p:spPr>
          <a:xfrm flipH="1">
            <a:off x="9445846" y="3786902"/>
            <a:ext cx="5810" cy="2270988"/>
          </a:xfrm>
          <a:prstGeom prst="straightConnector1">
            <a:avLst/>
          </a:prstGeom>
          <a:ln>
            <a:noFill/>
          </a:ln>
        </p:spPr>
      </p:cxnSp>
      <p:cxnSp>
        <p:nvCxnSpPr>
          <p:cNvPr id="1893" name="Google Shape;1760;p68"/>
          <p:cNvCxnSpPr/>
          <p:nvPr/>
        </p:nvCxnSpPr>
        <p:spPr>
          <a:xfrm>
            <a:off x="8757432" y="3991195"/>
            <a:ext cx="0" cy="2422111"/>
          </a:xfrm>
          <a:prstGeom prst="straightConnector1">
            <a:avLst/>
          </a:prstGeom>
          <a:ln>
            <a:noFill/>
          </a:ln>
        </p:spPr>
      </p:cxnSp>
      <p:sp>
        <p:nvSpPr>
          <p:cNvPr id="1761" name="Google Shape;1761;p68">
            <a:extLst>
              <a:ext uri="{FF2B5EF4-FFF2-40B4-BE49-F238E27FC236}">
                <a16:creationId xmlns:a16="http://schemas.microsoft.com/office/drawing/2014/main" id="{CDD9802D-1C63-4EC6-89E6-0C3ADA48568A}"/>
              </a:ext>
            </a:extLst>
          </p:cNvPr>
          <p:cNvSpPr>
            <a:spLocks noGrp="1"/>
          </p:cNvSpPr>
          <p:nvPr/>
        </p:nvSpPr>
        <p:spPr>
          <a:xfrm>
            <a:off x="6451659" y="2938449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sp>
        <p:nvSpPr>
          <p:cNvPr id="1762" name="Google Shape;1762;p68">
            <a:extLst>
              <a:ext uri="{FF2B5EF4-FFF2-40B4-BE49-F238E27FC236}">
                <a16:creationId xmlns:a16="http://schemas.microsoft.com/office/drawing/2014/main" id="{3D62CA8B-2B5F-445A-83DD-9130B0E68419}"/>
              </a:ext>
            </a:extLst>
          </p:cNvPr>
          <p:cNvSpPr>
            <a:spLocks noGrp="1"/>
          </p:cNvSpPr>
          <p:nvPr/>
        </p:nvSpPr>
        <p:spPr>
          <a:xfrm>
            <a:off x="8635206" y="4208764"/>
            <a:ext cx="15468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0.06um</a:t>
            </a:r>
          </a:p>
        </p:txBody>
      </p:sp>
      <p:cxnSp>
        <p:nvCxnSpPr>
          <p:cNvPr id="1896" name="Google Shape;1763;p68"/>
          <p:cNvCxnSpPr>
            <a:endCxn id="1764" idx="1"/>
          </p:cNvCxnSpPr>
          <p:nvPr/>
        </p:nvCxnSpPr>
        <p:spPr>
          <a:xfrm>
            <a:off x="8765118" y="4585429"/>
            <a:ext cx="688800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765" name="Google Shape;1765;p68">
            <a:extLst>
              <a:ext uri="{FF2B5EF4-FFF2-40B4-BE49-F238E27FC236}">
                <a16:creationId xmlns:a16="http://schemas.microsoft.com/office/drawing/2014/main" id="{1EDBAFDF-786A-4D90-A34C-247884A685B8}"/>
              </a:ext>
            </a:extLst>
          </p:cNvPr>
          <p:cNvSpPr>
            <a:spLocks noGrp="1"/>
          </p:cNvSpPr>
          <p:nvPr/>
        </p:nvSpPr>
        <p:spPr>
          <a:xfrm>
            <a:off x="7681858" y="5361865"/>
            <a:ext cx="3574585" cy="1082358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1766" name="Google Shape;1766;p68">
            <a:extLst>
              <a:ext uri="{FF2B5EF4-FFF2-40B4-BE49-F238E27FC236}">
                <a16:creationId xmlns:a16="http://schemas.microsoft.com/office/drawing/2014/main" id="{4DEBBECF-F84D-4C02-84A5-DC9E92BDEF11}"/>
              </a:ext>
            </a:extLst>
          </p:cNvPr>
          <p:cNvSpPr>
            <a:spLocks noGrp="1"/>
          </p:cNvSpPr>
          <p:nvPr/>
        </p:nvSpPr>
        <p:spPr>
          <a:xfrm>
            <a:off x="9453918" y="5115590"/>
            <a:ext cx="1414607" cy="2666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Sillicide</a:t>
            </a:r>
          </a:p>
        </p:txBody>
      </p:sp>
      <p:sp>
        <p:nvSpPr>
          <p:cNvPr id="1767" name="Google Shape;1767;p68">
            <a:extLst>
              <a:ext uri="{FF2B5EF4-FFF2-40B4-BE49-F238E27FC236}">
                <a16:creationId xmlns:a16="http://schemas.microsoft.com/office/drawing/2014/main" id="{B3E49F77-0E21-42B0-AC80-0BA209F7BD33}"/>
              </a:ext>
            </a:extLst>
          </p:cNvPr>
          <p:cNvSpPr>
            <a:spLocks noGrp="1"/>
          </p:cNvSpPr>
          <p:nvPr/>
        </p:nvSpPr>
        <p:spPr>
          <a:xfrm>
            <a:off x="8765070" y="5117274"/>
            <a:ext cx="694220" cy="28283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1768" name="Google Shape;1768;p68">
            <a:extLst>
              <a:ext uri="{FF2B5EF4-FFF2-40B4-BE49-F238E27FC236}">
                <a16:creationId xmlns:a16="http://schemas.microsoft.com/office/drawing/2014/main" id="{16F27415-8016-4011-A0C3-3524071D37BF}"/>
              </a:ext>
            </a:extLst>
          </p:cNvPr>
          <p:cNvSpPr>
            <a:spLocks noGrp="1"/>
          </p:cNvSpPr>
          <p:nvPr/>
        </p:nvSpPr>
        <p:spPr>
          <a:xfrm>
            <a:off x="10831741" y="5089669"/>
            <a:ext cx="439976" cy="30145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69" name="Google Shape;1769;p68">
            <a:extLst>
              <a:ext uri="{FF2B5EF4-FFF2-40B4-BE49-F238E27FC236}">
                <a16:creationId xmlns:a16="http://schemas.microsoft.com/office/drawing/2014/main" id="{B09DCC2A-5624-4A55-9D83-1134017BDFC4}"/>
              </a:ext>
            </a:extLst>
          </p:cNvPr>
          <p:cNvSpPr>
            <a:spLocks noGrp="1"/>
          </p:cNvSpPr>
          <p:nvPr/>
        </p:nvSpPr>
        <p:spPr>
          <a:xfrm>
            <a:off x="9445845" y="4747485"/>
            <a:ext cx="1389713" cy="368105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CONTACT</a:t>
            </a:r>
            <a:r>
              <a:rPr sz="16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t</a:t>
            </a:r>
          </a:p>
        </p:txBody>
      </p:sp>
      <p:sp>
        <p:nvSpPr>
          <p:cNvPr id="1770" name="Google Shape;1770;p68">
            <a:extLst>
              <a:ext uri="{FF2B5EF4-FFF2-40B4-BE49-F238E27FC236}">
                <a16:creationId xmlns:a16="http://schemas.microsoft.com/office/drawing/2014/main" id="{4DDD86AF-3283-4F08-93AF-C422ADDDF542}"/>
              </a:ext>
            </a:extLst>
          </p:cNvPr>
          <p:cNvSpPr>
            <a:spLocks noGrp="1"/>
          </p:cNvSpPr>
          <p:nvPr/>
        </p:nvSpPr>
        <p:spPr>
          <a:xfrm>
            <a:off x="8764977" y="4759941"/>
            <a:ext cx="673231" cy="3681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ILD</a:t>
            </a:r>
          </a:p>
        </p:txBody>
      </p:sp>
      <p:sp>
        <p:nvSpPr>
          <p:cNvPr id="1771" name="Google Shape;1771;p68">
            <a:extLst>
              <a:ext uri="{FF2B5EF4-FFF2-40B4-BE49-F238E27FC236}">
                <a16:creationId xmlns:a16="http://schemas.microsoft.com/office/drawing/2014/main" id="{72372572-6422-47B1-B140-A78D1E57F8E2}"/>
              </a:ext>
            </a:extLst>
          </p:cNvPr>
          <p:cNvSpPr>
            <a:spLocks noGrp="1"/>
          </p:cNvSpPr>
          <p:nvPr/>
        </p:nvSpPr>
        <p:spPr>
          <a:xfrm>
            <a:off x="10846923" y="4750333"/>
            <a:ext cx="409519" cy="3531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64" name="Google Shape;1764;p68">
            <a:extLst>
              <a:ext uri="{FF2B5EF4-FFF2-40B4-BE49-F238E27FC236}">
                <a16:creationId xmlns:a16="http://schemas.microsoft.com/office/drawing/2014/main" id="{F25670A8-48A3-443A-A75D-8A1BC04CC6B0}"/>
              </a:ext>
            </a:extLst>
          </p:cNvPr>
          <p:cNvSpPr>
            <a:spLocks noGrp="1"/>
          </p:cNvSpPr>
          <p:nvPr/>
        </p:nvSpPr>
        <p:spPr>
          <a:xfrm>
            <a:off x="9453918" y="4419995"/>
            <a:ext cx="1389233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METAL 1</a:t>
            </a:r>
          </a:p>
        </p:txBody>
      </p:sp>
      <p:sp>
        <p:nvSpPr>
          <p:cNvPr id="1772" name="Google Shape;1772;p68">
            <a:extLst>
              <a:ext uri="{FF2B5EF4-FFF2-40B4-BE49-F238E27FC236}">
                <a16:creationId xmlns:a16="http://schemas.microsoft.com/office/drawing/2014/main" id="{67F04709-9415-4AC8-87E2-8445BCAE3A18}"/>
              </a:ext>
            </a:extLst>
          </p:cNvPr>
          <p:cNvSpPr>
            <a:spLocks noGrp="1"/>
          </p:cNvSpPr>
          <p:nvPr/>
        </p:nvSpPr>
        <p:spPr>
          <a:xfrm>
            <a:off x="9363695" y="5379921"/>
            <a:ext cx="1609944" cy="2729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sp>
        <p:nvSpPr>
          <p:cNvPr id="1773" name="Google Shape;1773;p68">
            <a:extLst>
              <a:ext uri="{FF2B5EF4-FFF2-40B4-BE49-F238E27FC236}">
                <a16:creationId xmlns:a16="http://schemas.microsoft.com/office/drawing/2014/main" id="{6FEE9594-7378-4F93-BE24-A43EE551710D}"/>
              </a:ext>
            </a:extLst>
          </p:cNvPr>
          <p:cNvSpPr>
            <a:spLocks noGrp="1"/>
          </p:cNvSpPr>
          <p:nvPr/>
        </p:nvSpPr>
        <p:spPr>
          <a:xfrm>
            <a:off x="7681859" y="5323753"/>
            <a:ext cx="1079440" cy="483279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cxnSp>
        <p:nvCxnSpPr>
          <p:cNvPr id="1907" name="Google Shape;1774;p68"/>
          <p:cNvCxnSpPr/>
          <p:nvPr/>
        </p:nvCxnSpPr>
        <p:spPr>
          <a:xfrm>
            <a:off x="6884738" y="3104543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775" name="Google Shape;1775;p68">
            <a:extLst>
              <a:ext uri="{FF2B5EF4-FFF2-40B4-BE49-F238E27FC236}">
                <a16:creationId xmlns:a16="http://schemas.microsoft.com/office/drawing/2014/main" id="{8AA23AC7-6291-4CC2-8194-6EC1E39AB235}"/>
              </a:ext>
            </a:extLst>
          </p:cNvPr>
          <p:cNvSpPr>
            <a:spLocks noGrp="1"/>
          </p:cNvSpPr>
          <p:nvPr/>
        </p:nvSpPr>
        <p:spPr>
          <a:xfrm>
            <a:off x="457200" y="2743594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안정적인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Contact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형성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및 Contact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저항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감소를</a:t>
            </a:r>
            <a:r>
              <a:rPr lang="en-US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Active Area Enclosure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규정</a:t>
            </a:r>
            <a:endParaRPr sz="18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1879" name="Slide 5 copied left comparison heading">
            <a:extLst>
              <a:ext uri="{FF2B5EF4-FFF2-40B4-BE49-F238E27FC236}">
                <a16:creationId xmlns:a16="http://schemas.microsoft.com/office/drawing/2014/main" id="{BE7DAEB3-5F7F-42AB-B8F9-51340101BB59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880" name="Slide 5 copied right comparison heading">
            <a:extLst>
              <a:ext uri="{FF2B5EF4-FFF2-40B4-BE49-F238E27FC236}">
                <a16:creationId xmlns:a16="http://schemas.microsoft.com/office/drawing/2014/main" id="{C5F58723-4878-4387-9705-A634A49C970F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32AE20-8640-70DF-83BB-AFE3169ED89A}"/>
              </a:ext>
            </a:extLst>
          </p:cNvPr>
          <p:cNvSpPr/>
          <p:nvPr/>
        </p:nvSpPr>
        <p:spPr>
          <a:xfrm>
            <a:off x="9453918" y="5099238"/>
            <a:ext cx="1414607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Sillicide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8A076E-10ED-8397-492E-8D210DF8F1C6}"/>
              </a:ext>
            </a:extLst>
          </p:cNvPr>
          <p:cNvSpPr/>
          <p:nvPr/>
        </p:nvSpPr>
        <p:spPr>
          <a:xfrm>
            <a:off x="8764977" y="4743589"/>
            <a:ext cx="673231" cy="368105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ECA766-70DB-913A-C18B-06936D1019AD}"/>
              </a:ext>
            </a:extLst>
          </p:cNvPr>
          <p:cNvSpPr/>
          <p:nvPr/>
        </p:nvSpPr>
        <p:spPr>
          <a:xfrm>
            <a:off x="10846923" y="4733981"/>
            <a:ext cx="409519" cy="353140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41289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3" name="Google Shape;1780;p69"/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7091" b="6170"/>
          <a:stretch/>
        </p:blipFill>
        <p:spPr>
          <a:xfrm rot="5400000">
            <a:off x="8460404" y="1535679"/>
            <a:ext cx="2571488" cy="2393929"/>
          </a:xfrm>
          <a:prstGeom prst="rect">
            <a:avLst/>
          </a:prstGeom>
          <a:ln>
            <a:noFill/>
          </a:ln>
        </p:spPr>
      </p:pic>
      <p:cxnSp>
        <p:nvCxnSpPr>
          <p:cNvPr id="1915" name="Google Shape;1784;p69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1916" name="Google Shape;1785;p69"/>
          <p:cNvGraphicFramePr/>
          <p:nvPr>
            <p:extLst>
              <p:ext uri="{D42A27DB-BD31-4B8C-83A1-F6EECF244321}">
                <p14:modId xmlns:p14="http://schemas.microsoft.com/office/powerpoint/2010/main" val="2890576131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CONT.E.2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0.04um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Poly to Contact enclosure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17" name="Google Shape;1786;p69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872" y="1589592"/>
            <a:ext cx="1911996" cy="1114479"/>
          </a:xfrm>
          <a:prstGeom prst="rect">
            <a:avLst/>
          </a:prstGeom>
          <a:ln>
            <a:noFill/>
          </a:ln>
        </p:spPr>
      </p:pic>
      <p:pic>
        <p:nvPicPr>
          <p:cNvPr id="1918" name="Google Shape;1787;p6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94" y="3429000"/>
            <a:ext cx="2912001" cy="3125410"/>
          </a:xfrm>
          <a:prstGeom prst="rect">
            <a:avLst/>
          </a:prstGeom>
          <a:ln>
            <a:noFill/>
          </a:ln>
        </p:spPr>
      </p:pic>
      <p:cxnSp>
        <p:nvCxnSpPr>
          <p:cNvPr id="1919" name="Google Shape;1788;p69"/>
          <p:cNvCxnSpPr/>
          <p:nvPr/>
        </p:nvCxnSpPr>
        <p:spPr>
          <a:xfrm rot="10800000">
            <a:off x="1970663" y="4130602"/>
            <a:ext cx="0" cy="449637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789" name="Google Shape;1789;p69">
            <a:extLst>
              <a:ext uri="{FF2B5EF4-FFF2-40B4-BE49-F238E27FC236}">
                <a16:creationId xmlns:a16="http://schemas.microsoft.com/office/drawing/2014/main" id="{59561A99-B8B6-4921-83F5-3418A81722DA}"/>
              </a:ext>
            </a:extLst>
          </p:cNvPr>
          <p:cNvSpPr>
            <a:spLocks noGrp="1"/>
          </p:cNvSpPr>
          <p:nvPr/>
        </p:nvSpPr>
        <p:spPr>
          <a:xfrm>
            <a:off x="2074860" y="4145835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0.04um</a:t>
            </a:r>
          </a:p>
        </p:txBody>
      </p:sp>
      <p:cxnSp>
        <p:nvCxnSpPr>
          <p:cNvPr id="1921" name="Google Shape;1790;p69"/>
          <p:cNvCxnSpPr/>
          <p:nvPr/>
        </p:nvCxnSpPr>
        <p:spPr>
          <a:xfrm rot="10800000">
            <a:off x="1964886" y="5418434"/>
            <a:ext cx="0" cy="449637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791" name="Google Shape;1791;p69">
            <a:extLst>
              <a:ext uri="{FF2B5EF4-FFF2-40B4-BE49-F238E27FC236}">
                <a16:creationId xmlns:a16="http://schemas.microsoft.com/office/drawing/2014/main" id="{9CC4AB83-956B-4819-BCCA-DDB532FEDCEA}"/>
              </a:ext>
            </a:extLst>
          </p:cNvPr>
          <p:cNvSpPr>
            <a:spLocks noGrp="1"/>
          </p:cNvSpPr>
          <p:nvPr/>
        </p:nvSpPr>
        <p:spPr>
          <a:xfrm>
            <a:off x="2040388" y="5440437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0.04um</a:t>
            </a:r>
          </a:p>
        </p:txBody>
      </p:sp>
      <p:sp>
        <p:nvSpPr>
          <p:cNvPr id="1792" name="Google Shape;1792;p69">
            <a:extLst>
              <a:ext uri="{FF2B5EF4-FFF2-40B4-BE49-F238E27FC236}">
                <a16:creationId xmlns:a16="http://schemas.microsoft.com/office/drawing/2014/main" id="{26012A57-1C5F-4BD6-8C5C-0CFB6C0B24B6}"/>
              </a:ext>
            </a:extLst>
          </p:cNvPr>
          <p:cNvSpPr>
            <a:spLocks noGrp="1"/>
          </p:cNvSpPr>
          <p:nvPr/>
        </p:nvSpPr>
        <p:spPr>
          <a:xfrm>
            <a:off x="7552801" y="4833155"/>
            <a:ext cx="1754689" cy="3308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3" name="Google Shape;1793;p69">
            <a:extLst>
              <a:ext uri="{FF2B5EF4-FFF2-40B4-BE49-F238E27FC236}">
                <a16:creationId xmlns:a16="http://schemas.microsoft.com/office/drawing/2014/main" id="{68CB6BCC-EF22-4F4E-B6DB-7C1A5014226E}"/>
              </a:ext>
            </a:extLst>
          </p:cNvPr>
          <p:cNvSpPr>
            <a:spLocks noGrp="1"/>
          </p:cNvSpPr>
          <p:nvPr/>
        </p:nvSpPr>
        <p:spPr>
          <a:xfrm>
            <a:off x="7553868" y="5478126"/>
            <a:ext cx="3700816" cy="110700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4" name="Google Shape;1794;p69">
            <a:extLst>
              <a:ext uri="{FF2B5EF4-FFF2-40B4-BE49-F238E27FC236}">
                <a16:creationId xmlns:a16="http://schemas.microsoft.com/office/drawing/2014/main" id="{113D11D3-B8D2-49EC-B2BE-9E3B701D64C9}"/>
              </a:ext>
            </a:extLst>
          </p:cNvPr>
          <p:cNvSpPr>
            <a:spLocks noGrp="1"/>
          </p:cNvSpPr>
          <p:nvPr/>
        </p:nvSpPr>
        <p:spPr>
          <a:xfrm>
            <a:off x="8323972" y="4480954"/>
            <a:ext cx="9906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0.04um</a:t>
            </a:r>
          </a:p>
        </p:txBody>
      </p:sp>
      <p:sp>
        <p:nvSpPr>
          <p:cNvPr id="1795" name="Google Shape;1795;p69">
            <a:extLst>
              <a:ext uri="{FF2B5EF4-FFF2-40B4-BE49-F238E27FC236}">
                <a16:creationId xmlns:a16="http://schemas.microsoft.com/office/drawing/2014/main" id="{7C82C197-BB6C-44AF-92C9-453A4E536E4F}"/>
              </a:ext>
            </a:extLst>
          </p:cNvPr>
          <p:cNvSpPr>
            <a:spLocks noGrp="1"/>
          </p:cNvSpPr>
          <p:nvPr/>
        </p:nvSpPr>
        <p:spPr>
          <a:xfrm>
            <a:off x="7609715" y="5499828"/>
            <a:ext cx="3639691" cy="330868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27" name="Google Shape;1796;p69"/>
          <p:cNvCxnSpPr/>
          <p:nvPr/>
        </p:nvCxnSpPr>
        <p:spPr>
          <a:xfrm>
            <a:off x="9035127" y="4673836"/>
            <a:ext cx="286543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1928" name="Google Shape;1797;p69"/>
          <p:cNvCxnSpPr/>
          <p:nvPr/>
        </p:nvCxnSpPr>
        <p:spPr>
          <a:xfrm>
            <a:off x="6949943" y="2954074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798" name="Google Shape;1798;p69">
            <a:extLst>
              <a:ext uri="{FF2B5EF4-FFF2-40B4-BE49-F238E27FC236}">
                <a16:creationId xmlns:a16="http://schemas.microsoft.com/office/drawing/2014/main" id="{7D8CD7BE-819B-4E47-99AC-F6683E0E0148}"/>
              </a:ext>
            </a:extLst>
          </p:cNvPr>
          <p:cNvSpPr>
            <a:spLocks noGrp="1"/>
          </p:cNvSpPr>
          <p:nvPr/>
        </p:nvSpPr>
        <p:spPr>
          <a:xfrm>
            <a:off x="6570575" y="2774831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sp>
        <p:nvSpPr>
          <p:cNvPr id="1799" name="Google Shape;1799;p69">
            <a:extLst>
              <a:ext uri="{FF2B5EF4-FFF2-40B4-BE49-F238E27FC236}">
                <a16:creationId xmlns:a16="http://schemas.microsoft.com/office/drawing/2014/main" id="{CF20F681-6512-4B7F-87D0-1B63FF1BAD60}"/>
              </a:ext>
            </a:extLst>
          </p:cNvPr>
          <p:cNvSpPr>
            <a:spLocks noGrp="1"/>
          </p:cNvSpPr>
          <p:nvPr/>
        </p:nvSpPr>
        <p:spPr>
          <a:xfrm>
            <a:off x="7546278" y="5496993"/>
            <a:ext cx="3709473" cy="109026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1800" name="Google Shape;1800;p69">
            <a:extLst>
              <a:ext uri="{FF2B5EF4-FFF2-40B4-BE49-F238E27FC236}">
                <a16:creationId xmlns:a16="http://schemas.microsoft.com/office/drawing/2014/main" id="{87D1C4AF-729B-4C5B-B62D-CC325BB38F78}"/>
              </a:ext>
            </a:extLst>
          </p:cNvPr>
          <p:cNvSpPr>
            <a:spLocks noGrp="1"/>
          </p:cNvSpPr>
          <p:nvPr/>
        </p:nvSpPr>
        <p:spPr>
          <a:xfrm>
            <a:off x="7546278" y="5475960"/>
            <a:ext cx="3709472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1801" name="Google Shape;1801;p69">
            <a:extLst>
              <a:ext uri="{FF2B5EF4-FFF2-40B4-BE49-F238E27FC236}">
                <a16:creationId xmlns:a16="http://schemas.microsoft.com/office/drawing/2014/main" id="{6C4FCC35-9B78-4CE4-8082-2984EE34A6F8}"/>
              </a:ext>
            </a:extLst>
          </p:cNvPr>
          <p:cNvSpPr>
            <a:spLocks noGrp="1"/>
          </p:cNvSpPr>
          <p:nvPr/>
        </p:nvSpPr>
        <p:spPr>
          <a:xfrm>
            <a:off x="9046092" y="5160364"/>
            <a:ext cx="1403958" cy="330868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POLY</a:t>
            </a:r>
          </a:p>
        </p:txBody>
      </p:sp>
      <p:sp>
        <p:nvSpPr>
          <p:cNvPr id="1802" name="Google Shape;1802;p69">
            <a:extLst>
              <a:ext uri="{FF2B5EF4-FFF2-40B4-BE49-F238E27FC236}">
                <a16:creationId xmlns:a16="http://schemas.microsoft.com/office/drawing/2014/main" id="{6D62BCEA-5A41-4427-AEA6-1107A13C0E3A}"/>
              </a:ext>
            </a:extLst>
          </p:cNvPr>
          <p:cNvSpPr>
            <a:spLocks noGrp="1"/>
          </p:cNvSpPr>
          <p:nvPr/>
        </p:nvSpPr>
        <p:spPr>
          <a:xfrm>
            <a:off x="7558645" y="5156998"/>
            <a:ext cx="1488512" cy="3196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ILD</a:t>
            </a:r>
          </a:p>
        </p:txBody>
      </p:sp>
      <p:sp>
        <p:nvSpPr>
          <p:cNvPr id="1803" name="Google Shape;1803;p69">
            <a:extLst>
              <a:ext uri="{FF2B5EF4-FFF2-40B4-BE49-F238E27FC236}">
                <a16:creationId xmlns:a16="http://schemas.microsoft.com/office/drawing/2014/main" id="{F26053C3-ABDE-4E12-843E-D6A9C0F899FD}"/>
              </a:ext>
            </a:extLst>
          </p:cNvPr>
          <p:cNvSpPr>
            <a:spLocks noGrp="1"/>
          </p:cNvSpPr>
          <p:nvPr/>
        </p:nvSpPr>
        <p:spPr>
          <a:xfrm>
            <a:off x="9307490" y="4826128"/>
            <a:ext cx="923102" cy="330868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CONTACT</a:t>
            </a:r>
            <a:r>
              <a:rPr sz="11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t</a:t>
            </a:r>
          </a:p>
        </p:txBody>
      </p:sp>
      <p:cxnSp>
        <p:nvCxnSpPr>
          <p:cNvPr id="1935" name="Google Shape;1804;p69"/>
          <p:cNvCxnSpPr/>
          <p:nvPr/>
        </p:nvCxnSpPr>
        <p:spPr>
          <a:xfrm flipH="1">
            <a:off x="10190546" y="3089798"/>
            <a:ext cx="1" cy="169002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936" name="Google Shape;1805;p69"/>
          <p:cNvCxnSpPr/>
          <p:nvPr/>
        </p:nvCxnSpPr>
        <p:spPr>
          <a:xfrm>
            <a:off x="10456362" y="2974117"/>
            <a:ext cx="0" cy="219484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937" name="Google Shape;1806;p69"/>
          <p:cNvCxnSpPr/>
          <p:nvPr/>
        </p:nvCxnSpPr>
        <p:spPr>
          <a:xfrm>
            <a:off x="9321670" y="3072966"/>
            <a:ext cx="19469" cy="176018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938" name="Google Shape;1807;p69"/>
          <p:cNvCxnSpPr/>
          <p:nvPr/>
        </p:nvCxnSpPr>
        <p:spPr>
          <a:xfrm>
            <a:off x="9047157" y="2985052"/>
            <a:ext cx="0" cy="219484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808" name="Google Shape;1808;p69">
            <a:extLst>
              <a:ext uri="{FF2B5EF4-FFF2-40B4-BE49-F238E27FC236}">
                <a16:creationId xmlns:a16="http://schemas.microsoft.com/office/drawing/2014/main" id="{939EB0CE-7F5D-4EDA-B9EB-6E41AD7C6032}"/>
              </a:ext>
            </a:extLst>
          </p:cNvPr>
          <p:cNvSpPr>
            <a:spLocks noGrp="1"/>
          </p:cNvSpPr>
          <p:nvPr/>
        </p:nvSpPr>
        <p:spPr>
          <a:xfrm>
            <a:off x="10457640" y="5165995"/>
            <a:ext cx="785436" cy="31960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9" name="Google Shape;1809;p69">
            <a:extLst>
              <a:ext uri="{FF2B5EF4-FFF2-40B4-BE49-F238E27FC236}">
                <a16:creationId xmlns:a16="http://schemas.microsoft.com/office/drawing/2014/main" id="{B9547A83-3E6B-4908-B7A8-8DF58DA30BEE}"/>
              </a:ext>
            </a:extLst>
          </p:cNvPr>
          <p:cNvSpPr>
            <a:spLocks noGrp="1"/>
          </p:cNvSpPr>
          <p:nvPr/>
        </p:nvSpPr>
        <p:spPr>
          <a:xfrm>
            <a:off x="10230592" y="4831326"/>
            <a:ext cx="1012484" cy="3308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0" name="Google Shape;1810;p69">
            <a:extLst>
              <a:ext uri="{FF2B5EF4-FFF2-40B4-BE49-F238E27FC236}">
                <a16:creationId xmlns:a16="http://schemas.microsoft.com/office/drawing/2014/main" id="{31968703-B812-4F55-A5C1-A6EB5EC92583}"/>
              </a:ext>
            </a:extLst>
          </p:cNvPr>
          <p:cNvSpPr>
            <a:spLocks noGrp="1"/>
          </p:cNvSpPr>
          <p:nvPr/>
        </p:nvSpPr>
        <p:spPr>
          <a:xfrm>
            <a:off x="460770" y="2675287"/>
            <a:ext cx="6096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안정적인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Gate Contact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형성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및 Contact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저항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감소를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Poly Enclosure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규정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911" name="Slide 5 copied left comparison heading">
            <a:extLst>
              <a:ext uri="{FF2B5EF4-FFF2-40B4-BE49-F238E27FC236}">
                <a16:creationId xmlns:a16="http://schemas.microsoft.com/office/drawing/2014/main" id="{B201FC64-78E3-479A-8ED0-F5E85DDB39F3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912" name="Slide 5 copied right comparison heading">
            <a:extLst>
              <a:ext uri="{FF2B5EF4-FFF2-40B4-BE49-F238E27FC236}">
                <a16:creationId xmlns:a16="http://schemas.microsoft.com/office/drawing/2014/main" id="{C307E2B2-0356-4B0D-9D64-2BEC283861FE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5E58CC-5A8F-1606-9CFA-99790561D314}"/>
              </a:ext>
            </a:extLst>
          </p:cNvPr>
          <p:cNvSpPr/>
          <p:nvPr/>
        </p:nvSpPr>
        <p:spPr>
          <a:xfrm>
            <a:off x="7586450" y="4834161"/>
            <a:ext cx="1754689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D6FEB6-D001-F0A1-BA08-52AE409CA8F6}"/>
              </a:ext>
            </a:extLst>
          </p:cNvPr>
          <p:cNvSpPr/>
          <p:nvPr/>
        </p:nvSpPr>
        <p:spPr>
          <a:xfrm>
            <a:off x="7592294" y="5158004"/>
            <a:ext cx="1488512" cy="319606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4B36E4-9171-24DE-89EE-A231F9F05D9A}"/>
              </a:ext>
            </a:extLst>
          </p:cNvPr>
          <p:cNvSpPr/>
          <p:nvPr/>
        </p:nvSpPr>
        <p:spPr>
          <a:xfrm>
            <a:off x="10491289" y="5167001"/>
            <a:ext cx="785436" cy="319606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6E1C04-9CBC-B887-B6E5-A130639A6DA1}"/>
              </a:ext>
            </a:extLst>
          </p:cNvPr>
          <p:cNvSpPr/>
          <p:nvPr/>
        </p:nvSpPr>
        <p:spPr>
          <a:xfrm>
            <a:off x="10264241" y="4832332"/>
            <a:ext cx="1012484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3564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8" name="Google Shape;1815;p7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37869" y="1472168"/>
            <a:ext cx="2619851" cy="2811849"/>
          </a:xfrm>
          <a:prstGeom prst="rect">
            <a:avLst/>
          </a:prstGeom>
          <a:ln>
            <a:noFill/>
          </a:ln>
        </p:spPr>
      </p:pic>
      <p:cxnSp>
        <p:nvCxnSpPr>
          <p:cNvPr id="1920" name="Google Shape;1819;p70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1921" name="Google Shape;1820;p70"/>
          <p:cNvGraphicFramePr/>
          <p:nvPr>
            <p:extLst>
              <p:ext uri="{D42A27DB-BD31-4B8C-83A1-F6EECF244321}">
                <p14:modId xmlns:p14="http://schemas.microsoft.com/office/powerpoint/2010/main" val="1267643722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CONT.E.3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0.06um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Poly to Contact enclosure on at least two opposite sides (end of line)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22" name="Google Shape;1821;p70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5293" y="1518225"/>
            <a:ext cx="1944788" cy="1133593"/>
          </a:xfrm>
          <a:prstGeom prst="rect">
            <a:avLst/>
          </a:prstGeom>
          <a:ln>
            <a:noFill/>
          </a:ln>
        </p:spPr>
      </p:pic>
      <p:pic>
        <p:nvPicPr>
          <p:cNvPr id="1923" name="Google Shape;1822;p7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4781" y="3461841"/>
            <a:ext cx="2912001" cy="3125410"/>
          </a:xfrm>
          <a:prstGeom prst="rect">
            <a:avLst/>
          </a:prstGeom>
          <a:ln>
            <a:noFill/>
          </a:ln>
        </p:spPr>
      </p:pic>
      <p:cxnSp>
        <p:nvCxnSpPr>
          <p:cNvPr id="1924" name="Google Shape;1823;p70"/>
          <p:cNvCxnSpPr/>
          <p:nvPr/>
        </p:nvCxnSpPr>
        <p:spPr>
          <a:xfrm rot="10800000">
            <a:off x="889681" y="4933716"/>
            <a:ext cx="461819" cy="1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824" name="Google Shape;1824;p70">
            <a:extLst>
              <a:ext uri="{FF2B5EF4-FFF2-40B4-BE49-F238E27FC236}">
                <a16:creationId xmlns:a16="http://schemas.microsoft.com/office/drawing/2014/main" id="{05E8A328-2537-41CA-99A7-CB4477026415}"/>
              </a:ext>
            </a:extLst>
          </p:cNvPr>
          <p:cNvSpPr>
            <a:spLocks noGrp="1"/>
          </p:cNvSpPr>
          <p:nvPr/>
        </p:nvSpPr>
        <p:spPr>
          <a:xfrm>
            <a:off x="672056" y="4505044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0.06um</a:t>
            </a:r>
          </a:p>
        </p:txBody>
      </p:sp>
      <p:sp>
        <p:nvSpPr>
          <p:cNvPr id="1825" name="Google Shape;1825;p70">
            <a:extLst>
              <a:ext uri="{FF2B5EF4-FFF2-40B4-BE49-F238E27FC236}">
                <a16:creationId xmlns:a16="http://schemas.microsoft.com/office/drawing/2014/main" id="{11CC8DEC-BB5F-4715-9C59-6F0ABDE85A73}"/>
              </a:ext>
            </a:extLst>
          </p:cNvPr>
          <p:cNvSpPr>
            <a:spLocks noGrp="1"/>
          </p:cNvSpPr>
          <p:nvPr/>
        </p:nvSpPr>
        <p:spPr>
          <a:xfrm>
            <a:off x="7878003" y="4707212"/>
            <a:ext cx="9906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0.06um</a:t>
            </a:r>
          </a:p>
        </p:txBody>
      </p:sp>
      <p:cxnSp>
        <p:nvCxnSpPr>
          <p:cNvPr id="1927" name="Google Shape;1826;p70"/>
          <p:cNvCxnSpPr/>
          <p:nvPr/>
        </p:nvCxnSpPr>
        <p:spPr>
          <a:xfrm>
            <a:off x="8553271" y="4987510"/>
            <a:ext cx="479130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1928" name="Google Shape;1827;p70"/>
          <p:cNvCxnSpPr/>
          <p:nvPr/>
        </p:nvCxnSpPr>
        <p:spPr>
          <a:xfrm>
            <a:off x="6949943" y="2954074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828" name="Google Shape;1828;p70">
            <a:extLst>
              <a:ext uri="{FF2B5EF4-FFF2-40B4-BE49-F238E27FC236}">
                <a16:creationId xmlns:a16="http://schemas.microsoft.com/office/drawing/2014/main" id="{1E9E0723-BA50-4C46-BC59-0620E00BBA18}"/>
              </a:ext>
            </a:extLst>
          </p:cNvPr>
          <p:cNvSpPr>
            <a:spLocks noGrp="1"/>
          </p:cNvSpPr>
          <p:nvPr/>
        </p:nvSpPr>
        <p:spPr>
          <a:xfrm>
            <a:off x="6570575" y="2774831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sp>
        <p:nvSpPr>
          <p:cNvPr id="1829" name="Google Shape;1829;p70">
            <a:extLst>
              <a:ext uri="{FF2B5EF4-FFF2-40B4-BE49-F238E27FC236}">
                <a16:creationId xmlns:a16="http://schemas.microsoft.com/office/drawing/2014/main" id="{DA2C95AF-5E19-44AB-A3AC-856BB7A1F1C1}"/>
              </a:ext>
            </a:extLst>
          </p:cNvPr>
          <p:cNvSpPr>
            <a:spLocks noGrp="1"/>
          </p:cNvSpPr>
          <p:nvPr/>
        </p:nvSpPr>
        <p:spPr>
          <a:xfrm>
            <a:off x="7546278" y="5496991"/>
            <a:ext cx="3709473" cy="1090260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1830" name="Google Shape;1830;p70">
            <a:extLst>
              <a:ext uri="{FF2B5EF4-FFF2-40B4-BE49-F238E27FC236}">
                <a16:creationId xmlns:a16="http://schemas.microsoft.com/office/drawing/2014/main" id="{3F132B45-7ABA-4F6E-B53A-65157AA82514}"/>
              </a:ext>
            </a:extLst>
          </p:cNvPr>
          <p:cNvSpPr>
            <a:spLocks noGrp="1"/>
          </p:cNvSpPr>
          <p:nvPr/>
        </p:nvSpPr>
        <p:spPr>
          <a:xfrm>
            <a:off x="7544217" y="5497344"/>
            <a:ext cx="3709472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1831" name="Google Shape;1831;p70">
            <a:extLst>
              <a:ext uri="{FF2B5EF4-FFF2-40B4-BE49-F238E27FC236}">
                <a16:creationId xmlns:a16="http://schemas.microsoft.com/office/drawing/2014/main" id="{ED9EF4FE-3F82-4DAF-B830-CF3E5A722630}"/>
              </a:ext>
            </a:extLst>
          </p:cNvPr>
          <p:cNvSpPr>
            <a:spLocks noGrp="1"/>
          </p:cNvSpPr>
          <p:nvPr/>
        </p:nvSpPr>
        <p:spPr>
          <a:xfrm>
            <a:off x="8594625" y="5166302"/>
            <a:ext cx="2648463" cy="330868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POLY / Gate</a:t>
            </a:r>
          </a:p>
        </p:txBody>
      </p:sp>
      <p:sp>
        <p:nvSpPr>
          <p:cNvPr id="1832" name="Google Shape;1832;p70">
            <a:extLst>
              <a:ext uri="{FF2B5EF4-FFF2-40B4-BE49-F238E27FC236}">
                <a16:creationId xmlns:a16="http://schemas.microsoft.com/office/drawing/2014/main" id="{8B13E546-2FAD-4B4E-B57D-092CE0F1F4D7}"/>
              </a:ext>
            </a:extLst>
          </p:cNvPr>
          <p:cNvSpPr>
            <a:spLocks noGrp="1"/>
          </p:cNvSpPr>
          <p:nvPr/>
        </p:nvSpPr>
        <p:spPr>
          <a:xfrm>
            <a:off x="7552800" y="5169943"/>
            <a:ext cx="1040757" cy="3308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ILD</a:t>
            </a:r>
          </a:p>
        </p:txBody>
      </p:sp>
      <p:sp>
        <p:nvSpPr>
          <p:cNvPr id="1833" name="Google Shape;1833;p70">
            <a:extLst>
              <a:ext uri="{FF2B5EF4-FFF2-40B4-BE49-F238E27FC236}">
                <a16:creationId xmlns:a16="http://schemas.microsoft.com/office/drawing/2014/main" id="{06270580-B892-49E0-924E-77D46C414AB8}"/>
              </a:ext>
            </a:extLst>
          </p:cNvPr>
          <p:cNvSpPr>
            <a:spLocks noGrp="1"/>
          </p:cNvSpPr>
          <p:nvPr/>
        </p:nvSpPr>
        <p:spPr>
          <a:xfrm>
            <a:off x="9010018" y="4826616"/>
            <a:ext cx="852847" cy="330868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CONTACT</a:t>
            </a:r>
          </a:p>
        </p:txBody>
      </p:sp>
      <p:cxnSp>
        <p:nvCxnSpPr>
          <p:cNvPr id="1935" name="Google Shape;1834;p70"/>
          <p:cNvCxnSpPr/>
          <p:nvPr/>
        </p:nvCxnSpPr>
        <p:spPr>
          <a:xfrm>
            <a:off x="8580356" y="2993419"/>
            <a:ext cx="0" cy="232414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1936" name="Google Shape;1835;p70"/>
          <p:cNvCxnSpPr/>
          <p:nvPr/>
        </p:nvCxnSpPr>
        <p:spPr>
          <a:xfrm>
            <a:off x="9003014" y="3260169"/>
            <a:ext cx="0" cy="196413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836" name="Google Shape;1836;p70">
            <a:extLst>
              <a:ext uri="{FF2B5EF4-FFF2-40B4-BE49-F238E27FC236}">
                <a16:creationId xmlns:a16="http://schemas.microsoft.com/office/drawing/2014/main" id="{C530AB06-EE46-4A0E-BD66-6AE4589CC3C7}"/>
              </a:ext>
            </a:extLst>
          </p:cNvPr>
          <p:cNvSpPr>
            <a:spLocks noGrp="1"/>
          </p:cNvSpPr>
          <p:nvPr/>
        </p:nvSpPr>
        <p:spPr>
          <a:xfrm>
            <a:off x="392012" y="2670253"/>
            <a:ext cx="520444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안정적인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Contact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형성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및 Open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방지를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Poly Enclosure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규정</a:t>
            </a:r>
            <a:endParaRPr sz="18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1916" name="Slide 5 copied left comparison heading">
            <a:extLst>
              <a:ext uri="{FF2B5EF4-FFF2-40B4-BE49-F238E27FC236}">
                <a16:creationId xmlns:a16="http://schemas.microsoft.com/office/drawing/2014/main" id="{BA82328B-9B9D-4746-B740-C1D4ACA8D3AE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917" name="Slide 5 copied right comparison heading">
            <a:extLst>
              <a:ext uri="{FF2B5EF4-FFF2-40B4-BE49-F238E27FC236}">
                <a16:creationId xmlns:a16="http://schemas.microsoft.com/office/drawing/2014/main" id="{53848883-E615-4050-8FE2-9AB96CEC6CCE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1DCD8E-F74D-6967-5699-C9EFB2802DFA}"/>
              </a:ext>
            </a:extLst>
          </p:cNvPr>
          <p:cNvSpPr/>
          <p:nvPr/>
        </p:nvSpPr>
        <p:spPr>
          <a:xfrm>
            <a:off x="7541066" y="5187289"/>
            <a:ext cx="1040757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50458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71">
            <a:extLst>
              <a:ext uri="{FF2B5EF4-FFF2-40B4-BE49-F238E27FC236}">
                <a16:creationId xmlns:a16="http://schemas.microsoft.com/office/drawing/2014/main" id="{4C211654-9FBF-471B-B9C2-C2E978768542}"/>
              </a:ext>
            </a:extLst>
          </p:cNvPr>
          <p:cNvSpPr>
            <a:spLocks noGrp="1"/>
          </p:cNvSpPr>
          <p:nvPr/>
        </p:nvSpPr>
        <p:spPr>
          <a:xfrm>
            <a:off x="7825536" y="5419985"/>
            <a:ext cx="1564289" cy="108010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cxnSp>
        <p:nvCxnSpPr>
          <p:cNvPr id="2012" name="Google Shape;1845;p71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013" name="Google Shape;1846;p71"/>
          <p:cNvGraphicFramePr/>
          <p:nvPr>
            <p:extLst>
              <p:ext uri="{D42A27DB-BD31-4B8C-83A1-F6EECF244321}">
                <p14:modId xmlns:p14="http://schemas.microsoft.com/office/powerpoint/2010/main" val="3377987348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CONT.E.4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0.06um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N+/P+ Implant on Active Area to Contact enclosure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014" name="Google Shape;1847;p7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6714" y="1507353"/>
            <a:ext cx="4486749" cy="1473681"/>
          </a:xfrm>
          <a:prstGeom prst="rect">
            <a:avLst/>
          </a:prstGeom>
          <a:ln>
            <a:noFill/>
          </a:ln>
        </p:spPr>
      </p:pic>
      <p:pic>
        <p:nvPicPr>
          <p:cNvPr id="2015" name="Google Shape;1848;p7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695113" y="2692335"/>
            <a:ext cx="2730348" cy="5089432"/>
          </a:xfrm>
          <a:prstGeom prst="rect">
            <a:avLst/>
          </a:prstGeom>
          <a:ln>
            <a:noFill/>
          </a:ln>
        </p:spPr>
      </p:pic>
      <p:cxnSp>
        <p:nvCxnSpPr>
          <p:cNvPr id="2016" name="Google Shape;1849;p71"/>
          <p:cNvCxnSpPr/>
          <p:nvPr/>
        </p:nvCxnSpPr>
        <p:spPr>
          <a:xfrm rot="10800000">
            <a:off x="4093541" y="4282532"/>
            <a:ext cx="0" cy="449637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850" name="Google Shape;1850;p71">
            <a:extLst>
              <a:ext uri="{FF2B5EF4-FFF2-40B4-BE49-F238E27FC236}">
                <a16:creationId xmlns:a16="http://schemas.microsoft.com/office/drawing/2014/main" id="{2F6B1D23-0415-48D6-BD47-A42F571E5684}"/>
              </a:ext>
            </a:extLst>
          </p:cNvPr>
          <p:cNvSpPr>
            <a:spLocks noGrp="1"/>
          </p:cNvSpPr>
          <p:nvPr/>
        </p:nvSpPr>
        <p:spPr>
          <a:xfrm>
            <a:off x="4137582" y="4331212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0.06um</a:t>
            </a:r>
          </a:p>
        </p:txBody>
      </p:sp>
      <p:cxnSp>
        <p:nvCxnSpPr>
          <p:cNvPr id="2018" name="Google Shape;1851;p71"/>
          <p:cNvCxnSpPr/>
          <p:nvPr/>
        </p:nvCxnSpPr>
        <p:spPr>
          <a:xfrm rot="10800000">
            <a:off x="3286839" y="5098551"/>
            <a:ext cx="461819" cy="1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852" name="Google Shape;1852;p71">
            <a:extLst>
              <a:ext uri="{FF2B5EF4-FFF2-40B4-BE49-F238E27FC236}">
                <a16:creationId xmlns:a16="http://schemas.microsoft.com/office/drawing/2014/main" id="{5146DF5A-FC1A-46E4-9996-FA1FECE8C6CE}"/>
              </a:ext>
            </a:extLst>
          </p:cNvPr>
          <p:cNvSpPr>
            <a:spLocks noGrp="1"/>
          </p:cNvSpPr>
          <p:nvPr/>
        </p:nvSpPr>
        <p:spPr>
          <a:xfrm>
            <a:off x="3157633" y="5211462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0.06um</a:t>
            </a:r>
          </a:p>
        </p:txBody>
      </p:sp>
      <p:cxnSp>
        <p:nvCxnSpPr>
          <p:cNvPr id="2020" name="Google Shape;1853;p71"/>
          <p:cNvCxnSpPr/>
          <p:nvPr/>
        </p:nvCxnSpPr>
        <p:spPr>
          <a:xfrm rot="10800000">
            <a:off x="1760302" y="4280776"/>
            <a:ext cx="0" cy="449637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2021" name="Google Shape;1854;p71"/>
          <p:cNvCxnSpPr/>
          <p:nvPr/>
        </p:nvCxnSpPr>
        <p:spPr>
          <a:xfrm rot="10800000">
            <a:off x="837487" y="5036942"/>
            <a:ext cx="532910" cy="1979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855" name="Google Shape;1855;p71">
            <a:extLst>
              <a:ext uri="{FF2B5EF4-FFF2-40B4-BE49-F238E27FC236}">
                <a16:creationId xmlns:a16="http://schemas.microsoft.com/office/drawing/2014/main" id="{25E398C5-BA77-4CE1-927D-EEF52C04033E}"/>
              </a:ext>
            </a:extLst>
          </p:cNvPr>
          <p:cNvSpPr>
            <a:spLocks noGrp="1"/>
          </p:cNvSpPr>
          <p:nvPr/>
        </p:nvSpPr>
        <p:spPr>
          <a:xfrm>
            <a:off x="1849104" y="4320928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0.06um</a:t>
            </a:r>
          </a:p>
        </p:txBody>
      </p:sp>
      <p:sp>
        <p:nvSpPr>
          <p:cNvPr id="1856" name="Google Shape;1856;p71">
            <a:extLst>
              <a:ext uri="{FF2B5EF4-FFF2-40B4-BE49-F238E27FC236}">
                <a16:creationId xmlns:a16="http://schemas.microsoft.com/office/drawing/2014/main" id="{0B35E09A-DD6C-456B-BE05-EE9E3D89CFC1}"/>
              </a:ext>
            </a:extLst>
          </p:cNvPr>
          <p:cNvSpPr>
            <a:spLocks noGrp="1"/>
          </p:cNvSpPr>
          <p:nvPr/>
        </p:nvSpPr>
        <p:spPr>
          <a:xfrm>
            <a:off x="680097" y="5162923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0.06um</a:t>
            </a:r>
          </a:p>
        </p:txBody>
      </p:sp>
      <p:cxnSp>
        <p:nvCxnSpPr>
          <p:cNvPr id="2024" name="Google Shape;1857;p71"/>
          <p:cNvCxnSpPr/>
          <p:nvPr/>
        </p:nvCxnSpPr>
        <p:spPr>
          <a:xfrm>
            <a:off x="7818640" y="4814840"/>
            <a:ext cx="416094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858" name="Google Shape;1858;p71">
            <a:extLst>
              <a:ext uri="{FF2B5EF4-FFF2-40B4-BE49-F238E27FC236}">
                <a16:creationId xmlns:a16="http://schemas.microsoft.com/office/drawing/2014/main" id="{E7E236A9-4DD4-4862-958A-8EA91E250573}"/>
              </a:ext>
            </a:extLst>
          </p:cNvPr>
          <p:cNvSpPr>
            <a:spLocks noGrp="1"/>
          </p:cNvSpPr>
          <p:nvPr/>
        </p:nvSpPr>
        <p:spPr>
          <a:xfrm>
            <a:off x="6587603" y="2689790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pic>
        <p:nvPicPr>
          <p:cNvPr id="2026" name="Google Shape;1859;p7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8421195" y="966055"/>
            <a:ext cx="1990572" cy="3710472"/>
          </a:xfrm>
          <a:prstGeom prst="rect">
            <a:avLst/>
          </a:prstGeom>
          <a:ln>
            <a:noFill/>
          </a:ln>
        </p:spPr>
      </p:pic>
      <p:cxnSp>
        <p:nvCxnSpPr>
          <p:cNvPr id="2027" name="Google Shape;1860;p71"/>
          <p:cNvCxnSpPr/>
          <p:nvPr/>
        </p:nvCxnSpPr>
        <p:spPr>
          <a:xfrm>
            <a:off x="6966971" y="2869033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861" name="Google Shape;1861;p71">
            <a:extLst>
              <a:ext uri="{FF2B5EF4-FFF2-40B4-BE49-F238E27FC236}">
                <a16:creationId xmlns:a16="http://schemas.microsoft.com/office/drawing/2014/main" id="{7808E8BA-7914-4E90-9B11-ACA48C98AECE}"/>
              </a:ext>
            </a:extLst>
          </p:cNvPr>
          <p:cNvSpPr>
            <a:spLocks noGrp="1"/>
          </p:cNvSpPr>
          <p:nvPr/>
        </p:nvSpPr>
        <p:spPr>
          <a:xfrm>
            <a:off x="7818640" y="5408377"/>
            <a:ext cx="1577896" cy="4418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P+</a:t>
            </a:r>
          </a:p>
        </p:txBody>
      </p:sp>
      <p:cxnSp>
        <p:nvCxnSpPr>
          <p:cNvPr id="2029" name="Google Shape;1862;p71"/>
          <p:cNvCxnSpPr/>
          <p:nvPr/>
        </p:nvCxnSpPr>
        <p:spPr>
          <a:xfrm>
            <a:off x="9389827" y="2869033"/>
            <a:ext cx="6714" cy="222169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030" name="Google Shape;1863;p71"/>
          <p:cNvCxnSpPr/>
          <p:nvPr/>
        </p:nvCxnSpPr>
        <p:spPr>
          <a:xfrm>
            <a:off x="7797938" y="2869033"/>
            <a:ext cx="20702" cy="222169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031" name="Google Shape;1864;p71"/>
          <p:cNvCxnSpPr/>
          <p:nvPr/>
        </p:nvCxnSpPr>
        <p:spPr>
          <a:xfrm>
            <a:off x="8191500" y="2896586"/>
            <a:ext cx="21491" cy="251637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032" name="Google Shape;1865;p71"/>
          <p:cNvCxnSpPr/>
          <p:nvPr/>
        </p:nvCxnSpPr>
        <p:spPr>
          <a:xfrm>
            <a:off x="9011173" y="2896586"/>
            <a:ext cx="0" cy="251637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866" name="Google Shape;1866;p71">
            <a:extLst>
              <a:ext uri="{FF2B5EF4-FFF2-40B4-BE49-F238E27FC236}">
                <a16:creationId xmlns:a16="http://schemas.microsoft.com/office/drawing/2014/main" id="{784605BD-AA12-4099-8D84-516C3A8118AA}"/>
              </a:ext>
            </a:extLst>
          </p:cNvPr>
          <p:cNvSpPr>
            <a:spLocks noGrp="1"/>
          </p:cNvSpPr>
          <p:nvPr/>
        </p:nvSpPr>
        <p:spPr>
          <a:xfrm>
            <a:off x="8212991" y="4840655"/>
            <a:ext cx="798181" cy="306473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CONTACT</a:t>
            </a:r>
          </a:p>
        </p:txBody>
      </p:sp>
      <p:sp>
        <p:nvSpPr>
          <p:cNvPr id="1867" name="Google Shape;1867;p71">
            <a:extLst>
              <a:ext uri="{FF2B5EF4-FFF2-40B4-BE49-F238E27FC236}">
                <a16:creationId xmlns:a16="http://schemas.microsoft.com/office/drawing/2014/main" id="{51FFFC10-7BDD-4408-9680-0102FFF5EE51}"/>
              </a:ext>
            </a:extLst>
          </p:cNvPr>
          <p:cNvSpPr>
            <a:spLocks noGrp="1"/>
          </p:cNvSpPr>
          <p:nvPr/>
        </p:nvSpPr>
        <p:spPr>
          <a:xfrm>
            <a:off x="8207421" y="5146341"/>
            <a:ext cx="824567" cy="2666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Sillicide</a:t>
            </a:r>
          </a:p>
        </p:txBody>
      </p:sp>
      <p:sp>
        <p:nvSpPr>
          <p:cNvPr id="1868" name="Google Shape;1868;p71">
            <a:extLst>
              <a:ext uri="{FF2B5EF4-FFF2-40B4-BE49-F238E27FC236}">
                <a16:creationId xmlns:a16="http://schemas.microsoft.com/office/drawing/2014/main" id="{2B9A51E2-DAA3-409C-934F-ACDDD7622D3A}"/>
              </a:ext>
            </a:extLst>
          </p:cNvPr>
          <p:cNvSpPr>
            <a:spLocks noGrp="1"/>
          </p:cNvSpPr>
          <p:nvPr/>
        </p:nvSpPr>
        <p:spPr>
          <a:xfrm>
            <a:off x="7833662" y="5146341"/>
            <a:ext cx="367048" cy="26784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1869" name="Google Shape;1869;p71">
            <a:extLst>
              <a:ext uri="{FF2B5EF4-FFF2-40B4-BE49-F238E27FC236}">
                <a16:creationId xmlns:a16="http://schemas.microsoft.com/office/drawing/2014/main" id="{1D4CB7F9-B160-4607-A097-A461FC8B615D}"/>
              </a:ext>
            </a:extLst>
          </p:cNvPr>
          <p:cNvSpPr>
            <a:spLocks noGrp="1"/>
          </p:cNvSpPr>
          <p:nvPr/>
        </p:nvSpPr>
        <p:spPr>
          <a:xfrm>
            <a:off x="9019238" y="5144973"/>
            <a:ext cx="367048" cy="26784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1870" name="Google Shape;1870;p71">
            <a:extLst>
              <a:ext uri="{FF2B5EF4-FFF2-40B4-BE49-F238E27FC236}">
                <a16:creationId xmlns:a16="http://schemas.microsoft.com/office/drawing/2014/main" id="{E9CD410A-FF83-4486-94A7-77CC96F8487B}"/>
              </a:ext>
            </a:extLst>
          </p:cNvPr>
          <p:cNvSpPr>
            <a:spLocks noGrp="1"/>
          </p:cNvSpPr>
          <p:nvPr/>
        </p:nvSpPr>
        <p:spPr>
          <a:xfrm>
            <a:off x="7767543" y="4479147"/>
            <a:ext cx="9906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0.06um</a:t>
            </a:r>
          </a:p>
        </p:txBody>
      </p:sp>
      <p:sp>
        <p:nvSpPr>
          <p:cNvPr id="1871" name="Google Shape;1871;p71">
            <a:extLst>
              <a:ext uri="{FF2B5EF4-FFF2-40B4-BE49-F238E27FC236}">
                <a16:creationId xmlns:a16="http://schemas.microsoft.com/office/drawing/2014/main" id="{6113B334-F971-4D38-9693-E89B88F49AE3}"/>
              </a:ext>
            </a:extLst>
          </p:cNvPr>
          <p:cNvSpPr>
            <a:spLocks noGrp="1"/>
          </p:cNvSpPr>
          <p:nvPr/>
        </p:nvSpPr>
        <p:spPr>
          <a:xfrm>
            <a:off x="9539543" y="5412066"/>
            <a:ext cx="1564289" cy="108010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cxnSp>
        <p:nvCxnSpPr>
          <p:cNvPr id="2039" name="Google Shape;1872;p71"/>
          <p:cNvCxnSpPr/>
          <p:nvPr/>
        </p:nvCxnSpPr>
        <p:spPr>
          <a:xfrm>
            <a:off x="10696434" y="4806921"/>
            <a:ext cx="416094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2040" name="Google Shape;1873;p71"/>
          <p:cNvCxnSpPr/>
          <p:nvPr/>
        </p:nvCxnSpPr>
        <p:spPr>
          <a:xfrm>
            <a:off x="11103834" y="2861114"/>
            <a:ext cx="6714" cy="222169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041" name="Google Shape;1874;p71"/>
          <p:cNvCxnSpPr/>
          <p:nvPr/>
        </p:nvCxnSpPr>
        <p:spPr>
          <a:xfrm>
            <a:off x="9511945" y="2861114"/>
            <a:ext cx="20702" cy="222169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042" name="Google Shape;1875;p71"/>
          <p:cNvCxnSpPr/>
          <p:nvPr/>
        </p:nvCxnSpPr>
        <p:spPr>
          <a:xfrm>
            <a:off x="9905507" y="2888667"/>
            <a:ext cx="21491" cy="251637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043" name="Google Shape;1876;p71"/>
          <p:cNvCxnSpPr/>
          <p:nvPr/>
        </p:nvCxnSpPr>
        <p:spPr>
          <a:xfrm>
            <a:off x="10725180" y="2888667"/>
            <a:ext cx="0" cy="251637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877" name="Google Shape;1877;p71">
            <a:extLst>
              <a:ext uri="{FF2B5EF4-FFF2-40B4-BE49-F238E27FC236}">
                <a16:creationId xmlns:a16="http://schemas.microsoft.com/office/drawing/2014/main" id="{0B87CCD8-374F-4195-8982-EF80C0EA9816}"/>
              </a:ext>
            </a:extLst>
          </p:cNvPr>
          <p:cNvSpPr>
            <a:spLocks noGrp="1"/>
          </p:cNvSpPr>
          <p:nvPr/>
        </p:nvSpPr>
        <p:spPr>
          <a:xfrm>
            <a:off x="9926998" y="4832736"/>
            <a:ext cx="798181" cy="306473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CONTACT</a:t>
            </a:r>
          </a:p>
        </p:txBody>
      </p:sp>
      <p:sp>
        <p:nvSpPr>
          <p:cNvPr id="1878" name="Google Shape;1878;p71">
            <a:extLst>
              <a:ext uri="{FF2B5EF4-FFF2-40B4-BE49-F238E27FC236}">
                <a16:creationId xmlns:a16="http://schemas.microsoft.com/office/drawing/2014/main" id="{50F317DF-4540-474A-B57D-8038CBFBF54D}"/>
              </a:ext>
            </a:extLst>
          </p:cNvPr>
          <p:cNvSpPr>
            <a:spLocks noGrp="1"/>
          </p:cNvSpPr>
          <p:nvPr/>
        </p:nvSpPr>
        <p:spPr>
          <a:xfrm>
            <a:off x="9904022" y="5144361"/>
            <a:ext cx="841974" cy="2666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Sillicide</a:t>
            </a:r>
          </a:p>
        </p:txBody>
      </p:sp>
      <p:sp>
        <p:nvSpPr>
          <p:cNvPr id="1879" name="Google Shape;1879;p71">
            <a:extLst>
              <a:ext uri="{FF2B5EF4-FFF2-40B4-BE49-F238E27FC236}">
                <a16:creationId xmlns:a16="http://schemas.microsoft.com/office/drawing/2014/main" id="{D99D6875-7BE7-4FFE-8E78-3415A2A4BB28}"/>
              </a:ext>
            </a:extLst>
          </p:cNvPr>
          <p:cNvSpPr>
            <a:spLocks noGrp="1"/>
          </p:cNvSpPr>
          <p:nvPr/>
        </p:nvSpPr>
        <p:spPr>
          <a:xfrm>
            <a:off x="9547669" y="5138422"/>
            <a:ext cx="367048" cy="26784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1880" name="Google Shape;1880;p71">
            <a:extLst>
              <a:ext uri="{FF2B5EF4-FFF2-40B4-BE49-F238E27FC236}">
                <a16:creationId xmlns:a16="http://schemas.microsoft.com/office/drawing/2014/main" id="{0C6BA1BD-04AD-46A1-B013-09AD2B44E356}"/>
              </a:ext>
            </a:extLst>
          </p:cNvPr>
          <p:cNvSpPr>
            <a:spLocks noGrp="1"/>
          </p:cNvSpPr>
          <p:nvPr/>
        </p:nvSpPr>
        <p:spPr>
          <a:xfrm>
            <a:off x="10733245" y="5137054"/>
            <a:ext cx="367048" cy="26784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1881" name="Google Shape;1881;p71">
            <a:extLst>
              <a:ext uri="{FF2B5EF4-FFF2-40B4-BE49-F238E27FC236}">
                <a16:creationId xmlns:a16="http://schemas.microsoft.com/office/drawing/2014/main" id="{501CF202-AAEB-44D4-AD6D-CCE162629166}"/>
              </a:ext>
            </a:extLst>
          </p:cNvPr>
          <p:cNvSpPr>
            <a:spLocks noGrp="1"/>
          </p:cNvSpPr>
          <p:nvPr/>
        </p:nvSpPr>
        <p:spPr>
          <a:xfrm>
            <a:off x="10663149" y="4471228"/>
            <a:ext cx="99060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0.06um</a:t>
            </a:r>
          </a:p>
        </p:txBody>
      </p:sp>
      <p:sp>
        <p:nvSpPr>
          <p:cNvPr id="1882" name="Google Shape;1882;p71">
            <a:extLst>
              <a:ext uri="{FF2B5EF4-FFF2-40B4-BE49-F238E27FC236}">
                <a16:creationId xmlns:a16="http://schemas.microsoft.com/office/drawing/2014/main" id="{866FE843-ADDC-486F-90AA-C3188C9F4F36}"/>
              </a:ext>
            </a:extLst>
          </p:cNvPr>
          <p:cNvSpPr>
            <a:spLocks noGrp="1"/>
          </p:cNvSpPr>
          <p:nvPr/>
        </p:nvSpPr>
        <p:spPr>
          <a:xfrm>
            <a:off x="9546254" y="5416502"/>
            <a:ext cx="1564294" cy="42576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sp>
        <p:nvSpPr>
          <p:cNvPr id="1883" name="Google Shape;1883;p71">
            <a:extLst>
              <a:ext uri="{FF2B5EF4-FFF2-40B4-BE49-F238E27FC236}">
                <a16:creationId xmlns:a16="http://schemas.microsoft.com/office/drawing/2014/main" id="{02D25FD6-C40A-423B-AD63-BB7AEA1FB6A0}"/>
              </a:ext>
            </a:extLst>
          </p:cNvPr>
          <p:cNvSpPr>
            <a:spLocks noGrp="1"/>
          </p:cNvSpPr>
          <p:nvPr/>
        </p:nvSpPr>
        <p:spPr>
          <a:xfrm>
            <a:off x="515294" y="3105952"/>
            <a:ext cx="547476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안정적인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Ohmic Contact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형성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및 Contact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저항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감소를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Implant Enclosure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규정</a:t>
            </a:r>
            <a:endParaRPr sz="18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2008" name="Slide 5 copied left comparison heading">
            <a:extLst>
              <a:ext uri="{FF2B5EF4-FFF2-40B4-BE49-F238E27FC236}">
                <a16:creationId xmlns:a16="http://schemas.microsoft.com/office/drawing/2014/main" id="{85A2C871-A45D-45BB-B9CA-C4235A59D3C0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2009" name="Slide 5 copied right comparison heading">
            <a:extLst>
              <a:ext uri="{FF2B5EF4-FFF2-40B4-BE49-F238E27FC236}">
                <a16:creationId xmlns:a16="http://schemas.microsoft.com/office/drawing/2014/main" id="{EC5F33A4-DEDA-4EA0-96E7-C25F5D9574FC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44B9B7-C01A-0BF8-8B7D-7368AE34B4CB}"/>
              </a:ext>
            </a:extLst>
          </p:cNvPr>
          <p:cNvSpPr/>
          <p:nvPr/>
        </p:nvSpPr>
        <p:spPr>
          <a:xfrm>
            <a:off x="8218116" y="5151262"/>
            <a:ext cx="824567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Sillicide</a:t>
            </a:r>
            <a:endParaRPr lang="ko-KR" altLang="en-US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A2006F-7BA6-1350-EDEA-D41E63AE4176}"/>
              </a:ext>
            </a:extLst>
          </p:cNvPr>
          <p:cNvSpPr/>
          <p:nvPr/>
        </p:nvSpPr>
        <p:spPr>
          <a:xfrm>
            <a:off x="9914717" y="5149282"/>
            <a:ext cx="841974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Sillicide</a:t>
            </a:r>
            <a:endParaRPr lang="ko-KR" altLang="en-US" sz="14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914216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9" name="Google Shape;1891;p72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1980" name="Google Shape;1892;p72"/>
          <p:cNvGraphicFramePr/>
          <p:nvPr>
            <p:extLst>
              <p:ext uri="{D42A27DB-BD31-4B8C-83A1-F6EECF244321}">
                <p14:modId xmlns:p14="http://schemas.microsoft.com/office/powerpoint/2010/main" val="163635746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CONT.SE.5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0.24um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 dirty="0"/>
                        <a:t>Minimum Poly Contact to non-</a:t>
                      </a:r>
                      <a:r>
                        <a:rPr sz="1100" dirty="0" err="1"/>
                        <a:t>salacided</a:t>
                      </a:r>
                      <a:r>
                        <a:rPr sz="1100" dirty="0"/>
                        <a:t> Poly resistor or Active Contact to non-</a:t>
                      </a:r>
                      <a:r>
                        <a:rPr sz="1100" dirty="0" err="1"/>
                        <a:t>salacided</a:t>
                      </a:r>
                      <a:r>
                        <a:rPr sz="1100" dirty="0"/>
                        <a:t> Active resistor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981" name="Google Shape;1893;p7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4149" y="3184320"/>
            <a:ext cx="4720579" cy="3105876"/>
          </a:xfrm>
          <a:prstGeom prst="rect">
            <a:avLst/>
          </a:prstGeom>
          <a:ln>
            <a:noFill/>
          </a:ln>
        </p:spPr>
      </p:pic>
      <p:cxnSp>
        <p:nvCxnSpPr>
          <p:cNvPr id="1982" name="Google Shape;1894;p72"/>
          <p:cNvCxnSpPr/>
          <p:nvPr/>
        </p:nvCxnSpPr>
        <p:spPr>
          <a:xfrm flipH="1">
            <a:off x="1352371" y="4343325"/>
            <a:ext cx="2278685" cy="1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895" name="Google Shape;1895;p72">
            <a:extLst>
              <a:ext uri="{FF2B5EF4-FFF2-40B4-BE49-F238E27FC236}">
                <a16:creationId xmlns:a16="http://schemas.microsoft.com/office/drawing/2014/main" id="{D09D7C67-6CF3-4D37-8F05-91FDF90432B6}"/>
              </a:ext>
            </a:extLst>
          </p:cNvPr>
          <p:cNvSpPr>
            <a:spLocks noGrp="1"/>
          </p:cNvSpPr>
          <p:nvPr/>
        </p:nvSpPr>
        <p:spPr>
          <a:xfrm>
            <a:off x="1970080" y="3893659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0.24um</a:t>
            </a:r>
          </a:p>
        </p:txBody>
      </p:sp>
      <p:sp>
        <p:nvSpPr>
          <p:cNvPr id="1896" name="Google Shape;1896;p72">
            <a:extLst>
              <a:ext uri="{FF2B5EF4-FFF2-40B4-BE49-F238E27FC236}">
                <a16:creationId xmlns:a16="http://schemas.microsoft.com/office/drawing/2014/main" id="{FF36A91D-787B-4E59-A18E-C686B217547E}"/>
              </a:ext>
            </a:extLst>
          </p:cNvPr>
          <p:cNvSpPr>
            <a:spLocks noGrp="1"/>
          </p:cNvSpPr>
          <p:nvPr/>
        </p:nvSpPr>
        <p:spPr>
          <a:xfrm>
            <a:off x="8690190" y="4326068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0.24um</a:t>
            </a:r>
          </a:p>
        </p:txBody>
      </p:sp>
      <p:cxnSp>
        <p:nvCxnSpPr>
          <p:cNvPr id="1985" name="Google Shape;1897;p72"/>
          <p:cNvCxnSpPr/>
          <p:nvPr/>
        </p:nvCxnSpPr>
        <p:spPr>
          <a:xfrm>
            <a:off x="8203543" y="4705781"/>
            <a:ext cx="1770391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1898" name="Google Shape;1898;p72">
            <a:extLst>
              <a:ext uri="{FF2B5EF4-FFF2-40B4-BE49-F238E27FC236}">
                <a16:creationId xmlns:a16="http://schemas.microsoft.com/office/drawing/2014/main" id="{3FD31C68-9EEA-4D6C-889F-5074CFC12E0B}"/>
              </a:ext>
            </a:extLst>
          </p:cNvPr>
          <p:cNvSpPr>
            <a:spLocks noGrp="1"/>
          </p:cNvSpPr>
          <p:nvPr/>
        </p:nvSpPr>
        <p:spPr>
          <a:xfrm>
            <a:off x="6570575" y="2867294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sp>
        <p:nvSpPr>
          <p:cNvPr id="1899" name="Google Shape;1899;p72">
            <a:extLst>
              <a:ext uri="{FF2B5EF4-FFF2-40B4-BE49-F238E27FC236}">
                <a16:creationId xmlns:a16="http://schemas.microsoft.com/office/drawing/2014/main" id="{DBADBC73-F3A1-4AA6-8DEE-1B6C47E67F05}"/>
              </a:ext>
            </a:extLst>
          </p:cNvPr>
          <p:cNvSpPr>
            <a:spLocks noGrp="1"/>
          </p:cNvSpPr>
          <p:nvPr/>
        </p:nvSpPr>
        <p:spPr>
          <a:xfrm>
            <a:off x="10038054" y="4930555"/>
            <a:ext cx="984346" cy="3308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988" name="Google Shape;1900;p72"/>
          <p:cNvCxnSpPr/>
          <p:nvPr/>
        </p:nvCxnSpPr>
        <p:spPr>
          <a:xfrm>
            <a:off x="8183020" y="3341065"/>
            <a:ext cx="7383" cy="192035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1989" name="Google Shape;1901;p7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3866" y="1818600"/>
            <a:ext cx="3695511" cy="2132055"/>
          </a:xfrm>
          <a:prstGeom prst="rect">
            <a:avLst/>
          </a:prstGeom>
          <a:ln>
            <a:noFill/>
          </a:ln>
        </p:spPr>
      </p:pic>
      <p:cxnSp>
        <p:nvCxnSpPr>
          <p:cNvPr id="1990" name="Google Shape;1902;p72"/>
          <p:cNvCxnSpPr/>
          <p:nvPr/>
        </p:nvCxnSpPr>
        <p:spPr>
          <a:xfrm>
            <a:off x="6959358" y="3051960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903" name="Google Shape;1903;p72">
            <a:extLst>
              <a:ext uri="{FF2B5EF4-FFF2-40B4-BE49-F238E27FC236}">
                <a16:creationId xmlns:a16="http://schemas.microsoft.com/office/drawing/2014/main" id="{E6575E15-17AD-4F25-8AE2-27E85AD02401}"/>
              </a:ext>
            </a:extLst>
          </p:cNvPr>
          <p:cNvSpPr>
            <a:spLocks noGrp="1"/>
          </p:cNvSpPr>
          <p:nvPr/>
        </p:nvSpPr>
        <p:spPr>
          <a:xfrm>
            <a:off x="7553240" y="5654470"/>
            <a:ext cx="3712659" cy="109437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1904" name="Google Shape;1904;p72">
            <a:extLst>
              <a:ext uri="{FF2B5EF4-FFF2-40B4-BE49-F238E27FC236}">
                <a16:creationId xmlns:a16="http://schemas.microsoft.com/office/drawing/2014/main" id="{C00530CD-65DD-467E-B924-54A6A1024FE2}"/>
              </a:ext>
            </a:extLst>
          </p:cNvPr>
          <p:cNvSpPr>
            <a:spLocks noGrp="1"/>
          </p:cNvSpPr>
          <p:nvPr/>
        </p:nvSpPr>
        <p:spPr>
          <a:xfrm>
            <a:off x="7553866" y="5660405"/>
            <a:ext cx="3712028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cxnSp>
        <p:nvCxnSpPr>
          <p:cNvPr id="1993" name="Google Shape;1905;p72"/>
          <p:cNvCxnSpPr/>
          <p:nvPr/>
        </p:nvCxnSpPr>
        <p:spPr>
          <a:xfrm>
            <a:off x="10031487" y="2802506"/>
            <a:ext cx="0" cy="2458916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1906" name="Google Shape;1906;p72">
            <a:extLst>
              <a:ext uri="{FF2B5EF4-FFF2-40B4-BE49-F238E27FC236}">
                <a16:creationId xmlns:a16="http://schemas.microsoft.com/office/drawing/2014/main" id="{F48C7D49-03A9-4CB1-9811-F2558328D64D}"/>
              </a:ext>
            </a:extLst>
          </p:cNvPr>
          <p:cNvSpPr>
            <a:spLocks noGrp="1"/>
          </p:cNvSpPr>
          <p:nvPr/>
        </p:nvSpPr>
        <p:spPr>
          <a:xfrm>
            <a:off x="10031487" y="4737258"/>
            <a:ext cx="970168" cy="316031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CONTACT</a:t>
            </a:r>
            <a:r>
              <a:rPr sz="12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t</a:t>
            </a:r>
          </a:p>
        </p:txBody>
      </p:sp>
      <p:sp>
        <p:nvSpPr>
          <p:cNvPr id="1907" name="Google Shape;1907;p72">
            <a:extLst>
              <a:ext uri="{FF2B5EF4-FFF2-40B4-BE49-F238E27FC236}">
                <a16:creationId xmlns:a16="http://schemas.microsoft.com/office/drawing/2014/main" id="{D669CE25-2232-452B-96B2-3C2996B3185F}"/>
              </a:ext>
            </a:extLst>
          </p:cNvPr>
          <p:cNvSpPr>
            <a:spLocks noGrp="1"/>
          </p:cNvSpPr>
          <p:nvPr/>
        </p:nvSpPr>
        <p:spPr>
          <a:xfrm>
            <a:off x="7553233" y="5329317"/>
            <a:ext cx="3712659" cy="330868"/>
          </a:xfrm>
          <a:prstGeom prst="rect">
            <a:avLst/>
          </a:prstGeom>
          <a:solidFill>
            <a:srgbClr val="C4E0B2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POLY / Gate</a:t>
            </a:r>
          </a:p>
        </p:txBody>
      </p:sp>
      <p:sp>
        <p:nvSpPr>
          <p:cNvPr id="1908" name="Google Shape;1908;p72">
            <a:extLst>
              <a:ext uri="{FF2B5EF4-FFF2-40B4-BE49-F238E27FC236}">
                <a16:creationId xmlns:a16="http://schemas.microsoft.com/office/drawing/2014/main" id="{AE7AC101-9983-4E31-A7BC-E28887242EF5}"/>
              </a:ext>
            </a:extLst>
          </p:cNvPr>
          <p:cNvSpPr>
            <a:spLocks noGrp="1"/>
          </p:cNvSpPr>
          <p:nvPr/>
        </p:nvSpPr>
        <p:spPr>
          <a:xfrm>
            <a:off x="8158092" y="5057819"/>
            <a:ext cx="3107789" cy="2666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Silicide</a:t>
            </a:r>
          </a:p>
        </p:txBody>
      </p:sp>
      <p:sp>
        <p:nvSpPr>
          <p:cNvPr id="1909" name="Google Shape;1909;p72">
            <a:extLst>
              <a:ext uri="{FF2B5EF4-FFF2-40B4-BE49-F238E27FC236}">
                <a16:creationId xmlns:a16="http://schemas.microsoft.com/office/drawing/2014/main" id="{1591C4CD-3BF7-4053-B2BD-E0AF0D23B1A0}"/>
              </a:ext>
            </a:extLst>
          </p:cNvPr>
          <p:cNvSpPr>
            <a:spLocks noGrp="1"/>
          </p:cNvSpPr>
          <p:nvPr/>
        </p:nvSpPr>
        <p:spPr>
          <a:xfrm>
            <a:off x="515294" y="1635321"/>
            <a:ext cx="516618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저항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특성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유지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및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Salicide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침범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방지를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최소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Contact-Resistor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간격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규정</a:t>
            </a:r>
            <a:endParaRPr sz="18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1976" name="Slide 5 copied left comparison heading">
            <a:extLst>
              <a:ext uri="{FF2B5EF4-FFF2-40B4-BE49-F238E27FC236}">
                <a16:creationId xmlns:a16="http://schemas.microsoft.com/office/drawing/2014/main" id="{7F6F8EAF-3528-4FBA-A74A-3641F8C77E8D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977" name="Slide 5 copied right comparison heading">
            <a:extLst>
              <a:ext uri="{FF2B5EF4-FFF2-40B4-BE49-F238E27FC236}">
                <a16:creationId xmlns:a16="http://schemas.microsoft.com/office/drawing/2014/main" id="{B62B0313-42FA-4A4D-8071-3406844FC98D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B49453-BC6B-5CD2-F3E2-4202D92B84F7}"/>
              </a:ext>
            </a:extLst>
          </p:cNvPr>
          <p:cNvSpPr/>
          <p:nvPr/>
        </p:nvSpPr>
        <p:spPr>
          <a:xfrm>
            <a:off x="8183020" y="5015384"/>
            <a:ext cx="3107789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Silicide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186876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0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" name="Google Shape;1914;p73">
            <a:extLst>
              <a:ext uri="{FF2B5EF4-FFF2-40B4-BE49-F238E27FC236}">
                <a16:creationId xmlns:a16="http://schemas.microsoft.com/office/drawing/2014/main" id="{0D7CAA25-DC26-453A-A074-B0265DBA4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467" y="2301478"/>
            <a:ext cx="4601066" cy="225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/>
              <a:t>Salicide</a:t>
            </a:r>
          </a:p>
        </p:txBody>
      </p:sp>
    </p:spTree>
    <p:extLst>
      <p:ext uri="{BB962C8B-B14F-4D97-AF65-F5344CB8AC3E}">
        <p14:creationId xmlns:p14="http://schemas.microsoft.com/office/powerpoint/2010/main" val="15485312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표 5"/>
          <p:cNvGraphicFramePr/>
          <p:nvPr>
            <p:extLst>
              <p:ext uri="{D42A27DB-BD31-4B8C-83A1-F6EECF244321}">
                <p14:modId xmlns:p14="http://schemas.microsoft.com/office/powerpoint/2010/main" val="3036691862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SIPROT.W.1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0.44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um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</a:t>
                      </a:r>
                      <a:r>
                        <a:rPr sz="14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Salicide</a:t>
                      </a: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Block width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69" y="1575812"/>
            <a:ext cx="1695666" cy="1424591"/>
          </a:xfrm>
          <a:prstGeom prst="rect">
            <a:avLst/>
          </a:prstGeom>
        </p:spPr>
      </p:pic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346246A0-A987-45D1-B8AE-3A1C4CBB83C0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74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280" y="1708392"/>
            <a:ext cx="1929286" cy="455872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619CB38-1885-4681-A926-1B01BD21CFF9}"/>
              </a:ext>
            </a:extLst>
          </p:cNvPr>
          <p:cNvSpPr>
            <a:spLocks noGrp="1"/>
          </p:cNvSpPr>
          <p:nvPr/>
        </p:nvSpPr>
        <p:spPr>
          <a:xfrm>
            <a:off x="482335" y="3000403"/>
            <a:ext cx="30666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얇으면</a:t>
            </a:r>
            <a:r>
              <a:rPr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공정</a:t>
            </a:r>
            <a:r>
              <a:rPr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오차</a:t>
            </a:r>
            <a:r>
              <a:rPr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↑ </a:t>
            </a:r>
          </a:p>
        </p:txBody>
      </p:sp>
      <p:pic>
        <p:nvPicPr>
          <p:cNvPr id="76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95" y="3414518"/>
            <a:ext cx="3603375" cy="3348583"/>
          </a:xfrm>
          <a:prstGeom prst="rect">
            <a:avLst/>
          </a:prstGeom>
        </p:spPr>
      </p:pic>
      <p:cxnSp>
        <p:nvCxnSpPr>
          <p:cNvPr id="77" name="직선 화살표 연결선 12"/>
          <p:cNvCxnSpPr/>
          <p:nvPr/>
        </p:nvCxnSpPr>
        <p:spPr>
          <a:xfrm>
            <a:off x="1770278" y="4732771"/>
            <a:ext cx="797357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8CEC39C-B1A8-445A-9877-4B27CC5A099C}"/>
              </a:ext>
            </a:extLst>
          </p:cNvPr>
          <p:cNvSpPr>
            <a:spLocks noGrp="1"/>
          </p:cNvSpPr>
          <p:nvPr/>
        </p:nvSpPr>
        <p:spPr>
          <a:xfrm>
            <a:off x="1846592" y="4318656"/>
            <a:ext cx="6447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0.44</a:t>
            </a:r>
          </a:p>
        </p:txBody>
      </p:sp>
      <p:sp>
        <p:nvSpPr>
          <p:cNvPr id="69" name="Slide 5 copied left comparison heading">
            <a:extLst>
              <a:ext uri="{FF2B5EF4-FFF2-40B4-BE49-F238E27FC236}">
                <a16:creationId xmlns:a16="http://schemas.microsoft.com/office/drawing/2014/main" id="{6B436C6B-27AD-4611-AF9F-74F13D1B49EB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70" name="Slide 5 copied right comparison heading">
            <a:extLst>
              <a:ext uri="{FF2B5EF4-FFF2-40B4-BE49-F238E27FC236}">
                <a16:creationId xmlns:a16="http://schemas.microsoft.com/office/drawing/2014/main" id="{69FC9A6F-F0F3-4808-BB5A-55B053FC2BA5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1772763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표 5"/>
          <p:cNvGraphicFramePr/>
          <p:nvPr>
            <p:extLst>
              <p:ext uri="{D42A27DB-BD31-4B8C-83A1-F6EECF244321}">
                <p14:modId xmlns:p14="http://schemas.microsoft.com/office/powerpoint/2010/main" val="1304728036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SIPROT.SP.1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0.44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um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</a:t>
                      </a:r>
                      <a:r>
                        <a:rPr sz="14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Salicide</a:t>
                      </a: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Block space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5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26" y="1524516"/>
            <a:ext cx="1929285" cy="874608"/>
          </a:xfrm>
          <a:prstGeom prst="rect">
            <a:avLst/>
          </a:prstGeom>
        </p:spPr>
      </p:pic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E3343578-2EEC-4B47-AE98-82CFF24013C6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77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125" y="1690182"/>
            <a:ext cx="2631340" cy="46951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DDDDBD-EF35-45B5-88AA-71134FC9D102}"/>
              </a:ext>
            </a:extLst>
          </p:cNvPr>
          <p:cNvSpPr>
            <a:spLocks noGrp="1"/>
          </p:cNvSpPr>
          <p:nvPr/>
        </p:nvSpPr>
        <p:spPr>
          <a:xfrm>
            <a:off x="423126" y="2475879"/>
            <a:ext cx="283923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가까우면</a:t>
            </a:r>
            <a:r>
              <a:rPr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공정</a:t>
            </a:r>
            <a:r>
              <a:rPr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오차</a:t>
            </a:r>
            <a:r>
              <a:rPr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↑ </a:t>
            </a:r>
          </a:p>
        </p:txBody>
      </p:sp>
      <p:pic>
        <p:nvPicPr>
          <p:cNvPr id="79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31" y="3005135"/>
            <a:ext cx="3025883" cy="3482382"/>
          </a:xfrm>
          <a:prstGeom prst="rect">
            <a:avLst/>
          </a:prstGeom>
        </p:spPr>
      </p:pic>
      <p:cxnSp>
        <p:nvCxnSpPr>
          <p:cNvPr id="80" name="직선 화살표 연결선 13"/>
          <p:cNvCxnSpPr/>
          <p:nvPr/>
        </p:nvCxnSpPr>
        <p:spPr>
          <a:xfrm>
            <a:off x="1254860" y="4567494"/>
            <a:ext cx="473548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FB9D107-AC07-4D9D-87C1-0420E956CF17}"/>
              </a:ext>
            </a:extLst>
          </p:cNvPr>
          <p:cNvSpPr>
            <a:spLocks noGrp="1"/>
          </p:cNvSpPr>
          <p:nvPr/>
        </p:nvSpPr>
        <p:spPr>
          <a:xfrm>
            <a:off x="1728408" y="3827352"/>
            <a:ext cx="6447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0.44</a:t>
            </a:r>
          </a:p>
        </p:txBody>
      </p:sp>
      <p:cxnSp>
        <p:nvCxnSpPr>
          <p:cNvPr id="82" name="직선 화살표 연결선 19"/>
          <p:cNvCxnSpPr/>
          <p:nvPr/>
        </p:nvCxnSpPr>
        <p:spPr>
          <a:xfrm>
            <a:off x="1776384" y="4196684"/>
            <a:ext cx="473548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C58BBBE-CDFD-4EC7-9E45-FCE776C13709}"/>
              </a:ext>
            </a:extLst>
          </p:cNvPr>
          <p:cNvSpPr>
            <a:spLocks noGrp="1"/>
          </p:cNvSpPr>
          <p:nvPr/>
        </p:nvSpPr>
        <p:spPr>
          <a:xfrm>
            <a:off x="1131656" y="4141164"/>
            <a:ext cx="64472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0.44</a:t>
            </a:r>
          </a:p>
        </p:txBody>
      </p:sp>
      <p:sp>
        <p:nvSpPr>
          <p:cNvPr id="72" name="Slide 5 copied left comparison heading">
            <a:extLst>
              <a:ext uri="{FF2B5EF4-FFF2-40B4-BE49-F238E27FC236}">
                <a16:creationId xmlns:a16="http://schemas.microsoft.com/office/drawing/2014/main" id="{2F0B660B-0F8D-44A6-8F9B-1944FF0C7014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73" name="Slide 5 copied right comparison heading">
            <a:extLst>
              <a:ext uri="{FF2B5EF4-FFF2-40B4-BE49-F238E27FC236}">
                <a16:creationId xmlns:a16="http://schemas.microsoft.com/office/drawing/2014/main" id="{D891F4C2-9A11-459C-9B16-A6A30A34C729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34266412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94C0FA35-339E-49E5-8E16-472E5A1CD7D8}"/>
              </a:ext>
            </a:extLst>
          </p:cNvPr>
          <p:cNvSpPr>
            <a:spLocks noGrp="1"/>
          </p:cNvSpPr>
          <p:nvPr/>
        </p:nvSpPr>
        <p:spPr>
          <a:xfrm>
            <a:off x="7258851" y="4561738"/>
            <a:ext cx="4399585" cy="826657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B9D4F68-C3B3-4631-A2A1-D623A45695CC}"/>
              </a:ext>
            </a:extLst>
          </p:cNvPr>
          <p:cNvSpPr>
            <a:spLocks noGrp="1"/>
          </p:cNvSpPr>
          <p:nvPr/>
        </p:nvSpPr>
        <p:spPr>
          <a:xfrm>
            <a:off x="7251403" y="5380051"/>
            <a:ext cx="4413167" cy="11112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48" name="표 5"/>
          <p:cNvGraphicFramePr/>
          <p:nvPr>
            <p:extLst>
              <p:ext uri="{D42A27DB-BD31-4B8C-83A1-F6EECF244321}">
                <p14:modId xmlns:p14="http://schemas.microsoft.com/office/powerpoint/2010/main" val="739196313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SIPROT.SE.1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um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</a:t>
                      </a:r>
                      <a:r>
                        <a:rPr sz="14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Salicide</a:t>
                      </a: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Block to Contact spacing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9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79" y="1361495"/>
            <a:ext cx="2905276" cy="1333116"/>
          </a:xfrm>
          <a:prstGeom prst="rect">
            <a:avLst/>
          </a:prstGeom>
        </p:spPr>
      </p:pic>
      <p:pic>
        <p:nvPicPr>
          <p:cNvPr id="15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6799" y="1556618"/>
            <a:ext cx="1908722" cy="1769538"/>
          </a:xfrm>
          <a:prstGeom prst="rect">
            <a:avLst/>
          </a:prstGeom>
        </p:spPr>
      </p:pic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239BA7BE-6089-46EC-BAB9-6EC1B3E697F9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CDAEBB-ED3A-4654-80C1-5875193D8598}"/>
              </a:ext>
            </a:extLst>
          </p:cNvPr>
          <p:cNvSpPr>
            <a:spLocks noGrp="1"/>
          </p:cNvSpPr>
          <p:nvPr/>
        </p:nvSpPr>
        <p:spPr>
          <a:xfrm>
            <a:off x="424008" y="2660183"/>
            <a:ext cx="470673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Char char="•"/>
            </a:pPr>
            <a:r>
              <a:rPr b="1"/>
              <a:t>Contact 근처에는 저항,신뢰성 문제가 큼</a:t>
            </a:r>
          </a:p>
        </p:txBody>
      </p:sp>
      <p:cxnSp>
        <p:nvCxnSpPr>
          <p:cNvPr id="153" name="직선 화살표 연결선 34"/>
          <p:cNvCxnSpPr/>
          <p:nvPr/>
        </p:nvCxnSpPr>
        <p:spPr>
          <a:xfrm>
            <a:off x="8610674" y="4398519"/>
            <a:ext cx="773555" cy="0"/>
          </a:xfrm>
          <a:prstGeom prst="straightConnector1">
            <a:avLst/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27CC8CD-1BCF-431B-BB22-9C294A0F5EF8}"/>
              </a:ext>
            </a:extLst>
          </p:cNvPr>
          <p:cNvSpPr>
            <a:spLocks noGrp="1"/>
          </p:cNvSpPr>
          <p:nvPr/>
        </p:nvSpPr>
        <p:spPr>
          <a:xfrm>
            <a:off x="8649142" y="4007437"/>
            <a:ext cx="6447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0.24</a:t>
            </a:r>
          </a:p>
        </p:txBody>
      </p:sp>
      <p:sp>
        <p:nvSpPr>
          <p:cNvPr id="41" name="사다리꼴 40">
            <a:extLst>
              <a:ext uri="{FF2B5EF4-FFF2-40B4-BE49-F238E27FC236}">
                <a16:creationId xmlns:a16="http://schemas.microsoft.com/office/drawing/2014/main" id="{BF4C4A75-AC25-4221-94E5-B07F90A6BB82}"/>
              </a:ext>
            </a:extLst>
          </p:cNvPr>
          <p:cNvSpPr>
            <a:spLocks noGrp="1"/>
          </p:cNvSpPr>
          <p:nvPr/>
        </p:nvSpPr>
        <p:spPr>
          <a:xfrm flipV="1">
            <a:off x="9366732" y="4662571"/>
            <a:ext cx="378509" cy="358316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4A4CDFB-F1D6-4676-B8BF-A70F42642213}"/>
              </a:ext>
            </a:extLst>
          </p:cNvPr>
          <p:cNvSpPr>
            <a:spLocks noGrp="1"/>
          </p:cNvSpPr>
          <p:nvPr/>
        </p:nvSpPr>
        <p:spPr>
          <a:xfrm>
            <a:off x="9258902" y="4333695"/>
            <a:ext cx="61427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contact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A3A2260-AC06-4240-A074-73C42ED401E3}"/>
              </a:ext>
            </a:extLst>
          </p:cNvPr>
          <p:cNvSpPr>
            <a:spLocks noGrp="1"/>
          </p:cNvSpPr>
          <p:nvPr/>
        </p:nvSpPr>
        <p:spPr>
          <a:xfrm>
            <a:off x="8613278" y="5020887"/>
            <a:ext cx="1259890" cy="984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9F423A-4CCC-4F3F-BE0D-8A6ECF9EB51D}"/>
              </a:ext>
            </a:extLst>
          </p:cNvPr>
          <p:cNvSpPr>
            <a:spLocks noGrp="1"/>
          </p:cNvSpPr>
          <p:nvPr/>
        </p:nvSpPr>
        <p:spPr>
          <a:xfrm>
            <a:off x="9005563" y="4964872"/>
            <a:ext cx="9048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silicide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96C36BA-D68C-443D-A05F-96F9B8E0C64B}"/>
              </a:ext>
            </a:extLst>
          </p:cNvPr>
          <p:cNvSpPr>
            <a:spLocks noGrp="1"/>
          </p:cNvSpPr>
          <p:nvPr/>
        </p:nvSpPr>
        <p:spPr>
          <a:xfrm>
            <a:off x="7258866" y="5120437"/>
            <a:ext cx="2614302" cy="2679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5B2AE0-0FDD-43BB-81AA-7915E92AA21B}"/>
              </a:ext>
            </a:extLst>
          </p:cNvPr>
          <p:cNvSpPr>
            <a:spLocks noGrp="1"/>
          </p:cNvSpPr>
          <p:nvPr/>
        </p:nvSpPr>
        <p:spPr>
          <a:xfrm>
            <a:off x="8324615" y="5064388"/>
            <a:ext cx="7534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poly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E731F55-80A8-492E-8ADD-402BAB04A4A0}"/>
              </a:ext>
            </a:extLst>
          </p:cNvPr>
          <p:cNvSpPr>
            <a:spLocks noGrp="1"/>
          </p:cNvSpPr>
          <p:nvPr/>
        </p:nvSpPr>
        <p:spPr>
          <a:xfrm>
            <a:off x="7239140" y="5378443"/>
            <a:ext cx="4425444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STI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5454B1-3B86-4626-904E-FD62533754F8}"/>
              </a:ext>
            </a:extLst>
          </p:cNvPr>
          <p:cNvSpPr>
            <a:spLocks noGrp="1"/>
          </p:cNvSpPr>
          <p:nvPr/>
        </p:nvSpPr>
        <p:spPr>
          <a:xfrm flipH="1">
            <a:off x="10295784" y="6057012"/>
            <a:ext cx="16696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P-Substrate</a:t>
            </a:r>
          </a:p>
          <a:p>
            <a:endParaRPr/>
          </a:p>
        </p:txBody>
      </p:sp>
      <p:sp>
        <p:nvSpPr>
          <p:cNvPr id="51" name="직선 연결선 50">
            <a:extLst>
              <a:ext uri="{FF2B5EF4-FFF2-40B4-BE49-F238E27FC236}">
                <a16:creationId xmlns:a16="http://schemas.microsoft.com/office/drawing/2014/main" id="{BF2F53C7-1ED7-466E-A087-516CB656BF23}"/>
              </a:ext>
            </a:extLst>
          </p:cNvPr>
          <p:cNvSpPr>
            <a:spLocks noGrp="1"/>
          </p:cNvSpPr>
          <p:nvPr/>
        </p:nvSpPr>
        <p:spPr>
          <a:xfrm>
            <a:off x="9745241" y="2628900"/>
            <a:ext cx="0" cy="1734711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54" name="직선 연결선 53">
            <a:extLst>
              <a:ext uri="{FF2B5EF4-FFF2-40B4-BE49-F238E27FC236}">
                <a16:creationId xmlns:a16="http://schemas.microsoft.com/office/drawing/2014/main" id="{28B70AF8-E21A-498C-B828-3111E5D893C5}"/>
              </a:ext>
            </a:extLst>
          </p:cNvPr>
          <p:cNvSpPr>
            <a:spLocks noGrp="1"/>
          </p:cNvSpPr>
          <p:nvPr/>
        </p:nvSpPr>
        <p:spPr>
          <a:xfrm>
            <a:off x="9358373" y="2628900"/>
            <a:ext cx="0" cy="1734711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cxnSp>
        <p:nvCxnSpPr>
          <p:cNvPr id="165" name="직선 연결선 54"/>
          <p:cNvCxnSpPr>
            <a:endCxn id="43" idx="1"/>
          </p:cNvCxnSpPr>
          <p:nvPr/>
        </p:nvCxnSpPr>
        <p:spPr>
          <a:xfrm flipH="1">
            <a:off x="8613278" y="2598984"/>
            <a:ext cx="4824" cy="24711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66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94" y="3093607"/>
            <a:ext cx="3257448" cy="3019915"/>
          </a:xfrm>
          <a:prstGeom prst="rect">
            <a:avLst/>
          </a:prstGeom>
        </p:spPr>
      </p:pic>
      <p:cxnSp>
        <p:nvCxnSpPr>
          <p:cNvPr id="167" name="직선 화살표 연결선 29"/>
          <p:cNvCxnSpPr/>
          <p:nvPr/>
        </p:nvCxnSpPr>
        <p:spPr>
          <a:xfrm>
            <a:off x="1372466" y="4258338"/>
            <a:ext cx="1207564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9F6A732-1804-4EEF-96D2-3E0CC06AA285}"/>
              </a:ext>
            </a:extLst>
          </p:cNvPr>
          <p:cNvSpPr>
            <a:spLocks noGrp="1"/>
          </p:cNvSpPr>
          <p:nvPr/>
        </p:nvSpPr>
        <p:spPr>
          <a:xfrm>
            <a:off x="1653884" y="3824914"/>
            <a:ext cx="6447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00"/>
                </a:solidFill>
              </a:rPr>
              <a:t>0.24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A293E5C-AE69-4D4C-B53F-61F2B2D4F6EE}"/>
              </a:ext>
            </a:extLst>
          </p:cNvPr>
          <p:cNvSpPr>
            <a:spLocks noGrp="1"/>
          </p:cNvSpPr>
          <p:nvPr/>
        </p:nvSpPr>
        <p:spPr>
          <a:xfrm>
            <a:off x="6674877" y="23907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✄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95C320BC-D744-4F8D-AD1C-060FC89159F5}"/>
              </a:ext>
            </a:extLst>
          </p:cNvPr>
          <p:cNvSpPr>
            <a:spLocks noGrp="1"/>
          </p:cNvSpPr>
          <p:nvPr/>
        </p:nvSpPr>
        <p:spPr>
          <a:xfrm>
            <a:off x="7185765" y="2575435"/>
            <a:ext cx="447880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C3D9718-2855-49C2-8543-AA64322E96F8}"/>
              </a:ext>
            </a:extLst>
          </p:cNvPr>
          <p:cNvSpPr>
            <a:spLocks noGrp="1"/>
          </p:cNvSpPr>
          <p:nvPr/>
        </p:nvSpPr>
        <p:spPr>
          <a:xfrm>
            <a:off x="9366732" y="4579916"/>
            <a:ext cx="378510" cy="43254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0B7E377-1467-4CA1-AA22-00D5003608A4}"/>
              </a:ext>
            </a:extLst>
          </p:cNvPr>
          <p:cNvSpPr>
            <a:spLocks noGrp="1"/>
          </p:cNvSpPr>
          <p:nvPr/>
        </p:nvSpPr>
        <p:spPr>
          <a:xfrm>
            <a:off x="7251403" y="4551070"/>
            <a:ext cx="1359271" cy="5788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bg1"/>
                </a:solidFill>
              </a:rPr>
              <a:t>SIPROT</a:t>
            </a:r>
          </a:p>
        </p:txBody>
      </p:sp>
      <p:sp>
        <p:nvSpPr>
          <p:cNvPr id="144" name="Slide 5 copied left comparison heading">
            <a:extLst>
              <a:ext uri="{FF2B5EF4-FFF2-40B4-BE49-F238E27FC236}">
                <a16:creationId xmlns:a16="http://schemas.microsoft.com/office/drawing/2014/main" id="{63B7906B-D6C4-4B1C-BEF0-7ADBCE4287B6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45" name="Slide 5 copied right comparison heading">
            <a:extLst>
              <a:ext uri="{FF2B5EF4-FFF2-40B4-BE49-F238E27FC236}">
                <a16:creationId xmlns:a16="http://schemas.microsoft.com/office/drawing/2014/main" id="{977E1331-F88B-4FFF-88BD-F6F3E54302A0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300089465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49D74F3C-85FA-47DD-B04A-7FF4A74913B5}"/>
              </a:ext>
            </a:extLst>
          </p:cNvPr>
          <p:cNvSpPr>
            <a:spLocks noGrp="1"/>
          </p:cNvSpPr>
          <p:nvPr/>
        </p:nvSpPr>
        <p:spPr>
          <a:xfrm>
            <a:off x="7242412" y="4634940"/>
            <a:ext cx="3200454" cy="578839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B9D4F68-C3B3-4631-A2A1-D623A45695CC}"/>
              </a:ext>
            </a:extLst>
          </p:cNvPr>
          <p:cNvSpPr>
            <a:spLocks noGrp="1"/>
          </p:cNvSpPr>
          <p:nvPr/>
        </p:nvSpPr>
        <p:spPr>
          <a:xfrm>
            <a:off x="7251403" y="5200643"/>
            <a:ext cx="4413167" cy="12906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0" name="표 5"/>
          <p:cNvGraphicFramePr/>
          <p:nvPr>
            <p:extLst>
              <p:ext uri="{D42A27DB-BD31-4B8C-83A1-F6EECF244321}">
                <p14:modId xmlns:p14="http://schemas.microsoft.com/office/powerpoint/2010/main" val="1983119505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SIPROT.SE.2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um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</a:t>
                      </a:r>
                      <a:r>
                        <a:rPr sz="14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Salicide</a:t>
                      </a: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Block to Unrelated Active Area spacing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1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768" y="1597435"/>
            <a:ext cx="1940277" cy="1333116"/>
          </a:xfrm>
          <a:prstGeom prst="rect">
            <a:avLst/>
          </a:prstGeom>
        </p:spPr>
      </p:pic>
      <p:pic>
        <p:nvPicPr>
          <p:cNvPr id="132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028" y="1795005"/>
            <a:ext cx="3274273" cy="1546687"/>
          </a:xfrm>
          <a:prstGeom prst="rect">
            <a:avLst/>
          </a:prstGeom>
        </p:spPr>
      </p:pic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03F9E95E-A6EA-49C7-BD27-D1BD7FA5EC6B}"/>
              </a:ext>
            </a:extLst>
          </p:cNvPr>
          <p:cNvSpPr>
            <a:spLocks noGrp="1"/>
          </p:cNvSpPr>
          <p:nvPr/>
        </p:nvSpPr>
        <p:spPr>
          <a:xfrm flipH="1"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cxnSp>
        <p:nvCxnSpPr>
          <p:cNvPr id="134" name="직선 화살표 연결선 34"/>
          <p:cNvCxnSpPr/>
          <p:nvPr/>
        </p:nvCxnSpPr>
        <p:spPr>
          <a:xfrm>
            <a:off x="8756153" y="4583947"/>
            <a:ext cx="7735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27CC8CD-1BCF-431B-BB22-9C294A0F5EF8}"/>
              </a:ext>
            </a:extLst>
          </p:cNvPr>
          <p:cNvSpPr>
            <a:spLocks noGrp="1"/>
          </p:cNvSpPr>
          <p:nvPr/>
        </p:nvSpPr>
        <p:spPr>
          <a:xfrm>
            <a:off x="8813258" y="4187268"/>
            <a:ext cx="6447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latin typeface="맑은 고딕" panose="020B0503020000020004" pitchFamily="50" charset="-127"/>
                <a:ea typeface="맑은 고딕" panose="020B0503020000020004" pitchFamily="50" charset="-127"/>
              </a:rPr>
              <a:t>0.24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A3A2260-AC06-4240-A074-73C42ED401E3}"/>
              </a:ext>
            </a:extLst>
          </p:cNvPr>
          <p:cNvSpPr>
            <a:spLocks noGrp="1"/>
          </p:cNvSpPr>
          <p:nvPr/>
        </p:nvSpPr>
        <p:spPr>
          <a:xfrm>
            <a:off x="7251403" y="5056948"/>
            <a:ext cx="1497815" cy="148082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9F423A-4CCC-4F3F-BE0D-8A6ECF9EB51D}"/>
              </a:ext>
            </a:extLst>
          </p:cNvPr>
          <p:cNvSpPr>
            <a:spLocks noGrp="1"/>
          </p:cNvSpPr>
          <p:nvPr/>
        </p:nvSpPr>
        <p:spPr>
          <a:xfrm>
            <a:off x="7772294" y="5023267"/>
            <a:ext cx="9048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latin typeface="맑은 고딕" panose="020B0503020000020004" pitchFamily="50" charset="-127"/>
                <a:ea typeface="맑은 고딕" panose="020B0503020000020004" pitchFamily="50" charset="-127"/>
              </a:rPr>
              <a:t>silicide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E731F55-80A8-492E-8ADD-402BAB04A4A0}"/>
              </a:ext>
            </a:extLst>
          </p:cNvPr>
          <p:cNvSpPr>
            <a:spLocks noGrp="1"/>
          </p:cNvSpPr>
          <p:nvPr/>
        </p:nvSpPr>
        <p:spPr>
          <a:xfrm>
            <a:off x="8749218" y="5200643"/>
            <a:ext cx="2915366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5454B1-3B86-4626-904E-FD62533754F8}"/>
              </a:ext>
            </a:extLst>
          </p:cNvPr>
          <p:cNvSpPr>
            <a:spLocks noGrp="1"/>
          </p:cNvSpPr>
          <p:nvPr/>
        </p:nvSpPr>
        <p:spPr>
          <a:xfrm flipH="1">
            <a:off x="10295784" y="6057012"/>
            <a:ext cx="16696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P-Substrate</a:t>
            </a:r>
          </a:p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23CD09-104E-4A6B-A361-A587F6FCFB11}"/>
              </a:ext>
            </a:extLst>
          </p:cNvPr>
          <p:cNvSpPr>
            <a:spLocks noGrp="1"/>
          </p:cNvSpPr>
          <p:nvPr/>
        </p:nvSpPr>
        <p:spPr>
          <a:xfrm>
            <a:off x="321596" y="3010581"/>
            <a:ext cx="56468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Active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영역의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edge에서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도핑과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실리사이드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형성이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불안정해지는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것을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방지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F5B55B07-1EE2-4D1C-B827-2D8A3D90D6D5}"/>
              </a:ext>
            </a:extLst>
          </p:cNvPr>
          <p:cNvSpPr>
            <a:spLocks noGrp="1"/>
          </p:cNvSpPr>
          <p:nvPr/>
        </p:nvSpPr>
        <p:spPr>
          <a:xfrm>
            <a:off x="8765157" y="3161755"/>
            <a:ext cx="0" cy="1902633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932A3A1-2F50-4D1A-A7CE-1ED0000F046D}"/>
              </a:ext>
            </a:extLst>
          </p:cNvPr>
          <p:cNvSpPr>
            <a:spLocks noGrp="1"/>
          </p:cNvSpPr>
          <p:nvPr/>
        </p:nvSpPr>
        <p:spPr>
          <a:xfrm>
            <a:off x="7251403" y="5220135"/>
            <a:ext cx="1497814" cy="15830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2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N+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C7E0092D-4083-4AB1-9A68-83888CDE7A58}"/>
              </a:ext>
            </a:extLst>
          </p:cNvPr>
          <p:cNvSpPr>
            <a:spLocks noGrp="1"/>
          </p:cNvSpPr>
          <p:nvPr/>
        </p:nvSpPr>
        <p:spPr>
          <a:xfrm>
            <a:off x="9517632" y="3341692"/>
            <a:ext cx="12076" cy="1722696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pic>
        <p:nvPicPr>
          <p:cNvPr id="144" name="그림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84" y="4029111"/>
            <a:ext cx="4577676" cy="2162383"/>
          </a:xfrm>
          <a:prstGeom prst="rect">
            <a:avLst/>
          </a:prstGeom>
        </p:spPr>
      </p:pic>
      <p:cxnSp>
        <p:nvCxnSpPr>
          <p:cNvPr id="145" name="직선 화살표 연결선 23"/>
          <p:cNvCxnSpPr/>
          <p:nvPr/>
        </p:nvCxnSpPr>
        <p:spPr>
          <a:xfrm>
            <a:off x="2583386" y="4852061"/>
            <a:ext cx="1010714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C07A903-0360-482F-908E-ED9CCC2419BA}"/>
              </a:ext>
            </a:extLst>
          </p:cNvPr>
          <p:cNvSpPr>
            <a:spLocks noGrp="1"/>
          </p:cNvSpPr>
          <p:nvPr/>
        </p:nvSpPr>
        <p:spPr>
          <a:xfrm>
            <a:off x="2766379" y="4399281"/>
            <a:ext cx="6447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0.24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973B624-52FC-4332-995B-F63126B7CD68}"/>
              </a:ext>
            </a:extLst>
          </p:cNvPr>
          <p:cNvSpPr>
            <a:spLocks noGrp="1"/>
          </p:cNvSpPr>
          <p:nvPr/>
        </p:nvSpPr>
        <p:spPr>
          <a:xfrm>
            <a:off x="6674877" y="2390769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✄</a:t>
            </a:r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48C3404E-F217-49AF-9922-DBBEE76BB9C9}"/>
              </a:ext>
            </a:extLst>
          </p:cNvPr>
          <p:cNvSpPr>
            <a:spLocks noGrp="1"/>
          </p:cNvSpPr>
          <p:nvPr/>
        </p:nvSpPr>
        <p:spPr>
          <a:xfrm>
            <a:off x="7185765" y="2575435"/>
            <a:ext cx="447880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91F1C5A-D80D-4274-B339-0F06BA8E6CBA}"/>
              </a:ext>
            </a:extLst>
          </p:cNvPr>
          <p:cNvSpPr>
            <a:spLocks noGrp="1"/>
          </p:cNvSpPr>
          <p:nvPr/>
        </p:nvSpPr>
        <p:spPr>
          <a:xfrm>
            <a:off x="9514261" y="4625379"/>
            <a:ext cx="2159314" cy="57883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SIPROT</a:t>
            </a:r>
          </a:p>
        </p:txBody>
      </p:sp>
      <p:sp>
        <p:nvSpPr>
          <p:cNvPr id="126" name="Slide 5 copied left comparison heading">
            <a:extLst>
              <a:ext uri="{FF2B5EF4-FFF2-40B4-BE49-F238E27FC236}">
                <a16:creationId xmlns:a16="http://schemas.microsoft.com/office/drawing/2014/main" id="{9C392BE1-C12B-4C53-B001-BFC0E81B0A2B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27" name="Slide 5 copied right comparison heading">
            <a:extLst>
              <a:ext uri="{FF2B5EF4-FFF2-40B4-BE49-F238E27FC236}">
                <a16:creationId xmlns:a16="http://schemas.microsoft.com/office/drawing/2014/main" id="{3EF82928-16F6-4720-9E35-B6AC01D82ABB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27671091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FD039D67-3E60-4E10-8589-D57CDDF96206}"/>
              </a:ext>
            </a:extLst>
          </p:cNvPr>
          <p:cNvSpPr>
            <a:spLocks noGrp="1"/>
          </p:cNvSpPr>
          <p:nvPr/>
        </p:nvSpPr>
        <p:spPr>
          <a:xfrm>
            <a:off x="7716415" y="4768025"/>
            <a:ext cx="3173268" cy="601994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B9D4F68-C3B3-4631-A2A1-D623A45695CC}"/>
              </a:ext>
            </a:extLst>
          </p:cNvPr>
          <p:cNvSpPr>
            <a:spLocks noGrp="1"/>
          </p:cNvSpPr>
          <p:nvPr/>
        </p:nvSpPr>
        <p:spPr>
          <a:xfrm>
            <a:off x="7716414" y="5221349"/>
            <a:ext cx="3173268" cy="10507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78" name="표 5"/>
          <p:cNvGraphicFramePr/>
          <p:nvPr>
            <p:extLst>
              <p:ext uri="{D42A27DB-BD31-4B8C-83A1-F6EECF244321}">
                <p14:modId xmlns:p14="http://schemas.microsoft.com/office/powerpoint/2010/main" val="1089020109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SIPROT.SE.3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0.44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um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</a:t>
                      </a:r>
                      <a:r>
                        <a:rPr sz="14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Salicide</a:t>
                      </a: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Block to gate spacing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9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864" y="1538467"/>
            <a:ext cx="1940277" cy="1142670"/>
          </a:xfrm>
          <a:prstGeom prst="rect">
            <a:avLst/>
          </a:prstGeom>
        </p:spPr>
      </p:pic>
      <p:pic>
        <p:nvPicPr>
          <p:cNvPr id="18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0508" y="1719841"/>
            <a:ext cx="3173278" cy="1721735"/>
          </a:xfrm>
          <a:prstGeom prst="rect">
            <a:avLst/>
          </a:prstGeom>
        </p:spPr>
      </p:pic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414D75FA-568A-436C-B430-4E8B0F09CC8F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A3A2260-AC06-4240-A074-73C42ED401E3}"/>
              </a:ext>
            </a:extLst>
          </p:cNvPr>
          <p:cNvSpPr>
            <a:spLocks noGrp="1"/>
          </p:cNvSpPr>
          <p:nvPr/>
        </p:nvSpPr>
        <p:spPr>
          <a:xfrm>
            <a:off x="8855061" y="4920945"/>
            <a:ext cx="599089" cy="10979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9F423A-4CCC-4F3F-BE0D-8A6ECF9EB51D}"/>
              </a:ext>
            </a:extLst>
          </p:cNvPr>
          <p:cNvSpPr>
            <a:spLocks noGrp="1"/>
          </p:cNvSpPr>
          <p:nvPr/>
        </p:nvSpPr>
        <p:spPr>
          <a:xfrm>
            <a:off x="8910587" y="4857315"/>
            <a:ext cx="54356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맑은 고딕" panose="020B0503020000020004" pitchFamily="50" charset="-127"/>
                <a:ea typeface="맑은 고딕" panose="020B0503020000020004" pitchFamily="50" charset="-127"/>
              </a:rPr>
              <a:t>silicide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E731F55-80A8-492E-8ADD-402BAB04A4A0}"/>
              </a:ext>
            </a:extLst>
          </p:cNvPr>
          <p:cNvSpPr>
            <a:spLocks noGrp="1"/>
          </p:cNvSpPr>
          <p:nvPr/>
        </p:nvSpPr>
        <p:spPr>
          <a:xfrm>
            <a:off x="10041450" y="5210326"/>
            <a:ext cx="852334" cy="307777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5454B1-3B86-4626-904E-FD62533754F8}"/>
              </a:ext>
            </a:extLst>
          </p:cNvPr>
          <p:cNvSpPr>
            <a:spLocks noGrp="1"/>
          </p:cNvSpPr>
          <p:nvPr/>
        </p:nvSpPr>
        <p:spPr>
          <a:xfrm flipH="1">
            <a:off x="9600370" y="5948957"/>
            <a:ext cx="16696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P-Substrate</a:t>
            </a:r>
          </a:p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1F38278E-4E12-475A-BAD2-19DBA60F2F03}"/>
              </a:ext>
            </a:extLst>
          </p:cNvPr>
          <p:cNvSpPr>
            <a:spLocks noGrp="1"/>
          </p:cNvSpPr>
          <p:nvPr/>
        </p:nvSpPr>
        <p:spPr>
          <a:xfrm>
            <a:off x="8855062" y="3111145"/>
            <a:ext cx="0" cy="1822805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932A3A1-2F50-4D1A-A7CE-1ED0000F046D}"/>
              </a:ext>
            </a:extLst>
          </p:cNvPr>
          <p:cNvSpPr>
            <a:spLocks noGrp="1"/>
          </p:cNvSpPr>
          <p:nvPr/>
        </p:nvSpPr>
        <p:spPr>
          <a:xfrm>
            <a:off x="8010002" y="5315600"/>
            <a:ext cx="827654" cy="10770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2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N+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C2816511-71A1-4E85-91CD-9CD4CA76764F}"/>
              </a:ext>
            </a:extLst>
          </p:cNvPr>
          <p:cNvSpPr>
            <a:spLocks noGrp="1"/>
          </p:cNvSpPr>
          <p:nvPr/>
        </p:nvSpPr>
        <p:spPr>
          <a:xfrm>
            <a:off x="9454163" y="3341692"/>
            <a:ext cx="0" cy="1592258"/>
          </a:xfrm>
          <a:prstGeom prst="line">
            <a:avLst/>
          </a:prstGeom>
          <a:ln>
            <a:solidFill>
              <a:schemeClr val="accent6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9D1FBD-792C-4B1E-8E0B-3AF1BF31CA77}"/>
              </a:ext>
            </a:extLst>
          </p:cNvPr>
          <p:cNvSpPr>
            <a:spLocks noGrp="1"/>
          </p:cNvSpPr>
          <p:nvPr/>
        </p:nvSpPr>
        <p:spPr>
          <a:xfrm>
            <a:off x="342013" y="2872972"/>
            <a:ext cx="359104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Gate 위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silicide가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불균일해지는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것을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방지</a:t>
            </a:r>
            <a:endParaRPr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6C0DC50-D636-4271-A0ED-72CA2C902121}"/>
              </a:ext>
            </a:extLst>
          </p:cNvPr>
          <p:cNvSpPr>
            <a:spLocks noGrp="1"/>
          </p:cNvSpPr>
          <p:nvPr/>
        </p:nvSpPr>
        <p:spPr>
          <a:xfrm>
            <a:off x="8855061" y="5032069"/>
            <a:ext cx="599086" cy="1880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D3393AC-A4AE-45A7-9DBB-AA3CDCD57D97}"/>
              </a:ext>
            </a:extLst>
          </p:cNvPr>
          <p:cNvSpPr>
            <a:spLocks noGrp="1"/>
          </p:cNvSpPr>
          <p:nvPr/>
        </p:nvSpPr>
        <p:spPr>
          <a:xfrm>
            <a:off x="8855060" y="5220135"/>
            <a:ext cx="599082" cy="1137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800">
                <a:latin typeface="맑은 고딕" panose="020B0503020000020004" pitchFamily="50" charset="-127"/>
                <a:ea typeface="맑은 고딕" panose="020B0503020000020004" pitchFamily="50" charset="-127"/>
              </a:rPr>
              <a:t>OXIDE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B67D45F4-974F-428D-B6AD-C0C13246E269}"/>
              </a:ext>
            </a:extLst>
          </p:cNvPr>
          <p:cNvSpPr>
            <a:spLocks noGrp="1"/>
          </p:cNvSpPr>
          <p:nvPr/>
        </p:nvSpPr>
        <p:spPr>
          <a:xfrm>
            <a:off x="10033283" y="2583663"/>
            <a:ext cx="0" cy="2620797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EE57A67-4BCD-491C-895D-52ECB41FF3C8}"/>
              </a:ext>
            </a:extLst>
          </p:cNvPr>
          <p:cNvSpPr>
            <a:spLocks noGrp="1"/>
          </p:cNvSpPr>
          <p:nvPr/>
        </p:nvSpPr>
        <p:spPr>
          <a:xfrm>
            <a:off x="9454143" y="5218808"/>
            <a:ext cx="588444" cy="105859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52B51C-8906-4A02-A736-BA6BF367D85B}"/>
              </a:ext>
            </a:extLst>
          </p:cNvPr>
          <p:cNvSpPr>
            <a:spLocks noGrp="1"/>
          </p:cNvSpPr>
          <p:nvPr/>
        </p:nvSpPr>
        <p:spPr>
          <a:xfrm>
            <a:off x="9489884" y="5165839"/>
            <a:ext cx="51582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latin typeface="맑은 고딕" panose="020B0503020000020004" pitchFamily="50" charset="-127"/>
                <a:ea typeface="맑은 고딕" panose="020B0503020000020004" pitchFamily="50" charset="-127"/>
              </a:rPr>
              <a:t>silicide</a:t>
            </a:r>
          </a:p>
        </p:txBody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AA511A83-6CC0-49AE-950A-C66496FBD851}"/>
              </a:ext>
            </a:extLst>
          </p:cNvPr>
          <p:cNvSpPr>
            <a:spLocks noGrp="1"/>
          </p:cNvSpPr>
          <p:nvPr/>
        </p:nvSpPr>
        <p:spPr>
          <a:xfrm>
            <a:off x="8016249" y="2581284"/>
            <a:ext cx="0" cy="2620797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D735D2D-BCA0-4D5F-BCE5-DECF84EF59BF}"/>
              </a:ext>
            </a:extLst>
          </p:cNvPr>
          <p:cNvSpPr>
            <a:spLocks noGrp="1"/>
          </p:cNvSpPr>
          <p:nvPr/>
        </p:nvSpPr>
        <p:spPr>
          <a:xfrm>
            <a:off x="8016249" y="5216642"/>
            <a:ext cx="827654" cy="11378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7B66CA-B07A-4A88-B2F9-2FCE1714059A}"/>
              </a:ext>
            </a:extLst>
          </p:cNvPr>
          <p:cNvSpPr>
            <a:spLocks noGrp="1"/>
          </p:cNvSpPr>
          <p:nvPr/>
        </p:nvSpPr>
        <p:spPr>
          <a:xfrm>
            <a:off x="8229328" y="5161729"/>
            <a:ext cx="7476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latin typeface="맑은 고딕" panose="020B0503020000020004" pitchFamily="50" charset="-127"/>
                <a:ea typeface="맑은 고딕" panose="020B0503020000020004" pitchFamily="50" charset="-127"/>
              </a:rPr>
              <a:t>silicide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895EC3-8A6A-45F4-A2C9-BC348273B92D}"/>
              </a:ext>
            </a:extLst>
          </p:cNvPr>
          <p:cNvSpPr>
            <a:spLocks noGrp="1"/>
          </p:cNvSpPr>
          <p:nvPr/>
        </p:nvSpPr>
        <p:spPr>
          <a:xfrm>
            <a:off x="8956215" y="4983944"/>
            <a:ext cx="43313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poly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E211AEE-0641-4957-AB3B-CD67D585B27C}"/>
              </a:ext>
            </a:extLst>
          </p:cNvPr>
          <p:cNvSpPr>
            <a:spLocks noGrp="1"/>
          </p:cNvSpPr>
          <p:nvPr/>
        </p:nvSpPr>
        <p:spPr>
          <a:xfrm>
            <a:off x="7716414" y="5213086"/>
            <a:ext cx="291865" cy="307777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2685441-DC4C-49DF-9F2F-FB65A212E83E}"/>
              </a:ext>
            </a:extLst>
          </p:cNvPr>
          <p:cNvSpPr>
            <a:spLocks noGrp="1"/>
          </p:cNvSpPr>
          <p:nvPr/>
        </p:nvSpPr>
        <p:spPr>
          <a:xfrm>
            <a:off x="9444839" y="5329693"/>
            <a:ext cx="588444" cy="9360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2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N+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E1C182-7419-4CDF-8D3A-299195C3E200}"/>
              </a:ext>
            </a:extLst>
          </p:cNvPr>
          <p:cNvSpPr>
            <a:spLocks noGrp="1"/>
          </p:cNvSpPr>
          <p:nvPr/>
        </p:nvSpPr>
        <p:spPr>
          <a:xfrm>
            <a:off x="7686549" y="5245463"/>
            <a:ext cx="4508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41F306-8BCD-4787-9108-FC2778D53D4D}"/>
              </a:ext>
            </a:extLst>
          </p:cNvPr>
          <p:cNvSpPr>
            <a:spLocks noGrp="1"/>
          </p:cNvSpPr>
          <p:nvPr/>
        </p:nvSpPr>
        <p:spPr>
          <a:xfrm>
            <a:off x="10275727" y="5237256"/>
            <a:ext cx="4508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cxnSp>
        <p:nvCxnSpPr>
          <p:cNvPr id="203" name="직선 화살표 연결선 50"/>
          <p:cNvCxnSpPr/>
          <p:nvPr/>
        </p:nvCxnSpPr>
        <p:spPr>
          <a:xfrm>
            <a:off x="9444839" y="4522061"/>
            <a:ext cx="58844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25C327B-971F-48AA-9263-7C5ABC15D57A}"/>
              </a:ext>
            </a:extLst>
          </p:cNvPr>
          <p:cNvSpPr>
            <a:spLocks noGrp="1"/>
          </p:cNvSpPr>
          <p:nvPr/>
        </p:nvSpPr>
        <p:spPr>
          <a:xfrm>
            <a:off x="9402334" y="4168040"/>
            <a:ext cx="690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latin typeface="맑은 고딕" panose="020B0503020000020004" pitchFamily="50" charset="-127"/>
                <a:ea typeface="맑은 고딕" panose="020B0503020000020004" pitchFamily="50" charset="-127"/>
              </a:rPr>
              <a:t>0.44</a:t>
            </a:r>
          </a:p>
        </p:txBody>
      </p:sp>
      <p:pic>
        <p:nvPicPr>
          <p:cNvPr id="205" name="그림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99" y="3731261"/>
            <a:ext cx="4617563" cy="2505365"/>
          </a:xfrm>
          <a:prstGeom prst="rect">
            <a:avLst/>
          </a:prstGeom>
        </p:spPr>
      </p:pic>
      <p:cxnSp>
        <p:nvCxnSpPr>
          <p:cNvPr id="206" name="직선 화살표 연결선 53"/>
          <p:cNvCxnSpPr/>
          <p:nvPr/>
        </p:nvCxnSpPr>
        <p:spPr>
          <a:xfrm>
            <a:off x="3295650" y="4684587"/>
            <a:ext cx="837764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1E2BBF4-6117-49B0-B986-8AAC7000B125}"/>
              </a:ext>
            </a:extLst>
          </p:cNvPr>
          <p:cNvSpPr>
            <a:spLocks noGrp="1"/>
          </p:cNvSpPr>
          <p:nvPr/>
        </p:nvSpPr>
        <p:spPr>
          <a:xfrm>
            <a:off x="3392168" y="4228181"/>
            <a:ext cx="64472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0.44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3ACE888-492F-4324-8044-3D46F883193A}"/>
              </a:ext>
            </a:extLst>
          </p:cNvPr>
          <p:cNvSpPr>
            <a:spLocks noGrp="1"/>
          </p:cNvSpPr>
          <p:nvPr/>
        </p:nvSpPr>
        <p:spPr>
          <a:xfrm>
            <a:off x="6674877" y="2390769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✄</a:t>
            </a:r>
          </a:p>
        </p:txBody>
      </p:sp>
      <p:sp>
        <p:nvSpPr>
          <p:cNvPr id="57" name="직선 연결선 56">
            <a:extLst>
              <a:ext uri="{FF2B5EF4-FFF2-40B4-BE49-F238E27FC236}">
                <a16:creationId xmlns:a16="http://schemas.microsoft.com/office/drawing/2014/main" id="{7246CF2C-0D07-48C1-B4F2-3D99555D4FD6}"/>
              </a:ext>
            </a:extLst>
          </p:cNvPr>
          <p:cNvSpPr>
            <a:spLocks noGrp="1"/>
          </p:cNvSpPr>
          <p:nvPr/>
        </p:nvSpPr>
        <p:spPr>
          <a:xfrm>
            <a:off x="7185765" y="2575435"/>
            <a:ext cx="447880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1E382D1-A27A-444E-96E8-C3D948D201C2}"/>
              </a:ext>
            </a:extLst>
          </p:cNvPr>
          <p:cNvSpPr>
            <a:spLocks noGrp="1"/>
          </p:cNvSpPr>
          <p:nvPr/>
        </p:nvSpPr>
        <p:spPr>
          <a:xfrm>
            <a:off x="10033266" y="4988155"/>
            <a:ext cx="856407" cy="2203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5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SIPROT</a:t>
            </a:r>
          </a:p>
        </p:txBody>
      </p:sp>
      <p:sp>
        <p:nvSpPr>
          <p:cNvPr id="174" name="Slide 5 copied left comparison heading">
            <a:extLst>
              <a:ext uri="{FF2B5EF4-FFF2-40B4-BE49-F238E27FC236}">
                <a16:creationId xmlns:a16="http://schemas.microsoft.com/office/drawing/2014/main" id="{17D77A89-465F-466B-ADE7-B03717C5C2E7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75" name="Slide 5 copied right comparison heading">
            <a:extLst>
              <a:ext uri="{FF2B5EF4-FFF2-40B4-BE49-F238E27FC236}">
                <a16:creationId xmlns:a16="http://schemas.microsoft.com/office/drawing/2014/main" id="{DC80A4DC-08B4-4DFB-A983-086282884264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35906045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>
            <a:extLst>
              <a:ext uri="{FF2B5EF4-FFF2-40B4-BE49-F238E27FC236}">
                <a16:creationId xmlns:a16="http://schemas.microsoft.com/office/drawing/2014/main" id="{9B9D4F68-C3B3-4631-A2A1-D623A45695CC}"/>
              </a:ext>
            </a:extLst>
          </p:cNvPr>
          <p:cNvSpPr>
            <a:spLocks noGrp="1"/>
          </p:cNvSpPr>
          <p:nvPr/>
        </p:nvSpPr>
        <p:spPr>
          <a:xfrm>
            <a:off x="7716414" y="5107049"/>
            <a:ext cx="3173268" cy="10507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26" name="표 5"/>
          <p:cNvGraphicFramePr/>
          <p:nvPr>
            <p:extLst>
              <p:ext uri="{D42A27DB-BD31-4B8C-83A1-F6EECF244321}">
                <p14:modId xmlns:p14="http://schemas.microsoft.com/office/powerpoint/2010/main" val="2848884368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SIPROT.E.1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um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</a:t>
                      </a:r>
                      <a:r>
                        <a:rPr sz="14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Salicide</a:t>
                      </a: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Block to Active Area enclosure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7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972" y="1513561"/>
            <a:ext cx="1598777" cy="1142670"/>
          </a:xfrm>
          <a:prstGeom prst="rect">
            <a:avLst/>
          </a:prstGeom>
        </p:spPr>
      </p:pic>
      <p:pic>
        <p:nvPicPr>
          <p:cNvPr id="128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2821" y="1724921"/>
            <a:ext cx="2757260" cy="1721735"/>
          </a:xfrm>
          <a:prstGeom prst="rect">
            <a:avLst/>
          </a:prstGeom>
        </p:spPr>
      </p:pic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38E70C34-3106-4DD8-8F17-CD8D54323666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E731F55-80A8-492E-8ADD-402BAB04A4A0}"/>
              </a:ext>
            </a:extLst>
          </p:cNvPr>
          <p:cNvSpPr>
            <a:spLocks noGrp="1"/>
          </p:cNvSpPr>
          <p:nvPr/>
        </p:nvSpPr>
        <p:spPr>
          <a:xfrm>
            <a:off x="9091230" y="5100789"/>
            <a:ext cx="1798452" cy="307777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5454B1-3B86-4626-904E-FD62533754F8}"/>
              </a:ext>
            </a:extLst>
          </p:cNvPr>
          <p:cNvSpPr>
            <a:spLocks noGrp="1"/>
          </p:cNvSpPr>
          <p:nvPr/>
        </p:nvSpPr>
        <p:spPr>
          <a:xfrm flipH="1">
            <a:off x="9600370" y="5866407"/>
            <a:ext cx="16696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P-Substrate</a:t>
            </a:r>
          </a:p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9D1FBD-792C-4B1E-8E0B-3AF1BF31CA77}"/>
              </a:ext>
            </a:extLst>
          </p:cNvPr>
          <p:cNvSpPr>
            <a:spLocks noGrp="1"/>
          </p:cNvSpPr>
          <p:nvPr/>
        </p:nvSpPr>
        <p:spPr>
          <a:xfrm>
            <a:off x="351566" y="2823686"/>
            <a:ext cx="345960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Silicide를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확실하게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막기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위해서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9450DFF7-38D1-42B3-B4BB-DDC34D112A42}"/>
              </a:ext>
            </a:extLst>
          </p:cNvPr>
          <p:cNvSpPr>
            <a:spLocks noGrp="1"/>
          </p:cNvSpPr>
          <p:nvPr/>
        </p:nvSpPr>
        <p:spPr>
          <a:xfrm>
            <a:off x="9889963" y="2583663"/>
            <a:ext cx="0" cy="2517126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2685441-DC4C-49DF-9F2F-FB65A212E83E}"/>
              </a:ext>
            </a:extLst>
          </p:cNvPr>
          <p:cNvSpPr>
            <a:spLocks noGrp="1"/>
          </p:cNvSpPr>
          <p:nvPr/>
        </p:nvSpPr>
        <p:spPr>
          <a:xfrm>
            <a:off x="7712311" y="5117721"/>
            <a:ext cx="1870611" cy="8769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2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41F306-8BCD-4787-9108-FC2778D53D4D}"/>
              </a:ext>
            </a:extLst>
          </p:cNvPr>
          <p:cNvSpPr>
            <a:spLocks noGrp="1"/>
          </p:cNvSpPr>
          <p:nvPr/>
        </p:nvSpPr>
        <p:spPr>
          <a:xfrm>
            <a:off x="10275727" y="5122956"/>
            <a:ext cx="4508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cxnSp>
        <p:nvCxnSpPr>
          <p:cNvPr id="136" name="직선 화살표 연결선 50"/>
          <p:cNvCxnSpPr/>
          <p:nvPr/>
        </p:nvCxnSpPr>
        <p:spPr>
          <a:xfrm>
            <a:off x="9105438" y="4522061"/>
            <a:ext cx="7845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25C327B-971F-48AA-9263-7C5ABC15D57A}"/>
              </a:ext>
            </a:extLst>
          </p:cNvPr>
          <p:cNvSpPr>
            <a:spLocks noGrp="1"/>
          </p:cNvSpPr>
          <p:nvPr/>
        </p:nvSpPr>
        <p:spPr>
          <a:xfrm>
            <a:off x="9178509" y="4128446"/>
            <a:ext cx="743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latin typeface="맑은 고딕" panose="020B0503020000020004" pitchFamily="50" charset="-127"/>
                <a:ea typeface="맑은 고딕" panose="020B0503020000020004" pitchFamily="50" charset="-127"/>
              </a:rPr>
              <a:t>0.25</a:t>
            </a: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B95037BE-5B65-4763-9237-1F2946C3375A}"/>
              </a:ext>
            </a:extLst>
          </p:cNvPr>
          <p:cNvSpPr>
            <a:spLocks noGrp="1"/>
          </p:cNvSpPr>
          <p:nvPr/>
        </p:nvSpPr>
        <p:spPr>
          <a:xfrm>
            <a:off x="9105438" y="2656231"/>
            <a:ext cx="1" cy="2752335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pic>
        <p:nvPicPr>
          <p:cNvPr id="139" name="그림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527" y="3451154"/>
            <a:ext cx="3418195" cy="2989684"/>
          </a:xfrm>
          <a:prstGeom prst="rect">
            <a:avLst/>
          </a:prstGeom>
        </p:spPr>
      </p:pic>
      <p:cxnSp>
        <p:nvCxnSpPr>
          <p:cNvPr id="140" name="직선 화살표 연결선 23"/>
          <p:cNvCxnSpPr/>
          <p:nvPr/>
        </p:nvCxnSpPr>
        <p:spPr>
          <a:xfrm>
            <a:off x="2958624" y="4690937"/>
            <a:ext cx="97202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D802E49-5DE7-4262-A83A-98C3F58D5C6B}"/>
              </a:ext>
            </a:extLst>
          </p:cNvPr>
          <p:cNvSpPr>
            <a:spLocks noGrp="1"/>
          </p:cNvSpPr>
          <p:nvPr/>
        </p:nvSpPr>
        <p:spPr>
          <a:xfrm>
            <a:off x="3236591" y="4354964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0.25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4A421BA-098C-495D-AB38-D40713C69763}"/>
              </a:ext>
            </a:extLst>
          </p:cNvPr>
          <p:cNvSpPr>
            <a:spLocks noGrp="1"/>
          </p:cNvSpPr>
          <p:nvPr/>
        </p:nvSpPr>
        <p:spPr>
          <a:xfrm>
            <a:off x="6600460" y="2448436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✄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8B9453D5-9970-4BFA-A608-3FCC3C291E56}"/>
              </a:ext>
            </a:extLst>
          </p:cNvPr>
          <p:cNvSpPr>
            <a:spLocks noGrp="1"/>
          </p:cNvSpPr>
          <p:nvPr/>
        </p:nvSpPr>
        <p:spPr>
          <a:xfrm>
            <a:off x="7111348" y="2633102"/>
            <a:ext cx="447880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80FB140-85E9-467D-852D-33A8F4D66150}"/>
              </a:ext>
            </a:extLst>
          </p:cNvPr>
          <p:cNvSpPr>
            <a:spLocks noGrp="1"/>
          </p:cNvSpPr>
          <p:nvPr/>
        </p:nvSpPr>
        <p:spPr>
          <a:xfrm>
            <a:off x="7702821" y="4666955"/>
            <a:ext cx="2195310" cy="45076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SIPROT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BF6C8B51-108F-4A46-BE40-0CB945276374}"/>
              </a:ext>
            </a:extLst>
          </p:cNvPr>
          <p:cNvSpPr>
            <a:spLocks noGrp="1"/>
          </p:cNvSpPr>
          <p:nvPr/>
        </p:nvSpPr>
        <p:spPr>
          <a:xfrm>
            <a:off x="9574756" y="2682542"/>
            <a:ext cx="8167" cy="252287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23" name="Slide 5 copied left comparison heading">
            <a:extLst>
              <a:ext uri="{FF2B5EF4-FFF2-40B4-BE49-F238E27FC236}">
                <a16:creationId xmlns:a16="http://schemas.microsoft.com/office/drawing/2014/main" id="{B43D861F-7A65-4F3F-9B9F-A0CB536CA0F3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24" name="Slide 5 copied right comparison heading">
            <a:extLst>
              <a:ext uri="{FF2B5EF4-FFF2-40B4-BE49-F238E27FC236}">
                <a16:creationId xmlns:a16="http://schemas.microsoft.com/office/drawing/2014/main" id="{3355B82B-C571-4852-ADB1-A1F97A643CBD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2147405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FD039D67-3E60-4E10-8589-D57CDDF96206}"/>
              </a:ext>
            </a:extLst>
          </p:cNvPr>
          <p:cNvSpPr>
            <a:spLocks noGrp="1"/>
          </p:cNvSpPr>
          <p:nvPr/>
        </p:nvSpPr>
        <p:spPr>
          <a:xfrm>
            <a:off x="7716402" y="4478620"/>
            <a:ext cx="3173268" cy="381814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B9D4F68-C3B3-4631-A2A1-D623A45695CC}"/>
              </a:ext>
            </a:extLst>
          </p:cNvPr>
          <p:cNvSpPr>
            <a:spLocks noGrp="1"/>
          </p:cNvSpPr>
          <p:nvPr/>
        </p:nvSpPr>
        <p:spPr>
          <a:xfrm>
            <a:off x="7716414" y="4711764"/>
            <a:ext cx="3173268" cy="10507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37" name="표 5"/>
          <p:cNvGraphicFramePr/>
          <p:nvPr>
            <p:extLst>
              <p:ext uri="{D42A27DB-BD31-4B8C-83A1-F6EECF244321}">
                <p14:modId xmlns:p14="http://schemas.microsoft.com/office/powerpoint/2010/main" val="1137333102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SIPROT.E.2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um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Active Area to </a:t>
                      </a:r>
                      <a:r>
                        <a:rPr sz="14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Salicide</a:t>
                      </a: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Block enclosure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8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487" y="1486079"/>
            <a:ext cx="1842093" cy="1542388"/>
          </a:xfrm>
          <a:prstGeom prst="rect">
            <a:avLst/>
          </a:prstGeom>
        </p:spPr>
      </p:pic>
      <p:pic>
        <p:nvPicPr>
          <p:cNvPr id="139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1569" y="1767101"/>
            <a:ext cx="1968511" cy="1637375"/>
          </a:xfrm>
          <a:prstGeom prst="rect">
            <a:avLst/>
          </a:prstGeom>
        </p:spPr>
      </p:pic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2B14C63F-AC9D-4C76-A519-0DCFCAD19C94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E731F55-80A8-492E-8ADD-402BAB04A4A0}"/>
              </a:ext>
            </a:extLst>
          </p:cNvPr>
          <p:cNvSpPr>
            <a:spLocks noGrp="1"/>
          </p:cNvSpPr>
          <p:nvPr/>
        </p:nvSpPr>
        <p:spPr>
          <a:xfrm>
            <a:off x="9952750" y="4700741"/>
            <a:ext cx="941033" cy="307777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5454B1-3B86-4626-904E-FD62533754F8}"/>
              </a:ext>
            </a:extLst>
          </p:cNvPr>
          <p:cNvSpPr>
            <a:spLocks noGrp="1"/>
          </p:cNvSpPr>
          <p:nvPr/>
        </p:nvSpPr>
        <p:spPr>
          <a:xfrm flipH="1">
            <a:off x="8570571" y="5116207"/>
            <a:ext cx="16696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latin typeface="맑은 고딕" panose="020B0503020000020004" pitchFamily="50" charset="-127"/>
                <a:ea typeface="맑은 고딕" panose="020B0503020000020004" pitchFamily="50" charset="-127"/>
              </a:rPr>
              <a:t>P-Substrate</a:t>
            </a:r>
          </a:p>
          <a:p>
            <a:endParaRPr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9D1FBD-792C-4B1E-8E0B-3AF1BF31CA77}"/>
              </a:ext>
            </a:extLst>
          </p:cNvPr>
          <p:cNvSpPr>
            <a:spLocks noGrp="1"/>
          </p:cNvSpPr>
          <p:nvPr/>
        </p:nvSpPr>
        <p:spPr>
          <a:xfrm>
            <a:off x="1531965" y="2988625"/>
            <a:ext cx="295189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맑은 고딕" panose="020B0503020000020004" pitchFamily="50" charset="-127"/>
                <a:ea typeface="맑은 고딕" panose="020B0503020000020004" pitchFamily="50" charset="-127"/>
              </a:rPr>
              <a:t>Active edge를 확실히 덮기 위해서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D1B92DFB-745A-4866-9FA0-60C0DF8E8055}"/>
              </a:ext>
            </a:extLst>
          </p:cNvPr>
          <p:cNvSpPr>
            <a:spLocks noGrp="1"/>
          </p:cNvSpPr>
          <p:nvPr/>
        </p:nvSpPr>
        <p:spPr>
          <a:xfrm>
            <a:off x="9953908" y="2583663"/>
            <a:ext cx="8167" cy="2045487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2685441-DC4C-49DF-9F2F-FB65A212E83E}"/>
              </a:ext>
            </a:extLst>
          </p:cNvPr>
          <p:cNvSpPr>
            <a:spLocks noGrp="1"/>
          </p:cNvSpPr>
          <p:nvPr/>
        </p:nvSpPr>
        <p:spPr>
          <a:xfrm>
            <a:off x="7712311" y="4711270"/>
            <a:ext cx="2240863" cy="7243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41F306-8BCD-4787-9108-FC2778D53D4D}"/>
              </a:ext>
            </a:extLst>
          </p:cNvPr>
          <p:cNvSpPr>
            <a:spLocks noGrp="1"/>
          </p:cNvSpPr>
          <p:nvPr/>
        </p:nvSpPr>
        <p:spPr>
          <a:xfrm>
            <a:off x="10275727" y="4727671"/>
            <a:ext cx="4508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cxnSp>
        <p:nvCxnSpPr>
          <p:cNvPr id="147" name="직선 화살표 연결선 50"/>
          <p:cNvCxnSpPr/>
          <p:nvPr/>
        </p:nvCxnSpPr>
        <p:spPr>
          <a:xfrm>
            <a:off x="9429559" y="4522061"/>
            <a:ext cx="5243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25C327B-971F-48AA-9263-7C5ABC15D57A}"/>
              </a:ext>
            </a:extLst>
          </p:cNvPr>
          <p:cNvSpPr>
            <a:spLocks noGrp="1"/>
          </p:cNvSpPr>
          <p:nvPr/>
        </p:nvSpPr>
        <p:spPr>
          <a:xfrm>
            <a:off x="9430283" y="4194266"/>
            <a:ext cx="62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0.24</a:t>
            </a: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01D3445E-B700-4ED4-8F50-90776C0DFD18}"/>
              </a:ext>
            </a:extLst>
          </p:cNvPr>
          <p:cNvSpPr>
            <a:spLocks noGrp="1"/>
          </p:cNvSpPr>
          <p:nvPr/>
        </p:nvSpPr>
        <p:spPr>
          <a:xfrm>
            <a:off x="9412324" y="2656231"/>
            <a:ext cx="14060" cy="1972919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96339B-A459-461F-9574-9B80E9084FF5}"/>
              </a:ext>
            </a:extLst>
          </p:cNvPr>
          <p:cNvSpPr>
            <a:spLocks noGrp="1"/>
          </p:cNvSpPr>
          <p:nvPr/>
        </p:nvSpPr>
        <p:spPr>
          <a:xfrm>
            <a:off x="9426384" y="4587234"/>
            <a:ext cx="535691" cy="11650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FABB6A-E0A5-43A1-B48C-EAEA443BD8D3}"/>
              </a:ext>
            </a:extLst>
          </p:cNvPr>
          <p:cNvSpPr>
            <a:spLocks noGrp="1"/>
          </p:cNvSpPr>
          <p:nvPr/>
        </p:nvSpPr>
        <p:spPr>
          <a:xfrm>
            <a:off x="9473925" y="4537813"/>
            <a:ext cx="53861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latin typeface="맑은 고딕" panose="020B0503020000020004" pitchFamily="50" charset="-127"/>
                <a:ea typeface="맑은 고딕" panose="020B0503020000020004" pitchFamily="50" charset="-127"/>
              </a:rPr>
              <a:t>silicide</a:t>
            </a:r>
          </a:p>
        </p:txBody>
      </p:sp>
      <p:pic>
        <p:nvPicPr>
          <p:cNvPr id="152" name="그림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450" y="3561599"/>
            <a:ext cx="3686750" cy="3066578"/>
          </a:xfrm>
          <a:prstGeom prst="rect">
            <a:avLst/>
          </a:prstGeom>
        </p:spPr>
      </p:pic>
      <p:cxnSp>
        <p:nvCxnSpPr>
          <p:cNvPr id="153" name="직선 화살표 연결선 26"/>
          <p:cNvCxnSpPr/>
          <p:nvPr/>
        </p:nvCxnSpPr>
        <p:spPr>
          <a:xfrm>
            <a:off x="2933224" y="4756110"/>
            <a:ext cx="97202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FC12648-B1A2-4553-A1AA-3F24EC86A8B7}"/>
              </a:ext>
            </a:extLst>
          </p:cNvPr>
          <p:cNvSpPr>
            <a:spLocks noGrp="1"/>
          </p:cNvSpPr>
          <p:nvPr/>
        </p:nvSpPr>
        <p:spPr>
          <a:xfrm>
            <a:off x="3211191" y="4279457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0.24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7C8BA6E-8B0A-4165-859A-1974325F2833}"/>
              </a:ext>
            </a:extLst>
          </p:cNvPr>
          <p:cNvSpPr>
            <a:spLocks noGrp="1"/>
          </p:cNvSpPr>
          <p:nvPr/>
        </p:nvSpPr>
        <p:spPr>
          <a:xfrm>
            <a:off x="7712310" y="4478620"/>
            <a:ext cx="1716523" cy="23264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SIPROT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0A0CFE4-F865-4011-AC50-369EA086A8BE}"/>
              </a:ext>
            </a:extLst>
          </p:cNvPr>
          <p:cNvSpPr>
            <a:spLocks noGrp="1"/>
          </p:cNvSpPr>
          <p:nvPr/>
        </p:nvSpPr>
        <p:spPr>
          <a:xfrm>
            <a:off x="6569941" y="2398997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✄</a:t>
            </a:r>
          </a:p>
        </p:txBody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94FB74C8-78E1-4C6B-A5AC-AE611D53E27A}"/>
              </a:ext>
            </a:extLst>
          </p:cNvPr>
          <p:cNvSpPr>
            <a:spLocks noGrp="1"/>
          </p:cNvSpPr>
          <p:nvPr/>
        </p:nvSpPr>
        <p:spPr>
          <a:xfrm>
            <a:off x="7080829" y="2583663"/>
            <a:ext cx="447880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3" name="Slide 5 copied left comparison heading">
            <a:extLst>
              <a:ext uri="{FF2B5EF4-FFF2-40B4-BE49-F238E27FC236}">
                <a16:creationId xmlns:a16="http://schemas.microsoft.com/office/drawing/2014/main" id="{17E11E02-291A-4EF4-B905-D06C84567FE5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34" name="Slide 5 copied right comparison heading">
            <a:extLst>
              <a:ext uri="{FF2B5EF4-FFF2-40B4-BE49-F238E27FC236}">
                <a16:creationId xmlns:a16="http://schemas.microsoft.com/office/drawing/2014/main" id="{078B7C2E-7538-463D-91B4-D12F007340BB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27693301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EF3ABE56-4E51-4416-823B-D213DD2A1079}"/>
              </a:ext>
            </a:extLst>
          </p:cNvPr>
          <p:cNvSpPr>
            <a:spLocks noGrp="1"/>
          </p:cNvSpPr>
          <p:nvPr/>
        </p:nvSpPr>
        <p:spPr>
          <a:xfrm>
            <a:off x="7308857" y="4468728"/>
            <a:ext cx="3981437" cy="228804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B9D4F68-C3B3-4631-A2A1-D623A45695CC}"/>
              </a:ext>
            </a:extLst>
          </p:cNvPr>
          <p:cNvSpPr>
            <a:spLocks noGrp="1"/>
          </p:cNvSpPr>
          <p:nvPr/>
        </p:nvSpPr>
        <p:spPr>
          <a:xfrm>
            <a:off x="7308851" y="4711764"/>
            <a:ext cx="3981443" cy="10507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73" name="표 5"/>
          <p:cNvGraphicFramePr/>
          <p:nvPr>
            <p:extLst>
              <p:ext uri="{D42A27DB-BD31-4B8C-83A1-F6EECF244321}">
                <p14:modId xmlns:p14="http://schemas.microsoft.com/office/powerpoint/2010/main" val="2753505715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SIPROT.E.3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um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</a:t>
                      </a:r>
                      <a:r>
                        <a:rPr sz="14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Salicide</a:t>
                      </a: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Block to Poly (on field) enclosure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4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692" y="1430074"/>
            <a:ext cx="1649430" cy="1382533"/>
          </a:xfrm>
          <a:prstGeom prst="rect">
            <a:avLst/>
          </a:prstGeom>
        </p:spPr>
      </p:pic>
      <p:pic>
        <p:nvPicPr>
          <p:cNvPr id="175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852" y="1553675"/>
            <a:ext cx="3981448" cy="1937448"/>
          </a:xfrm>
          <a:prstGeom prst="rect">
            <a:avLst/>
          </a:prstGeom>
        </p:spPr>
      </p:pic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ECAE6222-CD71-453D-A194-54DE503182A0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E731F55-80A8-492E-8ADD-402BAB04A4A0}"/>
              </a:ext>
            </a:extLst>
          </p:cNvPr>
          <p:cNvSpPr>
            <a:spLocks noGrp="1"/>
          </p:cNvSpPr>
          <p:nvPr/>
        </p:nvSpPr>
        <p:spPr>
          <a:xfrm>
            <a:off x="10115307" y="4700741"/>
            <a:ext cx="774373" cy="307777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5454B1-3B86-4626-904E-FD62533754F8}"/>
              </a:ext>
            </a:extLst>
          </p:cNvPr>
          <p:cNvSpPr>
            <a:spLocks noGrp="1"/>
          </p:cNvSpPr>
          <p:nvPr/>
        </p:nvSpPr>
        <p:spPr>
          <a:xfrm flipH="1">
            <a:off x="8604883" y="5057445"/>
            <a:ext cx="16696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latin typeface="맑은 고딕" panose="020B0503020000020004" pitchFamily="50" charset="-127"/>
                <a:ea typeface="맑은 고딕" panose="020B0503020000020004" pitchFamily="50" charset="-127"/>
              </a:rPr>
              <a:t>P-Substrate</a:t>
            </a:r>
          </a:p>
          <a:p>
            <a:endParaRPr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9D1FBD-792C-4B1E-8E0B-3AF1BF31CA77}"/>
              </a:ext>
            </a:extLst>
          </p:cNvPr>
          <p:cNvSpPr>
            <a:spLocks noGrp="1"/>
          </p:cNvSpPr>
          <p:nvPr/>
        </p:nvSpPr>
        <p:spPr>
          <a:xfrm>
            <a:off x="471051" y="2919251"/>
            <a:ext cx="45771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STI 위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Poly는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silicide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대상이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아니므로충분히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덮어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오동작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방지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3D0ED993-6F9F-414C-83F7-10DAC13C7D4F}"/>
              </a:ext>
            </a:extLst>
          </p:cNvPr>
          <p:cNvSpPr>
            <a:spLocks noGrp="1"/>
          </p:cNvSpPr>
          <p:nvPr/>
        </p:nvSpPr>
        <p:spPr>
          <a:xfrm>
            <a:off x="10726574" y="2546597"/>
            <a:ext cx="0" cy="1888327"/>
          </a:xfrm>
          <a:prstGeom prst="line">
            <a:avLst/>
          </a:prstGeom>
          <a:ln w="15875"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41F306-8BCD-4787-9108-FC2778D53D4D}"/>
              </a:ext>
            </a:extLst>
          </p:cNvPr>
          <p:cNvSpPr>
            <a:spLocks noGrp="1"/>
          </p:cNvSpPr>
          <p:nvPr/>
        </p:nvSpPr>
        <p:spPr>
          <a:xfrm>
            <a:off x="10275727" y="4727671"/>
            <a:ext cx="4508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9F673515-240E-4C33-8AE3-ED8ED440A14D}"/>
              </a:ext>
            </a:extLst>
          </p:cNvPr>
          <p:cNvSpPr>
            <a:spLocks noGrp="1"/>
          </p:cNvSpPr>
          <p:nvPr/>
        </p:nvSpPr>
        <p:spPr>
          <a:xfrm>
            <a:off x="11023940" y="2577877"/>
            <a:ext cx="0" cy="1887642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5" name="직선 연결선 24">
            <a:extLst>
              <a:ext uri="{FF2B5EF4-FFF2-40B4-BE49-F238E27FC236}">
                <a16:creationId xmlns:a16="http://schemas.microsoft.com/office/drawing/2014/main" id="{E6BE1245-1513-4323-96E7-4D41AEBE11D3}"/>
              </a:ext>
            </a:extLst>
          </p:cNvPr>
          <p:cNvSpPr>
            <a:spLocks noGrp="1"/>
          </p:cNvSpPr>
          <p:nvPr/>
        </p:nvSpPr>
        <p:spPr>
          <a:xfrm>
            <a:off x="7905801" y="2592255"/>
            <a:ext cx="1" cy="1888327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1A1BE3BF-6123-4433-84DB-960762172A6E}"/>
              </a:ext>
            </a:extLst>
          </p:cNvPr>
          <p:cNvSpPr>
            <a:spLocks noGrp="1"/>
          </p:cNvSpPr>
          <p:nvPr/>
        </p:nvSpPr>
        <p:spPr>
          <a:xfrm>
            <a:off x="7640354" y="2598585"/>
            <a:ext cx="23587" cy="1866934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5604047-5B86-4898-93A9-30BAF41B788C}"/>
              </a:ext>
            </a:extLst>
          </p:cNvPr>
          <p:cNvSpPr>
            <a:spLocks noGrp="1"/>
          </p:cNvSpPr>
          <p:nvPr/>
        </p:nvSpPr>
        <p:spPr>
          <a:xfrm>
            <a:off x="7930300" y="4483297"/>
            <a:ext cx="2796273" cy="2088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A0A35E-BBB5-4F0A-82D9-F19BFA130B32}"/>
              </a:ext>
            </a:extLst>
          </p:cNvPr>
          <p:cNvSpPr>
            <a:spLocks noGrp="1"/>
          </p:cNvSpPr>
          <p:nvPr/>
        </p:nvSpPr>
        <p:spPr>
          <a:xfrm>
            <a:off x="9009135" y="4434924"/>
            <a:ext cx="5686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latin typeface="맑은 고딕" panose="020B0503020000020004" pitchFamily="50" charset="-127"/>
                <a:ea typeface="맑은 고딕" panose="020B0503020000020004" pitchFamily="50" charset="-127"/>
              </a:rPr>
              <a:t>poly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2AEC10-C60F-4076-BE5C-658D5183D52E}"/>
              </a:ext>
            </a:extLst>
          </p:cNvPr>
          <p:cNvSpPr>
            <a:spLocks noGrp="1"/>
          </p:cNvSpPr>
          <p:nvPr/>
        </p:nvSpPr>
        <p:spPr>
          <a:xfrm>
            <a:off x="7716414" y="4711776"/>
            <a:ext cx="582745" cy="307777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C80A33-AE7A-4CAD-BFA1-C40F3B67C52A}"/>
              </a:ext>
            </a:extLst>
          </p:cNvPr>
          <p:cNvSpPr>
            <a:spLocks noGrp="1"/>
          </p:cNvSpPr>
          <p:nvPr/>
        </p:nvSpPr>
        <p:spPr>
          <a:xfrm>
            <a:off x="7811063" y="4738706"/>
            <a:ext cx="3994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pic>
        <p:nvPicPr>
          <p:cNvPr id="190" name="그림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12" y="3630973"/>
            <a:ext cx="4949026" cy="2565867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9C026555-F730-4FA2-A022-12A7BBBFF0AF}"/>
              </a:ext>
            </a:extLst>
          </p:cNvPr>
          <p:cNvSpPr>
            <a:spLocks noGrp="1"/>
          </p:cNvSpPr>
          <p:nvPr/>
        </p:nvSpPr>
        <p:spPr>
          <a:xfrm>
            <a:off x="6502861" y="2388344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✄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147C5F91-8808-4436-8088-73CA9F0F4EE4}"/>
              </a:ext>
            </a:extLst>
          </p:cNvPr>
          <p:cNvSpPr>
            <a:spLocks noGrp="1"/>
          </p:cNvSpPr>
          <p:nvPr/>
        </p:nvSpPr>
        <p:spPr>
          <a:xfrm>
            <a:off x="7013749" y="2573010"/>
            <a:ext cx="4478805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D22075B-10EE-4CC9-B9DE-003935E85E78}"/>
              </a:ext>
            </a:extLst>
          </p:cNvPr>
          <p:cNvSpPr>
            <a:spLocks noGrp="1"/>
          </p:cNvSpPr>
          <p:nvPr/>
        </p:nvSpPr>
        <p:spPr>
          <a:xfrm>
            <a:off x="7654414" y="4226129"/>
            <a:ext cx="3365722" cy="2425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1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SIPROT</a:t>
            </a:r>
          </a:p>
        </p:txBody>
      </p:sp>
      <p:sp>
        <p:nvSpPr>
          <p:cNvPr id="169" name="Slide 5 copied left comparison heading">
            <a:extLst>
              <a:ext uri="{FF2B5EF4-FFF2-40B4-BE49-F238E27FC236}">
                <a16:creationId xmlns:a16="http://schemas.microsoft.com/office/drawing/2014/main" id="{4E3E4B8B-5F30-4FA4-AE75-BA5D44E9F74C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70" name="Slide 5 copied right comparison heading">
            <a:extLst>
              <a:ext uri="{FF2B5EF4-FFF2-40B4-BE49-F238E27FC236}">
                <a16:creationId xmlns:a16="http://schemas.microsoft.com/office/drawing/2014/main" id="{0DB0E448-61DC-4AAE-BF73-30AAD168B4A3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3" name="TextBox 41">
            <a:extLst>
              <a:ext uri="{FF2B5EF4-FFF2-40B4-BE49-F238E27FC236}">
                <a16:creationId xmlns:a16="http://schemas.microsoft.com/office/drawing/2014/main" id="{751BB665-260A-A655-2DDC-D9D9AE1FB0B8}"/>
              </a:ext>
            </a:extLst>
          </p:cNvPr>
          <p:cNvSpPr>
            <a:spLocks noGrp="1"/>
          </p:cNvSpPr>
          <p:nvPr/>
        </p:nvSpPr>
        <p:spPr>
          <a:xfrm>
            <a:off x="4691312" y="5186406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0.28</a:t>
            </a:r>
          </a:p>
        </p:txBody>
      </p:sp>
      <p:cxnSp>
        <p:nvCxnSpPr>
          <p:cNvPr id="4" name="직선 화살표 연결선 54">
            <a:extLst>
              <a:ext uri="{FF2B5EF4-FFF2-40B4-BE49-F238E27FC236}">
                <a16:creationId xmlns:a16="http://schemas.microsoft.com/office/drawing/2014/main" id="{8403D127-50B8-4781-87EB-734672F3C52F}"/>
              </a:ext>
            </a:extLst>
          </p:cNvPr>
          <p:cNvCxnSpPr/>
          <p:nvPr/>
        </p:nvCxnSpPr>
        <p:spPr>
          <a:xfrm>
            <a:off x="996864" y="5162510"/>
            <a:ext cx="33067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TextBox 55">
            <a:extLst>
              <a:ext uri="{FF2B5EF4-FFF2-40B4-BE49-F238E27FC236}">
                <a16:creationId xmlns:a16="http://schemas.microsoft.com/office/drawing/2014/main" id="{C43861AC-CEF0-34BC-E33E-BFEE30DD9F37}"/>
              </a:ext>
            </a:extLst>
          </p:cNvPr>
          <p:cNvSpPr>
            <a:spLocks noGrp="1"/>
          </p:cNvSpPr>
          <p:nvPr/>
        </p:nvSpPr>
        <p:spPr>
          <a:xfrm>
            <a:off x="900752" y="5186406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0.28</a:t>
            </a:r>
          </a:p>
        </p:txBody>
      </p:sp>
      <p:cxnSp>
        <p:nvCxnSpPr>
          <p:cNvPr id="6" name="직선 화살표 연결선 37">
            <a:extLst>
              <a:ext uri="{FF2B5EF4-FFF2-40B4-BE49-F238E27FC236}">
                <a16:creationId xmlns:a16="http://schemas.microsoft.com/office/drawing/2014/main" id="{156F83C5-EE6B-BAB2-C530-239E170B7E10}"/>
              </a:ext>
            </a:extLst>
          </p:cNvPr>
          <p:cNvCxnSpPr/>
          <p:nvPr/>
        </p:nvCxnSpPr>
        <p:spPr>
          <a:xfrm>
            <a:off x="4842569" y="5153316"/>
            <a:ext cx="330676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TextBox 36">
            <a:extLst>
              <a:ext uri="{FF2B5EF4-FFF2-40B4-BE49-F238E27FC236}">
                <a16:creationId xmlns:a16="http://schemas.microsoft.com/office/drawing/2014/main" id="{06F7FC4C-4B1D-3144-955C-6173F2EFC6E8}"/>
              </a:ext>
            </a:extLst>
          </p:cNvPr>
          <p:cNvSpPr>
            <a:spLocks noGrp="1"/>
          </p:cNvSpPr>
          <p:nvPr/>
        </p:nvSpPr>
        <p:spPr>
          <a:xfrm>
            <a:off x="7491602" y="3773766"/>
            <a:ext cx="6281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0.28</a:t>
            </a:r>
          </a:p>
        </p:txBody>
      </p:sp>
      <p:cxnSp>
        <p:nvCxnSpPr>
          <p:cNvPr id="8" name="직선 화살표 연결선 40">
            <a:extLst>
              <a:ext uri="{FF2B5EF4-FFF2-40B4-BE49-F238E27FC236}">
                <a16:creationId xmlns:a16="http://schemas.microsoft.com/office/drawing/2014/main" id="{E9262FFF-BE76-A7E0-7BA5-7E57E1F28674}"/>
              </a:ext>
            </a:extLst>
          </p:cNvPr>
          <p:cNvCxnSpPr/>
          <p:nvPr/>
        </p:nvCxnSpPr>
        <p:spPr>
          <a:xfrm>
            <a:off x="7640354" y="4137868"/>
            <a:ext cx="33067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FF7CF7-4269-12C6-FBF0-EFD9DC696D8B}"/>
              </a:ext>
            </a:extLst>
          </p:cNvPr>
          <p:cNvSpPr>
            <a:spLocks noGrp="1"/>
          </p:cNvSpPr>
          <p:nvPr/>
        </p:nvSpPr>
        <p:spPr>
          <a:xfrm>
            <a:off x="10592161" y="3751867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0.28</a:t>
            </a:r>
          </a:p>
        </p:txBody>
      </p:sp>
      <p:cxnSp>
        <p:nvCxnSpPr>
          <p:cNvPr id="10" name="직선 화살표 연결선 42">
            <a:extLst>
              <a:ext uri="{FF2B5EF4-FFF2-40B4-BE49-F238E27FC236}">
                <a16:creationId xmlns:a16="http://schemas.microsoft.com/office/drawing/2014/main" id="{15615283-76FC-5A7D-E895-FFF389EB3E52}"/>
              </a:ext>
            </a:extLst>
          </p:cNvPr>
          <p:cNvCxnSpPr/>
          <p:nvPr/>
        </p:nvCxnSpPr>
        <p:spPr>
          <a:xfrm>
            <a:off x="10715054" y="4112320"/>
            <a:ext cx="34925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95770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표 5"/>
          <p:cNvGraphicFramePr/>
          <p:nvPr>
            <p:extLst>
              <p:ext uri="{D42A27DB-BD31-4B8C-83A1-F6EECF244321}">
                <p14:modId xmlns:p14="http://schemas.microsoft.com/office/powerpoint/2010/main" val="4204136532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SIPROT.A.1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1.2um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</a:t>
                      </a:r>
                      <a:r>
                        <a:rPr sz="14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Salicide</a:t>
                      </a: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Block area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3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55" y="3388662"/>
            <a:ext cx="1929285" cy="1019403"/>
          </a:xfrm>
          <a:prstGeom prst="rect">
            <a:avLst/>
          </a:prstGeom>
        </p:spPr>
      </p:pic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053D84BA-4A54-4BD5-9016-43471541729C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35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280" y="2424422"/>
            <a:ext cx="1929286" cy="312666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619CB38-1885-4681-A926-1B01BD21CFF9}"/>
              </a:ext>
            </a:extLst>
          </p:cNvPr>
          <p:cNvSpPr>
            <a:spLocks noGrp="1"/>
          </p:cNvSpPr>
          <p:nvPr/>
        </p:nvSpPr>
        <p:spPr>
          <a:xfrm>
            <a:off x="276258" y="2888298"/>
            <a:ext cx="24625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마스크</a:t>
            </a:r>
            <a:r>
              <a:rPr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공정</a:t>
            </a:r>
            <a:r>
              <a:rPr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오차를</a:t>
            </a:r>
            <a:r>
              <a:rPr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위해</a:t>
            </a:r>
            <a:endParaRPr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7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5347" y="1804276"/>
            <a:ext cx="2847020" cy="4613978"/>
          </a:xfrm>
          <a:prstGeom prst="rect">
            <a:avLst/>
          </a:prstGeom>
        </p:spPr>
      </p:pic>
      <p:sp>
        <p:nvSpPr>
          <p:cNvPr id="30" name="Slide 5 copied left comparison heading">
            <a:extLst>
              <a:ext uri="{FF2B5EF4-FFF2-40B4-BE49-F238E27FC236}">
                <a16:creationId xmlns:a16="http://schemas.microsoft.com/office/drawing/2014/main" id="{51619AFC-A9C9-4757-B53D-088F38F9A6C6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31" name="Slide 5 copied right comparison heading">
            <a:extLst>
              <a:ext uri="{FF2B5EF4-FFF2-40B4-BE49-F238E27FC236}">
                <a16:creationId xmlns:a16="http://schemas.microsoft.com/office/drawing/2014/main" id="{5A3E9093-9AA7-4FE5-A1AE-E381D76E7FF1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1851448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표 5"/>
          <p:cNvGraphicFramePr/>
          <p:nvPr>
            <p:extLst>
              <p:ext uri="{D42A27DB-BD31-4B8C-83A1-F6EECF244321}">
                <p14:modId xmlns:p14="http://schemas.microsoft.com/office/powerpoint/2010/main" val="4115627022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SIPROT.EA.1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1.2um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</a:t>
                      </a:r>
                      <a:r>
                        <a:rPr sz="14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Salicide</a:t>
                      </a: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Block enclosed area ("donut" hole surrounded by </a:t>
                      </a:r>
                      <a:r>
                        <a:rPr sz="14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Salicide</a:t>
                      </a: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Block)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3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4" y="3359150"/>
            <a:ext cx="1836620" cy="1136650"/>
          </a:xfrm>
          <a:prstGeom prst="rect">
            <a:avLst/>
          </a:prstGeom>
        </p:spPr>
      </p:pic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FC8AC232-4FF9-4271-AD05-909BA2BE24B8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35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017" y="2375700"/>
            <a:ext cx="3167480" cy="32430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619CB38-1885-4681-A926-1B01BD21CFF9}"/>
              </a:ext>
            </a:extLst>
          </p:cNvPr>
          <p:cNvSpPr>
            <a:spLocks noGrp="1"/>
          </p:cNvSpPr>
          <p:nvPr/>
        </p:nvSpPr>
        <p:spPr>
          <a:xfrm>
            <a:off x="423515" y="1528720"/>
            <a:ext cx="28632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공정</a:t>
            </a:r>
            <a:r>
              <a:rPr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신뢰성을</a:t>
            </a:r>
            <a:r>
              <a:rPr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확보하기</a:t>
            </a:r>
            <a:r>
              <a:rPr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위해</a:t>
            </a:r>
            <a:endParaRPr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7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947" y="2305937"/>
            <a:ext cx="3167480" cy="3243076"/>
          </a:xfrm>
          <a:prstGeom prst="rect">
            <a:avLst/>
          </a:prstGeom>
        </p:spPr>
      </p:pic>
      <p:sp>
        <p:nvSpPr>
          <p:cNvPr id="30" name="Slide 5 copied left comparison heading">
            <a:extLst>
              <a:ext uri="{FF2B5EF4-FFF2-40B4-BE49-F238E27FC236}">
                <a16:creationId xmlns:a16="http://schemas.microsoft.com/office/drawing/2014/main" id="{9CA27EBA-66E0-4D88-852B-5FAE6B49E60B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31" name="Slide 5 copied right comparison heading">
            <a:extLst>
              <a:ext uri="{FF2B5EF4-FFF2-40B4-BE49-F238E27FC236}">
                <a16:creationId xmlns:a16="http://schemas.microsoft.com/office/drawing/2014/main" id="{0095B6C7-B6DC-4DA0-BF9F-85E0BFF3CC32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343471326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>
            <a:extLst>
              <a:ext uri="{FF2B5EF4-FFF2-40B4-BE49-F238E27FC236}">
                <a16:creationId xmlns:a16="http://schemas.microsoft.com/office/drawing/2014/main" id="{9B9D4F68-C3B3-4631-A2A1-D623A45695CC}"/>
              </a:ext>
            </a:extLst>
          </p:cNvPr>
          <p:cNvSpPr>
            <a:spLocks noGrp="1"/>
          </p:cNvSpPr>
          <p:nvPr/>
        </p:nvSpPr>
        <p:spPr>
          <a:xfrm>
            <a:off x="7716414" y="4711764"/>
            <a:ext cx="3173268" cy="10507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44" name="표 5"/>
          <p:cNvGraphicFramePr/>
          <p:nvPr>
            <p:extLst>
              <p:ext uri="{D42A27DB-BD31-4B8C-83A1-F6EECF244321}">
                <p14:modId xmlns:p14="http://schemas.microsoft.com/office/powerpoint/2010/main" val="1916163376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SIPROT.SE.4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0.35</a:t>
                      </a: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um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</a:t>
                      </a:r>
                      <a:r>
                        <a:rPr sz="14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Salicide</a:t>
                      </a: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Block to Poly (on field) spacing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5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936" y="1596561"/>
            <a:ext cx="2024291" cy="1174442"/>
          </a:xfrm>
          <a:prstGeom prst="rect">
            <a:avLst/>
          </a:prstGeom>
        </p:spPr>
      </p:pic>
      <p:pic>
        <p:nvPicPr>
          <p:cNvPr id="146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430" y="1809410"/>
            <a:ext cx="1902933" cy="1323956"/>
          </a:xfrm>
          <a:prstGeom prst="rect">
            <a:avLst/>
          </a:prstGeom>
        </p:spPr>
      </p:pic>
      <p:sp>
        <p:nvSpPr>
          <p:cNvPr id="21" name="직선 연결선 20">
            <a:extLst>
              <a:ext uri="{FF2B5EF4-FFF2-40B4-BE49-F238E27FC236}">
                <a16:creationId xmlns:a16="http://schemas.microsoft.com/office/drawing/2014/main" id="{14F4CCC4-9187-4B7C-83E0-3F2ED0373102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5454B1-3B86-4626-904E-FD62533754F8}"/>
              </a:ext>
            </a:extLst>
          </p:cNvPr>
          <p:cNvSpPr>
            <a:spLocks noGrp="1"/>
          </p:cNvSpPr>
          <p:nvPr/>
        </p:nvSpPr>
        <p:spPr>
          <a:xfrm flipH="1">
            <a:off x="9600371" y="5471122"/>
            <a:ext cx="16696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P-Substrate</a:t>
            </a:r>
          </a:p>
          <a:p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9D1FBD-792C-4B1E-8E0B-3AF1BF31CA77}"/>
              </a:ext>
            </a:extLst>
          </p:cNvPr>
          <p:cNvSpPr>
            <a:spLocks noGrp="1"/>
          </p:cNvSpPr>
          <p:nvPr/>
        </p:nvSpPr>
        <p:spPr>
          <a:xfrm>
            <a:off x="630024" y="2852180"/>
            <a:ext cx="47444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맑은 고딕" panose="020B0503020000020004" pitchFamily="50" charset="-127"/>
                <a:ea typeface="맑은 고딕" panose="020B0503020000020004" pitchFamily="50" charset="-127"/>
              </a:rPr>
              <a:t>STI 위 Poly 근처에 silicide가 생겨 일어날 저항 문제 방지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38B1743A-2568-4106-A3B5-F758508A6DF3}"/>
              </a:ext>
            </a:extLst>
          </p:cNvPr>
          <p:cNvSpPr>
            <a:spLocks noGrp="1"/>
          </p:cNvSpPr>
          <p:nvPr/>
        </p:nvSpPr>
        <p:spPr>
          <a:xfrm>
            <a:off x="9865225" y="2485050"/>
            <a:ext cx="0" cy="1972919"/>
          </a:xfrm>
          <a:prstGeom prst="line">
            <a:avLst/>
          </a:prstGeom>
          <a:ln w="15875"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7863332A-CB23-40E0-AFB2-28BD5237E55E}"/>
              </a:ext>
            </a:extLst>
          </p:cNvPr>
          <p:cNvSpPr>
            <a:spLocks noGrp="1"/>
          </p:cNvSpPr>
          <p:nvPr/>
        </p:nvSpPr>
        <p:spPr>
          <a:xfrm>
            <a:off x="9387856" y="2443181"/>
            <a:ext cx="7029" cy="2268583"/>
          </a:xfrm>
          <a:prstGeom prst="line">
            <a:avLst/>
          </a:prstGeom>
          <a:ln w="15875"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2AEC10-C60F-4076-BE5C-658D5183D52E}"/>
              </a:ext>
            </a:extLst>
          </p:cNvPr>
          <p:cNvSpPr>
            <a:spLocks noGrp="1"/>
          </p:cNvSpPr>
          <p:nvPr/>
        </p:nvSpPr>
        <p:spPr>
          <a:xfrm>
            <a:off x="7716413" y="4711776"/>
            <a:ext cx="3173267" cy="307777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C80A33-AE7A-4CAD-BFA1-C40F3B67C52A}"/>
              </a:ext>
            </a:extLst>
          </p:cNvPr>
          <p:cNvSpPr>
            <a:spLocks noGrp="1"/>
          </p:cNvSpPr>
          <p:nvPr/>
        </p:nvSpPr>
        <p:spPr>
          <a:xfrm>
            <a:off x="9181567" y="4758960"/>
            <a:ext cx="3994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32" name="직선 연결선 31">
            <a:extLst>
              <a:ext uri="{FF2B5EF4-FFF2-40B4-BE49-F238E27FC236}">
                <a16:creationId xmlns:a16="http://schemas.microsoft.com/office/drawing/2014/main" id="{F1E84598-A33B-4E6A-971C-E71B53E0E1E8}"/>
              </a:ext>
            </a:extLst>
          </p:cNvPr>
          <p:cNvSpPr>
            <a:spLocks noGrp="1"/>
          </p:cNvSpPr>
          <p:nvPr/>
        </p:nvSpPr>
        <p:spPr>
          <a:xfrm>
            <a:off x="9189755" y="2485050"/>
            <a:ext cx="0" cy="1972919"/>
          </a:xfrm>
          <a:prstGeom prst="line">
            <a:avLst/>
          </a:prstGeom>
          <a:ln w="15875"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8C2E34DB-022A-4329-94F3-DAE5AE23D8FE}"/>
              </a:ext>
            </a:extLst>
          </p:cNvPr>
          <p:cNvSpPr>
            <a:spLocks noGrp="1"/>
          </p:cNvSpPr>
          <p:nvPr/>
        </p:nvSpPr>
        <p:spPr>
          <a:xfrm>
            <a:off x="8475978" y="2485050"/>
            <a:ext cx="14060" cy="1972919"/>
          </a:xfrm>
          <a:prstGeom prst="line">
            <a:avLst/>
          </a:prstGeom>
          <a:ln w="15875">
            <a:solidFill>
              <a:schemeClr val="accent2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D2C143D-30CB-4EE5-90BA-7794D54A330B}"/>
              </a:ext>
            </a:extLst>
          </p:cNvPr>
          <p:cNvSpPr>
            <a:spLocks noGrp="1"/>
          </p:cNvSpPr>
          <p:nvPr/>
        </p:nvSpPr>
        <p:spPr>
          <a:xfrm>
            <a:off x="8491981" y="4416100"/>
            <a:ext cx="693287" cy="96828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1EFC23-B0E2-4557-9FC3-0522018ACD21}"/>
              </a:ext>
            </a:extLst>
          </p:cNvPr>
          <p:cNvSpPr>
            <a:spLocks noGrp="1"/>
          </p:cNvSpPr>
          <p:nvPr/>
        </p:nvSpPr>
        <p:spPr>
          <a:xfrm>
            <a:off x="8568500" y="4349098"/>
            <a:ext cx="74986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latin typeface="맑은 고딕" panose="020B0503020000020004" pitchFamily="50" charset="-127"/>
                <a:ea typeface="맑은 고딕" panose="020B0503020000020004" pitchFamily="50" charset="-127"/>
              </a:rPr>
              <a:t>silicide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5BF96D2-7542-4D95-BC9C-82ACCABE03B0}"/>
              </a:ext>
            </a:extLst>
          </p:cNvPr>
          <p:cNvSpPr>
            <a:spLocks noGrp="1"/>
          </p:cNvSpPr>
          <p:nvPr/>
        </p:nvSpPr>
        <p:spPr>
          <a:xfrm>
            <a:off x="8491982" y="4520873"/>
            <a:ext cx="697767" cy="1827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170953-B18E-41EF-B7BC-7175D40FD12B}"/>
              </a:ext>
            </a:extLst>
          </p:cNvPr>
          <p:cNvSpPr>
            <a:spLocks noGrp="1"/>
          </p:cNvSpPr>
          <p:nvPr/>
        </p:nvSpPr>
        <p:spPr>
          <a:xfrm>
            <a:off x="8625102" y="4465543"/>
            <a:ext cx="4331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poly</a:t>
            </a:r>
          </a:p>
        </p:txBody>
      </p:sp>
      <p:pic>
        <p:nvPicPr>
          <p:cNvPr id="161" name="그림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6" y="3310780"/>
            <a:ext cx="4673466" cy="3251540"/>
          </a:xfrm>
          <a:prstGeom prst="rect">
            <a:avLst/>
          </a:prstGeom>
        </p:spPr>
      </p:pic>
      <p:cxnSp>
        <p:nvCxnSpPr>
          <p:cNvPr id="162" name="직선 화살표 연결선 43"/>
          <p:cNvCxnSpPr/>
          <p:nvPr/>
        </p:nvCxnSpPr>
        <p:spPr>
          <a:xfrm>
            <a:off x="3307874" y="5353010"/>
            <a:ext cx="480959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550D416-B3A5-48D9-B2C6-7E35D5869E78}"/>
              </a:ext>
            </a:extLst>
          </p:cNvPr>
          <p:cNvSpPr>
            <a:spLocks noGrp="1"/>
          </p:cNvSpPr>
          <p:nvPr/>
        </p:nvSpPr>
        <p:spPr>
          <a:xfrm>
            <a:off x="3299147" y="5404423"/>
            <a:ext cx="5437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0.35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48E9BA3-EDCB-4DB8-8F84-2FC2200635A1}"/>
              </a:ext>
            </a:extLst>
          </p:cNvPr>
          <p:cNvSpPr>
            <a:spLocks noGrp="1"/>
          </p:cNvSpPr>
          <p:nvPr/>
        </p:nvSpPr>
        <p:spPr>
          <a:xfrm>
            <a:off x="9394885" y="4475289"/>
            <a:ext cx="503359" cy="24622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7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SIPROT</a:t>
            </a:r>
          </a:p>
        </p:txBody>
      </p:sp>
      <p:sp>
        <p:nvSpPr>
          <p:cNvPr id="141" name="Slide 5 copied left comparison heading">
            <a:extLst>
              <a:ext uri="{FF2B5EF4-FFF2-40B4-BE49-F238E27FC236}">
                <a16:creationId xmlns:a16="http://schemas.microsoft.com/office/drawing/2014/main" id="{C4EECE39-AFFA-4900-8F65-F9D9321215EC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42" name="Slide 5 copied right comparison heading">
            <a:extLst>
              <a:ext uri="{FF2B5EF4-FFF2-40B4-BE49-F238E27FC236}">
                <a16:creationId xmlns:a16="http://schemas.microsoft.com/office/drawing/2014/main" id="{3828180F-4CE2-4918-8097-FD18053F9C0A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2" name="TextBox 36">
            <a:extLst>
              <a:ext uri="{FF2B5EF4-FFF2-40B4-BE49-F238E27FC236}">
                <a16:creationId xmlns:a16="http://schemas.microsoft.com/office/drawing/2014/main" id="{552ED44F-4B01-18B4-89D9-70ABB88B866F}"/>
              </a:ext>
            </a:extLst>
          </p:cNvPr>
          <p:cNvSpPr>
            <a:spLocks noGrp="1"/>
          </p:cNvSpPr>
          <p:nvPr/>
        </p:nvSpPr>
        <p:spPr>
          <a:xfrm>
            <a:off x="8972870" y="3797623"/>
            <a:ext cx="8923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/>
              <a:t>0.35</a:t>
            </a:r>
          </a:p>
        </p:txBody>
      </p:sp>
      <p:cxnSp>
        <p:nvCxnSpPr>
          <p:cNvPr id="3" name="직선 화살표 연결선 27">
            <a:extLst>
              <a:ext uri="{FF2B5EF4-FFF2-40B4-BE49-F238E27FC236}">
                <a16:creationId xmlns:a16="http://schemas.microsoft.com/office/drawing/2014/main" id="{25A690AC-385E-3F8D-F622-0C7192FF39CC}"/>
              </a:ext>
            </a:extLst>
          </p:cNvPr>
          <p:cNvCxnSpPr>
            <a:cxnSpLocks/>
          </p:cNvCxnSpPr>
          <p:nvPr/>
        </p:nvCxnSpPr>
        <p:spPr>
          <a:xfrm>
            <a:off x="9058234" y="4221094"/>
            <a:ext cx="45882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32894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0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85">
            <a:extLst>
              <a:ext uri="{FF2B5EF4-FFF2-40B4-BE49-F238E27FC236}">
                <a16:creationId xmlns:a16="http://schemas.microsoft.com/office/drawing/2014/main" id="{1BB336AC-1E65-44AB-8B3F-FD6C7714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245" y="2301478"/>
            <a:ext cx="3625510" cy="225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/>
              <a:t>Metal</a:t>
            </a:r>
          </a:p>
        </p:txBody>
      </p:sp>
    </p:spTree>
    <p:extLst>
      <p:ext uri="{BB962C8B-B14F-4D97-AF65-F5344CB8AC3E}">
        <p14:creationId xmlns:p14="http://schemas.microsoft.com/office/powerpoint/2010/main" val="109726332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2" name="Google Shape;2180;p86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263" name="Google Shape;2181;p86"/>
          <p:cNvGraphicFramePr/>
          <p:nvPr>
            <p:extLst>
              <p:ext uri="{D42A27DB-BD31-4B8C-83A1-F6EECF244321}">
                <p14:modId xmlns:p14="http://schemas.microsoft.com/office/powerpoint/2010/main" val="2656712435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dirty="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dirty="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/>
                        <a:t>METAL1.W.1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0.12um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Metal 1 width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264" name="Google Shape;2182;p8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94" y="3336277"/>
            <a:ext cx="4463064" cy="2967065"/>
          </a:xfrm>
          <a:prstGeom prst="rect">
            <a:avLst/>
          </a:prstGeom>
          <a:ln>
            <a:noFill/>
          </a:ln>
        </p:spPr>
      </p:pic>
      <p:cxnSp>
        <p:nvCxnSpPr>
          <p:cNvPr id="2265" name="Google Shape;2183;p86"/>
          <p:cNvCxnSpPr/>
          <p:nvPr/>
        </p:nvCxnSpPr>
        <p:spPr>
          <a:xfrm rot="10800000">
            <a:off x="1552329" y="3483007"/>
            <a:ext cx="1711543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184" name="Google Shape;2184;p86">
            <a:extLst>
              <a:ext uri="{FF2B5EF4-FFF2-40B4-BE49-F238E27FC236}">
                <a16:creationId xmlns:a16="http://schemas.microsoft.com/office/drawing/2014/main" id="{2417E918-1E12-4DA4-A2A1-F8AF52BB8EC4}"/>
              </a:ext>
            </a:extLst>
          </p:cNvPr>
          <p:cNvSpPr>
            <a:spLocks noGrp="1"/>
          </p:cNvSpPr>
          <p:nvPr/>
        </p:nvSpPr>
        <p:spPr>
          <a:xfrm>
            <a:off x="1886467" y="2986335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sp>
        <p:nvSpPr>
          <p:cNvPr id="2185" name="Google Shape;2185;p86">
            <a:extLst>
              <a:ext uri="{FF2B5EF4-FFF2-40B4-BE49-F238E27FC236}">
                <a16:creationId xmlns:a16="http://schemas.microsoft.com/office/drawing/2014/main" id="{E6BF0C9C-D43A-48AE-9F2E-6E46A8E2710B}"/>
              </a:ext>
            </a:extLst>
          </p:cNvPr>
          <p:cNvSpPr>
            <a:spLocks noGrp="1"/>
          </p:cNvSpPr>
          <p:nvPr/>
        </p:nvSpPr>
        <p:spPr>
          <a:xfrm>
            <a:off x="6515972" y="2845632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pic>
        <p:nvPicPr>
          <p:cNvPr id="2268" name="Google Shape;2186;p86"/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7531" r="10453"/>
          <a:stretch/>
        </p:blipFill>
        <p:spPr>
          <a:xfrm>
            <a:off x="7772400" y="1805435"/>
            <a:ext cx="3046022" cy="2164661"/>
          </a:xfrm>
          <a:prstGeom prst="rect">
            <a:avLst/>
          </a:prstGeom>
          <a:ln>
            <a:noFill/>
          </a:ln>
        </p:spPr>
      </p:pic>
      <p:cxnSp>
        <p:nvCxnSpPr>
          <p:cNvPr id="2269" name="Google Shape;2187;p86"/>
          <p:cNvCxnSpPr/>
          <p:nvPr/>
        </p:nvCxnSpPr>
        <p:spPr>
          <a:xfrm>
            <a:off x="6875726" y="3030298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270" name="Google Shape;2188;p86"/>
          <p:cNvCxnSpPr/>
          <p:nvPr/>
        </p:nvCxnSpPr>
        <p:spPr>
          <a:xfrm>
            <a:off x="8336882" y="3059536"/>
            <a:ext cx="7382" cy="216466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271" name="Google Shape;2189;p86"/>
          <p:cNvCxnSpPr/>
          <p:nvPr/>
        </p:nvCxnSpPr>
        <p:spPr>
          <a:xfrm>
            <a:off x="9780467" y="3040526"/>
            <a:ext cx="0" cy="218367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190" name="Google Shape;2190;p86">
            <a:extLst>
              <a:ext uri="{FF2B5EF4-FFF2-40B4-BE49-F238E27FC236}">
                <a16:creationId xmlns:a16="http://schemas.microsoft.com/office/drawing/2014/main" id="{248D74E1-23FD-4427-8D37-50D28C419268}"/>
              </a:ext>
            </a:extLst>
          </p:cNvPr>
          <p:cNvSpPr>
            <a:spLocks noGrp="1"/>
          </p:cNvSpPr>
          <p:nvPr/>
        </p:nvSpPr>
        <p:spPr>
          <a:xfrm>
            <a:off x="8546681" y="3988817"/>
            <a:ext cx="15468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cxnSp>
        <p:nvCxnSpPr>
          <p:cNvPr id="2273" name="Google Shape;2191;p86"/>
          <p:cNvCxnSpPr/>
          <p:nvPr/>
        </p:nvCxnSpPr>
        <p:spPr>
          <a:xfrm rot="10800000" flipH="1">
            <a:off x="8336882" y="4297816"/>
            <a:ext cx="1428148" cy="1199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192" name="Google Shape;2192;p86">
            <a:extLst>
              <a:ext uri="{FF2B5EF4-FFF2-40B4-BE49-F238E27FC236}">
                <a16:creationId xmlns:a16="http://schemas.microsoft.com/office/drawing/2014/main" id="{F3C0092B-21F5-41F1-B54B-272559F3EF8C}"/>
              </a:ext>
            </a:extLst>
          </p:cNvPr>
          <p:cNvSpPr>
            <a:spLocks noGrp="1"/>
          </p:cNvSpPr>
          <p:nvPr/>
        </p:nvSpPr>
        <p:spPr>
          <a:xfrm>
            <a:off x="7681858" y="5361865"/>
            <a:ext cx="3574585" cy="1082358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2193" name="Google Shape;2193;p86">
            <a:extLst>
              <a:ext uri="{FF2B5EF4-FFF2-40B4-BE49-F238E27FC236}">
                <a16:creationId xmlns:a16="http://schemas.microsoft.com/office/drawing/2014/main" id="{F136A5E3-BABD-4370-B04B-FF0E98D6EB9E}"/>
              </a:ext>
            </a:extLst>
          </p:cNvPr>
          <p:cNvSpPr>
            <a:spLocks noGrp="1"/>
          </p:cNvSpPr>
          <p:nvPr/>
        </p:nvSpPr>
        <p:spPr>
          <a:xfrm>
            <a:off x="8359265" y="5121971"/>
            <a:ext cx="1421036" cy="26661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Silicide</a:t>
            </a:r>
          </a:p>
        </p:txBody>
      </p:sp>
      <p:sp>
        <p:nvSpPr>
          <p:cNvPr id="2194" name="Google Shape;2194;p86">
            <a:extLst>
              <a:ext uri="{FF2B5EF4-FFF2-40B4-BE49-F238E27FC236}">
                <a16:creationId xmlns:a16="http://schemas.microsoft.com/office/drawing/2014/main" id="{69A509D1-9B16-4990-81C4-63EF53D2EE72}"/>
              </a:ext>
            </a:extLst>
          </p:cNvPr>
          <p:cNvSpPr>
            <a:spLocks noGrp="1"/>
          </p:cNvSpPr>
          <p:nvPr/>
        </p:nvSpPr>
        <p:spPr>
          <a:xfrm>
            <a:off x="7679594" y="5117274"/>
            <a:ext cx="672126" cy="28283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95" name="Google Shape;2195;p86">
            <a:extLst>
              <a:ext uri="{FF2B5EF4-FFF2-40B4-BE49-F238E27FC236}">
                <a16:creationId xmlns:a16="http://schemas.microsoft.com/office/drawing/2014/main" id="{E3A0ADD0-C7F5-465A-B577-E7AB35E33B70}"/>
              </a:ext>
            </a:extLst>
          </p:cNvPr>
          <p:cNvSpPr>
            <a:spLocks noGrp="1"/>
          </p:cNvSpPr>
          <p:nvPr/>
        </p:nvSpPr>
        <p:spPr>
          <a:xfrm>
            <a:off x="9780304" y="5089669"/>
            <a:ext cx="1491413" cy="301450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2196" name="Google Shape;2196;p86">
            <a:extLst>
              <a:ext uri="{FF2B5EF4-FFF2-40B4-BE49-F238E27FC236}">
                <a16:creationId xmlns:a16="http://schemas.microsoft.com/office/drawing/2014/main" id="{ED72AD94-E33A-4D16-9B7D-CF4D6A83F5FC}"/>
              </a:ext>
            </a:extLst>
          </p:cNvPr>
          <p:cNvSpPr>
            <a:spLocks noGrp="1"/>
          </p:cNvSpPr>
          <p:nvPr/>
        </p:nvSpPr>
        <p:spPr>
          <a:xfrm>
            <a:off x="8374539" y="4752863"/>
            <a:ext cx="1413471" cy="368105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CONTACT</a:t>
            </a:r>
            <a:r>
              <a:rPr sz="16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t</a:t>
            </a:r>
          </a:p>
        </p:txBody>
      </p:sp>
      <p:sp>
        <p:nvSpPr>
          <p:cNvPr id="2197" name="Google Shape;2197;p86">
            <a:extLst>
              <a:ext uri="{FF2B5EF4-FFF2-40B4-BE49-F238E27FC236}">
                <a16:creationId xmlns:a16="http://schemas.microsoft.com/office/drawing/2014/main" id="{1AA88FDD-0DAB-4FA4-8ABA-F3386EB9B444}"/>
              </a:ext>
            </a:extLst>
          </p:cNvPr>
          <p:cNvSpPr>
            <a:spLocks noGrp="1"/>
          </p:cNvSpPr>
          <p:nvPr/>
        </p:nvSpPr>
        <p:spPr>
          <a:xfrm>
            <a:off x="7679591" y="4744395"/>
            <a:ext cx="672218" cy="3681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98" name="Google Shape;2198;p86">
            <a:extLst>
              <a:ext uri="{FF2B5EF4-FFF2-40B4-BE49-F238E27FC236}">
                <a16:creationId xmlns:a16="http://schemas.microsoft.com/office/drawing/2014/main" id="{8298A4EA-25DA-4A72-A3F3-6A2BBFCB8465}"/>
              </a:ext>
            </a:extLst>
          </p:cNvPr>
          <p:cNvSpPr>
            <a:spLocks noGrp="1"/>
          </p:cNvSpPr>
          <p:nvPr/>
        </p:nvSpPr>
        <p:spPr>
          <a:xfrm>
            <a:off x="9795576" y="4750333"/>
            <a:ext cx="1468666" cy="3531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ILD</a:t>
            </a:r>
          </a:p>
        </p:txBody>
      </p:sp>
      <p:sp>
        <p:nvSpPr>
          <p:cNvPr id="2199" name="Google Shape;2199;p86">
            <a:extLst>
              <a:ext uri="{FF2B5EF4-FFF2-40B4-BE49-F238E27FC236}">
                <a16:creationId xmlns:a16="http://schemas.microsoft.com/office/drawing/2014/main" id="{E01F8547-7D2B-4464-BB96-20F429BC6A98}"/>
              </a:ext>
            </a:extLst>
          </p:cNvPr>
          <p:cNvSpPr>
            <a:spLocks noGrp="1"/>
          </p:cNvSpPr>
          <p:nvPr/>
        </p:nvSpPr>
        <p:spPr>
          <a:xfrm>
            <a:off x="8367158" y="4413527"/>
            <a:ext cx="1413144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METAL 1</a:t>
            </a:r>
          </a:p>
        </p:txBody>
      </p:sp>
      <p:sp>
        <p:nvSpPr>
          <p:cNvPr id="2200" name="Google Shape;2200;p86">
            <a:extLst>
              <a:ext uri="{FF2B5EF4-FFF2-40B4-BE49-F238E27FC236}">
                <a16:creationId xmlns:a16="http://schemas.microsoft.com/office/drawing/2014/main" id="{A75E30E6-B5AE-440E-B3E5-6FE3F3B62822}"/>
              </a:ext>
            </a:extLst>
          </p:cNvPr>
          <p:cNvSpPr>
            <a:spLocks noGrp="1"/>
          </p:cNvSpPr>
          <p:nvPr/>
        </p:nvSpPr>
        <p:spPr>
          <a:xfrm>
            <a:off x="8273617" y="5391119"/>
            <a:ext cx="1595998" cy="26125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sp>
        <p:nvSpPr>
          <p:cNvPr id="2201" name="Google Shape;2201;p86">
            <a:extLst>
              <a:ext uri="{FF2B5EF4-FFF2-40B4-BE49-F238E27FC236}">
                <a16:creationId xmlns:a16="http://schemas.microsoft.com/office/drawing/2014/main" id="{F942F7DF-D723-4AA3-98A4-DCA628F5128D}"/>
              </a:ext>
            </a:extLst>
          </p:cNvPr>
          <p:cNvSpPr>
            <a:spLocks noGrp="1"/>
          </p:cNvSpPr>
          <p:nvPr/>
        </p:nvSpPr>
        <p:spPr>
          <a:xfrm>
            <a:off x="534871" y="1651770"/>
            <a:ext cx="48290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공정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안정성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및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배선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신뢰성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확보를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최소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Metal1 폭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규정</a:t>
            </a:r>
            <a:endParaRPr sz="18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2259" name="Slide 5 copied left comparison heading">
            <a:extLst>
              <a:ext uri="{FF2B5EF4-FFF2-40B4-BE49-F238E27FC236}">
                <a16:creationId xmlns:a16="http://schemas.microsoft.com/office/drawing/2014/main" id="{695A4F77-46AA-410F-BEB7-56FB2ABE8086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2260" name="Slide 5 copied right comparison heading">
            <a:extLst>
              <a:ext uri="{FF2B5EF4-FFF2-40B4-BE49-F238E27FC236}">
                <a16:creationId xmlns:a16="http://schemas.microsoft.com/office/drawing/2014/main" id="{489EA8F5-DD8D-4EF4-B17C-1593719A8381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86A34D-6580-16EE-7882-E0A5D3626A05}"/>
              </a:ext>
            </a:extLst>
          </p:cNvPr>
          <p:cNvSpPr/>
          <p:nvPr/>
        </p:nvSpPr>
        <p:spPr>
          <a:xfrm>
            <a:off x="8359176" y="5133350"/>
            <a:ext cx="1421036" cy="266617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Silicide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77CC8B-46A7-B1D3-B959-9FAB238145D0}"/>
              </a:ext>
            </a:extLst>
          </p:cNvPr>
          <p:cNvSpPr/>
          <p:nvPr/>
        </p:nvSpPr>
        <p:spPr>
          <a:xfrm>
            <a:off x="7679502" y="4755774"/>
            <a:ext cx="672218" cy="368105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3F3C88C-5F04-1FD2-9FD6-E5E7886A68C6}"/>
              </a:ext>
            </a:extLst>
          </p:cNvPr>
          <p:cNvSpPr/>
          <p:nvPr/>
        </p:nvSpPr>
        <p:spPr>
          <a:xfrm>
            <a:off x="9795487" y="4761712"/>
            <a:ext cx="1468666" cy="353140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9178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6" name="Google Shape;2209;p87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307" name="Google Shape;2210;p87"/>
          <p:cNvGraphicFramePr/>
          <p:nvPr>
            <p:extLst>
              <p:ext uri="{D42A27DB-BD31-4B8C-83A1-F6EECF244321}">
                <p14:modId xmlns:p14="http://schemas.microsoft.com/office/powerpoint/2010/main" val="2771564165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dirty="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/>
                        <a:t>METAL1.W.2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12um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Maximum Metal 1 width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308" name="Google Shape;2211;p8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94" y="3922212"/>
            <a:ext cx="5114925" cy="2161211"/>
          </a:xfrm>
          <a:prstGeom prst="rect">
            <a:avLst/>
          </a:prstGeom>
          <a:ln>
            <a:noFill/>
          </a:ln>
        </p:spPr>
      </p:pic>
      <p:cxnSp>
        <p:nvCxnSpPr>
          <p:cNvPr id="2309" name="Google Shape;2212;p87"/>
          <p:cNvCxnSpPr/>
          <p:nvPr/>
        </p:nvCxnSpPr>
        <p:spPr>
          <a:xfrm rot="10800000">
            <a:off x="1034482" y="4277260"/>
            <a:ext cx="4113004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213" name="Google Shape;2213;p87">
            <a:extLst>
              <a:ext uri="{FF2B5EF4-FFF2-40B4-BE49-F238E27FC236}">
                <a16:creationId xmlns:a16="http://schemas.microsoft.com/office/drawing/2014/main" id="{776F22A7-27DA-43EE-A2CE-416FC39DECB1}"/>
              </a:ext>
            </a:extLst>
          </p:cNvPr>
          <p:cNvSpPr>
            <a:spLocks noGrp="1"/>
          </p:cNvSpPr>
          <p:nvPr/>
        </p:nvSpPr>
        <p:spPr>
          <a:xfrm>
            <a:off x="2608972" y="3884674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12um</a:t>
            </a:r>
          </a:p>
        </p:txBody>
      </p:sp>
      <p:sp>
        <p:nvSpPr>
          <p:cNvPr id="2214" name="Google Shape;2214;p87">
            <a:extLst>
              <a:ext uri="{FF2B5EF4-FFF2-40B4-BE49-F238E27FC236}">
                <a16:creationId xmlns:a16="http://schemas.microsoft.com/office/drawing/2014/main" id="{CB4DF906-4DB6-4900-B090-78BA3A715175}"/>
              </a:ext>
            </a:extLst>
          </p:cNvPr>
          <p:cNvSpPr>
            <a:spLocks noGrp="1"/>
          </p:cNvSpPr>
          <p:nvPr/>
        </p:nvSpPr>
        <p:spPr>
          <a:xfrm>
            <a:off x="7553866" y="5007424"/>
            <a:ext cx="3711221" cy="33086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15" name="Google Shape;2215;p87">
            <a:extLst>
              <a:ext uri="{FF2B5EF4-FFF2-40B4-BE49-F238E27FC236}">
                <a16:creationId xmlns:a16="http://schemas.microsoft.com/office/drawing/2014/main" id="{0BAB68CA-1623-4B74-8CDE-6E9907CE8F70}"/>
              </a:ext>
            </a:extLst>
          </p:cNvPr>
          <p:cNvSpPr>
            <a:spLocks noGrp="1"/>
          </p:cNvSpPr>
          <p:nvPr/>
        </p:nvSpPr>
        <p:spPr>
          <a:xfrm>
            <a:off x="9125895" y="4024229"/>
            <a:ext cx="11840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12um</a:t>
            </a:r>
          </a:p>
        </p:txBody>
      </p:sp>
      <p:cxnSp>
        <p:nvCxnSpPr>
          <p:cNvPr id="2313" name="Google Shape;2216;p87"/>
          <p:cNvCxnSpPr/>
          <p:nvPr/>
        </p:nvCxnSpPr>
        <p:spPr>
          <a:xfrm>
            <a:off x="8074170" y="4396288"/>
            <a:ext cx="2750457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217" name="Google Shape;2217;p87">
            <a:extLst>
              <a:ext uri="{FF2B5EF4-FFF2-40B4-BE49-F238E27FC236}">
                <a16:creationId xmlns:a16="http://schemas.microsoft.com/office/drawing/2014/main" id="{C0276B43-B64C-4123-BC7E-09C726FBD351}"/>
              </a:ext>
            </a:extLst>
          </p:cNvPr>
          <p:cNvSpPr>
            <a:spLocks noGrp="1"/>
          </p:cNvSpPr>
          <p:nvPr/>
        </p:nvSpPr>
        <p:spPr>
          <a:xfrm>
            <a:off x="6570575" y="2542039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sp>
        <p:nvSpPr>
          <p:cNvPr id="2218" name="Google Shape;2218;p87">
            <a:extLst>
              <a:ext uri="{FF2B5EF4-FFF2-40B4-BE49-F238E27FC236}">
                <a16:creationId xmlns:a16="http://schemas.microsoft.com/office/drawing/2014/main" id="{12446E87-2D98-400E-851B-E7A415346BFB}"/>
              </a:ext>
            </a:extLst>
          </p:cNvPr>
          <p:cNvSpPr>
            <a:spLocks noGrp="1"/>
          </p:cNvSpPr>
          <p:nvPr/>
        </p:nvSpPr>
        <p:spPr>
          <a:xfrm>
            <a:off x="7968455" y="4671949"/>
            <a:ext cx="2933071" cy="33086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16" name="Google Shape;2219;p8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3866" y="2109369"/>
            <a:ext cx="3707387" cy="1266825"/>
          </a:xfrm>
          <a:prstGeom prst="rect">
            <a:avLst/>
          </a:prstGeom>
          <a:ln>
            <a:noFill/>
          </a:ln>
        </p:spPr>
      </p:pic>
      <p:cxnSp>
        <p:nvCxnSpPr>
          <p:cNvPr id="2317" name="Google Shape;2220;p87"/>
          <p:cNvCxnSpPr/>
          <p:nvPr/>
        </p:nvCxnSpPr>
        <p:spPr>
          <a:xfrm>
            <a:off x="6959358" y="2738581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221" name="Google Shape;2221;p87">
            <a:extLst>
              <a:ext uri="{FF2B5EF4-FFF2-40B4-BE49-F238E27FC236}">
                <a16:creationId xmlns:a16="http://schemas.microsoft.com/office/drawing/2014/main" id="{195D595D-37EC-45A7-99B6-8C296A6BC1AD}"/>
              </a:ext>
            </a:extLst>
          </p:cNvPr>
          <p:cNvSpPr>
            <a:spLocks noGrp="1"/>
          </p:cNvSpPr>
          <p:nvPr/>
        </p:nvSpPr>
        <p:spPr>
          <a:xfrm>
            <a:off x="7542917" y="5322104"/>
            <a:ext cx="3718335" cy="1101165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2222" name="Google Shape;2222;p87">
            <a:extLst>
              <a:ext uri="{FF2B5EF4-FFF2-40B4-BE49-F238E27FC236}">
                <a16:creationId xmlns:a16="http://schemas.microsoft.com/office/drawing/2014/main" id="{D4552C95-97B5-4148-B23C-F9865742DB1E}"/>
              </a:ext>
            </a:extLst>
          </p:cNvPr>
          <p:cNvSpPr>
            <a:spLocks noGrp="1"/>
          </p:cNvSpPr>
          <p:nvPr/>
        </p:nvSpPr>
        <p:spPr>
          <a:xfrm>
            <a:off x="7553050" y="4975374"/>
            <a:ext cx="3704353" cy="3308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ILD</a:t>
            </a:r>
          </a:p>
        </p:txBody>
      </p:sp>
      <p:sp>
        <p:nvSpPr>
          <p:cNvPr id="2223" name="Google Shape;2223;p87">
            <a:extLst>
              <a:ext uri="{FF2B5EF4-FFF2-40B4-BE49-F238E27FC236}">
                <a16:creationId xmlns:a16="http://schemas.microsoft.com/office/drawing/2014/main" id="{E8150799-45F0-48B0-9D06-75E53C7FFB06}"/>
              </a:ext>
            </a:extLst>
          </p:cNvPr>
          <p:cNvSpPr>
            <a:spLocks noGrp="1"/>
          </p:cNvSpPr>
          <p:nvPr/>
        </p:nvSpPr>
        <p:spPr>
          <a:xfrm>
            <a:off x="7544550" y="5306242"/>
            <a:ext cx="3711221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2224" name="Google Shape;2224;p87">
            <a:extLst>
              <a:ext uri="{FF2B5EF4-FFF2-40B4-BE49-F238E27FC236}">
                <a16:creationId xmlns:a16="http://schemas.microsoft.com/office/drawing/2014/main" id="{49FF4FFA-35FC-45D8-AF88-3DB4BA9D59AC}"/>
              </a:ext>
            </a:extLst>
          </p:cNvPr>
          <p:cNvSpPr>
            <a:spLocks noGrp="1"/>
          </p:cNvSpPr>
          <p:nvPr/>
        </p:nvSpPr>
        <p:spPr>
          <a:xfrm>
            <a:off x="7961887" y="4644506"/>
            <a:ext cx="2945392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METAL</a:t>
            </a:r>
          </a:p>
        </p:txBody>
      </p:sp>
      <p:cxnSp>
        <p:nvCxnSpPr>
          <p:cNvPr id="2322" name="Google Shape;2225;p87"/>
          <p:cNvCxnSpPr/>
          <p:nvPr/>
        </p:nvCxnSpPr>
        <p:spPr>
          <a:xfrm>
            <a:off x="7961887" y="2756395"/>
            <a:ext cx="0" cy="223484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323" name="Google Shape;2226;p87"/>
          <p:cNvCxnSpPr/>
          <p:nvPr/>
        </p:nvCxnSpPr>
        <p:spPr>
          <a:xfrm>
            <a:off x="10901526" y="2756395"/>
            <a:ext cx="818" cy="224642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227" name="Google Shape;2227;p87">
            <a:extLst>
              <a:ext uri="{FF2B5EF4-FFF2-40B4-BE49-F238E27FC236}">
                <a16:creationId xmlns:a16="http://schemas.microsoft.com/office/drawing/2014/main" id="{19C6AA4B-C1F8-4E2A-8191-8B560F2C2C61}"/>
              </a:ext>
            </a:extLst>
          </p:cNvPr>
          <p:cNvSpPr>
            <a:spLocks noGrp="1"/>
          </p:cNvSpPr>
          <p:nvPr/>
        </p:nvSpPr>
        <p:spPr>
          <a:xfrm>
            <a:off x="515294" y="1595140"/>
            <a:ext cx="484409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공정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안정성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및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배선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신뢰성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확보를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endParaRPr lang="en-US" sz="18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최대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Metal1 폭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규정</a:t>
            </a:r>
            <a:endParaRPr sz="18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2303" name="Slide 5 copied left comparison heading">
            <a:extLst>
              <a:ext uri="{FF2B5EF4-FFF2-40B4-BE49-F238E27FC236}">
                <a16:creationId xmlns:a16="http://schemas.microsoft.com/office/drawing/2014/main" id="{0F5BF3D2-CBAB-4CF1-8938-C5772442CCDB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2304" name="Slide 5 copied right comparison heading">
            <a:extLst>
              <a:ext uri="{FF2B5EF4-FFF2-40B4-BE49-F238E27FC236}">
                <a16:creationId xmlns:a16="http://schemas.microsoft.com/office/drawing/2014/main" id="{AD4B3DE0-6ADC-45E7-B4D7-625C11846E5C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BF8E233-C63E-1F67-D41B-2C0E5D3F419C}"/>
              </a:ext>
            </a:extLst>
          </p:cNvPr>
          <p:cNvSpPr/>
          <p:nvPr/>
        </p:nvSpPr>
        <p:spPr>
          <a:xfrm>
            <a:off x="7542917" y="4924683"/>
            <a:ext cx="3704353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895814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9" name="Google Shape;2235;p88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350" name="Google Shape;2236;p88"/>
          <p:cNvGraphicFramePr/>
          <p:nvPr>
            <p:extLst>
              <p:ext uri="{D42A27DB-BD31-4B8C-83A1-F6EECF244321}">
                <p14:modId xmlns:p14="http://schemas.microsoft.com/office/powerpoint/2010/main" val="2491859848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dirty="0"/>
                        <a:t>METAL1.SP.1.1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0.12um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Metal 1 to Metal 1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351" name="Google Shape;2237;p8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94" y="3462921"/>
            <a:ext cx="5034639" cy="2537910"/>
          </a:xfrm>
          <a:prstGeom prst="rect">
            <a:avLst/>
          </a:prstGeom>
          <a:ln>
            <a:noFill/>
          </a:ln>
        </p:spPr>
      </p:pic>
      <p:cxnSp>
        <p:nvCxnSpPr>
          <p:cNvPr id="2352" name="Google Shape;2238;p88"/>
          <p:cNvCxnSpPr/>
          <p:nvPr/>
        </p:nvCxnSpPr>
        <p:spPr>
          <a:xfrm rot="10800000">
            <a:off x="2573546" y="3808427"/>
            <a:ext cx="1014204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239" name="Google Shape;2239;p88">
            <a:extLst>
              <a:ext uri="{FF2B5EF4-FFF2-40B4-BE49-F238E27FC236}">
                <a16:creationId xmlns:a16="http://schemas.microsoft.com/office/drawing/2014/main" id="{F435069E-7560-42AA-A972-BA2BD45ABC9B}"/>
              </a:ext>
            </a:extLst>
          </p:cNvPr>
          <p:cNvSpPr>
            <a:spLocks noGrp="1"/>
          </p:cNvSpPr>
          <p:nvPr/>
        </p:nvSpPr>
        <p:spPr>
          <a:xfrm>
            <a:off x="2573546" y="3397360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sp>
        <p:nvSpPr>
          <p:cNvPr id="2240" name="Google Shape;2240;p88">
            <a:extLst>
              <a:ext uri="{FF2B5EF4-FFF2-40B4-BE49-F238E27FC236}">
                <a16:creationId xmlns:a16="http://schemas.microsoft.com/office/drawing/2014/main" id="{0EE202A9-FAFC-49E7-99D6-DF3B0B67E5E5}"/>
              </a:ext>
            </a:extLst>
          </p:cNvPr>
          <p:cNvSpPr>
            <a:spLocks noGrp="1"/>
          </p:cNvSpPr>
          <p:nvPr/>
        </p:nvSpPr>
        <p:spPr>
          <a:xfrm>
            <a:off x="8767297" y="3886424"/>
            <a:ext cx="118402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cxnSp>
        <p:nvCxnSpPr>
          <p:cNvPr id="2355" name="Google Shape;2241;p88"/>
          <p:cNvCxnSpPr/>
          <p:nvPr/>
        </p:nvCxnSpPr>
        <p:spPr>
          <a:xfrm>
            <a:off x="8819229" y="4260604"/>
            <a:ext cx="694882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242" name="Google Shape;2242;p88">
            <a:extLst>
              <a:ext uri="{FF2B5EF4-FFF2-40B4-BE49-F238E27FC236}">
                <a16:creationId xmlns:a16="http://schemas.microsoft.com/office/drawing/2014/main" id="{81C86090-1934-44A6-A6A8-1358FD609B59}"/>
              </a:ext>
            </a:extLst>
          </p:cNvPr>
          <p:cNvSpPr>
            <a:spLocks noGrp="1"/>
          </p:cNvSpPr>
          <p:nvPr/>
        </p:nvSpPr>
        <p:spPr>
          <a:xfrm>
            <a:off x="6287601" y="3066784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pic>
        <p:nvPicPr>
          <p:cNvPr id="2357" name="Google Shape;2243;p8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8183" y="1862611"/>
            <a:ext cx="3724091" cy="1877276"/>
          </a:xfrm>
          <a:prstGeom prst="rect">
            <a:avLst/>
          </a:prstGeom>
          <a:ln>
            <a:noFill/>
          </a:ln>
        </p:spPr>
      </p:pic>
      <p:cxnSp>
        <p:nvCxnSpPr>
          <p:cNvPr id="2358" name="Google Shape;2244;p88"/>
          <p:cNvCxnSpPr/>
          <p:nvPr/>
        </p:nvCxnSpPr>
        <p:spPr>
          <a:xfrm>
            <a:off x="6680266" y="3248627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359" name="Google Shape;2245;p88"/>
          <p:cNvCxnSpPr/>
          <p:nvPr/>
        </p:nvCxnSpPr>
        <p:spPr>
          <a:xfrm>
            <a:off x="8814156" y="3256038"/>
            <a:ext cx="0" cy="201398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360" name="Google Shape;2246;p88"/>
          <p:cNvCxnSpPr/>
          <p:nvPr/>
        </p:nvCxnSpPr>
        <p:spPr>
          <a:xfrm flipH="1">
            <a:off x="9551745" y="3256038"/>
            <a:ext cx="4707" cy="201398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361" name="Google Shape;2247;p88"/>
          <p:cNvCxnSpPr/>
          <p:nvPr/>
        </p:nvCxnSpPr>
        <p:spPr>
          <a:xfrm>
            <a:off x="8009949" y="3242161"/>
            <a:ext cx="19357" cy="202785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362" name="Google Shape;2248;p88"/>
          <p:cNvCxnSpPr/>
          <p:nvPr/>
        </p:nvCxnSpPr>
        <p:spPr>
          <a:xfrm>
            <a:off x="10383767" y="3249980"/>
            <a:ext cx="0" cy="202004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249" name="Google Shape;2249;p88">
            <a:extLst>
              <a:ext uri="{FF2B5EF4-FFF2-40B4-BE49-F238E27FC236}">
                <a16:creationId xmlns:a16="http://schemas.microsoft.com/office/drawing/2014/main" id="{2FF8AB0A-5159-44C8-8895-0DD98859023C}"/>
              </a:ext>
            </a:extLst>
          </p:cNvPr>
          <p:cNvSpPr>
            <a:spLocks noGrp="1"/>
          </p:cNvSpPr>
          <p:nvPr/>
        </p:nvSpPr>
        <p:spPr>
          <a:xfrm>
            <a:off x="7306409" y="5928352"/>
            <a:ext cx="3700763" cy="761244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2250" name="Google Shape;2250;p88">
            <a:extLst>
              <a:ext uri="{FF2B5EF4-FFF2-40B4-BE49-F238E27FC236}">
                <a16:creationId xmlns:a16="http://schemas.microsoft.com/office/drawing/2014/main" id="{5E0A6923-3BDE-48E1-8F1C-28832FF2420B}"/>
              </a:ext>
            </a:extLst>
          </p:cNvPr>
          <p:cNvSpPr>
            <a:spLocks noGrp="1"/>
          </p:cNvSpPr>
          <p:nvPr/>
        </p:nvSpPr>
        <p:spPr>
          <a:xfrm>
            <a:off x="7316820" y="5592418"/>
            <a:ext cx="3696921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2251" name="Google Shape;2251;p88">
            <a:extLst>
              <a:ext uri="{FF2B5EF4-FFF2-40B4-BE49-F238E27FC236}">
                <a16:creationId xmlns:a16="http://schemas.microsoft.com/office/drawing/2014/main" id="{1688D488-E7D7-4688-ADAD-4A7595E87779}"/>
              </a:ext>
            </a:extLst>
          </p:cNvPr>
          <p:cNvSpPr>
            <a:spLocks noGrp="1"/>
          </p:cNvSpPr>
          <p:nvPr/>
        </p:nvSpPr>
        <p:spPr>
          <a:xfrm>
            <a:off x="7311100" y="5264078"/>
            <a:ext cx="3714818" cy="3308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ILD</a:t>
            </a:r>
          </a:p>
        </p:txBody>
      </p:sp>
      <p:sp>
        <p:nvSpPr>
          <p:cNvPr id="2252" name="Google Shape;2252;p88">
            <a:extLst>
              <a:ext uri="{FF2B5EF4-FFF2-40B4-BE49-F238E27FC236}">
                <a16:creationId xmlns:a16="http://schemas.microsoft.com/office/drawing/2014/main" id="{37D5EE57-36D3-41FA-A953-788DCC6DE651}"/>
              </a:ext>
            </a:extLst>
          </p:cNvPr>
          <p:cNvSpPr>
            <a:spLocks noGrp="1"/>
          </p:cNvSpPr>
          <p:nvPr/>
        </p:nvSpPr>
        <p:spPr>
          <a:xfrm>
            <a:off x="8023368" y="4944198"/>
            <a:ext cx="794793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METAL</a:t>
            </a:r>
          </a:p>
        </p:txBody>
      </p:sp>
      <p:sp>
        <p:nvSpPr>
          <p:cNvPr id="2253" name="Google Shape;2253;p88">
            <a:extLst>
              <a:ext uri="{FF2B5EF4-FFF2-40B4-BE49-F238E27FC236}">
                <a16:creationId xmlns:a16="http://schemas.microsoft.com/office/drawing/2014/main" id="{35106705-555D-4AF0-B24C-87A94B941E09}"/>
              </a:ext>
            </a:extLst>
          </p:cNvPr>
          <p:cNvSpPr>
            <a:spLocks noGrp="1"/>
          </p:cNvSpPr>
          <p:nvPr/>
        </p:nvSpPr>
        <p:spPr>
          <a:xfrm>
            <a:off x="9548150" y="4945960"/>
            <a:ext cx="835616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METAL</a:t>
            </a:r>
          </a:p>
        </p:txBody>
      </p:sp>
      <p:cxnSp>
        <p:nvCxnSpPr>
          <p:cNvPr id="2368" name="Google Shape;2254;p88"/>
          <p:cNvCxnSpPr/>
          <p:nvPr/>
        </p:nvCxnSpPr>
        <p:spPr>
          <a:xfrm>
            <a:off x="8072415" y="4763327"/>
            <a:ext cx="694882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255" name="Google Shape;2255;p88">
            <a:extLst>
              <a:ext uri="{FF2B5EF4-FFF2-40B4-BE49-F238E27FC236}">
                <a16:creationId xmlns:a16="http://schemas.microsoft.com/office/drawing/2014/main" id="{990D86C4-066C-41A7-BCE8-713078C40833}"/>
              </a:ext>
            </a:extLst>
          </p:cNvPr>
          <p:cNvSpPr>
            <a:spLocks noGrp="1"/>
          </p:cNvSpPr>
          <p:nvPr/>
        </p:nvSpPr>
        <p:spPr>
          <a:xfrm>
            <a:off x="8040475" y="4426080"/>
            <a:ext cx="118402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cxnSp>
        <p:nvCxnSpPr>
          <p:cNvPr id="2370" name="Google Shape;2256;p88"/>
          <p:cNvCxnSpPr/>
          <p:nvPr/>
        </p:nvCxnSpPr>
        <p:spPr>
          <a:xfrm>
            <a:off x="9614232" y="4761346"/>
            <a:ext cx="694882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257" name="Google Shape;2257;p88">
            <a:extLst>
              <a:ext uri="{FF2B5EF4-FFF2-40B4-BE49-F238E27FC236}">
                <a16:creationId xmlns:a16="http://schemas.microsoft.com/office/drawing/2014/main" id="{335F5DBA-66BA-4AD7-9F54-BF9AF8079C39}"/>
              </a:ext>
            </a:extLst>
          </p:cNvPr>
          <p:cNvSpPr>
            <a:spLocks noGrp="1"/>
          </p:cNvSpPr>
          <p:nvPr/>
        </p:nvSpPr>
        <p:spPr>
          <a:xfrm>
            <a:off x="9582292" y="4424099"/>
            <a:ext cx="118402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sp>
        <p:nvSpPr>
          <p:cNvPr id="2258" name="Google Shape;2258;p88">
            <a:extLst>
              <a:ext uri="{FF2B5EF4-FFF2-40B4-BE49-F238E27FC236}">
                <a16:creationId xmlns:a16="http://schemas.microsoft.com/office/drawing/2014/main" id="{C1399377-FA67-4930-A4C2-45B6725CE4E9}"/>
              </a:ext>
            </a:extLst>
          </p:cNvPr>
          <p:cNvSpPr>
            <a:spLocks noGrp="1"/>
          </p:cNvSpPr>
          <p:nvPr/>
        </p:nvSpPr>
        <p:spPr>
          <a:xfrm>
            <a:off x="515294" y="1589219"/>
            <a:ext cx="497110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rPr sz="18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공정</a:t>
            </a:r>
            <a:r>
              <a:rPr sz="18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안정성</a:t>
            </a:r>
            <a:r>
              <a:rPr sz="18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및 </a:t>
            </a:r>
            <a:r>
              <a:rPr sz="18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배선</a:t>
            </a:r>
            <a:r>
              <a:rPr sz="18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간 Short </a:t>
            </a:r>
            <a:r>
              <a:rPr sz="18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방지를</a:t>
            </a:r>
            <a:r>
              <a:rPr sz="18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위한</a:t>
            </a:r>
            <a:r>
              <a:rPr sz="18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최소</a:t>
            </a:r>
            <a:r>
              <a:rPr sz="18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Metal1 </a:t>
            </a:r>
            <a:r>
              <a:rPr sz="18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간격</a:t>
            </a:r>
            <a:r>
              <a:rPr sz="18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b="1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규정</a:t>
            </a:r>
            <a:endParaRPr sz="1800" b="1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2346" name="Slide 5 copied left comparison heading">
            <a:extLst>
              <a:ext uri="{FF2B5EF4-FFF2-40B4-BE49-F238E27FC236}">
                <a16:creationId xmlns:a16="http://schemas.microsoft.com/office/drawing/2014/main" id="{0E0C7B23-5C1A-4DDD-B567-7D723B7A3B33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2347" name="Slide 5 copied right comparison heading">
            <a:extLst>
              <a:ext uri="{FF2B5EF4-FFF2-40B4-BE49-F238E27FC236}">
                <a16:creationId xmlns:a16="http://schemas.microsoft.com/office/drawing/2014/main" id="{10D9C630-7C4E-4D4D-A16F-D9518B20E6E9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8CC0CE-A1F7-3634-2E3D-6E2BD7ABFA70}"/>
              </a:ext>
            </a:extLst>
          </p:cNvPr>
          <p:cNvSpPr/>
          <p:nvPr/>
        </p:nvSpPr>
        <p:spPr>
          <a:xfrm>
            <a:off x="7316820" y="5233078"/>
            <a:ext cx="3714818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194064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3" name="Google Shape;2266;p89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404" name="Google Shape;2267;p89"/>
          <p:cNvGraphicFramePr/>
          <p:nvPr>
            <p:extLst>
              <p:ext uri="{D42A27DB-BD31-4B8C-83A1-F6EECF244321}">
                <p14:modId xmlns:p14="http://schemas.microsoft.com/office/powerpoint/2010/main" val="3471712766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dirty="0"/>
                        <a:t>METAL1.SP.1.2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0.18um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Metal 1 to Metal 1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68" name="Google Shape;2268;p89">
            <a:extLst>
              <a:ext uri="{FF2B5EF4-FFF2-40B4-BE49-F238E27FC236}">
                <a16:creationId xmlns:a16="http://schemas.microsoft.com/office/drawing/2014/main" id="{C4983709-5E10-4C5A-996D-536B8147C31B}"/>
              </a:ext>
            </a:extLst>
          </p:cNvPr>
          <p:cNvSpPr>
            <a:spLocks noGrp="1"/>
          </p:cNvSpPr>
          <p:nvPr/>
        </p:nvSpPr>
        <p:spPr>
          <a:xfrm>
            <a:off x="515294" y="1584982"/>
            <a:ext cx="512117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❖"/>
            </a:pPr>
            <a:r>
              <a:rPr sz="14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If one metal width &gt; 0.18 and parallel length &gt; 0.56          </a:t>
            </a:r>
          </a:p>
        </p:txBody>
      </p:sp>
      <p:sp>
        <p:nvSpPr>
          <p:cNvPr id="2269" name="Google Shape;2269;p89">
            <a:extLst>
              <a:ext uri="{FF2B5EF4-FFF2-40B4-BE49-F238E27FC236}">
                <a16:creationId xmlns:a16="http://schemas.microsoft.com/office/drawing/2014/main" id="{076437AD-72B9-415A-8203-63534389D0AC}"/>
              </a:ext>
            </a:extLst>
          </p:cNvPr>
          <p:cNvSpPr>
            <a:spLocks noGrp="1"/>
          </p:cNvSpPr>
          <p:nvPr/>
        </p:nvSpPr>
        <p:spPr>
          <a:xfrm>
            <a:off x="895221" y="1935211"/>
            <a:ext cx="442670" cy="27600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mpd="sng">
            <a:solidFill>
              <a:srgbClr val="31538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</a:p>
        </p:txBody>
      </p:sp>
      <p:sp>
        <p:nvSpPr>
          <p:cNvPr id="2270" name="Google Shape;2270;p89">
            <a:extLst>
              <a:ext uri="{FF2B5EF4-FFF2-40B4-BE49-F238E27FC236}">
                <a16:creationId xmlns:a16="http://schemas.microsoft.com/office/drawing/2014/main" id="{92BFD30B-74DC-44CE-B72B-75E09FAE22DD}"/>
              </a:ext>
            </a:extLst>
          </p:cNvPr>
          <p:cNvSpPr>
            <a:spLocks noGrp="1"/>
          </p:cNvSpPr>
          <p:nvPr/>
        </p:nvSpPr>
        <p:spPr>
          <a:xfrm>
            <a:off x="1421975" y="1888549"/>
            <a:ext cx="9980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0.18um</a:t>
            </a:r>
          </a:p>
        </p:txBody>
      </p:sp>
      <p:pic>
        <p:nvPicPr>
          <p:cNvPr id="2408" name="Google Shape;2271;p8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8472" y="3307573"/>
            <a:ext cx="3353689" cy="3213220"/>
          </a:xfrm>
          <a:prstGeom prst="rect">
            <a:avLst/>
          </a:prstGeom>
          <a:ln>
            <a:noFill/>
          </a:ln>
        </p:spPr>
      </p:pic>
      <p:cxnSp>
        <p:nvCxnSpPr>
          <p:cNvPr id="2409" name="Google Shape;2272;p89"/>
          <p:cNvCxnSpPr/>
          <p:nvPr/>
        </p:nvCxnSpPr>
        <p:spPr>
          <a:xfrm rot="10800000">
            <a:off x="2109074" y="3478160"/>
            <a:ext cx="806451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273" name="Google Shape;2273;p89">
            <a:extLst>
              <a:ext uri="{FF2B5EF4-FFF2-40B4-BE49-F238E27FC236}">
                <a16:creationId xmlns:a16="http://schemas.microsoft.com/office/drawing/2014/main" id="{8D049CBB-154E-4A80-B869-4D5F19DAD57F}"/>
              </a:ext>
            </a:extLst>
          </p:cNvPr>
          <p:cNvSpPr>
            <a:spLocks noGrp="1"/>
          </p:cNvSpPr>
          <p:nvPr/>
        </p:nvSpPr>
        <p:spPr>
          <a:xfrm>
            <a:off x="1951692" y="2938241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0.18um</a:t>
            </a:r>
          </a:p>
        </p:txBody>
      </p:sp>
      <p:sp>
        <p:nvSpPr>
          <p:cNvPr id="2274" name="Google Shape;2274;p89">
            <a:extLst>
              <a:ext uri="{FF2B5EF4-FFF2-40B4-BE49-F238E27FC236}">
                <a16:creationId xmlns:a16="http://schemas.microsoft.com/office/drawing/2014/main" id="{26307217-5D06-4964-8460-EF49235574FB}"/>
              </a:ext>
            </a:extLst>
          </p:cNvPr>
          <p:cNvSpPr>
            <a:spLocks noGrp="1"/>
          </p:cNvSpPr>
          <p:nvPr/>
        </p:nvSpPr>
        <p:spPr>
          <a:xfrm>
            <a:off x="8747554" y="4403795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0.18um</a:t>
            </a:r>
          </a:p>
        </p:txBody>
      </p:sp>
      <p:cxnSp>
        <p:nvCxnSpPr>
          <p:cNvPr id="2412" name="Google Shape;2275;p89"/>
          <p:cNvCxnSpPr/>
          <p:nvPr/>
        </p:nvCxnSpPr>
        <p:spPr>
          <a:xfrm>
            <a:off x="8801478" y="4797799"/>
            <a:ext cx="757230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276" name="Google Shape;2276;p89">
            <a:extLst>
              <a:ext uri="{FF2B5EF4-FFF2-40B4-BE49-F238E27FC236}">
                <a16:creationId xmlns:a16="http://schemas.microsoft.com/office/drawing/2014/main" id="{42EBD805-E9A2-4C76-BFE7-2A1EB30A542D}"/>
              </a:ext>
            </a:extLst>
          </p:cNvPr>
          <p:cNvSpPr>
            <a:spLocks noGrp="1"/>
          </p:cNvSpPr>
          <p:nvPr/>
        </p:nvSpPr>
        <p:spPr>
          <a:xfrm>
            <a:off x="6389345" y="3054201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pic>
        <p:nvPicPr>
          <p:cNvPr id="2414" name="Google Shape;2277;p8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99928" y="1859115"/>
            <a:ext cx="3713691" cy="2075344"/>
          </a:xfrm>
          <a:prstGeom prst="rect">
            <a:avLst/>
          </a:prstGeom>
          <a:ln>
            <a:noFill/>
          </a:ln>
        </p:spPr>
      </p:pic>
      <p:cxnSp>
        <p:nvCxnSpPr>
          <p:cNvPr id="2415" name="Google Shape;2278;p89"/>
          <p:cNvCxnSpPr/>
          <p:nvPr/>
        </p:nvCxnSpPr>
        <p:spPr>
          <a:xfrm>
            <a:off x="6782010" y="3236044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279" name="Google Shape;2279;p89">
            <a:extLst>
              <a:ext uri="{FF2B5EF4-FFF2-40B4-BE49-F238E27FC236}">
                <a16:creationId xmlns:a16="http://schemas.microsoft.com/office/drawing/2014/main" id="{2452F6A1-4B1C-4B6F-9165-2F2001412003}"/>
              </a:ext>
            </a:extLst>
          </p:cNvPr>
          <p:cNvSpPr>
            <a:spLocks noGrp="1"/>
          </p:cNvSpPr>
          <p:nvPr/>
        </p:nvSpPr>
        <p:spPr>
          <a:xfrm>
            <a:off x="7399927" y="5922577"/>
            <a:ext cx="3718585" cy="754436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2280" name="Google Shape;2280;p89">
            <a:extLst>
              <a:ext uri="{FF2B5EF4-FFF2-40B4-BE49-F238E27FC236}">
                <a16:creationId xmlns:a16="http://schemas.microsoft.com/office/drawing/2014/main" id="{EE9F6B52-CBBF-4B6B-9D4E-28830A72B68B}"/>
              </a:ext>
            </a:extLst>
          </p:cNvPr>
          <p:cNvSpPr>
            <a:spLocks noGrp="1"/>
          </p:cNvSpPr>
          <p:nvPr/>
        </p:nvSpPr>
        <p:spPr>
          <a:xfrm>
            <a:off x="7406235" y="5591714"/>
            <a:ext cx="3713956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2281" name="Google Shape;2281;p89">
            <a:extLst>
              <a:ext uri="{FF2B5EF4-FFF2-40B4-BE49-F238E27FC236}">
                <a16:creationId xmlns:a16="http://schemas.microsoft.com/office/drawing/2014/main" id="{F82335DE-C343-4EC3-9827-A511D8CBB511}"/>
              </a:ext>
            </a:extLst>
          </p:cNvPr>
          <p:cNvSpPr>
            <a:spLocks noGrp="1"/>
          </p:cNvSpPr>
          <p:nvPr/>
        </p:nvSpPr>
        <p:spPr>
          <a:xfrm>
            <a:off x="7402398" y="5295357"/>
            <a:ext cx="3716113" cy="3308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ILD</a:t>
            </a:r>
          </a:p>
        </p:txBody>
      </p:sp>
      <p:cxnSp>
        <p:nvCxnSpPr>
          <p:cNvPr id="2419" name="Google Shape;2282;p89"/>
          <p:cNvCxnSpPr/>
          <p:nvPr/>
        </p:nvCxnSpPr>
        <p:spPr>
          <a:xfrm>
            <a:off x="7678249" y="3232390"/>
            <a:ext cx="7381" cy="202622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420" name="Google Shape;2283;p89"/>
          <p:cNvCxnSpPr/>
          <p:nvPr/>
        </p:nvCxnSpPr>
        <p:spPr>
          <a:xfrm flipH="1">
            <a:off x="8697346" y="3252383"/>
            <a:ext cx="15759" cy="200623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421" name="Google Shape;2284;p89"/>
          <p:cNvCxnSpPr/>
          <p:nvPr/>
        </p:nvCxnSpPr>
        <p:spPr>
          <a:xfrm flipH="1">
            <a:off x="9650938" y="3232390"/>
            <a:ext cx="1" cy="202622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422" name="Google Shape;2285;p89"/>
          <p:cNvCxnSpPr/>
          <p:nvPr/>
        </p:nvCxnSpPr>
        <p:spPr>
          <a:xfrm>
            <a:off x="10666940" y="3232390"/>
            <a:ext cx="12282" cy="202622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286" name="Google Shape;2286;p89">
            <a:extLst>
              <a:ext uri="{FF2B5EF4-FFF2-40B4-BE49-F238E27FC236}">
                <a16:creationId xmlns:a16="http://schemas.microsoft.com/office/drawing/2014/main" id="{12F9F92D-169D-444C-B9BF-7A5C9D7D0B30}"/>
              </a:ext>
            </a:extLst>
          </p:cNvPr>
          <p:cNvSpPr>
            <a:spLocks noGrp="1"/>
          </p:cNvSpPr>
          <p:nvPr/>
        </p:nvSpPr>
        <p:spPr>
          <a:xfrm>
            <a:off x="7696036" y="4951500"/>
            <a:ext cx="1005595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METAL</a:t>
            </a:r>
          </a:p>
        </p:txBody>
      </p:sp>
      <p:sp>
        <p:nvSpPr>
          <p:cNvPr id="2287" name="Google Shape;2287;p89">
            <a:extLst>
              <a:ext uri="{FF2B5EF4-FFF2-40B4-BE49-F238E27FC236}">
                <a16:creationId xmlns:a16="http://schemas.microsoft.com/office/drawing/2014/main" id="{67617AD1-2A74-4FB3-B17D-5BF0F0CC9C9F}"/>
              </a:ext>
            </a:extLst>
          </p:cNvPr>
          <p:cNvSpPr>
            <a:spLocks noGrp="1"/>
          </p:cNvSpPr>
          <p:nvPr/>
        </p:nvSpPr>
        <p:spPr>
          <a:xfrm>
            <a:off x="9658735" y="4940138"/>
            <a:ext cx="1005595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METAL</a:t>
            </a:r>
          </a:p>
        </p:txBody>
      </p:sp>
      <p:cxnSp>
        <p:nvCxnSpPr>
          <p:cNvPr id="2425" name="Google Shape;2288;p89"/>
          <p:cNvCxnSpPr/>
          <p:nvPr/>
        </p:nvCxnSpPr>
        <p:spPr>
          <a:xfrm rot="10800000">
            <a:off x="1091600" y="3475068"/>
            <a:ext cx="0" cy="2828825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289" name="Google Shape;2289;p89">
            <a:extLst>
              <a:ext uri="{FF2B5EF4-FFF2-40B4-BE49-F238E27FC236}">
                <a16:creationId xmlns:a16="http://schemas.microsoft.com/office/drawing/2014/main" id="{03ECAE31-8DB3-4B14-8B93-5D7FAA805A84}"/>
              </a:ext>
            </a:extLst>
          </p:cNvPr>
          <p:cNvSpPr>
            <a:spLocks noGrp="1"/>
          </p:cNvSpPr>
          <p:nvPr/>
        </p:nvSpPr>
        <p:spPr>
          <a:xfrm>
            <a:off x="-26719" y="4557683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0.56um</a:t>
            </a:r>
          </a:p>
        </p:txBody>
      </p:sp>
      <p:sp>
        <p:nvSpPr>
          <p:cNvPr id="2290" name="Google Shape;2290;p89">
            <a:extLst>
              <a:ext uri="{FF2B5EF4-FFF2-40B4-BE49-F238E27FC236}">
                <a16:creationId xmlns:a16="http://schemas.microsoft.com/office/drawing/2014/main" id="{CAF76296-8F1B-48DE-86F2-BF1E7C3FECB5}"/>
              </a:ext>
            </a:extLst>
          </p:cNvPr>
          <p:cNvSpPr>
            <a:spLocks noGrp="1"/>
          </p:cNvSpPr>
          <p:nvPr/>
        </p:nvSpPr>
        <p:spPr>
          <a:xfrm>
            <a:off x="7742739" y="4401814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0.18um</a:t>
            </a:r>
          </a:p>
        </p:txBody>
      </p:sp>
      <p:cxnSp>
        <p:nvCxnSpPr>
          <p:cNvPr id="2428" name="Google Shape;2291;p89"/>
          <p:cNvCxnSpPr/>
          <p:nvPr/>
        </p:nvCxnSpPr>
        <p:spPr>
          <a:xfrm>
            <a:off x="7796663" y="4795818"/>
            <a:ext cx="757230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292" name="Google Shape;2292;p89">
            <a:extLst>
              <a:ext uri="{FF2B5EF4-FFF2-40B4-BE49-F238E27FC236}">
                <a16:creationId xmlns:a16="http://schemas.microsoft.com/office/drawing/2014/main" id="{60BE5FAF-C768-483A-B369-80500880EC6E}"/>
              </a:ext>
            </a:extLst>
          </p:cNvPr>
          <p:cNvSpPr>
            <a:spLocks noGrp="1"/>
          </p:cNvSpPr>
          <p:nvPr/>
        </p:nvSpPr>
        <p:spPr>
          <a:xfrm>
            <a:off x="9743169" y="4405810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0.18um</a:t>
            </a:r>
          </a:p>
        </p:txBody>
      </p:sp>
      <p:cxnSp>
        <p:nvCxnSpPr>
          <p:cNvPr id="2430" name="Google Shape;2293;p89"/>
          <p:cNvCxnSpPr/>
          <p:nvPr/>
        </p:nvCxnSpPr>
        <p:spPr>
          <a:xfrm>
            <a:off x="9797093" y="4799814"/>
            <a:ext cx="757230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294" name="Google Shape;2294;p89">
            <a:extLst>
              <a:ext uri="{FF2B5EF4-FFF2-40B4-BE49-F238E27FC236}">
                <a16:creationId xmlns:a16="http://schemas.microsoft.com/office/drawing/2014/main" id="{9AE0188B-12EC-475E-B9B4-6A6203797966}"/>
              </a:ext>
            </a:extLst>
          </p:cNvPr>
          <p:cNvSpPr>
            <a:spLocks noGrp="1"/>
          </p:cNvSpPr>
          <p:nvPr/>
        </p:nvSpPr>
        <p:spPr>
          <a:xfrm>
            <a:off x="515294" y="2336009"/>
            <a:ext cx="445011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공정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안정성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및 Crosstalk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감소를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최소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Metal1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간격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규정</a:t>
            </a:r>
            <a:endParaRPr sz="18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2400" name="Slide 5 copied left comparison heading">
            <a:extLst>
              <a:ext uri="{FF2B5EF4-FFF2-40B4-BE49-F238E27FC236}">
                <a16:creationId xmlns:a16="http://schemas.microsoft.com/office/drawing/2014/main" id="{1805C046-0633-44CF-877E-9D1692B6CCDD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2401" name="Slide 5 copied right comparison heading">
            <a:extLst>
              <a:ext uri="{FF2B5EF4-FFF2-40B4-BE49-F238E27FC236}">
                <a16:creationId xmlns:a16="http://schemas.microsoft.com/office/drawing/2014/main" id="{B4EA52A3-5D01-4981-A4AA-3A3BA6483A60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2A5C644-FF89-3E2A-5EA6-D43B5484DFF9}"/>
              </a:ext>
            </a:extLst>
          </p:cNvPr>
          <p:cNvSpPr/>
          <p:nvPr/>
        </p:nvSpPr>
        <p:spPr>
          <a:xfrm>
            <a:off x="7398801" y="5291361"/>
            <a:ext cx="3714818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637988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5" name="Google Shape;2299;p9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9689" y="1783985"/>
            <a:ext cx="4517440" cy="2149918"/>
          </a:xfrm>
          <a:prstGeom prst="rect">
            <a:avLst/>
          </a:prstGeom>
          <a:ln>
            <a:noFill/>
          </a:ln>
        </p:spPr>
      </p:pic>
      <p:cxnSp>
        <p:nvCxnSpPr>
          <p:cNvPr id="2417" name="Google Shape;2303;p90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418" name="Google Shape;2304;p90"/>
          <p:cNvGraphicFramePr/>
          <p:nvPr>
            <p:extLst>
              <p:ext uri="{D42A27DB-BD31-4B8C-83A1-F6EECF244321}">
                <p14:modId xmlns:p14="http://schemas.microsoft.com/office/powerpoint/2010/main" val="1720442920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dirty="0"/>
                        <a:t>METAL1.SP.1.3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0.50um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Metal 1 to Metal 1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05" name="Google Shape;2305;p90">
            <a:extLst>
              <a:ext uri="{FF2B5EF4-FFF2-40B4-BE49-F238E27FC236}">
                <a16:creationId xmlns:a16="http://schemas.microsoft.com/office/drawing/2014/main" id="{657A4D46-7D11-45A3-817A-B5E8797D31D8}"/>
              </a:ext>
            </a:extLst>
          </p:cNvPr>
          <p:cNvSpPr>
            <a:spLocks noGrp="1"/>
          </p:cNvSpPr>
          <p:nvPr/>
        </p:nvSpPr>
        <p:spPr>
          <a:xfrm>
            <a:off x="451092" y="1561541"/>
            <a:ext cx="512117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❖"/>
            </a:pPr>
            <a:r>
              <a:rPr sz="14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If one metal width &gt; 1.5 and parallel length &gt; 1.5          </a:t>
            </a:r>
          </a:p>
        </p:txBody>
      </p:sp>
      <p:sp>
        <p:nvSpPr>
          <p:cNvPr id="2306" name="Google Shape;2306;p90">
            <a:extLst>
              <a:ext uri="{FF2B5EF4-FFF2-40B4-BE49-F238E27FC236}">
                <a16:creationId xmlns:a16="http://schemas.microsoft.com/office/drawing/2014/main" id="{D6391665-12A8-4AAB-835C-B00C64F32629}"/>
              </a:ext>
            </a:extLst>
          </p:cNvPr>
          <p:cNvSpPr>
            <a:spLocks noGrp="1"/>
          </p:cNvSpPr>
          <p:nvPr/>
        </p:nvSpPr>
        <p:spPr>
          <a:xfrm>
            <a:off x="811442" y="1899989"/>
            <a:ext cx="442670" cy="27600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mpd="sng">
            <a:solidFill>
              <a:srgbClr val="31538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</a:p>
        </p:txBody>
      </p:sp>
      <p:sp>
        <p:nvSpPr>
          <p:cNvPr id="2307" name="Google Shape;2307;p90">
            <a:extLst>
              <a:ext uri="{FF2B5EF4-FFF2-40B4-BE49-F238E27FC236}">
                <a16:creationId xmlns:a16="http://schemas.microsoft.com/office/drawing/2014/main" id="{05C9955B-2AA9-4DDA-B857-D35069F41365}"/>
              </a:ext>
            </a:extLst>
          </p:cNvPr>
          <p:cNvSpPr>
            <a:spLocks noGrp="1"/>
          </p:cNvSpPr>
          <p:nvPr/>
        </p:nvSpPr>
        <p:spPr>
          <a:xfrm>
            <a:off x="1338196" y="1853327"/>
            <a:ext cx="9980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0.50um</a:t>
            </a:r>
          </a:p>
        </p:txBody>
      </p:sp>
      <p:sp>
        <p:nvSpPr>
          <p:cNvPr id="2308" name="Google Shape;2308;p90">
            <a:extLst>
              <a:ext uri="{FF2B5EF4-FFF2-40B4-BE49-F238E27FC236}">
                <a16:creationId xmlns:a16="http://schemas.microsoft.com/office/drawing/2014/main" id="{5DE32D69-1141-4D70-965D-9899F37E0619}"/>
              </a:ext>
            </a:extLst>
          </p:cNvPr>
          <p:cNvSpPr>
            <a:spLocks noGrp="1"/>
          </p:cNvSpPr>
          <p:nvPr/>
        </p:nvSpPr>
        <p:spPr>
          <a:xfrm>
            <a:off x="7412804" y="5260841"/>
            <a:ext cx="3711221" cy="33086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09" name="Google Shape;2309;p90">
            <a:extLst>
              <a:ext uri="{FF2B5EF4-FFF2-40B4-BE49-F238E27FC236}">
                <a16:creationId xmlns:a16="http://schemas.microsoft.com/office/drawing/2014/main" id="{D8B69DCF-D166-408A-9E37-8767CC60C76E}"/>
              </a:ext>
            </a:extLst>
          </p:cNvPr>
          <p:cNvSpPr>
            <a:spLocks noGrp="1"/>
          </p:cNvSpPr>
          <p:nvPr/>
        </p:nvSpPr>
        <p:spPr>
          <a:xfrm>
            <a:off x="9017200" y="4402550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0.50um</a:t>
            </a:r>
          </a:p>
        </p:txBody>
      </p:sp>
      <p:cxnSp>
        <p:nvCxnSpPr>
          <p:cNvPr id="2424" name="Google Shape;2310;p90"/>
          <p:cNvCxnSpPr/>
          <p:nvPr/>
        </p:nvCxnSpPr>
        <p:spPr>
          <a:xfrm>
            <a:off x="9083448" y="4797799"/>
            <a:ext cx="635576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311" name="Google Shape;2311;p90">
            <a:extLst>
              <a:ext uri="{FF2B5EF4-FFF2-40B4-BE49-F238E27FC236}">
                <a16:creationId xmlns:a16="http://schemas.microsoft.com/office/drawing/2014/main" id="{8E104DC4-D227-4F84-A46F-345F850B61C5}"/>
              </a:ext>
            </a:extLst>
          </p:cNvPr>
          <p:cNvSpPr>
            <a:spLocks noGrp="1"/>
          </p:cNvSpPr>
          <p:nvPr/>
        </p:nvSpPr>
        <p:spPr>
          <a:xfrm>
            <a:off x="6389345" y="3054201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cxnSp>
        <p:nvCxnSpPr>
          <p:cNvPr id="2426" name="Google Shape;2312;p90"/>
          <p:cNvCxnSpPr/>
          <p:nvPr/>
        </p:nvCxnSpPr>
        <p:spPr>
          <a:xfrm>
            <a:off x="6782010" y="3236044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313" name="Google Shape;2313;p90">
            <a:extLst>
              <a:ext uri="{FF2B5EF4-FFF2-40B4-BE49-F238E27FC236}">
                <a16:creationId xmlns:a16="http://schemas.microsoft.com/office/drawing/2014/main" id="{C649C518-250E-4724-8A5A-F715727AD712}"/>
              </a:ext>
            </a:extLst>
          </p:cNvPr>
          <p:cNvSpPr>
            <a:spLocks noGrp="1"/>
          </p:cNvSpPr>
          <p:nvPr/>
        </p:nvSpPr>
        <p:spPr>
          <a:xfrm>
            <a:off x="7184043" y="5922572"/>
            <a:ext cx="4469460" cy="754436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sp>
        <p:nvSpPr>
          <p:cNvPr id="2314" name="Google Shape;2314;p90">
            <a:extLst>
              <a:ext uri="{FF2B5EF4-FFF2-40B4-BE49-F238E27FC236}">
                <a16:creationId xmlns:a16="http://schemas.microsoft.com/office/drawing/2014/main" id="{313FF882-2E26-4E21-B9E0-3FADE7F70D75}"/>
              </a:ext>
            </a:extLst>
          </p:cNvPr>
          <p:cNvSpPr>
            <a:spLocks noGrp="1"/>
          </p:cNvSpPr>
          <p:nvPr/>
        </p:nvSpPr>
        <p:spPr>
          <a:xfrm>
            <a:off x="7190619" y="5591709"/>
            <a:ext cx="4463896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2315" name="Google Shape;2315;p90">
            <a:extLst>
              <a:ext uri="{FF2B5EF4-FFF2-40B4-BE49-F238E27FC236}">
                <a16:creationId xmlns:a16="http://schemas.microsoft.com/office/drawing/2014/main" id="{EA610C98-C943-4445-BDB7-B6B244772559}"/>
              </a:ext>
            </a:extLst>
          </p:cNvPr>
          <p:cNvSpPr>
            <a:spLocks noGrp="1"/>
          </p:cNvSpPr>
          <p:nvPr/>
        </p:nvSpPr>
        <p:spPr>
          <a:xfrm>
            <a:off x="7183686" y="5259728"/>
            <a:ext cx="4469460" cy="3308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ILD</a:t>
            </a:r>
          </a:p>
        </p:txBody>
      </p:sp>
      <p:cxnSp>
        <p:nvCxnSpPr>
          <p:cNvPr id="2430" name="Google Shape;2316;p90"/>
          <p:cNvCxnSpPr/>
          <p:nvPr/>
        </p:nvCxnSpPr>
        <p:spPr>
          <a:xfrm flipH="1">
            <a:off x="9093885" y="3238867"/>
            <a:ext cx="9191" cy="209437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431" name="Google Shape;2317;p90"/>
          <p:cNvCxnSpPr/>
          <p:nvPr/>
        </p:nvCxnSpPr>
        <p:spPr>
          <a:xfrm flipH="1">
            <a:off x="9692503" y="3232390"/>
            <a:ext cx="1" cy="202622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318" name="Google Shape;2318;p90">
            <a:extLst>
              <a:ext uri="{FF2B5EF4-FFF2-40B4-BE49-F238E27FC236}">
                <a16:creationId xmlns:a16="http://schemas.microsoft.com/office/drawing/2014/main" id="{1D0DA43B-689B-48A4-885D-27AF0B5BB98B}"/>
              </a:ext>
            </a:extLst>
          </p:cNvPr>
          <p:cNvSpPr>
            <a:spLocks noGrp="1"/>
          </p:cNvSpPr>
          <p:nvPr/>
        </p:nvSpPr>
        <p:spPr>
          <a:xfrm>
            <a:off x="7253322" y="4927748"/>
            <a:ext cx="1830126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METAL</a:t>
            </a:r>
          </a:p>
        </p:txBody>
      </p:sp>
      <p:sp>
        <p:nvSpPr>
          <p:cNvPr id="2319" name="Google Shape;2319;p90">
            <a:extLst>
              <a:ext uri="{FF2B5EF4-FFF2-40B4-BE49-F238E27FC236}">
                <a16:creationId xmlns:a16="http://schemas.microsoft.com/office/drawing/2014/main" id="{11DBAB43-654E-4EC3-87B2-FCA244983651}"/>
              </a:ext>
            </a:extLst>
          </p:cNvPr>
          <p:cNvSpPr>
            <a:spLocks noGrp="1"/>
          </p:cNvSpPr>
          <p:nvPr/>
        </p:nvSpPr>
        <p:spPr>
          <a:xfrm>
            <a:off x="9702941" y="4922324"/>
            <a:ext cx="1819511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METAL</a:t>
            </a:r>
          </a:p>
        </p:txBody>
      </p:sp>
      <p:pic>
        <p:nvPicPr>
          <p:cNvPr id="2434" name="Google Shape;2320;p9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3751" y="4029111"/>
            <a:ext cx="4943475" cy="2352675"/>
          </a:xfrm>
          <a:prstGeom prst="rect">
            <a:avLst/>
          </a:prstGeom>
          <a:ln>
            <a:noFill/>
          </a:ln>
        </p:spPr>
      </p:pic>
      <p:cxnSp>
        <p:nvCxnSpPr>
          <p:cNvPr id="2435" name="Google Shape;2321;p90"/>
          <p:cNvCxnSpPr/>
          <p:nvPr/>
        </p:nvCxnSpPr>
        <p:spPr>
          <a:xfrm rot="10800000">
            <a:off x="2659381" y="5034946"/>
            <a:ext cx="662843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322" name="Google Shape;2322;p90">
            <a:extLst>
              <a:ext uri="{FF2B5EF4-FFF2-40B4-BE49-F238E27FC236}">
                <a16:creationId xmlns:a16="http://schemas.microsoft.com/office/drawing/2014/main" id="{5B294C83-EDED-43F3-91B3-142E79AC227B}"/>
              </a:ext>
            </a:extLst>
          </p:cNvPr>
          <p:cNvSpPr>
            <a:spLocks noGrp="1"/>
          </p:cNvSpPr>
          <p:nvPr/>
        </p:nvSpPr>
        <p:spPr>
          <a:xfrm>
            <a:off x="2568044" y="4613133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0.50um</a:t>
            </a:r>
          </a:p>
        </p:txBody>
      </p:sp>
      <p:cxnSp>
        <p:nvCxnSpPr>
          <p:cNvPr id="2437" name="Google Shape;2323;p90"/>
          <p:cNvCxnSpPr/>
          <p:nvPr/>
        </p:nvCxnSpPr>
        <p:spPr>
          <a:xfrm rot="10800000">
            <a:off x="3348964" y="5523699"/>
            <a:ext cx="1962377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324" name="Google Shape;2324;p90">
            <a:extLst>
              <a:ext uri="{FF2B5EF4-FFF2-40B4-BE49-F238E27FC236}">
                <a16:creationId xmlns:a16="http://schemas.microsoft.com/office/drawing/2014/main" id="{B7539D36-C4E9-4320-BDEB-B88A5B221263}"/>
              </a:ext>
            </a:extLst>
          </p:cNvPr>
          <p:cNvSpPr>
            <a:spLocks noGrp="1"/>
          </p:cNvSpPr>
          <p:nvPr/>
        </p:nvSpPr>
        <p:spPr>
          <a:xfrm>
            <a:off x="3808519" y="5101886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1.5um</a:t>
            </a:r>
          </a:p>
        </p:txBody>
      </p:sp>
      <p:sp>
        <p:nvSpPr>
          <p:cNvPr id="2325" name="Google Shape;2325;p90">
            <a:extLst>
              <a:ext uri="{FF2B5EF4-FFF2-40B4-BE49-F238E27FC236}">
                <a16:creationId xmlns:a16="http://schemas.microsoft.com/office/drawing/2014/main" id="{04F22D04-2716-4E4A-ACE4-8823027E5C62}"/>
              </a:ext>
            </a:extLst>
          </p:cNvPr>
          <p:cNvSpPr>
            <a:spLocks noGrp="1"/>
          </p:cNvSpPr>
          <p:nvPr/>
        </p:nvSpPr>
        <p:spPr>
          <a:xfrm>
            <a:off x="518587" y="2410552"/>
            <a:ext cx="6096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폭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증가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→ Bridge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위험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증가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평행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길이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증가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→ Short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위험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증가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평행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길이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증가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→ Crosstalk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증가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2413" name="Slide 5 copied left comparison heading">
            <a:extLst>
              <a:ext uri="{FF2B5EF4-FFF2-40B4-BE49-F238E27FC236}">
                <a16:creationId xmlns:a16="http://schemas.microsoft.com/office/drawing/2014/main" id="{5C005EBF-705D-4843-8C32-1C6DD8340AEA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2414" name="Slide 5 copied right comparison heading">
            <a:extLst>
              <a:ext uri="{FF2B5EF4-FFF2-40B4-BE49-F238E27FC236}">
                <a16:creationId xmlns:a16="http://schemas.microsoft.com/office/drawing/2014/main" id="{B43A6B6C-55CD-4ED1-AC95-97F0D255F7BF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32137362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5" name="Google Shape;2333;p91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436" name="Google Shape;2334;p91"/>
          <p:cNvGraphicFramePr/>
          <p:nvPr>
            <p:extLst>
              <p:ext uri="{D42A27DB-BD31-4B8C-83A1-F6EECF244321}">
                <p14:modId xmlns:p14="http://schemas.microsoft.com/office/powerpoint/2010/main" val="3654848480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dirty="0"/>
                        <a:t>METAL1.SP.1.4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0.90um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Metal 1 to Metal 1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35" name="Google Shape;2335;p91">
            <a:extLst>
              <a:ext uri="{FF2B5EF4-FFF2-40B4-BE49-F238E27FC236}">
                <a16:creationId xmlns:a16="http://schemas.microsoft.com/office/drawing/2014/main" id="{A02BB80F-F359-479B-A135-211567663595}"/>
              </a:ext>
            </a:extLst>
          </p:cNvPr>
          <p:cNvSpPr>
            <a:spLocks noGrp="1"/>
          </p:cNvSpPr>
          <p:nvPr/>
        </p:nvSpPr>
        <p:spPr>
          <a:xfrm>
            <a:off x="609935" y="1555721"/>
            <a:ext cx="512117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❖"/>
            </a:pPr>
            <a:r>
              <a:rPr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If one metal width &gt; 3.0 and parallel length &gt; 3.0          </a:t>
            </a:r>
          </a:p>
        </p:txBody>
      </p:sp>
      <p:sp>
        <p:nvSpPr>
          <p:cNvPr id="2336" name="Google Shape;2336;p91">
            <a:extLst>
              <a:ext uri="{FF2B5EF4-FFF2-40B4-BE49-F238E27FC236}">
                <a16:creationId xmlns:a16="http://schemas.microsoft.com/office/drawing/2014/main" id="{E02B445B-5411-4956-B84E-F4274913D075}"/>
              </a:ext>
            </a:extLst>
          </p:cNvPr>
          <p:cNvSpPr>
            <a:spLocks noGrp="1"/>
          </p:cNvSpPr>
          <p:nvPr/>
        </p:nvSpPr>
        <p:spPr>
          <a:xfrm>
            <a:off x="970285" y="1902328"/>
            <a:ext cx="442670" cy="27600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mpd="sng">
            <a:solidFill>
              <a:srgbClr val="31538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 </a:t>
            </a:r>
          </a:p>
        </p:txBody>
      </p:sp>
      <p:sp>
        <p:nvSpPr>
          <p:cNvPr id="2337" name="Google Shape;2337;p91">
            <a:extLst>
              <a:ext uri="{FF2B5EF4-FFF2-40B4-BE49-F238E27FC236}">
                <a16:creationId xmlns:a16="http://schemas.microsoft.com/office/drawing/2014/main" id="{645CDEA2-AA5F-4D75-A131-F9BBBCEBE696}"/>
              </a:ext>
            </a:extLst>
          </p:cNvPr>
          <p:cNvSpPr>
            <a:spLocks noGrp="1"/>
          </p:cNvSpPr>
          <p:nvPr/>
        </p:nvSpPr>
        <p:spPr>
          <a:xfrm>
            <a:off x="1497039" y="1855666"/>
            <a:ext cx="9980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0.90um</a:t>
            </a:r>
          </a:p>
        </p:txBody>
      </p:sp>
      <p:pic>
        <p:nvPicPr>
          <p:cNvPr id="2440" name="Google Shape;2338;p9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776" y="3586405"/>
            <a:ext cx="5044494" cy="2469800"/>
          </a:xfrm>
          <a:prstGeom prst="rect">
            <a:avLst/>
          </a:prstGeom>
          <a:ln>
            <a:noFill/>
          </a:ln>
        </p:spPr>
      </p:pic>
      <p:cxnSp>
        <p:nvCxnSpPr>
          <p:cNvPr id="2441" name="Google Shape;2339;p91"/>
          <p:cNvCxnSpPr/>
          <p:nvPr/>
        </p:nvCxnSpPr>
        <p:spPr>
          <a:xfrm rot="10800000">
            <a:off x="2831187" y="4017891"/>
            <a:ext cx="645717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340" name="Google Shape;2340;p91">
            <a:extLst>
              <a:ext uri="{FF2B5EF4-FFF2-40B4-BE49-F238E27FC236}">
                <a16:creationId xmlns:a16="http://schemas.microsoft.com/office/drawing/2014/main" id="{44F350FB-FDC6-4215-864D-A998FA8CFC40}"/>
              </a:ext>
            </a:extLst>
          </p:cNvPr>
          <p:cNvSpPr>
            <a:spLocks noGrp="1"/>
          </p:cNvSpPr>
          <p:nvPr/>
        </p:nvSpPr>
        <p:spPr>
          <a:xfrm>
            <a:off x="2766327" y="3609096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0.9um</a:t>
            </a:r>
          </a:p>
        </p:txBody>
      </p:sp>
      <p:sp>
        <p:nvSpPr>
          <p:cNvPr id="2341" name="Google Shape;2341;p91">
            <a:extLst>
              <a:ext uri="{FF2B5EF4-FFF2-40B4-BE49-F238E27FC236}">
                <a16:creationId xmlns:a16="http://schemas.microsoft.com/office/drawing/2014/main" id="{C736D5B0-9591-4589-9B83-4B891111CF2E}"/>
              </a:ext>
            </a:extLst>
          </p:cNvPr>
          <p:cNvSpPr>
            <a:spLocks noGrp="1"/>
          </p:cNvSpPr>
          <p:nvPr/>
        </p:nvSpPr>
        <p:spPr>
          <a:xfrm>
            <a:off x="8985775" y="4482751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0.9um</a:t>
            </a:r>
          </a:p>
        </p:txBody>
      </p:sp>
      <p:sp>
        <p:nvSpPr>
          <p:cNvPr id="2342" name="Google Shape;2342;p91">
            <a:extLst>
              <a:ext uri="{FF2B5EF4-FFF2-40B4-BE49-F238E27FC236}">
                <a16:creationId xmlns:a16="http://schemas.microsoft.com/office/drawing/2014/main" id="{2E744F57-C0D3-496D-BC88-940FD80F9E57}"/>
              </a:ext>
            </a:extLst>
          </p:cNvPr>
          <p:cNvSpPr>
            <a:spLocks noGrp="1"/>
          </p:cNvSpPr>
          <p:nvPr/>
        </p:nvSpPr>
        <p:spPr>
          <a:xfrm>
            <a:off x="6491053" y="297941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sp>
        <p:nvSpPr>
          <p:cNvPr id="2343" name="Google Shape;2343;p91">
            <a:extLst>
              <a:ext uri="{FF2B5EF4-FFF2-40B4-BE49-F238E27FC236}">
                <a16:creationId xmlns:a16="http://schemas.microsoft.com/office/drawing/2014/main" id="{D1119F11-30A8-481F-8C36-A5DDF9385E3F}"/>
              </a:ext>
            </a:extLst>
          </p:cNvPr>
          <p:cNvSpPr>
            <a:spLocks noGrp="1"/>
          </p:cNvSpPr>
          <p:nvPr/>
        </p:nvSpPr>
        <p:spPr>
          <a:xfrm>
            <a:off x="9998700" y="4855185"/>
            <a:ext cx="984346" cy="3308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6" name="Google Shape;2344;p9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3206" y="1919756"/>
            <a:ext cx="3702121" cy="1914989"/>
          </a:xfrm>
          <a:prstGeom prst="rect">
            <a:avLst/>
          </a:prstGeom>
          <a:ln>
            <a:noFill/>
          </a:ln>
        </p:spPr>
      </p:pic>
      <p:cxnSp>
        <p:nvCxnSpPr>
          <p:cNvPr id="2447" name="Google Shape;2345;p91"/>
          <p:cNvCxnSpPr/>
          <p:nvPr/>
        </p:nvCxnSpPr>
        <p:spPr>
          <a:xfrm>
            <a:off x="6883718" y="3161256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346" name="Google Shape;2346;p91">
            <a:extLst>
              <a:ext uri="{FF2B5EF4-FFF2-40B4-BE49-F238E27FC236}">
                <a16:creationId xmlns:a16="http://schemas.microsoft.com/office/drawing/2014/main" id="{140DF8A8-2983-4F15-A738-71E182CAE42E}"/>
              </a:ext>
            </a:extLst>
          </p:cNvPr>
          <p:cNvSpPr>
            <a:spLocks noGrp="1"/>
          </p:cNvSpPr>
          <p:nvPr/>
        </p:nvSpPr>
        <p:spPr>
          <a:xfrm>
            <a:off x="7502636" y="5516687"/>
            <a:ext cx="3701733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2347" name="Google Shape;2347;p91">
            <a:extLst>
              <a:ext uri="{FF2B5EF4-FFF2-40B4-BE49-F238E27FC236}">
                <a16:creationId xmlns:a16="http://schemas.microsoft.com/office/drawing/2014/main" id="{1F475868-8B57-4448-8B7F-DC8D0F458F03}"/>
              </a:ext>
            </a:extLst>
          </p:cNvPr>
          <p:cNvSpPr>
            <a:spLocks noGrp="1"/>
          </p:cNvSpPr>
          <p:nvPr/>
        </p:nvSpPr>
        <p:spPr>
          <a:xfrm>
            <a:off x="7504111" y="5847789"/>
            <a:ext cx="3708202" cy="754436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2348" name="Google Shape;2348;p91">
            <a:extLst>
              <a:ext uri="{FF2B5EF4-FFF2-40B4-BE49-F238E27FC236}">
                <a16:creationId xmlns:a16="http://schemas.microsoft.com/office/drawing/2014/main" id="{152C53ED-B904-44BA-BB60-EBAB980E3A8A}"/>
              </a:ext>
            </a:extLst>
          </p:cNvPr>
          <p:cNvSpPr>
            <a:spLocks noGrp="1"/>
          </p:cNvSpPr>
          <p:nvPr/>
        </p:nvSpPr>
        <p:spPr>
          <a:xfrm>
            <a:off x="7497358" y="5240032"/>
            <a:ext cx="3714949" cy="3308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ILD</a:t>
            </a:r>
          </a:p>
        </p:txBody>
      </p:sp>
      <p:cxnSp>
        <p:nvCxnSpPr>
          <p:cNvPr id="2451" name="Google Shape;2349;p91"/>
          <p:cNvCxnSpPr/>
          <p:nvPr/>
        </p:nvCxnSpPr>
        <p:spPr>
          <a:xfrm>
            <a:off x="9133722" y="3089917"/>
            <a:ext cx="0" cy="209152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452" name="Google Shape;2350;p91"/>
          <p:cNvCxnSpPr/>
          <p:nvPr/>
        </p:nvCxnSpPr>
        <p:spPr>
          <a:xfrm>
            <a:off x="9571219" y="3161256"/>
            <a:ext cx="0" cy="202019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453" name="Google Shape;2351;p91"/>
          <p:cNvCxnSpPr/>
          <p:nvPr/>
        </p:nvCxnSpPr>
        <p:spPr>
          <a:xfrm>
            <a:off x="9133722" y="4991536"/>
            <a:ext cx="445834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352" name="Google Shape;2352;p91">
            <a:extLst>
              <a:ext uri="{FF2B5EF4-FFF2-40B4-BE49-F238E27FC236}">
                <a16:creationId xmlns:a16="http://schemas.microsoft.com/office/drawing/2014/main" id="{5249EF91-F351-4495-94A2-036DB32B2A49}"/>
              </a:ext>
            </a:extLst>
          </p:cNvPr>
          <p:cNvSpPr>
            <a:spLocks noGrp="1"/>
          </p:cNvSpPr>
          <p:nvPr/>
        </p:nvSpPr>
        <p:spPr>
          <a:xfrm>
            <a:off x="7671904" y="4951500"/>
            <a:ext cx="1453480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METAL</a:t>
            </a:r>
          </a:p>
        </p:txBody>
      </p:sp>
      <p:sp>
        <p:nvSpPr>
          <p:cNvPr id="2353" name="Google Shape;2353;p91">
            <a:extLst>
              <a:ext uri="{FF2B5EF4-FFF2-40B4-BE49-F238E27FC236}">
                <a16:creationId xmlns:a16="http://schemas.microsoft.com/office/drawing/2014/main" id="{80010F44-3909-4552-886C-5F2F87C5EC1C}"/>
              </a:ext>
            </a:extLst>
          </p:cNvPr>
          <p:cNvSpPr>
            <a:spLocks noGrp="1"/>
          </p:cNvSpPr>
          <p:nvPr/>
        </p:nvSpPr>
        <p:spPr>
          <a:xfrm>
            <a:off x="9577788" y="4949523"/>
            <a:ext cx="1453480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METAL</a:t>
            </a:r>
          </a:p>
        </p:txBody>
      </p:sp>
      <p:sp>
        <p:nvSpPr>
          <p:cNvPr id="2432" name="Slide 5 copied left comparison heading">
            <a:extLst>
              <a:ext uri="{FF2B5EF4-FFF2-40B4-BE49-F238E27FC236}">
                <a16:creationId xmlns:a16="http://schemas.microsoft.com/office/drawing/2014/main" id="{48A4ACCE-163D-42B6-A5ED-E5E068A74582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 dirty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2433" name="Slide 5 copied right comparison heading">
            <a:extLst>
              <a:ext uri="{FF2B5EF4-FFF2-40B4-BE49-F238E27FC236}">
                <a16:creationId xmlns:a16="http://schemas.microsoft.com/office/drawing/2014/main" id="{5CF0B86E-C218-4BD1-9B5D-074848B9032E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6E6480-57C9-8A6E-9A08-424783500F4A}"/>
              </a:ext>
            </a:extLst>
          </p:cNvPr>
          <p:cNvSpPr/>
          <p:nvPr/>
        </p:nvSpPr>
        <p:spPr>
          <a:xfrm>
            <a:off x="7506857" y="5251643"/>
            <a:ext cx="3714818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12162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7" name="Google Shape;2361;p92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468" name="Google Shape;2362;p92"/>
          <p:cNvGraphicFramePr/>
          <p:nvPr>
            <p:extLst>
              <p:ext uri="{D42A27DB-BD31-4B8C-83A1-F6EECF244321}">
                <p14:modId xmlns:p14="http://schemas.microsoft.com/office/powerpoint/2010/main" val="186918705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dirty="0"/>
                        <a:t>METAL1.SP.1.5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1.50um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Metal 1 to Metal 1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63" name="Google Shape;2363;p92">
            <a:extLst>
              <a:ext uri="{FF2B5EF4-FFF2-40B4-BE49-F238E27FC236}">
                <a16:creationId xmlns:a16="http://schemas.microsoft.com/office/drawing/2014/main" id="{E47466DF-5DF9-432B-80CF-195B3E78F0BA}"/>
              </a:ext>
            </a:extLst>
          </p:cNvPr>
          <p:cNvSpPr>
            <a:spLocks noGrp="1"/>
          </p:cNvSpPr>
          <p:nvPr/>
        </p:nvSpPr>
        <p:spPr>
          <a:xfrm>
            <a:off x="509798" y="1550568"/>
            <a:ext cx="512117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❖"/>
            </a:pPr>
            <a:r>
              <a:rPr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If one metal width &gt; 4.5 and parallel length &gt; 4.5          </a:t>
            </a:r>
          </a:p>
        </p:txBody>
      </p:sp>
      <p:sp>
        <p:nvSpPr>
          <p:cNvPr id="2364" name="Google Shape;2364;p92">
            <a:extLst>
              <a:ext uri="{FF2B5EF4-FFF2-40B4-BE49-F238E27FC236}">
                <a16:creationId xmlns:a16="http://schemas.microsoft.com/office/drawing/2014/main" id="{67661869-5AB7-4D2D-91BC-0021A2FFC00B}"/>
              </a:ext>
            </a:extLst>
          </p:cNvPr>
          <p:cNvSpPr>
            <a:spLocks noGrp="1"/>
          </p:cNvSpPr>
          <p:nvPr/>
        </p:nvSpPr>
        <p:spPr>
          <a:xfrm>
            <a:off x="870148" y="1897175"/>
            <a:ext cx="442670" cy="27600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mpd="sng">
            <a:solidFill>
              <a:srgbClr val="31538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 </a:t>
            </a:r>
          </a:p>
        </p:txBody>
      </p:sp>
      <p:sp>
        <p:nvSpPr>
          <p:cNvPr id="2365" name="Google Shape;2365;p92">
            <a:extLst>
              <a:ext uri="{FF2B5EF4-FFF2-40B4-BE49-F238E27FC236}">
                <a16:creationId xmlns:a16="http://schemas.microsoft.com/office/drawing/2014/main" id="{77A1FB11-DA2E-4348-BAF9-850EA5FAEDDA}"/>
              </a:ext>
            </a:extLst>
          </p:cNvPr>
          <p:cNvSpPr>
            <a:spLocks noGrp="1"/>
          </p:cNvSpPr>
          <p:nvPr/>
        </p:nvSpPr>
        <p:spPr>
          <a:xfrm>
            <a:off x="1396902" y="1850513"/>
            <a:ext cx="9980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1.50um</a:t>
            </a:r>
          </a:p>
        </p:txBody>
      </p:sp>
      <p:pic>
        <p:nvPicPr>
          <p:cNvPr id="2472" name="Google Shape;2366;p9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702" y="3533307"/>
            <a:ext cx="5121173" cy="2358121"/>
          </a:xfrm>
          <a:prstGeom prst="rect">
            <a:avLst/>
          </a:prstGeom>
          <a:ln>
            <a:noFill/>
          </a:ln>
        </p:spPr>
      </p:pic>
      <p:cxnSp>
        <p:nvCxnSpPr>
          <p:cNvPr id="2473" name="Google Shape;2367;p92"/>
          <p:cNvCxnSpPr/>
          <p:nvPr/>
        </p:nvCxnSpPr>
        <p:spPr>
          <a:xfrm rot="10800000">
            <a:off x="2747528" y="4006986"/>
            <a:ext cx="645717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368" name="Google Shape;2368;p92">
            <a:extLst>
              <a:ext uri="{FF2B5EF4-FFF2-40B4-BE49-F238E27FC236}">
                <a16:creationId xmlns:a16="http://schemas.microsoft.com/office/drawing/2014/main" id="{F758112F-56BE-4DAB-925E-E778D6E506D6}"/>
              </a:ext>
            </a:extLst>
          </p:cNvPr>
          <p:cNvSpPr>
            <a:spLocks noGrp="1"/>
          </p:cNvSpPr>
          <p:nvPr/>
        </p:nvSpPr>
        <p:spPr>
          <a:xfrm>
            <a:off x="2647166" y="3585481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1.5um</a:t>
            </a:r>
          </a:p>
        </p:txBody>
      </p:sp>
      <p:sp>
        <p:nvSpPr>
          <p:cNvPr id="2369" name="Google Shape;2369;p92">
            <a:extLst>
              <a:ext uri="{FF2B5EF4-FFF2-40B4-BE49-F238E27FC236}">
                <a16:creationId xmlns:a16="http://schemas.microsoft.com/office/drawing/2014/main" id="{B7B530E5-66A7-4D7C-A537-0F673A3A1592}"/>
              </a:ext>
            </a:extLst>
          </p:cNvPr>
          <p:cNvSpPr>
            <a:spLocks noGrp="1"/>
          </p:cNvSpPr>
          <p:nvPr/>
        </p:nvSpPr>
        <p:spPr>
          <a:xfrm>
            <a:off x="8912704" y="3997253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1.5um</a:t>
            </a:r>
          </a:p>
        </p:txBody>
      </p:sp>
      <p:sp>
        <p:nvSpPr>
          <p:cNvPr id="2370" name="Google Shape;2370;p92">
            <a:extLst>
              <a:ext uri="{FF2B5EF4-FFF2-40B4-BE49-F238E27FC236}">
                <a16:creationId xmlns:a16="http://schemas.microsoft.com/office/drawing/2014/main" id="{3F8411A3-FF0D-484D-93D3-1B1227ACD1C6}"/>
              </a:ext>
            </a:extLst>
          </p:cNvPr>
          <p:cNvSpPr>
            <a:spLocks noGrp="1"/>
          </p:cNvSpPr>
          <p:nvPr/>
        </p:nvSpPr>
        <p:spPr>
          <a:xfrm>
            <a:off x="6417982" y="297941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sp>
        <p:nvSpPr>
          <p:cNvPr id="2371" name="Google Shape;2371;p92">
            <a:extLst>
              <a:ext uri="{FF2B5EF4-FFF2-40B4-BE49-F238E27FC236}">
                <a16:creationId xmlns:a16="http://schemas.microsoft.com/office/drawing/2014/main" id="{B134FC6F-CFC8-4D3A-9991-D8A15E6B0154}"/>
              </a:ext>
            </a:extLst>
          </p:cNvPr>
          <p:cNvSpPr>
            <a:spLocks noGrp="1"/>
          </p:cNvSpPr>
          <p:nvPr/>
        </p:nvSpPr>
        <p:spPr>
          <a:xfrm>
            <a:off x="9925629" y="4855185"/>
            <a:ext cx="984346" cy="3308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78" name="Google Shape;2372;p92"/>
          <p:cNvCxnSpPr/>
          <p:nvPr/>
        </p:nvCxnSpPr>
        <p:spPr>
          <a:xfrm>
            <a:off x="9045745" y="4379215"/>
            <a:ext cx="445834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pic>
        <p:nvPicPr>
          <p:cNvPr id="2479" name="Google Shape;2373;p9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41441" y="1911652"/>
            <a:ext cx="3717219" cy="1885950"/>
          </a:xfrm>
          <a:prstGeom prst="rect">
            <a:avLst/>
          </a:prstGeom>
          <a:ln>
            <a:noFill/>
          </a:ln>
        </p:spPr>
      </p:pic>
      <p:cxnSp>
        <p:nvCxnSpPr>
          <p:cNvPr id="2480" name="Google Shape;2374;p92"/>
          <p:cNvCxnSpPr/>
          <p:nvPr/>
        </p:nvCxnSpPr>
        <p:spPr>
          <a:xfrm>
            <a:off x="6810647" y="3161256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375" name="Google Shape;2375;p92">
            <a:extLst>
              <a:ext uri="{FF2B5EF4-FFF2-40B4-BE49-F238E27FC236}">
                <a16:creationId xmlns:a16="http://schemas.microsoft.com/office/drawing/2014/main" id="{3EE20DDF-58D8-4D52-B782-E80C13B0C861}"/>
              </a:ext>
            </a:extLst>
          </p:cNvPr>
          <p:cNvSpPr>
            <a:spLocks noGrp="1"/>
          </p:cNvSpPr>
          <p:nvPr/>
        </p:nvSpPr>
        <p:spPr>
          <a:xfrm>
            <a:off x="7434872" y="5517490"/>
            <a:ext cx="3715009" cy="763726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2376" name="Google Shape;2376;p92">
            <a:extLst>
              <a:ext uri="{FF2B5EF4-FFF2-40B4-BE49-F238E27FC236}">
                <a16:creationId xmlns:a16="http://schemas.microsoft.com/office/drawing/2014/main" id="{BD8BB52A-B5EB-4EC9-89F7-F3D7AA838D68}"/>
              </a:ext>
            </a:extLst>
          </p:cNvPr>
          <p:cNvSpPr>
            <a:spLocks noGrp="1"/>
          </p:cNvSpPr>
          <p:nvPr/>
        </p:nvSpPr>
        <p:spPr>
          <a:xfrm>
            <a:off x="7434872" y="5187386"/>
            <a:ext cx="3707668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2377" name="Google Shape;2377;p92">
            <a:extLst>
              <a:ext uri="{FF2B5EF4-FFF2-40B4-BE49-F238E27FC236}">
                <a16:creationId xmlns:a16="http://schemas.microsoft.com/office/drawing/2014/main" id="{FAC1B5AE-82CA-4362-8239-FAF0CF0711C1}"/>
              </a:ext>
            </a:extLst>
          </p:cNvPr>
          <p:cNvSpPr>
            <a:spLocks noGrp="1"/>
          </p:cNvSpPr>
          <p:nvPr/>
        </p:nvSpPr>
        <p:spPr>
          <a:xfrm>
            <a:off x="7441441" y="4862903"/>
            <a:ext cx="3700241" cy="3308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ILD</a:t>
            </a:r>
          </a:p>
        </p:txBody>
      </p:sp>
      <p:cxnSp>
        <p:nvCxnSpPr>
          <p:cNvPr id="2484" name="Google Shape;2378;p92"/>
          <p:cNvCxnSpPr/>
          <p:nvPr/>
        </p:nvCxnSpPr>
        <p:spPr>
          <a:xfrm>
            <a:off x="7703367" y="3166193"/>
            <a:ext cx="0" cy="168899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485" name="Google Shape;2379;p92"/>
          <p:cNvCxnSpPr/>
          <p:nvPr/>
        </p:nvCxnSpPr>
        <p:spPr>
          <a:xfrm>
            <a:off x="9052314" y="3161256"/>
            <a:ext cx="17563" cy="176700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486" name="Google Shape;2380;p92"/>
          <p:cNvCxnSpPr/>
          <p:nvPr/>
        </p:nvCxnSpPr>
        <p:spPr>
          <a:xfrm>
            <a:off x="9498148" y="3161256"/>
            <a:ext cx="7302" cy="176700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381" name="Google Shape;2381;p92">
            <a:extLst>
              <a:ext uri="{FF2B5EF4-FFF2-40B4-BE49-F238E27FC236}">
                <a16:creationId xmlns:a16="http://schemas.microsoft.com/office/drawing/2014/main" id="{22F3E989-7197-4A50-96F2-35252E78E40D}"/>
              </a:ext>
            </a:extLst>
          </p:cNvPr>
          <p:cNvSpPr>
            <a:spLocks noGrp="1"/>
          </p:cNvSpPr>
          <p:nvPr/>
        </p:nvSpPr>
        <p:spPr>
          <a:xfrm>
            <a:off x="7720582" y="4515891"/>
            <a:ext cx="1349294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METAL</a:t>
            </a:r>
          </a:p>
        </p:txBody>
      </p:sp>
      <p:sp>
        <p:nvSpPr>
          <p:cNvPr id="2382" name="Google Shape;2382;p92">
            <a:extLst>
              <a:ext uri="{FF2B5EF4-FFF2-40B4-BE49-F238E27FC236}">
                <a16:creationId xmlns:a16="http://schemas.microsoft.com/office/drawing/2014/main" id="{829E054B-6F8E-40E7-8626-BA4A86BA4176}"/>
              </a:ext>
            </a:extLst>
          </p:cNvPr>
          <p:cNvSpPr>
            <a:spLocks noGrp="1"/>
          </p:cNvSpPr>
          <p:nvPr/>
        </p:nvSpPr>
        <p:spPr>
          <a:xfrm>
            <a:off x="9529202" y="4489388"/>
            <a:ext cx="1395710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METAL</a:t>
            </a:r>
          </a:p>
        </p:txBody>
      </p:sp>
      <p:sp>
        <p:nvSpPr>
          <p:cNvPr id="2464" name="Slide 5 copied left comparison heading">
            <a:extLst>
              <a:ext uri="{FF2B5EF4-FFF2-40B4-BE49-F238E27FC236}">
                <a16:creationId xmlns:a16="http://schemas.microsoft.com/office/drawing/2014/main" id="{F048AB7E-322E-41B6-8556-459E7492066B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2465" name="Slide 5 copied right comparison heading">
            <a:extLst>
              <a:ext uri="{FF2B5EF4-FFF2-40B4-BE49-F238E27FC236}">
                <a16:creationId xmlns:a16="http://schemas.microsoft.com/office/drawing/2014/main" id="{93C641EB-9750-4AA8-910D-E03EC2794F85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70DF2B-6298-E3C1-6B11-3CA538794165}"/>
              </a:ext>
            </a:extLst>
          </p:cNvPr>
          <p:cNvSpPr/>
          <p:nvPr/>
        </p:nvSpPr>
        <p:spPr>
          <a:xfrm>
            <a:off x="7443842" y="4856268"/>
            <a:ext cx="3714818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051229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2" name="Google Shape;2390;p93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493" name="Google Shape;2391;p93"/>
          <p:cNvGraphicFramePr/>
          <p:nvPr>
            <p:extLst>
              <p:ext uri="{D42A27DB-BD31-4B8C-83A1-F6EECF244321}">
                <p14:modId xmlns:p14="http://schemas.microsoft.com/office/powerpoint/2010/main" val="1839493442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600" b="1" dirty="0"/>
                        <a:t>METAL1.SP.1.6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2.50um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Metal 1 to Metal 1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92" name="Google Shape;2392;p93">
            <a:extLst>
              <a:ext uri="{FF2B5EF4-FFF2-40B4-BE49-F238E27FC236}">
                <a16:creationId xmlns:a16="http://schemas.microsoft.com/office/drawing/2014/main" id="{D4E0A1B6-AE62-4E36-BA31-31574329FF18}"/>
              </a:ext>
            </a:extLst>
          </p:cNvPr>
          <p:cNvSpPr>
            <a:spLocks noGrp="1"/>
          </p:cNvSpPr>
          <p:nvPr/>
        </p:nvSpPr>
        <p:spPr>
          <a:xfrm>
            <a:off x="534871" y="1572419"/>
            <a:ext cx="512117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❖"/>
            </a:pPr>
            <a:r>
              <a:rPr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If one metal width &gt; 7.5 and parallel length &gt; 7.5          </a:t>
            </a:r>
          </a:p>
        </p:txBody>
      </p:sp>
      <p:sp>
        <p:nvSpPr>
          <p:cNvPr id="2393" name="Google Shape;2393;p93">
            <a:extLst>
              <a:ext uri="{FF2B5EF4-FFF2-40B4-BE49-F238E27FC236}">
                <a16:creationId xmlns:a16="http://schemas.microsoft.com/office/drawing/2014/main" id="{C1DDD871-1C35-49AA-975E-034AC7FA907E}"/>
              </a:ext>
            </a:extLst>
          </p:cNvPr>
          <p:cNvSpPr>
            <a:spLocks noGrp="1"/>
          </p:cNvSpPr>
          <p:nvPr/>
        </p:nvSpPr>
        <p:spPr>
          <a:xfrm>
            <a:off x="895221" y="1919026"/>
            <a:ext cx="442670" cy="27600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mpd="sng">
            <a:solidFill>
              <a:srgbClr val="31538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 </a:t>
            </a:r>
          </a:p>
        </p:txBody>
      </p:sp>
      <p:sp>
        <p:nvSpPr>
          <p:cNvPr id="2394" name="Google Shape;2394;p93">
            <a:extLst>
              <a:ext uri="{FF2B5EF4-FFF2-40B4-BE49-F238E27FC236}">
                <a16:creationId xmlns:a16="http://schemas.microsoft.com/office/drawing/2014/main" id="{EE3A1C4C-3A80-461E-987D-EB9E3C0FC862}"/>
              </a:ext>
            </a:extLst>
          </p:cNvPr>
          <p:cNvSpPr>
            <a:spLocks noGrp="1"/>
          </p:cNvSpPr>
          <p:nvPr/>
        </p:nvSpPr>
        <p:spPr>
          <a:xfrm>
            <a:off x="1421975" y="1872364"/>
            <a:ext cx="9980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2.50um</a:t>
            </a:r>
          </a:p>
        </p:txBody>
      </p:sp>
      <p:pic>
        <p:nvPicPr>
          <p:cNvPr id="2497" name="Google Shape;2395;p9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792" y="3495116"/>
            <a:ext cx="4897822" cy="2242377"/>
          </a:xfrm>
          <a:prstGeom prst="rect">
            <a:avLst/>
          </a:prstGeom>
          <a:ln>
            <a:noFill/>
          </a:ln>
        </p:spPr>
      </p:pic>
      <p:cxnSp>
        <p:nvCxnSpPr>
          <p:cNvPr id="2498" name="Google Shape;2396;p93"/>
          <p:cNvCxnSpPr/>
          <p:nvPr/>
        </p:nvCxnSpPr>
        <p:spPr>
          <a:xfrm rot="10800000">
            <a:off x="2659844" y="3951352"/>
            <a:ext cx="645717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397" name="Google Shape;2397;p93">
            <a:extLst>
              <a:ext uri="{FF2B5EF4-FFF2-40B4-BE49-F238E27FC236}">
                <a16:creationId xmlns:a16="http://schemas.microsoft.com/office/drawing/2014/main" id="{F4DD0CC7-B90B-4F8F-A60E-7C28AEF163DD}"/>
              </a:ext>
            </a:extLst>
          </p:cNvPr>
          <p:cNvSpPr>
            <a:spLocks noGrp="1"/>
          </p:cNvSpPr>
          <p:nvPr/>
        </p:nvSpPr>
        <p:spPr>
          <a:xfrm>
            <a:off x="2572748" y="3515948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2.5um</a:t>
            </a:r>
          </a:p>
        </p:txBody>
      </p:sp>
      <p:sp>
        <p:nvSpPr>
          <p:cNvPr id="2398" name="Google Shape;2398;p93">
            <a:extLst>
              <a:ext uri="{FF2B5EF4-FFF2-40B4-BE49-F238E27FC236}">
                <a16:creationId xmlns:a16="http://schemas.microsoft.com/office/drawing/2014/main" id="{091137BE-4DAD-494C-A67A-0C0B35C6082B}"/>
              </a:ext>
            </a:extLst>
          </p:cNvPr>
          <p:cNvSpPr>
            <a:spLocks noGrp="1"/>
          </p:cNvSpPr>
          <p:nvPr/>
        </p:nvSpPr>
        <p:spPr>
          <a:xfrm>
            <a:off x="9004177" y="4006258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2.5um</a:t>
            </a:r>
          </a:p>
        </p:txBody>
      </p:sp>
      <p:sp>
        <p:nvSpPr>
          <p:cNvPr id="2399" name="Google Shape;2399;p93">
            <a:extLst>
              <a:ext uri="{FF2B5EF4-FFF2-40B4-BE49-F238E27FC236}">
                <a16:creationId xmlns:a16="http://schemas.microsoft.com/office/drawing/2014/main" id="{7DCB3E93-EB23-4F57-AE0D-2DBC5A9D5C57}"/>
              </a:ext>
            </a:extLst>
          </p:cNvPr>
          <p:cNvSpPr>
            <a:spLocks noGrp="1"/>
          </p:cNvSpPr>
          <p:nvPr/>
        </p:nvSpPr>
        <p:spPr>
          <a:xfrm>
            <a:off x="6428613" y="297941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sp>
        <p:nvSpPr>
          <p:cNvPr id="2400" name="Google Shape;2400;p93">
            <a:extLst>
              <a:ext uri="{FF2B5EF4-FFF2-40B4-BE49-F238E27FC236}">
                <a16:creationId xmlns:a16="http://schemas.microsoft.com/office/drawing/2014/main" id="{A320824A-37B1-4766-A411-A8995D34F726}"/>
              </a:ext>
            </a:extLst>
          </p:cNvPr>
          <p:cNvSpPr>
            <a:spLocks noGrp="1"/>
          </p:cNvSpPr>
          <p:nvPr/>
        </p:nvSpPr>
        <p:spPr>
          <a:xfrm>
            <a:off x="9936260" y="4855185"/>
            <a:ext cx="984346" cy="3308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03" name="Google Shape;2401;p93"/>
          <p:cNvCxnSpPr/>
          <p:nvPr/>
        </p:nvCxnSpPr>
        <p:spPr>
          <a:xfrm>
            <a:off x="9069515" y="4408904"/>
            <a:ext cx="445834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pic>
        <p:nvPicPr>
          <p:cNvPr id="2504" name="Google Shape;2402;p9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52072" y="1919756"/>
            <a:ext cx="3718603" cy="1810662"/>
          </a:xfrm>
          <a:prstGeom prst="rect">
            <a:avLst/>
          </a:prstGeom>
          <a:ln>
            <a:noFill/>
          </a:ln>
        </p:spPr>
      </p:pic>
      <p:cxnSp>
        <p:nvCxnSpPr>
          <p:cNvPr id="2505" name="Google Shape;2403;p93"/>
          <p:cNvCxnSpPr/>
          <p:nvPr/>
        </p:nvCxnSpPr>
        <p:spPr>
          <a:xfrm>
            <a:off x="6821278" y="3161256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404" name="Google Shape;2404;p93">
            <a:extLst>
              <a:ext uri="{FF2B5EF4-FFF2-40B4-BE49-F238E27FC236}">
                <a16:creationId xmlns:a16="http://schemas.microsoft.com/office/drawing/2014/main" id="{899D2C1A-9FC7-4BA4-9367-DCC7D33D0989}"/>
              </a:ext>
            </a:extLst>
          </p:cNvPr>
          <p:cNvSpPr>
            <a:spLocks noGrp="1"/>
          </p:cNvSpPr>
          <p:nvPr/>
        </p:nvSpPr>
        <p:spPr>
          <a:xfrm>
            <a:off x="7450057" y="5541135"/>
            <a:ext cx="3700793" cy="763726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2405" name="Google Shape;2405;p93">
            <a:extLst>
              <a:ext uri="{FF2B5EF4-FFF2-40B4-BE49-F238E27FC236}">
                <a16:creationId xmlns:a16="http://schemas.microsoft.com/office/drawing/2014/main" id="{80609291-481F-488A-BFF4-17B5D1656069}"/>
              </a:ext>
            </a:extLst>
          </p:cNvPr>
          <p:cNvSpPr>
            <a:spLocks noGrp="1"/>
          </p:cNvSpPr>
          <p:nvPr/>
        </p:nvSpPr>
        <p:spPr>
          <a:xfrm>
            <a:off x="7445503" y="5221606"/>
            <a:ext cx="3708203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2406" name="Google Shape;2406;p93">
            <a:extLst>
              <a:ext uri="{FF2B5EF4-FFF2-40B4-BE49-F238E27FC236}">
                <a16:creationId xmlns:a16="http://schemas.microsoft.com/office/drawing/2014/main" id="{C163198F-5FD6-4442-8EF8-AB0017998097}"/>
              </a:ext>
            </a:extLst>
          </p:cNvPr>
          <p:cNvSpPr>
            <a:spLocks noGrp="1"/>
          </p:cNvSpPr>
          <p:nvPr/>
        </p:nvSpPr>
        <p:spPr>
          <a:xfrm>
            <a:off x="7452072" y="4908827"/>
            <a:ext cx="3705468" cy="3308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ILD</a:t>
            </a:r>
          </a:p>
        </p:txBody>
      </p:sp>
      <p:cxnSp>
        <p:nvCxnSpPr>
          <p:cNvPr id="2509" name="Google Shape;2407;p93"/>
          <p:cNvCxnSpPr/>
          <p:nvPr/>
        </p:nvCxnSpPr>
        <p:spPr>
          <a:xfrm>
            <a:off x="9062945" y="3161256"/>
            <a:ext cx="6570" cy="169392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510" name="Google Shape;2408;p93"/>
          <p:cNvCxnSpPr/>
          <p:nvPr/>
        </p:nvCxnSpPr>
        <p:spPr>
          <a:xfrm>
            <a:off x="9508779" y="3161256"/>
            <a:ext cx="5289" cy="169392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409" name="Google Shape;2409;p93">
            <a:extLst>
              <a:ext uri="{FF2B5EF4-FFF2-40B4-BE49-F238E27FC236}">
                <a16:creationId xmlns:a16="http://schemas.microsoft.com/office/drawing/2014/main" id="{B31D59FA-1F61-4CA6-B577-E258D3822D4C}"/>
              </a:ext>
            </a:extLst>
          </p:cNvPr>
          <p:cNvSpPr>
            <a:spLocks noGrp="1"/>
          </p:cNvSpPr>
          <p:nvPr/>
        </p:nvSpPr>
        <p:spPr>
          <a:xfrm>
            <a:off x="7574133" y="4567272"/>
            <a:ext cx="1481425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METAL</a:t>
            </a:r>
          </a:p>
        </p:txBody>
      </p:sp>
      <p:sp>
        <p:nvSpPr>
          <p:cNvPr id="2410" name="Google Shape;2410;p93">
            <a:extLst>
              <a:ext uri="{FF2B5EF4-FFF2-40B4-BE49-F238E27FC236}">
                <a16:creationId xmlns:a16="http://schemas.microsoft.com/office/drawing/2014/main" id="{DF4EE902-A263-457B-A4FE-728802084E6A}"/>
              </a:ext>
            </a:extLst>
          </p:cNvPr>
          <p:cNvSpPr>
            <a:spLocks noGrp="1"/>
          </p:cNvSpPr>
          <p:nvPr/>
        </p:nvSpPr>
        <p:spPr>
          <a:xfrm>
            <a:off x="9531882" y="4565225"/>
            <a:ext cx="1528482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METAL</a:t>
            </a:r>
          </a:p>
        </p:txBody>
      </p:sp>
      <p:sp>
        <p:nvSpPr>
          <p:cNvPr id="2489" name="Slide 5 copied left comparison heading">
            <a:extLst>
              <a:ext uri="{FF2B5EF4-FFF2-40B4-BE49-F238E27FC236}">
                <a16:creationId xmlns:a16="http://schemas.microsoft.com/office/drawing/2014/main" id="{04AB1405-69F2-4D70-8A06-A02D3586AE67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2490" name="Slide 5 copied right comparison heading">
            <a:extLst>
              <a:ext uri="{FF2B5EF4-FFF2-40B4-BE49-F238E27FC236}">
                <a16:creationId xmlns:a16="http://schemas.microsoft.com/office/drawing/2014/main" id="{9800457A-733D-4CDE-95BD-0ECDA4A89ED8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3460225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94">
            <a:extLst>
              <a:ext uri="{FF2B5EF4-FFF2-40B4-BE49-F238E27FC236}">
                <a16:creationId xmlns:a16="http://schemas.microsoft.com/office/drawing/2014/main" id="{C309CE28-707A-4658-B92B-DB18B6707AB1}"/>
              </a:ext>
            </a:extLst>
          </p:cNvPr>
          <p:cNvSpPr>
            <a:spLocks noGrp="1"/>
          </p:cNvSpPr>
          <p:nvPr/>
        </p:nvSpPr>
        <p:spPr>
          <a:xfrm>
            <a:off x="7673012" y="5316163"/>
            <a:ext cx="3708329" cy="112805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Substrate</a:t>
            </a:r>
          </a:p>
        </p:txBody>
      </p:sp>
      <p:cxnSp>
        <p:nvCxnSpPr>
          <p:cNvPr id="2541" name="Google Shape;2419;p94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542" name="Google Shape;2420;p94"/>
          <p:cNvGraphicFramePr/>
          <p:nvPr>
            <p:extLst>
              <p:ext uri="{D42A27DB-BD31-4B8C-83A1-F6EECF244321}">
                <p14:modId xmlns:p14="http://schemas.microsoft.com/office/powerpoint/2010/main" val="158789652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METAL1.E.1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0.00um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 err="1">
                          <a:solidFill>
                            <a:schemeClr val="dk1"/>
                          </a:solidFill>
                        </a:rPr>
                        <a:t>Minimun</a:t>
                      </a:r>
                      <a:r>
                        <a:rPr sz="1400" b="0" dirty="0">
                          <a:solidFill>
                            <a:schemeClr val="dk1"/>
                          </a:solidFill>
                        </a:rPr>
                        <a:t> Metal 1 to Contact enclosure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543" name="Google Shape;2421;p9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593" y="2977285"/>
            <a:ext cx="3759821" cy="3457423"/>
          </a:xfrm>
          <a:prstGeom prst="rect">
            <a:avLst/>
          </a:prstGeom>
          <a:ln>
            <a:noFill/>
          </a:ln>
        </p:spPr>
      </p:pic>
      <p:cxnSp>
        <p:nvCxnSpPr>
          <p:cNvPr id="2544" name="Google Shape;2422;p94"/>
          <p:cNvCxnSpPr/>
          <p:nvPr/>
        </p:nvCxnSpPr>
        <p:spPr>
          <a:xfrm rot="10800000">
            <a:off x="3876007" y="3475680"/>
            <a:ext cx="0" cy="2666013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423" name="Google Shape;2423;p94">
            <a:extLst>
              <a:ext uri="{FF2B5EF4-FFF2-40B4-BE49-F238E27FC236}">
                <a16:creationId xmlns:a16="http://schemas.microsoft.com/office/drawing/2014/main" id="{3800DE05-443F-4922-BAFC-46A95571277C}"/>
              </a:ext>
            </a:extLst>
          </p:cNvPr>
          <p:cNvSpPr>
            <a:spLocks noGrp="1"/>
          </p:cNvSpPr>
          <p:nvPr/>
        </p:nvSpPr>
        <p:spPr>
          <a:xfrm>
            <a:off x="4003774" y="4603238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cxnSp>
        <p:nvCxnSpPr>
          <p:cNvPr id="2546" name="Google Shape;2424;p94"/>
          <p:cNvCxnSpPr/>
          <p:nvPr/>
        </p:nvCxnSpPr>
        <p:spPr>
          <a:xfrm rot="10800000">
            <a:off x="1023361" y="3224822"/>
            <a:ext cx="2749354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425" name="Google Shape;2425;p94">
            <a:extLst>
              <a:ext uri="{FF2B5EF4-FFF2-40B4-BE49-F238E27FC236}">
                <a16:creationId xmlns:a16="http://schemas.microsoft.com/office/drawing/2014/main" id="{A63BCD6F-9581-4FA8-8D6D-60F5088BB28C}"/>
              </a:ext>
            </a:extLst>
          </p:cNvPr>
          <p:cNvSpPr>
            <a:spLocks noGrp="1"/>
          </p:cNvSpPr>
          <p:nvPr/>
        </p:nvSpPr>
        <p:spPr>
          <a:xfrm>
            <a:off x="1735888" y="2848578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pic>
        <p:nvPicPr>
          <p:cNvPr id="2548" name="Google Shape;2426;p9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22333" y="1496748"/>
            <a:ext cx="2174767" cy="2160396"/>
          </a:xfrm>
          <a:prstGeom prst="rect">
            <a:avLst/>
          </a:prstGeom>
          <a:ln>
            <a:noFill/>
          </a:ln>
        </p:spPr>
      </p:pic>
      <p:sp>
        <p:nvSpPr>
          <p:cNvPr id="2427" name="Google Shape;2427;p94">
            <a:extLst>
              <a:ext uri="{FF2B5EF4-FFF2-40B4-BE49-F238E27FC236}">
                <a16:creationId xmlns:a16="http://schemas.microsoft.com/office/drawing/2014/main" id="{A9BB14B1-8F61-464A-A56B-4B6F10AB4116}"/>
              </a:ext>
            </a:extLst>
          </p:cNvPr>
          <p:cNvSpPr>
            <a:spLocks noGrp="1"/>
          </p:cNvSpPr>
          <p:nvPr/>
        </p:nvSpPr>
        <p:spPr>
          <a:xfrm>
            <a:off x="9196262" y="3894922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0.12um</a:t>
            </a:r>
          </a:p>
        </p:txBody>
      </p:sp>
      <p:cxnSp>
        <p:nvCxnSpPr>
          <p:cNvPr id="2550" name="Google Shape;2428;p94"/>
          <p:cNvCxnSpPr/>
          <p:nvPr/>
        </p:nvCxnSpPr>
        <p:spPr>
          <a:xfrm>
            <a:off x="9215423" y="4327510"/>
            <a:ext cx="1277647" cy="0"/>
          </a:xfrm>
          <a:prstGeom prst="straightConnector1">
            <a:avLst/>
          </a:prstGeom>
          <a:ln w="19050" cap="flat">
            <a:solidFill>
              <a:schemeClr val="dk2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429" name="Google Shape;2429;p94">
            <a:extLst>
              <a:ext uri="{FF2B5EF4-FFF2-40B4-BE49-F238E27FC236}">
                <a16:creationId xmlns:a16="http://schemas.microsoft.com/office/drawing/2014/main" id="{5294259C-900C-44FC-BD44-507929DDB4D1}"/>
              </a:ext>
            </a:extLst>
          </p:cNvPr>
          <p:cNvSpPr>
            <a:spLocks noGrp="1"/>
          </p:cNvSpPr>
          <p:nvPr/>
        </p:nvSpPr>
        <p:spPr>
          <a:xfrm>
            <a:off x="7673013" y="5318081"/>
            <a:ext cx="1430841" cy="498863"/>
          </a:xfrm>
          <a:prstGeom prst="rect">
            <a:avLst/>
          </a:prstGeom>
          <a:gradFill>
            <a:gsLst>
              <a:gs pos="0">
                <a:srgbClr val="A3C1E5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2430" name="Google Shape;2430;p94">
            <a:extLst>
              <a:ext uri="{FF2B5EF4-FFF2-40B4-BE49-F238E27FC236}">
                <a16:creationId xmlns:a16="http://schemas.microsoft.com/office/drawing/2014/main" id="{DABAE3F1-7D9A-4A4C-85B6-57DB30B4E6DE}"/>
              </a:ext>
            </a:extLst>
          </p:cNvPr>
          <p:cNvSpPr>
            <a:spLocks noGrp="1"/>
          </p:cNvSpPr>
          <p:nvPr/>
        </p:nvSpPr>
        <p:spPr>
          <a:xfrm>
            <a:off x="10605856" y="5318081"/>
            <a:ext cx="775492" cy="498855"/>
          </a:xfrm>
          <a:prstGeom prst="rect">
            <a:avLst/>
          </a:prstGeom>
          <a:gradFill>
            <a:gsLst>
              <a:gs pos="0">
                <a:srgbClr val="A3C1E5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STI</a:t>
            </a:r>
          </a:p>
        </p:txBody>
      </p:sp>
      <p:sp>
        <p:nvSpPr>
          <p:cNvPr id="2431" name="Google Shape;2431;p94">
            <a:extLst>
              <a:ext uri="{FF2B5EF4-FFF2-40B4-BE49-F238E27FC236}">
                <a16:creationId xmlns:a16="http://schemas.microsoft.com/office/drawing/2014/main" id="{19822A70-ECCF-4E9F-9D93-976DC8980DFD}"/>
              </a:ext>
            </a:extLst>
          </p:cNvPr>
          <p:cNvSpPr>
            <a:spLocks noGrp="1"/>
          </p:cNvSpPr>
          <p:nvPr/>
        </p:nvSpPr>
        <p:spPr>
          <a:xfrm>
            <a:off x="9222963" y="5104080"/>
            <a:ext cx="1285181" cy="2055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Silicide</a:t>
            </a:r>
          </a:p>
        </p:txBody>
      </p:sp>
      <p:sp>
        <p:nvSpPr>
          <p:cNvPr id="2432" name="Google Shape;2432;p94">
            <a:extLst>
              <a:ext uri="{FF2B5EF4-FFF2-40B4-BE49-F238E27FC236}">
                <a16:creationId xmlns:a16="http://schemas.microsoft.com/office/drawing/2014/main" id="{4A88BFF3-A0CC-4DAE-A8F4-0525B9569DD8}"/>
              </a:ext>
            </a:extLst>
          </p:cNvPr>
          <p:cNvSpPr>
            <a:spLocks noGrp="1"/>
          </p:cNvSpPr>
          <p:nvPr/>
        </p:nvSpPr>
        <p:spPr>
          <a:xfrm>
            <a:off x="7673011" y="5111338"/>
            <a:ext cx="1549951" cy="208956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2433" name="Google Shape;2433;p94">
            <a:extLst>
              <a:ext uri="{FF2B5EF4-FFF2-40B4-BE49-F238E27FC236}">
                <a16:creationId xmlns:a16="http://schemas.microsoft.com/office/drawing/2014/main" id="{30A27C36-8CE3-4C63-8F9E-3EC6BBD01721}"/>
              </a:ext>
            </a:extLst>
          </p:cNvPr>
          <p:cNvSpPr>
            <a:spLocks noGrp="1"/>
          </p:cNvSpPr>
          <p:nvPr/>
        </p:nvSpPr>
        <p:spPr>
          <a:xfrm>
            <a:off x="10508700" y="5083731"/>
            <a:ext cx="872642" cy="246231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OXIDE</a:t>
            </a:r>
          </a:p>
        </p:txBody>
      </p:sp>
      <p:sp>
        <p:nvSpPr>
          <p:cNvPr id="2434" name="Google Shape;2434;p94">
            <a:extLst>
              <a:ext uri="{FF2B5EF4-FFF2-40B4-BE49-F238E27FC236}">
                <a16:creationId xmlns:a16="http://schemas.microsoft.com/office/drawing/2014/main" id="{7DAA05D0-69FE-472C-9745-77D99B46AE88}"/>
              </a:ext>
            </a:extLst>
          </p:cNvPr>
          <p:cNvSpPr>
            <a:spLocks noGrp="1"/>
          </p:cNvSpPr>
          <p:nvPr/>
        </p:nvSpPr>
        <p:spPr>
          <a:xfrm>
            <a:off x="9222956" y="4752863"/>
            <a:ext cx="1277647" cy="330868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CONTACT</a:t>
            </a:r>
            <a:r>
              <a:rPr sz="1800"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t</a:t>
            </a:r>
          </a:p>
        </p:txBody>
      </p:sp>
      <p:sp>
        <p:nvSpPr>
          <p:cNvPr id="2435" name="Google Shape;2435;p94">
            <a:extLst>
              <a:ext uri="{FF2B5EF4-FFF2-40B4-BE49-F238E27FC236}">
                <a16:creationId xmlns:a16="http://schemas.microsoft.com/office/drawing/2014/main" id="{ABE3A9F3-50B5-411A-B615-62E098DA67F6}"/>
              </a:ext>
            </a:extLst>
          </p:cNvPr>
          <p:cNvSpPr>
            <a:spLocks noGrp="1"/>
          </p:cNvSpPr>
          <p:nvPr/>
        </p:nvSpPr>
        <p:spPr>
          <a:xfrm>
            <a:off x="7672454" y="4744395"/>
            <a:ext cx="1535149" cy="3681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ILD</a:t>
            </a:r>
          </a:p>
        </p:txBody>
      </p:sp>
      <p:sp>
        <p:nvSpPr>
          <p:cNvPr id="2436" name="Google Shape;2436;p94">
            <a:extLst>
              <a:ext uri="{FF2B5EF4-FFF2-40B4-BE49-F238E27FC236}">
                <a16:creationId xmlns:a16="http://schemas.microsoft.com/office/drawing/2014/main" id="{7441C460-7E17-4958-A843-39B8FA80E828}"/>
              </a:ext>
            </a:extLst>
          </p:cNvPr>
          <p:cNvSpPr>
            <a:spLocks noGrp="1"/>
          </p:cNvSpPr>
          <p:nvPr/>
        </p:nvSpPr>
        <p:spPr>
          <a:xfrm>
            <a:off x="10508137" y="4744395"/>
            <a:ext cx="873204" cy="3531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ILD</a:t>
            </a:r>
          </a:p>
        </p:txBody>
      </p:sp>
      <p:sp>
        <p:nvSpPr>
          <p:cNvPr id="2437" name="Google Shape;2437;p94">
            <a:extLst>
              <a:ext uri="{FF2B5EF4-FFF2-40B4-BE49-F238E27FC236}">
                <a16:creationId xmlns:a16="http://schemas.microsoft.com/office/drawing/2014/main" id="{E766EBC4-0913-4693-9C38-73AAEE19431D}"/>
              </a:ext>
            </a:extLst>
          </p:cNvPr>
          <p:cNvSpPr>
            <a:spLocks noGrp="1"/>
          </p:cNvSpPr>
          <p:nvPr/>
        </p:nvSpPr>
        <p:spPr>
          <a:xfrm>
            <a:off x="9207603" y="4413527"/>
            <a:ext cx="1300534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METAL 1</a:t>
            </a:r>
          </a:p>
        </p:txBody>
      </p:sp>
      <p:sp>
        <p:nvSpPr>
          <p:cNvPr id="2438" name="Google Shape;2438;p94">
            <a:extLst>
              <a:ext uri="{FF2B5EF4-FFF2-40B4-BE49-F238E27FC236}">
                <a16:creationId xmlns:a16="http://schemas.microsoft.com/office/drawing/2014/main" id="{8F0AA787-9FA0-42CA-AF99-669DCC0E5F27}"/>
              </a:ext>
            </a:extLst>
          </p:cNvPr>
          <p:cNvSpPr>
            <a:spLocks noGrp="1"/>
          </p:cNvSpPr>
          <p:nvPr/>
        </p:nvSpPr>
        <p:spPr>
          <a:xfrm>
            <a:off x="9103854" y="5309618"/>
            <a:ext cx="1493241" cy="34617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N+</a:t>
            </a:r>
          </a:p>
        </p:txBody>
      </p:sp>
      <p:cxnSp>
        <p:nvCxnSpPr>
          <p:cNvPr id="2561" name="Google Shape;2439;p94"/>
          <p:cNvCxnSpPr/>
          <p:nvPr/>
        </p:nvCxnSpPr>
        <p:spPr>
          <a:xfrm>
            <a:off x="7078502" y="2792619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562" name="Google Shape;2440;p94"/>
          <p:cNvCxnSpPr/>
          <p:nvPr/>
        </p:nvCxnSpPr>
        <p:spPr>
          <a:xfrm>
            <a:off x="10493075" y="2809331"/>
            <a:ext cx="0" cy="287662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563" name="Google Shape;2441;p94"/>
          <p:cNvCxnSpPr/>
          <p:nvPr/>
        </p:nvCxnSpPr>
        <p:spPr>
          <a:xfrm>
            <a:off x="9207882" y="2823196"/>
            <a:ext cx="0" cy="284889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442" name="Google Shape;2442;p94">
            <a:extLst>
              <a:ext uri="{FF2B5EF4-FFF2-40B4-BE49-F238E27FC236}">
                <a16:creationId xmlns:a16="http://schemas.microsoft.com/office/drawing/2014/main" id="{09E07A29-388E-4ECE-B0B4-D85336D24749}"/>
              </a:ext>
            </a:extLst>
          </p:cNvPr>
          <p:cNvSpPr>
            <a:spLocks noGrp="1"/>
          </p:cNvSpPr>
          <p:nvPr/>
        </p:nvSpPr>
        <p:spPr>
          <a:xfrm>
            <a:off x="6689719" y="260795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✄</a:t>
            </a:r>
          </a:p>
        </p:txBody>
      </p:sp>
      <p:sp>
        <p:nvSpPr>
          <p:cNvPr id="2443" name="Google Shape;2443;p94">
            <a:extLst>
              <a:ext uri="{FF2B5EF4-FFF2-40B4-BE49-F238E27FC236}">
                <a16:creationId xmlns:a16="http://schemas.microsoft.com/office/drawing/2014/main" id="{80401F7A-847B-4E70-9D41-4A6EA9448A93}"/>
              </a:ext>
            </a:extLst>
          </p:cNvPr>
          <p:cNvSpPr>
            <a:spLocks noGrp="1"/>
          </p:cNvSpPr>
          <p:nvPr/>
        </p:nvSpPr>
        <p:spPr>
          <a:xfrm>
            <a:off x="515294" y="1624117"/>
            <a:ext cx="522344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안정적인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Contact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형성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및 Open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방지를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 Metal1 Enclosure </a:t>
            </a:r>
            <a:r>
              <a:rPr sz="1800" dirty="0" err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규정</a:t>
            </a:r>
            <a:endParaRPr sz="1800" dirty="0">
              <a:solidFill>
                <a:schemeClr val="dk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</p:txBody>
      </p:sp>
      <p:sp>
        <p:nvSpPr>
          <p:cNvPr id="2537" name="Slide 5 copied left comparison heading">
            <a:extLst>
              <a:ext uri="{FF2B5EF4-FFF2-40B4-BE49-F238E27FC236}">
                <a16:creationId xmlns:a16="http://schemas.microsoft.com/office/drawing/2014/main" id="{4CD63D1E-B3E4-468C-A103-B5A798B39B37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2538" name="Slide 5 copied right comparison heading">
            <a:extLst>
              <a:ext uri="{FF2B5EF4-FFF2-40B4-BE49-F238E27FC236}">
                <a16:creationId xmlns:a16="http://schemas.microsoft.com/office/drawing/2014/main" id="{EF0A082C-4212-47DA-8422-5314A3721915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3EF060-5AED-5C9F-FC3F-66BADA8F1D71}"/>
              </a:ext>
            </a:extLst>
          </p:cNvPr>
          <p:cNvSpPr/>
          <p:nvPr/>
        </p:nvSpPr>
        <p:spPr>
          <a:xfrm>
            <a:off x="9256012" y="5097897"/>
            <a:ext cx="1285181" cy="205538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Silicide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4D023C-010E-56B0-F3CF-92D2D6CC07DC}"/>
              </a:ext>
            </a:extLst>
          </p:cNvPr>
          <p:cNvSpPr/>
          <p:nvPr/>
        </p:nvSpPr>
        <p:spPr>
          <a:xfrm>
            <a:off x="7687807" y="4729792"/>
            <a:ext cx="1535149" cy="368105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D9AF66-2F48-1027-3F98-A9AB1AFF1906}"/>
              </a:ext>
            </a:extLst>
          </p:cNvPr>
          <p:cNvSpPr/>
          <p:nvPr/>
        </p:nvSpPr>
        <p:spPr>
          <a:xfrm>
            <a:off x="10541186" y="4738212"/>
            <a:ext cx="873204" cy="353140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88502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9" name="Google Shape;2451;p95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560" name="Google Shape;2452;p95"/>
          <p:cNvGraphicFramePr/>
          <p:nvPr>
            <p:extLst>
              <p:ext uri="{D42A27DB-BD31-4B8C-83A1-F6EECF244321}">
                <p14:modId xmlns:p14="http://schemas.microsoft.com/office/powerpoint/2010/main" val="3929388763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METAL.E.2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0.06um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 err="1">
                          <a:solidFill>
                            <a:schemeClr val="dk1"/>
                          </a:solidFill>
                        </a:rPr>
                        <a:t>Minimun</a:t>
                      </a:r>
                      <a:r>
                        <a:rPr sz="1400" b="0" dirty="0">
                          <a:solidFill>
                            <a:schemeClr val="dk1"/>
                          </a:solidFill>
                        </a:rPr>
                        <a:t> Metal 1 to Contact enclosure on two opposite sides of the Contact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561" name="Google Shape;2453;p95"/>
          <p:cNvCxnSpPr/>
          <p:nvPr/>
        </p:nvCxnSpPr>
        <p:spPr>
          <a:xfrm rot="10800000">
            <a:off x="1055232" y="3802690"/>
            <a:ext cx="968055" cy="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454" name="Google Shape;2454;p95">
            <a:extLst>
              <a:ext uri="{FF2B5EF4-FFF2-40B4-BE49-F238E27FC236}">
                <a16:creationId xmlns:a16="http://schemas.microsoft.com/office/drawing/2014/main" id="{72BDDC81-1DBA-4FD3-B75C-18F2D7FC6525}"/>
              </a:ext>
            </a:extLst>
          </p:cNvPr>
          <p:cNvSpPr>
            <a:spLocks noGrp="1"/>
          </p:cNvSpPr>
          <p:nvPr/>
        </p:nvSpPr>
        <p:spPr>
          <a:xfrm>
            <a:off x="1089624" y="3303750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0.06um</a:t>
            </a:r>
          </a:p>
        </p:txBody>
      </p:sp>
      <p:sp>
        <p:nvSpPr>
          <p:cNvPr id="2455" name="Google Shape;2455;p95">
            <a:extLst>
              <a:ext uri="{FF2B5EF4-FFF2-40B4-BE49-F238E27FC236}">
                <a16:creationId xmlns:a16="http://schemas.microsoft.com/office/drawing/2014/main" id="{239CF6CA-FB89-4BF1-942B-7A161A4B5A9B}"/>
              </a:ext>
            </a:extLst>
          </p:cNvPr>
          <p:cNvSpPr>
            <a:spLocks noGrp="1"/>
          </p:cNvSpPr>
          <p:nvPr/>
        </p:nvSpPr>
        <p:spPr>
          <a:xfrm>
            <a:off x="6689719" y="2512948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pic>
        <p:nvPicPr>
          <p:cNvPr id="2564" name="Google Shape;2456;p9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650" y="3910860"/>
            <a:ext cx="5045743" cy="2357618"/>
          </a:xfrm>
          <a:prstGeom prst="rect">
            <a:avLst/>
          </a:prstGeom>
          <a:ln>
            <a:noFill/>
          </a:ln>
        </p:spPr>
      </p:pic>
      <p:pic>
        <p:nvPicPr>
          <p:cNvPr id="2565" name="Google Shape;2457;p9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8240117" y="1571935"/>
            <a:ext cx="2463927" cy="2273417"/>
          </a:xfrm>
          <a:prstGeom prst="rect">
            <a:avLst/>
          </a:prstGeom>
          <a:ln>
            <a:noFill/>
          </a:ln>
        </p:spPr>
      </p:pic>
      <p:sp>
        <p:nvSpPr>
          <p:cNvPr id="2458" name="Google Shape;2458;p95">
            <a:extLst>
              <a:ext uri="{FF2B5EF4-FFF2-40B4-BE49-F238E27FC236}">
                <a16:creationId xmlns:a16="http://schemas.microsoft.com/office/drawing/2014/main" id="{A42700F7-D3B2-4353-B8C1-BE12A23123E1}"/>
              </a:ext>
            </a:extLst>
          </p:cNvPr>
          <p:cNvSpPr>
            <a:spLocks noGrp="1"/>
          </p:cNvSpPr>
          <p:nvPr/>
        </p:nvSpPr>
        <p:spPr>
          <a:xfrm>
            <a:off x="9154027" y="4097159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0.06um</a:t>
            </a:r>
          </a:p>
        </p:txBody>
      </p:sp>
      <p:cxnSp>
        <p:nvCxnSpPr>
          <p:cNvPr id="2567" name="Google Shape;2459;p95"/>
          <p:cNvCxnSpPr/>
          <p:nvPr/>
        </p:nvCxnSpPr>
        <p:spPr>
          <a:xfrm>
            <a:off x="8746899" y="4323663"/>
            <a:ext cx="436338" cy="1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460" name="Google Shape;2460;p95">
            <a:extLst>
              <a:ext uri="{FF2B5EF4-FFF2-40B4-BE49-F238E27FC236}">
                <a16:creationId xmlns:a16="http://schemas.microsoft.com/office/drawing/2014/main" id="{E9BF2B0E-2A40-4759-B6BB-EB1592D21C01}"/>
              </a:ext>
            </a:extLst>
          </p:cNvPr>
          <p:cNvSpPr>
            <a:spLocks noGrp="1"/>
          </p:cNvSpPr>
          <p:nvPr/>
        </p:nvSpPr>
        <p:spPr>
          <a:xfrm>
            <a:off x="8746899" y="5655791"/>
            <a:ext cx="2634442" cy="78843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2461" name="Google Shape;2461;p95">
            <a:extLst>
              <a:ext uri="{FF2B5EF4-FFF2-40B4-BE49-F238E27FC236}">
                <a16:creationId xmlns:a16="http://schemas.microsoft.com/office/drawing/2014/main" id="{3CFD8241-36A4-4AE6-A166-1328EDEBC428}"/>
              </a:ext>
            </a:extLst>
          </p:cNvPr>
          <p:cNvSpPr>
            <a:spLocks noGrp="1"/>
          </p:cNvSpPr>
          <p:nvPr/>
        </p:nvSpPr>
        <p:spPr>
          <a:xfrm>
            <a:off x="9222963" y="5121972"/>
            <a:ext cx="1285181" cy="2055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Silicide</a:t>
            </a:r>
          </a:p>
        </p:txBody>
      </p:sp>
      <p:sp>
        <p:nvSpPr>
          <p:cNvPr id="2462" name="Google Shape;2462;p95">
            <a:extLst>
              <a:ext uri="{FF2B5EF4-FFF2-40B4-BE49-F238E27FC236}">
                <a16:creationId xmlns:a16="http://schemas.microsoft.com/office/drawing/2014/main" id="{C6A5169F-FB13-4864-A332-CAD39D181E81}"/>
              </a:ext>
            </a:extLst>
          </p:cNvPr>
          <p:cNvSpPr>
            <a:spLocks noGrp="1"/>
          </p:cNvSpPr>
          <p:nvPr/>
        </p:nvSpPr>
        <p:spPr>
          <a:xfrm>
            <a:off x="8747456" y="5117275"/>
            <a:ext cx="475506" cy="211125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2463" name="Google Shape;2463;p95">
            <a:extLst>
              <a:ext uri="{FF2B5EF4-FFF2-40B4-BE49-F238E27FC236}">
                <a16:creationId xmlns:a16="http://schemas.microsoft.com/office/drawing/2014/main" id="{1702B7DD-AC92-4FA3-878D-34CCB9EA845A}"/>
              </a:ext>
            </a:extLst>
          </p:cNvPr>
          <p:cNvSpPr>
            <a:spLocks noGrp="1"/>
          </p:cNvSpPr>
          <p:nvPr/>
        </p:nvSpPr>
        <p:spPr>
          <a:xfrm>
            <a:off x="10508700" y="5089669"/>
            <a:ext cx="872642" cy="246231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OXIDE</a:t>
            </a:r>
          </a:p>
        </p:txBody>
      </p:sp>
      <p:sp>
        <p:nvSpPr>
          <p:cNvPr id="2464" name="Google Shape;2464;p95">
            <a:extLst>
              <a:ext uri="{FF2B5EF4-FFF2-40B4-BE49-F238E27FC236}">
                <a16:creationId xmlns:a16="http://schemas.microsoft.com/office/drawing/2014/main" id="{8137EC57-52DE-44CC-8409-16EBB8F76AE0}"/>
              </a:ext>
            </a:extLst>
          </p:cNvPr>
          <p:cNvSpPr>
            <a:spLocks noGrp="1"/>
          </p:cNvSpPr>
          <p:nvPr/>
        </p:nvSpPr>
        <p:spPr>
          <a:xfrm>
            <a:off x="9222963" y="4752863"/>
            <a:ext cx="1277640" cy="368105"/>
          </a:xfrm>
          <a:prstGeom prst="rect">
            <a:avLst/>
          </a:prstGeom>
          <a:solidFill>
            <a:schemeClr val="lt1"/>
          </a:solidFill>
          <a:ln w="12700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CONTACT</a:t>
            </a:r>
            <a:r>
              <a:rPr sz="1600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t</a:t>
            </a:r>
          </a:p>
        </p:txBody>
      </p:sp>
      <p:sp>
        <p:nvSpPr>
          <p:cNvPr id="2465" name="Google Shape;2465;p95">
            <a:extLst>
              <a:ext uri="{FF2B5EF4-FFF2-40B4-BE49-F238E27FC236}">
                <a16:creationId xmlns:a16="http://schemas.microsoft.com/office/drawing/2014/main" id="{F81ECC16-60D6-45B0-851F-00028DD18B7A}"/>
              </a:ext>
            </a:extLst>
          </p:cNvPr>
          <p:cNvSpPr>
            <a:spLocks noGrp="1"/>
          </p:cNvSpPr>
          <p:nvPr/>
        </p:nvSpPr>
        <p:spPr>
          <a:xfrm>
            <a:off x="8746900" y="4744395"/>
            <a:ext cx="467967" cy="36810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ILD</a:t>
            </a:r>
          </a:p>
        </p:txBody>
      </p:sp>
      <p:sp>
        <p:nvSpPr>
          <p:cNvPr id="2466" name="Google Shape;2466;p95">
            <a:extLst>
              <a:ext uri="{FF2B5EF4-FFF2-40B4-BE49-F238E27FC236}">
                <a16:creationId xmlns:a16="http://schemas.microsoft.com/office/drawing/2014/main" id="{B06BB0DD-8630-4C3A-980B-AB1F5996CA11}"/>
              </a:ext>
            </a:extLst>
          </p:cNvPr>
          <p:cNvSpPr>
            <a:spLocks noGrp="1"/>
          </p:cNvSpPr>
          <p:nvPr/>
        </p:nvSpPr>
        <p:spPr>
          <a:xfrm>
            <a:off x="10508137" y="4750333"/>
            <a:ext cx="873204" cy="3531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ILD</a:t>
            </a:r>
          </a:p>
        </p:txBody>
      </p:sp>
      <p:sp>
        <p:nvSpPr>
          <p:cNvPr id="2467" name="Google Shape;2467;p95">
            <a:extLst>
              <a:ext uri="{FF2B5EF4-FFF2-40B4-BE49-F238E27FC236}">
                <a16:creationId xmlns:a16="http://schemas.microsoft.com/office/drawing/2014/main" id="{F0696FB9-4CB4-4BB5-900E-3F1DF5C71C15}"/>
              </a:ext>
            </a:extLst>
          </p:cNvPr>
          <p:cNvSpPr>
            <a:spLocks noGrp="1"/>
          </p:cNvSpPr>
          <p:nvPr/>
        </p:nvSpPr>
        <p:spPr>
          <a:xfrm>
            <a:off x="8747456" y="4413527"/>
            <a:ext cx="2641418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METAL 1</a:t>
            </a:r>
          </a:p>
        </p:txBody>
      </p:sp>
      <p:cxnSp>
        <p:nvCxnSpPr>
          <p:cNvPr id="2576" name="Google Shape;2468;p95"/>
          <p:cNvCxnSpPr/>
          <p:nvPr/>
        </p:nvCxnSpPr>
        <p:spPr>
          <a:xfrm>
            <a:off x="7156955" y="2682297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577" name="Google Shape;2469;p95"/>
          <p:cNvCxnSpPr/>
          <p:nvPr/>
        </p:nvCxnSpPr>
        <p:spPr>
          <a:xfrm>
            <a:off x="8747456" y="2693432"/>
            <a:ext cx="0" cy="205943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578" name="Google Shape;2470;p95"/>
          <p:cNvCxnSpPr/>
          <p:nvPr/>
        </p:nvCxnSpPr>
        <p:spPr>
          <a:xfrm flipH="1">
            <a:off x="9206989" y="2693432"/>
            <a:ext cx="7530" cy="172009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471" name="Google Shape;2471;p95">
            <a:extLst>
              <a:ext uri="{FF2B5EF4-FFF2-40B4-BE49-F238E27FC236}">
                <a16:creationId xmlns:a16="http://schemas.microsoft.com/office/drawing/2014/main" id="{442E5C07-39D9-4456-9ADB-BF14BAF7D00F}"/>
              </a:ext>
            </a:extLst>
          </p:cNvPr>
          <p:cNvSpPr>
            <a:spLocks noGrp="1"/>
          </p:cNvSpPr>
          <p:nvPr/>
        </p:nvSpPr>
        <p:spPr>
          <a:xfrm>
            <a:off x="9154020" y="5316163"/>
            <a:ext cx="1454768" cy="33620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N+</a:t>
            </a:r>
          </a:p>
        </p:txBody>
      </p:sp>
      <p:sp>
        <p:nvSpPr>
          <p:cNvPr id="2472" name="Google Shape;2472;p95">
            <a:extLst>
              <a:ext uri="{FF2B5EF4-FFF2-40B4-BE49-F238E27FC236}">
                <a16:creationId xmlns:a16="http://schemas.microsoft.com/office/drawing/2014/main" id="{C7F846D1-FA6D-452E-980E-66044D80B47E}"/>
              </a:ext>
            </a:extLst>
          </p:cNvPr>
          <p:cNvSpPr>
            <a:spLocks noGrp="1"/>
          </p:cNvSpPr>
          <p:nvPr/>
        </p:nvSpPr>
        <p:spPr>
          <a:xfrm>
            <a:off x="8746900" y="5324992"/>
            <a:ext cx="407120" cy="442847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3" name="Google Shape;2473;p95">
            <a:extLst>
              <a:ext uri="{FF2B5EF4-FFF2-40B4-BE49-F238E27FC236}">
                <a16:creationId xmlns:a16="http://schemas.microsoft.com/office/drawing/2014/main" id="{3E1E314A-4236-42BB-B1DE-CA203FF652C4}"/>
              </a:ext>
            </a:extLst>
          </p:cNvPr>
          <p:cNvSpPr>
            <a:spLocks noGrp="1"/>
          </p:cNvSpPr>
          <p:nvPr/>
        </p:nvSpPr>
        <p:spPr>
          <a:xfrm>
            <a:off x="10608788" y="5324993"/>
            <a:ext cx="780085" cy="442846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2474" name="Google Shape;2474;p95">
            <a:extLst>
              <a:ext uri="{FF2B5EF4-FFF2-40B4-BE49-F238E27FC236}">
                <a16:creationId xmlns:a16="http://schemas.microsoft.com/office/drawing/2014/main" id="{48E42F2C-AFF8-4893-B514-75E035E8757B}"/>
              </a:ext>
            </a:extLst>
          </p:cNvPr>
          <p:cNvSpPr>
            <a:spLocks noGrp="1"/>
          </p:cNvSpPr>
          <p:nvPr/>
        </p:nvSpPr>
        <p:spPr>
          <a:xfrm>
            <a:off x="515294" y="1609671"/>
            <a:ext cx="399339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정렬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오차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보정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안정적인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전류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전달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Open 및 contact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저항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증가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방지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556" name="Slide 5 copied left comparison heading">
            <a:extLst>
              <a:ext uri="{FF2B5EF4-FFF2-40B4-BE49-F238E27FC236}">
                <a16:creationId xmlns:a16="http://schemas.microsoft.com/office/drawing/2014/main" id="{64801DA9-EEFF-4FFD-9B52-32A9D5755D40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2557" name="Slide 5 copied right comparison heading">
            <a:extLst>
              <a:ext uri="{FF2B5EF4-FFF2-40B4-BE49-F238E27FC236}">
                <a16:creationId xmlns:a16="http://schemas.microsoft.com/office/drawing/2014/main" id="{DC118282-0E18-4954-A845-C43607D0B8B1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83EFCC4-1CB5-372D-0FCB-ADF3C9DDCE98}"/>
              </a:ext>
            </a:extLst>
          </p:cNvPr>
          <p:cNvSpPr/>
          <p:nvPr/>
        </p:nvSpPr>
        <p:spPr>
          <a:xfrm>
            <a:off x="9222963" y="5121413"/>
            <a:ext cx="1285181" cy="205538"/>
          </a:xfrm>
          <a:prstGeom prst="rect">
            <a:avLst/>
          </a:prstGeom>
          <a:pattFill prst="wdDnDiag">
            <a:fgClr>
              <a:schemeClr val="accent3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Silicide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6380BBE-B60F-5F10-07E3-14A7723E12C3}"/>
              </a:ext>
            </a:extLst>
          </p:cNvPr>
          <p:cNvSpPr/>
          <p:nvPr/>
        </p:nvSpPr>
        <p:spPr>
          <a:xfrm>
            <a:off x="8746900" y="4743836"/>
            <a:ext cx="467967" cy="368105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ILD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4F1411-8E0A-3183-7945-DE64EE25539B}"/>
              </a:ext>
            </a:extLst>
          </p:cNvPr>
          <p:cNvSpPr/>
          <p:nvPr/>
        </p:nvSpPr>
        <p:spPr>
          <a:xfrm>
            <a:off x="10508137" y="4749774"/>
            <a:ext cx="873204" cy="353140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43856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8" name="Google Shape;2479;p9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94" y="2736182"/>
            <a:ext cx="3319763" cy="3708040"/>
          </a:xfrm>
          <a:prstGeom prst="rect">
            <a:avLst/>
          </a:prstGeom>
          <a:ln>
            <a:noFill/>
          </a:ln>
        </p:spPr>
      </p:pic>
      <p:cxnSp>
        <p:nvCxnSpPr>
          <p:cNvPr id="2560" name="Google Shape;2483;p96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561" name="Google Shape;2484;p96"/>
          <p:cNvGraphicFramePr/>
          <p:nvPr>
            <p:extLst>
              <p:ext uri="{D42A27DB-BD31-4B8C-83A1-F6EECF244321}">
                <p14:modId xmlns:p14="http://schemas.microsoft.com/office/powerpoint/2010/main" val="55169548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METAL1.L.1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0.18um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 err="1">
                          <a:solidFill>
                            <a:schemeClr val="dk1"/>
                          </a:solidFill>
                        </a:rPr>
                        <a:t>Minimun</a:t>
                      </a:r>
                      <a:r>
                        <a:rPr sz="1400" b="0" dirty="0">
                          <a:solidFill>
                            <a:schemeClr val="dk1"/>
                          </a:solidFill>
                        </a:rPr>
                        <a:t> bent Metal1(45 degree angle) length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562" name="Google Shape;2485;p96"/>
          <p:cNvCxnSpPr/>
          <p:nvPr/>
        </p:nvCxnSpPr>
        <p:spPr>
          <a:xfrm flipH="1">
            <a:off x="1068109" y="3490468"/>
            <a:ext cx="2293677" cy="2313673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486" name="Google Shape;2486;p96">
            <a:extLst>
              <a:ext uri="{FF2B5EF4-FFF2-40B4-BE49-F238E27FC236}">
                <a16:creationId xmlns:a16="http://schemas.microsoft.com/office/drawing/2014/main" id="{8A3DF442-2AE0-48D0-9912-775FF58FB07A}"/>
              </a:ext>
            </a:extLst>
          </p:cNvPr>
          <p:cNvSpPr>
            <a:spLocks noGrp="1"/>
          </p:cNvSpPr>
          <p:nvPr/>
        </p:nvSpPr>
        <p:spPr>
          <a:xfrm>
            <a:off x="1171682" y="4277972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0.18um</a:t>
            </a:r>
          </a:p>
        </p:txBody>
      </p:sp>
      <p:pic>
        <p:nvPicPr>
          <p:cNvPr id="2564" name="Google Shape;2487;p9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 rot="2714374">
            <a:off x="8812869" y="1744817"/>
            <a:ext cx="1813816" cy="2025958"/>
          </a:xfrm>
          <a:prstGeom prst="rect">
            <a:avLst/>
          </a:prstGeom>
          <a:ln>
            <a:noFill/>
          </a:ln>
        </p:spPr>
      </p:pic>
      <p:sp>
        <p:nvSpPr>
          <p:cNvPr id="2488" name="Google Shape;2488;p96">
            <a:extLst>
              <a:ext uri="{FF2B5EF4-FFF2-40B4-BE49-F238E27FC236}">
                <a16:creationId xmlns:a16="http://schemas.microsoft.com/office/drawing/2014/main" id="{B46DC94D-BE7A-4DF9-A4AA-3E174DE1CC6D}"/>
              </a:ext>
            </a:extLst>
          </p:cNvPr>
          <p:cNvSpPr>
            <a:spLocks noGrp="1"/>
          </p:cNvSpPr>
          <p:nvPr/>
        </p:nvSpPr>
        <p:spPr>
          <a:xfrm>
            <a:off x="6689719" y="260795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cxnSp>
        <p:nvCxnSpPr>
          <p:cNvPr id="2566" name="Google Shape;2489;p96"/>
          <p:cNvCxnSpPr/>
          <p:nvPr/>
        </p:nvCxnSpPr>
        <p:spPr>
          <a:xfrm>
            <a:off x="7105217" y="2814749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567" name="Google Shape;2490;p96"/>
          <p:cNvCxnSpPr/>
          <p:nvPr/>
        </p:nvCxnSpPr>
        <p:spPr>
          <a:xfrm>
            <a:off x="10720875" y="2814749"/>
            <a:ext cx="0" cy="2146216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568" name="Google Shape;2491;p96"/>
          <p:cNvCxnSpPr/>
          <p:nvPr/>
        </p:nvCxnSpPr>
        <p:spPr>
          <a:xfrm>
            <a:off x="8994732" y="2814749"/>
            <a:ext cx="7845" cy="231382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492" name="Google Shape;2492;p96">
            <a:extLst>
              <a:ext uri="{FF2B5EF4-FFF2-40B4-BE49-F238E27FC236}">
                <a16:creationId xmlns:a16="http://schemas.microsoft.com/office/drawing/2014/main" id="{CD94E390-B6A3-4314-95A8-D8B733D80C71}"/>
              </a:ext>
            </a:extLst>
          </p:cNvPr>
          <p:cNvSpPr>
            <a:spLocks noGrp="1"/>
          </p:cNvSpPr>
          <p:nvPr/>
        </p:nvSpPr>
        <p:spPr>
          <a:xfrm>
            <a:off x="9200901" y="4183177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0.18um</a:t>
            </a:r>
          </a:p>
        </p:txBody>
      </p:sp>
      <p:cxnSp>
        <p:nvCxnSpPr>
          <p:cNvPr id="2570" name="Google Shape;2493;p96"/>
          <p:cNvCxnSpPr/>
          <p:nvPr/>
        </p:nvCxnSpPr>
        <p:spPr>
          <a:xfrm>
            <a:off x="8994732" y="4498126"/>
            <a:ext cx="1726143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494" name="Google Shape;2494;p96">
            <a:extLst>
              <a:ext uri="{FF2B5EF4-FFF2-40B4-BE49-F238E27FC236}">
                <a16:creationId xmlns:a16="http://schemas.microsoft.com/office/drawing/2014/main" id="{85BA982A-9612-4C84-9EC0-FDB23E19F3E2}"/>
              </a:ext>
            </a:extLst>
          </p:cNvPr>
          <p:cNvSpPr>
            <a:spLocks noGrp="1"/>
          </p:cNvSpPr>
          <p:nvPr/>
        </p:nvSpPr>
        <p:spPr>
          <a:xfrm>
            <a:off x="8237725" y="5655791"/>
            <a:ext cx="3143616" cy="78843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2495" name="Google Shape;2495;p96">
            <a:extLst>
              <a:ext uri="{FF2B5EF4-FFF2-40B4-BE49-F238E27FC236}">
                <a16:creationId xmlns:a16="http://schemas.microsoft.com/office/drawing/2014/main" id="{06F240DD-537E-4173-8D8D-A120F789F961}"/>
              </a:ext>
            </a:extLst>
          </p:cNvPr>
          <p:cNvSpPr>
            <a:spLocks noGrp="1"/>
          </p:cNvSpPr>
          <p:nvPr/>
        </p:nvSpPr>
        <p:spPr>
          <a:xfrm>
            <a:off x="8237725" y="4978859"/>
            <a:ext cx="3143616" cy="3531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ILD</a:t>
            </a:r>
          </a:p>
        </p:txBody>
      </p:sp>
      <p:sp>
        <p:nvSpPr>
          <p:cNvPr id="2496" name="Google Shape;2496;p96">
            <a:extLst>
              <a:ext uri="{FF2B5EF4-FFF2-40B4-BE49-F238E27FC236}">
                <a16:creationId xmlns:a16="http://schemas.microsoft.com/office/drawing/2014/main" id="{85AD002F-403C-4784-9089-496FA1B3F1FE}"/>
              </a:ext>
            </a:extLst>
          </p:cNvPr>
          <p:cNvSpPr>
            <a:spLocks noGrp="1"/>
          </p:cNvSpPr>
          <p:nvPr/>
        </p:nvSpPr>
        <p:spPr>
          <a:xfrm>
            <a:off x="8995045" y="4641973"/>
            <a:ext cx="1730165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METAL 1</a:t>
            </a:r>
          </a:p>
        </p:txBody>
      </p:sp>
      <p:sp>
        <p:nvSpPr>
          <p:cNvPr id="2497" name="Google Shape;2497;p96">
            <a:extLst>
              <a:ext uri="{FF2B5EF4-FFF2-40B4-BE49-F238E27FC236}">
                <a16:creationId xmlns:a16="http://schemas.microsoft.com/office/drawing/2014/main" id="{4FE0CF72-627A-4A42-A2E3-2ADB1078CA6D}"/>
              </a:ext>
            </a:extLst>
          </p:cNvPr>
          <p:cNvSpPr>
            <a:spLocks noGrp="1"/>
          </p:cNvSpPr>
          <p:nvPr/>
        </p:nvSpPr>
        <p:spPr>
          <a:xfrm>
            <a:off x="8236269" y="5330931"/>
            <a:ext cx="3152605" cy="3282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2498" name="Google Shape;2498;p96">
            <a:extLst>
              <a:ext uri="{FF2B5EF4-FFF2-40B4-BE49-F238E27FC236}">
                <a16:creationId xmlns:a16="http://schemas.microsoft.com/office/drawing/2014/main" id="{36624AC4-DD86-4594-AD0D-51A9DC5A4E5D}"/>
              </a:ext>
            </a:extLst>
          </p:cNvPr>
          <p:cNvSpPr>
            <a:spLocks noGrp="1"/>
          </p:cNvSpPr>
          <p:nvPr/>
        </p:nvSpPr>
        <p:spPr>
          <a:xfrm>
            <a:off x="515294" y="1539914"/>
            <a:ext cx="388825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45°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패턴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형성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안정성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식각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안정성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Open및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배선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불량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방지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556" name="Slide 5 copied left comparison heading">
            <a:extLst>
              <a:ext uri="{FF2B5EF4-FFF2-40B4-BE49-F238E27FC236}">
                <a16:creationId xmlns:a16="http://schemas.microsoft.com/office/drawing/2014/main" id="{102F67CF-1C18-485D-9264-E7700E16E353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2557" name="Slide 5 copied right comparison heading">
            <a:extLst>
              <a:ext uri="{FF2B5EF4-FFF2-40B4-BE49-F238E27FC236}">
                <a16:creationId xmlns:a16="http://schemas.microsoft.com/office/drawing/2014/main" id="{3ECC5486-E10E-4001-804A-9CCF395791B6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1012C9-DB67-8C33-A5D2-C177D98E7E94}"/>
              </a:ext>
            </a:extLst>
          </p:cNvPr>
          <p:cNvSpPr/>
          <p:nvPr/>
        </p:nvSpPr>
        <p:spPr>
          <a:xfrm>
            <a:off x="8245258" y="4911861"/>
            <a:ext cx="3143616" cy="353140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0705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0" name="Google Shape;2503;p9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294" y="3112851"/>
            <a:ext cx="3439611" cy="3331371"/>
          </a:xfrm>
          <a:prstGeom prst="rect">
            <a:avLst/>
          </a:prstGeom>
          <a:ln>
            <a:noFill/>
          </a:ln>
        </p:spPr>
      </p:pic>
      <p:cxnSp>
        <p:nvCxnSpPr>
          <p:cNvPr id="2602" name="Google Shape;2507;p97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603" name="Google Shape;2508;p97"/>
          <p:cNvGraphicFramePr/>
          <p:nvPr>
            <p:extLst>
              <p:ext uri="{D42A27DB-BD31-4B8C-83A1-F6EECF244321}">
                <p14:modId xmlns:p14="http://schemas.microsoft.com/office/powerpoint/2010/main" val="239273161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METAL1.SP.2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0.16um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 err="1">
                          <a:solidFill>
                            <a:schemeClr val="dk1"/>
                          </a:solidFill>
                        </a:rPr>
                        <a:t>Minimun</a:t>
                      </a:r>
                      <a:r>
                        <a:rPr sz="1400" b="0" dirty="0">
                          <a:solidFill>
                            <a:schemeClr val="dk1"/>
                          </a:solidFill>
                        </a:rPr>
                        <a:t> bent Metal1(45 degree angle) space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604" name="Google Shape;2509;p97"/>
          <p:cNvCxnSpPr/>
          <p:nvPr/>
        </p:nvCxnSpPr>
        <p:spPr>
          <a:xfrm rot="10800000">
            <a:off x="2235099" y="4597961"/>
            <a:ext cx="227774" cy="211657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510" name="Google Shape;2510;p97">
            <a:extLst>
              <a:ext uri="{FF2B5EF4-FFF2-40B4-BE49-F238E27FC236}">
                <a16:creationId xmlns:a16="http://schemas.microsoft.com/office/drawing/2014/main" id="{F953F4EE-5DF9-4DAE-9A3A-F6D57C86C358}"/>
              </a:ext>
            </a:extLst>
          </p:cNvPr>
          <p:cNvSpPr>
            <a:spLocks noGrp="1"/>
          </p:cNvSpPr>
          <p:nvPr/>
        </p:nvSpPr>
        <p:spPr>
          <a:xfrm>
            <a:off x="1827353" y="4166485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0.16um</a:t>
            </a:r>
          </a:p>
        </p:txBody>
      </p:sp>
      <p:sp>
        <p:nvSpPr>
          <p:cNvPr id="2511" name="Google Shape;2511;p97">
            <a:extLst>
              <a:ext uri="{FF2B5EF4-FFF2-40B4-BE49-F238E27FC236}">
                <a16:creationId xmlns:a16="http://schemas.microsoft.com/office/drawing/2014/main" id="{B3DBA90C-123F-44E2-A03D-D149B7969800}"/>
              </a:ext>
            </a:extLst>
          </p:cNvPr>
          <p:cNvSpPr>
            <a:spLocks noGrp="1"/>
          </p:cNvSpPr>
          <p:nvPr/>
        </p:nvSpPr>
        <p:spPr>
          <a:xfrm>
            <a:off x="6689719" y="2383772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pic>
        <p:nvPicPr>
          <p:cNvPr id="2607" name="Google Shape;2512;p9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 rot="-2672071">
            <a:off x="8167037" y="1863420"/>
            <a:ext cx="2273876" cy="2202320"/>
          </a:xfrm>
          <a:prstGeom prst="rect">
            <a:avLst/>
          </a:prstGeom>
          <a:ln>
            <a:noFill/>
          </a:ln>
        </p:spPr>
      </p:pic>
      <p:cxnSp>
        <p:nvCxnSpPr>
          <p:cNvPr id="2608" name="Google Shape;2513;p97"/>
          <p:cNvCxnSpPr/>
          <p:nvPr/>
        </p:nvCxnSpPr>
        <p:spPr>
          <a:xfrm>
            <a:off x="9226475" y="2565522"/>
            <a:ext cx="0" cy="2098579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609" name="Google Shape;2514;p97"/>
          <p:cNvCxnSpPr/>
          <p:nvPr/>
        </p:nvCxnSpPr>
        <p:spPr>
          <a:xfrm>
            <a:off x="9431098" y="2589079"/>
            <a:ext cx="0" cy="207502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610" name="Google Shape;2515;p97"/>
          <p:cNvCxnSpPr/>
          <p:nvPr/>
        </p:nvCxnSpPr>
        <p:spPr>
          <a:xfrm>
            <a:off x="7105217" y="2565524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611" name="Google Shape;2516;p97"/>
          <p:cNvCxnSpPr/>
          <p:nvPr/>
        </p:nvCxnSpPr>
        <p:spPr>
          <a:xfrm>
            <a:off x="9218942" y="4628755"/>
            <a:ext cx="212156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517" name="Google Shape;2517;p97">
            <a:extLst>
              <a:ext uri="{FF2B5EF4-FFF2-40B4-BE49-F238E27FC236}">
                <a16:creationId xmlns:a16="http://schemas.microsoft.com/office/drawing/2014/main" id="{2E8CA893-1AC3-4360-B576-A0E6C62DDF48}"/>
              </a:ext>
            </a:extLst>
          </p:cNvPr>
          <p:cNvSpPr>
            <a:spLocks noGrp="1"/>
          </p:cNvSpPr>
          <p:nvPr/>
        </p:nvSpPr>
        <p:spPr>
          <a:xfrm>
            <a:off x="7721247" y="5655791"/>
            <a:ext cx="3660094" cy="78843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2518" name="Google Shape;2518;p97">
            <a:extLst>
              <a:ext uri="{FF2B5EF4-FFF2-40B4-BE49-F238E27FC236}">
                <a16:creationId xmlns:a16="http://schemas.microsoft.com/office/drawing/2014/main" id="{2ABE589D-F68E-4B66-B507-7E7836D34425}"/>
              </a:ext>
            </a:extLst>
          </p:cNvPr>
          <p:cNvSpPr>
            <a:spLocks noGrp="1"/>
          </p:cNvSpPr>
          <p:nvPr/>
        </p:nvSpPr>
        <p:spPr>
          <a:xfrm>
            <a:off x="7721247" y="4978859"/>
            <a:ext cx="3660094" cy="3531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ILD</a:t>
            </a:r>
          </a:p>
        </p:txBody>
      </p:sp>
      <p:sp>
        <p:nvSpPr>
          <p:cNvPr id="2519" name="Google Shape;2519;p97">
            <a:extLst>
              <a:ext uri="{FF2B5EF4-FFF2-40B4-BE49-F238E27FC236}">
                <a16:creationId xmlns:a16="http://schemas.microsoft.com/office/drawing/2014/main" id="{85E930DF-F7A8-460D-B899-6AABA73AE06E}"/>
              </a:ext>
            </a:extLst>
          </p:cNvPr>
          <p:cNvSpPr>
            <a:spLocks noGrp="1"/>
          </p:cNvSpPr>
          <p:nvPr/>
        </p:nvSpPr>
        <p:spPr>
          <a:xfrm>
            <a:off x="9035976" y="4630098"/>
            <a:ext cx="182966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0" name="Google Shape;2520;p97">
            <a:extLst>
              <a:ext uri="{FF2B5EF4-FFF2-40B4-BE49-F238E27FC236}">
                <a16:creationId xmlns:a16="http://schemas.microsoft.com/office/drawing/2014/main" id="{FAA15414-CA26-4798-9827-282838DF62F4}"/>
              </a:ext>
            </a:extLst>
          </p:cNvPr>
          <p:cNvSpPr>
            <a:spLocks noGrp="1"/>
          </p:cNvSpPr>
          <p:nvPr/>
        </p:nvSpPr>
        <p:spPr>
          <a:xfrm>
            <a:off x="7718315" y="5330931"/>
            <a:ext cx="3670560" cy="3282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cxnSp>
        <p:nvCxnSpPr>
          <p:cNvPr id="2616" name="Google Shape;2521;p97"/>
          <p:cNvCxnSpPr/>
          <p:nvPr/>
        </p:nvCxnSpPr>
        <p:spPr>
          <a:xfrm>
            <a:off x="9035975" y="4337065"/>
            <a:ext cx="0" cy="479436"/>
          </a:xfrm>
          <a:prstGeom prst="straightConnector1">
            <a:avLst/>
          </a:prstGeom>
          <a:ln>
            <a:noFill/>
          </a:ln>
        </p:spPr>
      </p:cxnSp>
      <p:cxnSp>
        <p:nvCxnSpPr>
          <p:cNvPr id="2617" name="Google Shape;2522;p97"/>
          <p:cNvCxnSpPr/>
          <p:nvPr/>
        </p:nvCxnSpPr>
        <p:spPr>
          <a:xfrm>
            <a:off x="9575872" y="3740727"/>
            <a:ext cx="7539" cy="1075774"/>
          </a:xfrm>
          <a:prstGeom prst="straightConnector1">
            <a:avLst/>
          </a:prstGeom>
          <a:ln>
            <a:noFill/>
          </a:ln>
        </p:spPr>
      </p:cxnSp>
      <p:sp>
        <p:nvSpPr>
          <p:cNvPr id="2523" name="Google Shape;2523;p97">
            <a:extLst>
              <a:ext uri="{FF2B5EF4-FFF2-40B4-BE49-F238E27FC236}">
                <a16:creationId xmlns:a16="http://schemas.microsoft.com/office/drawing/2014/main" id="{52C8AE1B-4211-4CEC-99F5-30739070BE12}"/>
              </a:ext>
            </a:extLst>
          </p:cNvPr>
          <p:cNvSpPr>
            <a:spLocks noGrp="1"/>
          </p:cNvSpPr>
          <p:nvPr/>
        </p:nvSpPr>
        <p:spPr>
          <a:xfrm>
            <a:off x="9431098" y="4626609"/>
            <a:ext cx="144774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4" name="Google Shape;2524;p97">
            <a:extLst>
              <a:ext uri="{FF2B5EF4-FFF2-40B4-BE49-F238E27FC236}">
                <a16:creationId xmlns:a16="http://schemas.microsoft.com/office/drawing/2014/main" id="{DC9F7E79-9801-44E2-BA74-7486DFE15517}"/>
              </a:ext>
            </a:extLst>
          </p:cNvPr>
          <p:cNvSpPr>
            <a:spLocks noGrp="1"/>
          </p:cNvSpPr>
          <p:nvPr/>
        </p:nvSpPr>
        <p:spPr>
          <a:xfrm>
            <a:off x="9497489" y="4245048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0.16um</a:t>
            </a:r>
          </a:p>
        </p:txBody>
      </p:sp>
      <p:sp>
        <p:nvSpPr>
          <p:cNvPr id="2525" name="Google Shape;2525;p97">
            <a:extLst>
              <a:ext uri="{FF2B5EF4-FFF2-40B4-BE49-F238E27FC236}">
                <a16:creationId xmlns:a16="http://schemas.microsoft.com/office/drawing/2014/main" id="{B79639C9-159B-4C6A-A0E0-6A56C7F340CA}"/>
              </a:ext>
            </a:extLst>
          </p:cNvPr>
          <p:cNvSpPr>
            <a:spLocks noGrp="1"/>
          </p:cNvSpPr>
          <p:nvPr/>
        </p:nvSpPr>
        <p:spPr>
          <a:xfrm>
            <a:off x="515294" y="1646377"/>
            <a:ext cx="511039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안정성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및 Short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방지를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45° Metal1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간격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규정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598" name="Slide 5 copied left comparison heading">
            <a:extLst>
              <a:ext uri="{FF2B5EF4-FFF2-40B4-BE49-F238E27FC236}">
                <a16:creationId xmlns:a16="http://schemas.microsoft.com/office/drawing/2014/main" id="{7F44681B-FED7-49C2-851F-8366D3CD28C3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2599" name="Slide 5 copied right comparison heading">
            <a:extLst>
              <a:ext uri="{FF2B5EF4-FFF2-40B4-BE49-F238E27FC236}">
                <a16:creationId xmlns:a16="http://schemas.microsoft.com/office/drawing/2014/main" id="{6B6A1238-DA0A-48E0-9160-050D0C4E1203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86830B-B99A-31BE-B259-10A34E21108D}"/>
              </a:ext>
            </a:extLst>
          </p:cNvPr>
          <p:cNvSpPr/>
          <p:nvPr/>
        </p:nvSpPr>
        <p:spPr>
          <a:xfrm>
            <a:off x="7766475" y="4951824"/>
            <a:ext cx="3660094" cy="353140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6440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9" name="Google Shape;2530;p9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11" y="3619300"/>
            <a:ext cx="5381715" cy="2824922"/>
          </a:xfrm>
          <a:prstGeom prst="rect">
            <a:avLst/>
          </a:prstGeom>
          <a:ln>
            <a:noFill/>
          </a:ln>
        </p:spPr>
      </p:pic>
      <p:cxnSp>
        <p:nvCxnSpPr>
          <p:cNvPr id="2611" name="Google Shape;2534;p98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612" name="Google Shape;2535;p98"/>
          <p:cNvGraphicFramePr/>
          <p:nvPr>
            <p:extLst>
              <p:ext uri="{D42A27DB-BD31-4B8C-83A1-F6EECF244321}">
                <p14:modId xmlns:p14="http://schemas.microsoft.com/office/powerpoint/2010/main" val="1528481648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METAL1.W.3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0.14um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 err="1">
                          <a:solidFill>
                            <a:schemeClr val="dk1"/>
                          </a:solidFill>
                        </a:rPr>
                        <a:t>Minimun</a:t>
                      </a:r>
                      <a:r>
                        <a:rPr sz="1400" b="0" dirty="0">
                          <a:solidFill>
                            <a:schemeClr val="dk1"/>
                          </a:solidFill>
                        </a:rPr>
                        <a:t> bent Metal1(45 degree angle) width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613" name="Google Shape;2536;p98"/>
          <p:cNvCxnSpPr/>
          <p:nvPr/>
        </p:nvCxnSpPr>
        <p:spPr>
          <a:xfrm rot="10800000">
            <a:off x="2660073" y="5111791"/>
            <a:ext cx="493295" cy="483700"/>
          </a:xfrm>
          <a:prstGeom prst="straightConnector1">
            <a:avLst/>
          </a:prstGeom>
          <a:ln w="31750" cap="flat">
            <a:solidFill>
              <a:srgbClr val="FF0000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537" name="Google Shape;2537;p98">
            <a:extLst>
              <a:ext uri="{FF2B5EF4-FFF2-40B4-BE49-F238E27FC236}">
                <a16:creationId xmlns:a16="http://schemas.microsoft.com/office/drawing/2014/main" id="{2E415D89-5D40-4E99-9884-03873804E77A}"/>
              </a:ext>
            </a:extLst>
          </p:cNvPr>
          <p:cNvSpPr>
            <a:spLocks noGrp="1"/>
          </p:cNvSpPr>
          <p:nvPr/>
        </p:nvSpPr>
        <p:spPr>
          <a:xfrm>
            <a:off x="1717636" y="4650940"/>
            <a:ext cx="104326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0.14um</a:t>
            </a:r>
          </a:p>
        </p:txBody>
      </p:sp>
      <p:sp>
        <p:nvSpPr>
          <p:cNvPr id="2538" name="Google Shape;2538;p98">
            <a:extLst>
              <a:ext uri="{FF2B5EF4-FFF2-40B4-BE49-F238E27FC236}">
                <a16:creationId xmlns:a16="http://schemas.microsoft.com/office/drawing/2014/main" id="{6FC9DFC1-A2A5-44FB-ADB7-6B36328875B8}"/>
              </a:ext>
            </a:extLst>
          </p:cNvPr>
          <p:cNvSpPr>
            <a:spLocks noGrp="1"/>
          </p:cNvSpPr>
          <p:nvPr/>
        </p:nvSpPr>
        <p:spPr>
          <a:xfrm>
            <a:off x="6689719" y="260795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sp>
        <p:nvSpPr>
          <p:cNvPr id="2539" name="Google Shape;2539;p98">
            <a:extLst>
              <a:ext uri="{FF2B5EF4-FFF2-40B4-BE49-F238E27FC236}">
                <a16:creationId xmlns:a16="http://schemas.microsoft.com/office/drawing/2014/main" id="{98C7D7AA-901E-4088-B2A9-E5398C4C6D19}"/>
              </a:ext>
            </a:extLst>
          </p:cNvPr>
          <p:cNvSpPr>
            <a:spLocks noGrp="1"/>
          </p:cNvSpPr>
          <p:nvPr/>
        </p:nvSpPr>
        <p:spPr>
          <a:xfrm>
            <a:off x="9429962" y="4301647"/>
            <a:ext cx="118402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0.14um</a:t>
            </a:r>
          </a:p>
        </p:txBody>
      </p:sp>
      <p:pic>
        <p:nvPicPr>
          <p:cNvPr id="2617" name="Google Shape;2540;p9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 rot="-2731980">
            <a:off x="8097070" y="2089325"/>
            <a:ext cx="2343077" cy="1229906"/>
          </a:xfrm>
          <a:prstGeom prst="rect">
            <a:avLst/>
          </a:prstGeom>
          <a:ln>
            <a:noFill/>
          </a:ln>
        </p:spPr>
      </p:pic>
      <p:cxnSp>
        <p:nvCxnSpPr>
          <p:cNvPr id="2618" name="Google Shape;2541;p98"/>
          <p:cNvCxnSpPr/>
          <p:nvPr/>
        </p:nvCxnSpPr>
        <p:spPr>
          <a:xfrm>
            <a:off x="7105217" y="2814749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619" name="Google Shape;2542;p98"/>
          <p:cNvCxnSpPr/>
          <p:nvPr/>
        </p:nvCxnSpPr>
        <p:spPr>
          <a:xfrm>
            <a:off x="9121554" y="2837255"/>
            <a:ext cx="0" cy="1802946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620" name="Google Shape;2543;p98"/>
          <p:cNvCxnSpPr/>
          <p:nvPr/>
        </p:nvCxnSpPr>
        <p:spPr>
          <a:xfrm>
            <a:off x="9458970" y="2860814"/>
            <a:ext cx="0" cy="180328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621" name="Google Shape;2544;p98"/>
          <p:cNvCxnSpPr/>
          <p:nvPr/>
        </p:nvCxnSpPr>
        <p:spPr>
          <a:xfrm>
            <a:off x="9112488" y="4506862"/>
            <a:ext cx="346482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545" name="Google Shape;2545;p98">
            <a:extLst>
              <a:ext uri="{FF2B5EF4-FFF2-40B4-BE49-F238E27FC236}">
                <a16:creationId xmlns:a16="http://schemas.microsoft.com/office/drawing/2014/main" id="{68513E48-0E60-4A3E-9B6C-0E2236244696}"/>
              </a:ext>
            </a:extLst>
          </p:cNvPr>
          <p:cNvSpPr>
            <a:spLocks noGrp="1"/>
          </p:cNvSpPr>
          <p:nvPr/>
        </p:nvSpPr>
        <p:spPr>
          <a:xfrm>
            <a:off x="8237725" y="5655791"/>
            <a:ext cx="3143616" cy="78843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2546" name="Google Shape;2546;p98">
            <a:extLst>
              <a:ext uri="{FF2B5EF4-FFF2-40B4-BE49-F238E27FC236}">
                <a16:creationId xmlns:a16="http://schemas.microsoft.com/office/drawing/2014/main" id="{929EB09B-46DE-485B-8048-AEB454D0E244}"/>
              </a:ext>
            </a:extLst>
          </p:cNvPr>
          <p:cNvSpPr>
            <a:spLocks noGrp="1"/>
          </p:cNvSpPr>
          <p:nvPr/>
        </p:nvSpPr>
        <p:spPr>
          <a:xfrm>
            <a:off x="8237725" y="4978859"/>
            <a:ext cx="3143616" cy="3531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ILD</a:t>
            </a:r>
          </a:p>
        </p:txBody>
      </p:sp>
      <p:sp>
        <p:nvSpPr>
          <p:cNvPr id="2547" name="Google Shape;2547;p98">
            <a:extLst>
              <a:ext uri="{FF2B5EF4-FFF2-40B4-BE49-F238E27FC236}">
                <a16:creationId xmlns:a16="http://schemas.microsoft.com/office/drawing/2014/main" id="{13C3BB87-A336-4E21-BD83-656869245B44}"/>
              </a:ext>
            </a:extLst>
          </p:cNvPr>
          <p:cNvSpPr>
            <a:spLocks noGrp="1"/>
          </p:cNvSpPr>
          <p:nvPr/>
        </p:nvSpPr>
        <p:spPr>
          <a:xfrm>
            <a:off x="9130621" y="4642898"/>
            <a:ext cx="328350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8" name="Google Shape;2548;p98">
            <a:extLst>
              <a:ext uri="{FF2B5EF4-FFF2-40B4-BE49-F238E27FC236}">
                <a16:creationId xmlns:a16="http://schemas.microsoft.com/office/drawing/2014/main" id="{BFBB33A4-569E-43D7-86F7-0BBE6314C5BD}"/>
              </a:ext>
            </a:extLst>
          </p:cNvPr>
          <p:cNvSpPr>
            <a:spLocks noGrp="1"/>
          </p:cNvSpPr>
          <p:nvPr/>
        </p:nvSpPr>
        <p:spPr>
          <a:xfrm>
            <a:off x="8236269" y="5330931"/>
            <a:ext cx="3152605" cy="3282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2549" name="Google Shape;2549;p98">
            <a:extLst>
              <a:ext uri="{FF2B5EF4-FFF2-40B4-BE49-F238E27FC236}">
                <a16:creationId xmlns:a16="http://schemas.microsoft.com/office/drawing/2014/main" id="{C25BA83F-03E9-4A38-9F63-CE721EAC06A2}"/>
              </a:ext>
            </a:extLst>
          </p:cNvPr>
          <p:cNvSpPr>
            <a:spLocks noGrp="1"/>
          </p:cNvSpPr>
          <p:nvPr/>
        </p:nvSpPr>
        <p:spPr>
          <a:xfrm>
            <a:off x="515294" y="1648372"/>
            <a:ext cx="522344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안정성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배선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신뢰성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확보를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위한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45° Metal1 폭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규정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07" name="Slide 5 copied left comparison heading">
            <a:extLst>
              <a:ext uri="{FF2B5EF4-FFF2-40B4-BE49-F238E27FC236}">
                <a16:creationId xmlns:a16="http://schemas.microsoft.com/office/drawing/2014/main" id="{ABD869FD-98AD-4F12-9447-706872ED4FAF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2608" name="Slide 5 copied right comparison heading">
            <a:extLst>
              <a:ext uri="{FF2B5EF4-FFF2-40B4-BE49-F238E27FC236}">
                <a16:creationId xmlns:a16="http://schemas.microsoft.com/office/drawing/2014/main" id="{FE795202-C4E6-45FD-8E66-C0169B6ECC5B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E0ADB2-7D5A-5C71-644A-F64309D67A55}"/>
              </a:ext>
            </a:extLst>
          </p:cNvPr>
          <p:cNvSpPr/>
          <p:nvPr/>
        </p:nvSpPr>
        <p:spPr>
          <a:xfrm>
            <a:off x="8236269" y="4969212"/>
            <a:ext cx="3152605" cy="353140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15444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74" name="Google Shape;2557;p99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675" name="Google Shape;2558;p99"/>
          <p:cNvGraphicFramePr/>
          <p:nvPr>
            <p:extLst>
              <p:ext uri="{D42A27DB-BD31-4B8C-83A1-F6EECF244321}">
                <p14:modId xmlns:p14="http://schemas.microsoft.com/office/powerpoint/2010/main" val="3160052559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METAL1.A.1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</a:rPr>
                        <a:t>---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>
                          <a:solidFill>
                            <a:schemeClr val="dk1"/>
                          </a:solidFill>
                        </a:rPr>
                        <a:t>Minimu</a:t>
                      </a:r>
                      <a:r>
                        <a:rPr lang="en-US" sz="1400" b="0" dirty="0">
                          <a:solidFill>
                            <a:schemeClr val="dk1"/>
                          </a:solidFill>
                        </a:rPr>
                        <a:t>m</a:t>
                      </a:r>
                      <a:r>
                        <a:rPr sz="1400" b="0" dirty="0">
                          <a:solidFill>
                            <a:schemeClr val="dk1"/>
                          </a:solidFill>
                        </a:rPr>
                        <a:t> bent Metal1 area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59" name="Google Shape;2559;p99">
            <a:extLst>
              <a:ext uri="{FF2B5EF4-FFF2-40B4-BE49-F238E27FC236}">
                <a16:creationId xmlns:a16="http://schemas.microsoft.com/office/drawing/2014/main" id="{172A7EDE-5A56-4D0A-A929-D102ADBFBB49}"/>
              </a:ext>
            </a:extLst>
          </p:cNvPr>
          <p:cNvSpPr>
            <a:spLocks noGrp="1"/>
          </p:cNvSpPr>
          <p:nvPr/>
        </p:nvSpPr>
        <p:spPr>
          <a:xfrm>
            <a:off x="3021890" y="3618554"/>
            <a:ext cx="1352230" cy="37555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054" t="-8197" b="-26229"/>
            </a:stretch>
          </a:blipFill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latin typeface="Malgun Gothic"/>
                <a:ea typeface="Malgun Gothic"/>
                <a:cs typeface="Malgun Gothic"/>
              </a:rPr>
              <a:t> </a:t>
            </a:r>
          </a:p>
        </p:txBody>
      </p:sp>
      <p:pic>
        <p:nvPicPr>
          <p:cNvPr id="2677" name="Google Shape;2560;p99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977" y="2704172"/>
            <a:ext cx="1401285" cy="3740050"/>
          </a:xfrm>
          <a:prstGeom prst="rect">
            <a:avLst/>
          </a:prstGeom>
          <a:ln>
            <a:noFill/>
          </a:ln>
        </p:spPr>
      </p:pic>
      <p:cxnSp>
        <p:nvCxnSpPr>
          <p:cNvPr id="2678" name="Google Shape;2561;p99"/>
          <p:cNvCxnSpPr/>
          <p:nvPr/>
        </p:nvCxnSpPr>
        <p:spPr>
          <a:xfrm rot="10800000" flipH="1">
            <a:off x="1366031" y="3805217"/>
            <a:ext cx="1586700" cy="969600"/>
          </a:xfrm>
          <a:prstGeom prst="curvedConnector3">
            <a:avLst>
              <a:gd name="adj1" fmla="val 49999"/>
            </a:avLst>
          </a:prstGeom>
          <a:ln w="28575" cap="flat">
            <a:solidFill>
              <a:srgbClr val="FF0000"/>
            </a:solidFill>
            <a:prstDash val="solid"/>
            <a:miter/>
            <a:headEnd type="none" w="sm" len="sm"/>
            <a:tailEnd type="triangle" w="med" len="med"/>
          </a:ln>
        </p:spPr>
      </p:cxnSp>
      <p:sp>
        <p:nvSpPr>
          <p:cNvPr id="2562" name="Google Shape;2562;p99">
            <a:extLst>
              <a:ext uri="{FF2B5EF4-FFF2-40B4-BE49-F238E27FC236}">
                <a16:creationId xmlns:a16="http://schemas.microsoft.com/office/drawing/2014/main" id="{70977DBC-CA3C-44CC-8CDE-A42748EC910C}"/>
              </a:ext>
            </a:extLst>
          </p:cNvPr>
          <p:cNvSpPr>
            <a:spLocks noGrp="1"/>
          </p:cNvSpPr>
          <p:nvPr/>
        </p:nvSpPr>
        <p:spPr>
          <a:xfrm>
            <a:off x="6689719" y="2607953"/>
            <a:ext cx="4154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✄</a:t>
            </a:r>
          </a:p>
        </p:txBody>
      </p:sp>
      <p:pic>
        <p:nvPicPr>
          <p:cNvPr id="2680" name="Google Shape;2563;p99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94610" y="1519819"/>
            <a:ext cx="912148" cy="2434536"/>
          </a:xfrm>
          <a:prstGeom prst="rect">
            <a:avLst/>
          </a:prstGeom>
          <a:ln>
            <a:noFill/>
          </a:ln>
        </p:spPr>
      </p:pic>
      <p:cxnSp>
        <p:nvCxnSpPr>
          <p:cNvPr id="2681" name="Google Shape;2564;p99"/>
          <p:cNvCxnSpPr/>
          <p:nvPr/>
        </p:nvCxnSpPr>
        <p:spPr>
          <a:xfrm>
            <a:off x="7105217" y="2814749"/>
            <a:ext cx="4740442" cy="0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682" name="Google Shape;2565;p99"/>
          <p:cNvCxnSpPr/>
          <p:nvPr/>
        </p:nvCxnSpPr>
        <p:spPr>
          <a:xfrm>
            <a:off x="8959555" y="2814749"/>
            <a:ext cx="0" cy="181604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683" name="Google Shape;2566;p99"/>
          <p:cNvCxnSpPr/>
          <p:nvPr/>
        </p:nvCxnSpPr>
        <p:spPr>
          <a:xfrm>
            <a:off x="9409336" y="2827503"/>
            <a:ext cx="0" cy="1803287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684" name="Google Shape;2567;p99"/>
          <p:cNvCxnSpPr/>
          <p:nvPr/>
        </p:nvCxnSpPr>
        <p:spPr>
          <a:xfrm>
            <a:off x="8959555" y="4506862"/>
            <a:ext cx="442247" cy="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568" name="Google Shape;2568;p99">
            <a:extLst>
              <a:ext uri="{FF2B5EF4-FFF2-40B4-BE49-F238E27FC236}">
                <a16:creationId xmlns:a16="http://schemas.microsoft.com/office/drawing/2014/main" id="{D26F36B3-B8D4-4406-9D6F-29AFBC82D140}"/>
              </a:ext>
            </a:extLst>
          </p:cNvPr>
          <p:cNvSpPr>
            <a:spLocks noGrp="1"/>
          </p:cNvSpPr>
          <p:nvPr/>
        </p:nvSpPr>
        <p:spPr>
          <a:xfrm>
            <a:off x="8237725" y="5655791"/>
            <a:ext cx="3143616" cy="788431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sp>
        <p:nvSpPr>
          <p:cNvPr id="2569" name="Google Shape;2569;p99">
            <a:extLst>
              <a:ext uri="{FF2B5EF4-FFF2-40B4-BE49-F238E27FC236}">
                <a16:creationId xmlns:a16="http://schemas.microsoft.com/office/drawing/2014/main" id="{426511AE-D832-4038-B5E3-FDD4A6274966}"/>
              </a:ext>
            </a:extLst>
          </p:cNvPr>
          <p:cNvSpPr>
            <a:spLocks noGrp="1"/>
          </p:cNvSpPr>
          <p:nvPr/>
        </p:nvSpPr>
        <p:spPr>
          <a:xfrm>
            <a:off x="8237725" y="4978859"/>
            <a:ext cx="3143616" cy="3531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ILD</a:t>
            </a:r>
          </a:p>
        </p:txBody>
      </p:sp>
      <p:sp>
        <p:nvSpPr>
          <p:cNvPr id="2570" name="Google Shape;2570;p99">
            <a:extLst>
              <a:ext uri="{FF2B5EF4-FFF2-40B4-BE49-F238E27FC236}">
                <a16:creationId xmlns:a16="http://schemas.microsoft.com/office/drawing/2014/main" id="{E19069D3-4034-4A69-A93F-1632DD093663}"/>
              </a:ext>
            </a:extLst>
          </p:cNvPr>
          <p:cNvSpPr>
            <a:spLocks noGrp="1"/>
          </p:cNvSpPr>
          <p:nvPr/>
        </p:nvSpPr>
        <p:spPr>
          <a:xfrm>
            <a:off x="8959555" y="4642898"/>
            <a:ext cx="442247" cy="330868"/>
          </a:xfrm>
          <a:prstGeom prst="rect">
            <a:avLst/>
          </a:prstGeom>
          <a:solidFill>
            <a:srgbClr val="D4DBE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1" name="Google Shape;2571;p99">
            <a:extLst>
              <a:ext uri="{FF2B5EF4-FFF2-40B4-BE49-F238E27FC236}">
                <a16:creationId xmlns:a16="http://schemas.microsoft.com/office/drawing/2014/main" id="{CF358989-780C-4391-B0FE-FF94725DDFC4}"/>
              </a:ext>
            </a:extLst>
          </p:cNvPr>
          <p:cNvSpPr>
            <a:spLocks noGrp="1"/>
          </p:cNvSpPr>
          <p:nvPr/>
        </p:nvSpPr>
        <p:spPr>
          <a:xfrm>
            <a:off x="8236269" y="5330931"/>
            <a:ext cx="3152605" cy="3282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sp>
        <p:nvSpPr>
          <p:cNvPr id="2572" name="Google Shape;2572;p99">
            <a:extLst>
              <a:ext uri="{FF2B5EF4-FFF2-40B4-BE49-F238E27FC236}">
                <a16:creationId xmlns:a16="http://schemas.microsoft.com/office/drawing/2014/main" id="{704A74DF-B2FA-4AE0-A78C-7E47833765C6}"/>
              </a:ext>
            </a:extLst>
          </p:cNvPr>
          <p:cNvSpPr>
            <a:spLocks noGrp="1"/>
          </p:cNvSpPr>
          <p:nvPr/>
        </p:nvSpPr>
        <p:spPr>
          <a:xfrm>
            <a:off x="515294" y="1544974"/>
            <a:ext cx="522344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</a:t>
            </a:r>
            <a:r>
              <a:rPr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안정성</a:t>
            </a:r>
            <a:r>
              <a:rPr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배선</a:t>
            </a:r>
            <a:r>
              <a:rPr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신뢰성</a:t>
            </a:r>
            <a:r>
              <a:rPr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확보를</a:t>
            </a:r>
            <a:r>
              <a:rPr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위한</a:t>
            </a:r>
            <a:r>
              <a:rPr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최소</a:t>
            </a:r>
            <a:r>
              <a:rPr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Metal1 </a:t>
            </a:r>
            <a:r>
              <a:rPr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면적</a:t>
            </a:r>
            <a:r>
              <a:rPr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규정</a:t>
            </a:r>
            <a:endParaRPr sz="1800" b="1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2690" name="Google Shape;2573;p99"/>
          <p:cNvCxnSpPr/>
          <p:nvPr/>
        </p:nvCxnSpPr>
        <p:spPr>
          <a:xfrm rot="10800000" flipH="1">
            <a:off x="9532632" y="4656435"/>
            <a:ext cx="280859" cy="307540"/>
          </a:xfrm>
          <a:prstGeom prst="straightConnector1">
            <a:avLst/>
          </a:prstGeom>
          <a:ln w="19050" cap="flat">
            <a:solidFill>
              <a:schemeClr val="dk1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2691" name="Google Shape;2574;p99"/>
          <p:cNvCxnSpPr/>
          <p:nvPr/>
        </p:nvCxnSpPr>
        <p:spPr>
          <a:xfrm rot="10800000" flipH="1">
            <a:off x="9401802" y="4278147"/>
            <a:ext cx="337158" cy="371811"/>
          </a:xfrm>
          <a:prstGeom prst="straightConnector1">
            <a:avLst/>
          </a:prstGeom>
          <a:ln w="19050" cap="flat">
            <a:solidFill>
              <a:srgbClr val="BFBFB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575" name="Google Shape;2575;p99">
            <a:extLst>
              <a:ext uri="{FF2B5EF4-FFF2-40B4-BE49-F238E27FC236}">
                <a16:creationId xmlns:a16="http://schemas.microsoft.com/office/drawing/2014/main" id="{68D8BBE7-62C1-4A0D-8802-09F41C9EA3B7}"/>
              </a:ext>
            </a:extLst>
          </p:cNvPr>
          <p:cNvSpPr>
            <a:spLocks noGrp="1"/>
          </p:cNvSpPr>
          <p:nvPr/>
        </p:nvSpPr>
        <p:spPr>
          <a:xfrm>
            <a:off x="9746492" y="4656435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0.59um</a:t>
            </a:r>
          </a:p>
        </p:txBody>
      </p:sp>
      <p:cxnSp>
        <p:nvCxnSpPr>
          <p:cNvPr id="2693" name="Google Shape;2576;p99"/>
          <p:cNvCxnSpPr/>
          <p:nvPr/>
        </p:nvCxnSpPr>
        <p:spPr>
          <a:xfrm rot="10800000" flipH="1">
            <a:off x="8959554" y="4265994"/>
            <a:ext cx="337158" cy="371811"/>
          </a:xfrm>
          <a:prstGeom prst="straightConnector1">
            <a:avLst/>
          </a:prstGeom>
          <a:ln w="19050" cap="flat">
            <a:solidFill>
              <a:srgbClr val="BFBFBF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94" name="Google Shape;2577;p99"/>
          <p:cNvCxnSpPr/>
          <p:nvPr/>
        </p:nvCxnSpPr>
        <p:spPr>
          <a:xfrm rot="10800000" flipH="1">
            <a:off x="9409336" y="4615457"/>
            <a:ext cx="337158" cy="371811"/>
          </a:xfrm>
          <a:prstGeom prst="straightConnector1">
            <a:avLst/>
          </a:prstGeom>
          <a:ln w="19050" cap="flat">
            <a:solidFill>
              <a:srgbClr val="BFBFBF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95" name="Google Shape;2578;p99"/>
          <p:cNvCxnSpPr/>
          <p:nvPr/>
        </p:nvCxnSpPr>
        <p:spPr>
          <a:xfrm rot="10800000">
            <a:off x="9746492" y="4267656"/>
            <a:ext cx="0" cy="347801"/>
          </a:xfrm>
          <a:prstGeom prst="straightConnector1">
            <a:avLst/>
          </a:prstGeom>
          <a:ln w="19050" cap="flat">
            <a:solidFill>
              <a:srgbClr val="BFBFBF"/>
            </a:solidFill>
            <a:prstDash val="solid"/>
            <a:miter/>
            <a:headEnd type="none" w="sm" len="sm"/>
            <a:tailEnd type="none" w="sm" len="sm"/>
          </a:ln>
        </p:spPr>
      </p:cxnSp>
      <p:cxnSp>
        <p:nvCxnSpPr>
          <p:cNvPr id="2696" name="Google Shape;2579;p99"/>
          <p:cNvCxnSpPr/>
          <p:nvPr/>
        </p:nvCxnSpPr>
        <p:spPr>
          <a:xfrm rot="10800000">
            <a:off x="9295789" y="4278147"/>
            <a:ext cx="450703" cy="0"/>
          </a:xfrm>
          <a:prstGeom prst="straightConnector1">
            <a:avLst/>
          </a:prstGeom>
          <a:ln w="19050" cap="flat">
            <a:solidFill>
              <a:srgbClr val="BFBFBF"/>
            </a:solidFill>
            <a:prstDash val="solid"/>
            <a:miter/>
            <a:headEnd type="none" w="sm" len="sm"/>
            <a:tailEnd type="none" w="sm" len="sm"/>
          </a:ln>
        </p:spPr>
      </p:cxnSp>
      <p:sp>
        <p:nvSpPr>
          <p:cNvPr id="2580" name="Google Shape;2580;p99">
            <a:extLst>
              <a:ext uri="{FF2B5EF4-FFF2-40B4-BE49-F238E27FC236}">
                <a16:creationId xmlns:a16="http://schemas.microsoft.com/office/drawing/2014/main" id="{842DCDFA-1CAD-4F16-B5DF-1E62ED098FFF}"/>
              </a:ext>
            </a:extLst>
          </p:cNvPr>
          <p:cNvSpPr>
            <a:spLocks noGrp="1"/>
          </p:cNvSpPr>
          <p:nvPr/>
        </p:nvSpPr>
        <p:spPr>
          <a:xfrm>
            <a:off x="8528912" y="4098379"/>
            <a:ext cx="97121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0.12um</a:t>
            </a:r>
          </a:p>
        </p:txBody>
      </p:sp>
      <p:sp>
        <p:nvSpPr>
          <p:cNvPr id="2671" name="Slide 5 copied left comparison heading">
            <a:extLst>
              <a:ext uri="{FF2B5EF4-FFF2-40B4-BE49-F238E27FC236}">
                <a16:creationId xmlns:a16="http://schemas.microsoft.com/office/drawing/2014/main" id="{5F96F525-49CF-4D83-A40F-47F814A3589B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2672" name="Slide 5 copied right comparison heading">
            <a:extLst>
              <a:ext uri="{FF2B5EF4-FFF2-40B4-BE49-F238E27FC236}">
                <a16:creationId xmlns:a16="http://schemas.microsoft.com/office/drawing/2014/main" id="{9A31DEFA-FA2D-4606-88F1-F2F1F78EFF68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48A982-5D1E-0650-DEB4-4C2DEE95711E}"/>
              </a:ext>
            </a:extLst>
          </p:cNvPr>
          <p:cNvSpPr/>
          <p:nvPr/>
        </p:nvSpPr>
        <p:spPr>
          <a:xfrm>
            <a:off x="8228735" y="4978859"/>
            <a:ext cx="3152605" cy="353140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9192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7" name="Google Shape;2587;p100">
            <a:extLst>
              <a:ext uri="{FF2B5EF4-FFF2-40B4-BE49-F238E27FC236}">
                <a16:creationId xmlns:a16="http://schemas.microsoft.com/office/drawing/2014/main" id="{FEB02B4E-FDC9-4290-A238-EF6E75786DE2}"/>
              </a:ext>
            </a:extLst>
          </p:cNvPr>
          <p:cNvSpPr>
            <a:spLocks noGrp="1"/>
          </p:cNvSpPr>
          <p:nvPr/>
        </p:nvSpPr>
        <p:spPr>
          <a:xfrm>
            <a:off x="515294" y="1185483"/>
            <a:ext cx="51391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Density Window Stepping(60um increments)</a:t>
            </a:r>
          </a:p>
        </p:txBody>
      </p:sp>
      <p:cxnSp>
        <p:nvCxnSpPr>
          <p:cNvPr id="2646" name="Google Shape;2588;p100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647" name="Google Shape;2589;p100"/>
          <p:cNvGraphicFramePr/>
          <p:nvPr>
            <p:extLst>
              <p:ext uri="{D42A27DB-BD31-4B8C-83A1-F6EECF244321}">
                <p14:modId xmlns:p14="http://schemas.microsoft.com/office/powerpoint/2010/main" val="742816945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METAL1.D.1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65%~20%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dirty="0">
                          <a:solidFill>
                            <a:schemeClr val="dk1"/>
                          </a:solidFill>
                        </a:rPr>
                        <a:t>Metal 1 Density range over any 120um x 120um area (checked by stepping in 60um increments)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90" name="Google Shape;2590;p100">
            <a:extLst>
              <a:ext uri="{FF2B5EF4-FFF2-40B4-BE49-F238E27FC236}">
                <a16:creationId xmlns:a16="http://schemas.microsoft.com/office/drawing/2014/main" id="{38850241-ABCE-41B9-A453-11B202B8D245}"/>
              </a:ext>
            </a:extLst>
          </p:cNvPr>
          <p:cNvSpPr>
            <a:spLocks noGrp="1"/>
          </p:cNvSpPr>
          <p:nvPr/>
        </p:nvSpPr>
        <p:spPr>
          <a:xfrm>
            <a:off x="515293" y="3328295"/>
            <a:ext cx="2179899" cy="2122469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1" name="Google Shape;2591;p100">
            <a:extLst>
              <a:ext uri="{FF2B5EF4-FFF2-40B4-BE49-F238E27FC236}">
                <a16:creationId xmlns:a16="http://schemas.microsoft.com/office/drawing/2014/main" id="{933B5DFF-F384-4991-B0E2-DC13417FF0E1}"/>
              </a:ext>
            </a:extLst>
          </p:cNvPr>
          <p:cNvSpPr>
            <a:spLocks noGrp="1"/>
          </p:cNvSpPr>
          <p:nvPr/>
        </p:nvSpPr>
        <p:spPr>
          <a:xfrm>
            <a:off x="1325293" y="4049730"/>
            <a:ext cx="2179899" cy="2122469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2" name="Google Shape;2592;p100">
            <a:extLst>
              <a:ext uri="{FF2B5EF4-FFF2-40B4-BE49-F238E27FC236}">
                <a16:creationId xmlns:a16="http://schemas.microsoft.com/office/drawing/2014/main" id="{F7B2735A-2354-4E46-9A40-42314E310FBD}"/>
              </a:ext>
            </a:extLst>
          </p:cNvPr>
          <p:cNvSpPr>
            <a:spLocks noGrp="1"/>
          </p:cNvSpPr>
          <p:nvPr/>
        </p:nvSpPr>
        <p:spPr>
          <a:xfrm>
            <a:off x="515293" y="4052516"/>
            <a:ext cx="2179899" cy="2122469"/>
          </a:xfrm>
          <a:prstGeom prst="rect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Base window</a:t>
            </a:r>
            <a:br/>
            <a:r>
              <a: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120um x 120um</a:t>
            </a:r>
          </a:p>
        </p:txBody>
      </p:sp>
      <p:cxnSp>
        <p:nvCxnSpPr>
          <p:cNvPr id="2651" name="Google Shape;2593;p100"/>
          <p:cNvCxnSpPr/>
          <p:nvPr/>
        </p:nvCxnSpPr>
        <p:spPr>
          <a:xfrm rot="10800000" flipH="1">
            <a:off x="2721793" y="5110964"/>
            <a:ext cx="810000" cy="2786"/>
          </a:xfrm>
          <a:prstGeom prst="straightConnector1">
            <a:avLst/>
          </a:prstGeom>
          <a:ln w="9525" cap="flat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594" name="Google Shape;2594;p100">
            <a:extLst>
              <a:ext uri="{FF2B5EF4-FFF2-40B4-BE49-F238E27FC236}">
                <a16:creationId xmlns:a16="http://schemas.microsoft.com/office/drawing/2014/main" id="{F75CC84F-D046-47BA-9820-C5952FA4E634}"/>
              </a:ext>
            </a:extLst>
          </p:cNvPr>
          <p:cNvSpPr>
            <a:spLocks noGrp="1"/>
          </p:cNvSpPr>
          <p:nvPr/>
        </p:nvSpPr>
        <p:spPr>
          <a:xfrm>
            <a:off x="2767958" y="4616914"/>
            <a:ext cx="14744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60um</a:t>
            </a:r>
          </a:p>
        </p:txBody>
      </p:sp>
      <p:sp>
        <p:nvSpPr>
          <p:cNvPr id="2595" name="Google Shape;2595;p100">
            <a:extLst>
              <a:ext uri="{FF2B5EF4-FFF2-40B4-BE49-F238E27FC236}">
                <a16:creationId xmlns:a16="http://schemas.microsoft.com/office/drawing/2014/main" id="{4A95EF3D-6BFE-4E60-ABFB-F380C060C2C2}"/>
              </a:ext>
            </a:extLst>
          </p:cNvPr>
          <p:cNvSpPr>
            <a:spLocks noGrp="1"/>
          </p:cNvSpPr>
          <p:nvPr/>
        </p:nvSpPr>
        <p:spPr>
          <a:xfrm>
            <a:off x="1678008" y="3521128"/>
            <a:ext cx="14744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60um</a:t>
            </a:r>
          </a:p>
        </p:txBody>
      </p:sp>
      <p:cxnSp>
        <p:nvCxnSpPr>
          <p:cNvPr id="2654" name="Google Shape;2596;p100"/>
          <p:cNvCxnSpPr>
            <a:stCxn id="2592" idx="0"/>
            <a:endCxn id="2590" idx="0"/>
          </p:cNvCxnSpPr>
          <p:nvPr/>
        </p:nvCxnSpPr>
        <p:spPr>
          <a:xfrm rot="10800000">
            <a:off x="1605243" y="3328316"/>
            <a:ext cx="0" cy="724200"/>
          </a:xfrm>
          <a:prstGeom prst="straightConnector1">
            <a:avLst/>
          </a:prstGeom>
          <a:ln w="9525" cap="flat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2655" name="Google Shape;2597;p10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5001" y="1554815"/>
            <a:ext cx="2771775" cy="5057775"/>
          </a:xfrm>
          <a:prstGeom prst="rect">
            <a:avLst/>
          </a:prstGeom>
          <a:ln>
            <a:noFill/>
          </a:ln>
        </p:spPr>
      </p:pic>
      <p:sp>
        <p:nvSpPr>
          <p:cNvPr id="2598" name="Google Shape;2598;p100">
            <a:extLst>
              <a:ext uri="{FF2B5EF4-FFF2-40B4-BE49-F238E27FC236}">
                <a16:creationId xmlns:a16="http://schemas.microsoft.com/office/drawing/2014/main" id="{70D5A249-920A-4322-8538-236B1EE61266}"/>
              </a:ext>
            </a:extLst>
          </p:cNvPr>
          <p:cNvSpPr>
            <a:spLocks noGrp="1"/>
          </p:cNvSpPr>
          <p:nvPr/>
        </p:nvSpPr>
        <p:spPr>
          <a:xfrm>
            <a:off x="515294" y="1643563"/>
            <a:ext cx="322579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CMP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안정성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균일성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배선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신뢰성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43" name="Slide 5 copied right comparison heading">
            <a:extLst>
              <a:ext uri="{FF2B5EF4-FFF2-40B4-BE49-F238E27FC236}">
                <a16:creationId xmlns:a16="http://schemas.microsoft.com/office/drawing/2014/main" id="{2CBD111B-AAB4-457F-BA02-EA5FF6EEE03B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23712043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5" name="Google Shape;2605;p101">
            <a:extLst>
              <a:ext uri="{FF2B5EF4-FFF2-40B4-BE49-F238E27FC236}">
                <a16:creationId xmlns:a16="http://schemas.microsoft.com/office/drawing/2014/main" id="{D1522A26-E499-4C60-AF43-F817B322D132}"/>
              </a:ext>
            </a:extLst>
          </p:cNvPr>
          <p:cNvSpPr>
            <a:spLocks noGrp="1"/>
          </p:cNvSpPr>
          <p:nvPr/>
        </p:nvSpPr>
        <p:spPr>
          <a:xfrm>
            <a:off x="515294" y="1116781"/>
            <a:ext cx="526580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Density Window Stepping(300um increments)</a:t>
            </a:r>
          </a:p>
        </p:txBody>
      </p:sp>
      <p:cxnSp>
        <p:nvCxnSpPr>
          <p:cNvPr id="2664" name="Google Shape;2606;p101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665" name="Google Shape;2607;p101"/>
          <p:cNvGraphicFramePr/>
          <p:nvPr>
            <p:extLst>
              <p:ext uri="{D42A27DB-BD31-4B8C-83A1-F6EECF244321}">
                <p14:modId xmlns:p14="http://schemas.microsoft.com/office/powerpoint/2010/main" val="3126776453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METAL1.D.2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&lt;60%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0" dirty="0">
                          <a:solidFill>
                            <a:schemeClr val="dk1"/>
                          </a:solidFill>
                        </a:rPr>
                        <a:t>Metal 1 Density range over any 600um x 600um area (checked by stepping in 300um increments)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08" name="Google Shape;2608;p101">
            <a:extLst>
              <a:ext uri="{FF2B5EF4-FFF2-40B4-BE49-F238E27FC236}">
                <a16:creationId xmlns:a16="http://schemas.microsoft.com/office/drawing/2014/main" id="{090DBA34-8101-4B5D-A422-F50A95AEF864}"/>
              </a:ext>
            </a:extLst>
          </p:cNvPr>
          <p:cNvSpPr>
            <a:spLocks noGrp="1"/>
          </p:cNvSpPr>
          <p:nvPr/>
        </p:nvSpPr>
        <p:spPr>
          <a:xfrm>
            <a:off x="515293" y="3334098"/>
            <a:ext cx="2078301" cy="1885405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9" name="Google Shape;2609;p101">
            <a:extLst>
              <a:ext uri="{FF2B5EF4-FFF2-40B4-BE49-F238E27FC236}">
                <a16:creationId xmlns:a16="http://schemas.microsoft.com/office/drawing/2014/main" id="{AD5339BC-0730-423C-B355-235B8C5152E8}"/>
              </a:ext>
            </a:extLst>
          </p:cNvPr>
          <p:cNvSpPr>
            <a:spLocks noGrp="1"/>
          </p:cNvSpPr>
          <p:nvPr/>
        </p:nvSpPr>
        <p:spPr>
          <a:xfrm>
            <a:off x="1325293" y="4055533"/>
            <a:ext cx="2078301" cy="1885405"/>
          </a:xfrm>
          <a:prstGeom prst="rect">
            <a:avLst/>
          </a:prstGeom>
          <a:solidFill>
            <a:srgbClr val="D0CECE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0" name="Google Shape;2610;p101">
            <a:extLst>
              <a:ext uri="{FF2B5EF4-FFF2-40B4-BE49-F238E27FC236}">
                <a16:creationId xmlns:a16="http://schemas.microsoft.com/office/drawing/2014/main" id="{90F55D4F-4E54-44B9-844D-CC49B3C5FA08}"/>
              </a:ext>
            </a:extLst>
          </p:cNvPr>
          <p:cNvSpPr>
            <a:spLocks noGrp="1"/>
          </p:cNvSpPr>
          <p:nvPr/>
        </p:nvSpPr>
        <p:spPr>
          <a:xfrm>
            <a:off x="515293" y="4058319"/>
            <a:ext cx="2078301" cy="1885405"/>
          </a:xfrm>
          <a:prstGeom prst="rect">
            <a:avLst/>
          </a:prstGeom>
          <a:gradFill>
            <a:gsLst>
              <a:gs pos="0">
                <a:srgbClr val="9A9A9A"/>
              </a:gs>
              <a:gs pos="50000">
                <a:srgbClr val="8D8D8D"/>
              </a:gs>
              <a:gs pos="100000">
                <a:srgbClr val="787878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Base window</a:t>
            </a:r>
            <a:br/>
            <a:r>
              <a: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600um x 600um</a:t>
            </a:r>
          </a:p>
        </p:txBody>
      </p:sp>
      <p:cxnSp>
        <p:nvCxnSpPr>
          <p:cNvPr id="2669" name="Google Shape;2611;p101"/>
          <p:cNvCxnSpPr>
            <a:stCxn id="2610" idx="3"/>
            <a:endCxn id="2609" idx="3"/>
          </p:cNvCxnSpPr>
          <p:nvPr/>
        </p:nvCxnSpPr>
        <p:spPr>
          <a:xfrm rot="10800000" flipH="1">
            <a:off x="2593594" y="4998322"/>
            <a:ext cx="810000" cy="2700"/>
          </a:xfrm>
          <a:prstGeom prst="straightConnector1">
            <a:avLst/>
          </a:prstGeom>
          <a:ln w="9525" cap="flat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612" name="Google Shape;2612;p101">
            <a:extLst>
              <a:ext uri="{FF2B5EF4-FFF2-40B4-BE49-F238E27FC236}">
                <a16:creationId xmlns:a16="http://schemas.microsoft.com/office/drawing/2014/main" id="{4FE3568E-C66F-4DCA-8041-A81D9C927E48}"/>
              </a:ext>
            </a:extLst>
          </p:cNvPr>
          <p:cNvSpPr>
            <a:spLocks noGrp="1"/>
          </p:cNvSpPr>
          <p:nvPr/>
        </p:nvSpPr>
        <p:spPr>
          <a:xfrm>
            <a:off x="2566898" y="4603072"/>
            <a:ext cx="140574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300um</a:t>
            </a:r>
          </a:p>
        </p:txBody>
      </p:sp>
      <p:sp>
        <p:nvSpPr>
          <p:cNvPr id="2613" name="Google Shape;2613;p101">
            <a:extLst>
              <a:ext uri="{FF2B5EF4-FFF2-40B4-BE49-F238E27FC236}">
                <a16:creationId xmlns:a16="http://schemas.microsoft.com/office/drawing/2014/main" id="{775D35BD-7A57-4439-9853-9E03B7EC4B87}"/>
              </a:ext>
            </a:extLst>
          </p:cNvPr>
          <p:cNvSpPr>
            <a:spLocks noGrp="1"/>
          </p:cNvSpPr>
          <p:nvPr/>
        </p:nvSpPr>
        <p:spPr>
          <a:xfrm>
            <a:off x="1592847" y="3543083"/>
            <a:ext cx="140574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300um</a:t>
            </a:r>
          </a:p>
        </p:txBody>
      </p:sp>
      <p:cxnSp>
        <p:nvCxnSpPr>
          <p:cNvPr id="2672" name="Google Shape;2614;p101"/>
          <p:cNvCxnSpPr>
            <a:stCxn id="2610" idx="0"/>
            <a:endCxn id="2608" idx="0"/>
          </p:cNvCxnSpPr>
          <p:nvPr/>
        </p:nvCxnSpPr>
        <p:spPr>
          <a:xfrm rot="10800000">
            <a:off x="1554444" y="3334119"/>
            <a:ext cx="0" cy="724200"/>
          </a:xfrm>
          <a:prstGeom prst="straightConnector1">
            <a:avLst/>
          </a:prstGeom>
          <a:ln w="9525" cap="flat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pic>
        <p:nvPicPr>
          <p:cNvPr id="2673" name="Google Shape;2615;p10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35001" y="1554815"/>
            <a:ext cx="2771775" cy="5057775"/>
          </a:xfrm>
          <a:prstGeom prst="rect">
            <a:avLst/>
          </a:prstGeom>
          <a:ln>
            <a:noFill/>
          </a:ln>
        </p:spPr>
      </p:pic>
      <p:sp>
        <p:nvSpPr>
          <p:cNvPr id="2616" name="Google Shape;2616;p101">
            <a:extLst>
              <a:ext uri="{FF2B5EF4-FFF2-40B4-BE49-F238E27FC236}">
                <a16:creationId xmlns:a16="http://schemas.microsoft.com/office/drawing/2014/main" id="{CCC2545C-017E-46E7-8023-0880141C2364}"/>
              </a:ext>
            </a:extLst>
          </p:cNvPr>
          <p:cNvSpPr>
            <a:spLocks noGrp="1"/>
          </p:cNvSpPr>
          <p:nvPr/>
        </p:nvSpPr>
        <p:spPr>
          <a:xfrm>
            <a:off x="515293" y="1652666"/>
            <a:ext cx="322579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대면적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CMP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안정성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공정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균일성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  <a:p>
            <a:pPr marL="342900" indent="-342900" algn="l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배선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신뢰성</a:t>
            </a:r>
            <a:r>
              <a:rPr sz="18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확보</a:t>
            </a:r>
            <a:endParaRPr sz="1800" dirty="0">
              <a:solidFill>
                <a:schemeClr val="dk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61" name="Slide 5 copied right comparison heading">
            <a:extLst>
              <a:ext uri="{FF2B5EF4-FFF2-40B4-BE49-F238E27FC236}">
                <a16:creationId xmlns:a16="http://schemas.microsoft.com/office/drawing/2014/main" id="{065E0FB5-4FE9-4550-B340-9C4ED8B4178C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00441083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0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p102">
            <a:extLst>
              <a:ext uri="{FF2B5EF4-FFF2-40B4-BE49-F238E27FC236}">
                <a16:creationId xmlns:a16="http://schemas.microsoft.com/office/drawing/2014/main" id="{22DBFB34-B48E-4160-B325-D1547E8C0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134" y="2301478"/>
            <a:ext cx="2191731" cy="225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/>
              <a:t>Via</a:t>
            </a:r>
          </a:p>
        </p:txBody>
      </p:sp>
    </p:spTree>
    <p:extLst>
      <p:ext uri="{BB962C8B-B14F-4D97-AF65-F5344CB8AC3E}">
        <p14:creationId xmlns:p14="http://schemas.microsoft.com/office/powerpoint/2010/main" val="75808070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1" name="Google Shape;2626;p10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13379" y="1262018"/>
            <a:ext cx="1626819" cy="1442916"/>
          </a:xfrm>
          <a:prstGeom prst="rect">
            <a:avLst/>
          </a:prstGeom>
          <a:ln>
            <a:noFill/>
          </a:ln>
        </p:spPr>
      </p:pic>
      <p:sp>
        <p:nvSpPr>
          <p:cNvPr id="2627" name="Google Shape;2627;p103">
            <a:extLst>
              <a:ext uri="{FF2B5EF4-FFF2-40B4-BE49-F238E27FC236}">
                <a16:creationId xmlns:a16="http://schemas.microsoft.com/office/drawing/2014/main" id="{926BBB9C-3705-4568-A2C3-5AACD1398BA4}"/>
              </a:ext>
            </a:extLst>
          </p:cNvPr>
          <p:cNvSpPr>
            <a:spLocks noGrp="1"/>
          </p:cNvSpPr>
          <p:nvPr/>
        </p:nvSpPr>
        <p:spPr>
          <a:xfrm>
            <a:off x="7673005" y="5291103"/>
            <a:ext cx="3709759" cy="1125889"/>
          </a:xfrm>
          <a:prstGeom prst="rect">
            <a:avLst/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mpd="sng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Substrate</a:t>
            </a:r>
          </a:p>
        </p:txBody>
      </p:sp>
      <p:cxnSp>
        <p:nvCxnSpPr>
          <p:cNvPr id="2703" name="Google Shape;2628;p103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704" name="Google Shape;2629;p103"/>
          <p:cNvGraphicFramePr/>
          <p:nvPr>
            <p:extLst>
              <p:ext uri="{D42A27DB-BD31-4B8C-83A1-F6EECF244321}">
                <p14:modId xmlns:p14="http://schemas.microsoft.com/office/powerpoint/2010/main" val="404866454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VIAk.W.1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0.14um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and Maximum Via k width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705" name="Google Shape;2632;p103"/>
          <p:cNvCxnSpPr/>
          <p:nvPr/>
        </p:nvCxnSpPr>
        <p:spPr>
          <a:xfrm>
            <a:off x="9015252" y="3154341"/>
            <a:ext cx="812521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2706" name="Google Shape;2633;p103"/>
          <p:cNvCxnSpPr/>
          <p:nvPr/>
        </p:nvCxnSpPr>
        <p:spPr>
          <a:xfrm>
            <a:off x="8966425" y="2440073"/>
            <a:ext cx="8964" cy="2408415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707" name="Google Shape;2634;p103"/>
          <p:cNvCxnSpPr/>
          <p:nvPr/>
        </p:nvCxnSpPr>
        <p:spPr>
          <a:xfrm>
            <a:off x="9858154" y="2440073"/>
            <a:ext cx="8964" cy="242868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635" name="Google Shape;2635;p103">
            <a:extLst>
              <a:ext uri="{FF2B5EF4-FFF2-40B4-BE49-F238E27FC236}">
                <a16:creationId xmlns:a16="http://schemas.microsoft.com/office/drawing/2014/main" id="{5713226F-1BF2-4165-AC89-2F60268C1A93}"/>
              </a:ext>
            </a:extLst>
          </p:cNvPr>
          <p:cNvSpPr>
            <a:spLocks noGrp="1"/>
          </p:cNvSpPr>
          <p:nvPr/>
        </p:nvSpPr>
        <p:spPr>
          <a:xfrm>
            <a:off x="8975389" y="2768959"/>
            <a:ext cx="99998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0.14um</a:t>
            </a:r>
          </a:p>
        </p:txBody>
      </p:sp>
      <p:sp>
        <p:nvSpPr>
          <p:cNvPr id="2636" name="Google Shape;2636;p103">
            <a:extLst>
              <a:ext uri="{FF2B5EF4-FFF2-40B4-BE49-F238E27FC236}">
                <a16:creationId xmlns:a16="http://schemas.microsoft.com/office/drawing/2014/main" id="{0468AF54-BC6A-4BEF-9749-08F784620A11}"/>
              </a:ext>
            </a:extLst>
          </p:cNvPr>
          <p:cNvSpPr>
            <a:spLocks noGrp="1"/>
          </p:cNvSpPr>
          <p:nvPr/>
        </p:nvSpPr>
        <p:spPr>
          <a:xfrm>
            <a:off x="7664041" y="5410372"/>
            <a:ext cx="3709755" cy="330868"/>
          </a:xfrm>
          <a:prstGeom prst="rect">
            <a:avLst/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mpd="sng">
            <a:solidFill>
              <a:schemeClr val="accent5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STI</a:t>
            </a:r>
          </a:p>
        </p:txBody>
      </p:sp>
      <p:pic>
        <p:nvPicPr>
          <p:cNvPr id="2710" name="Google Shape;2637;p10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5142" y="4095070"/>
            <a:ext cx="2863813" cy="2540075"/>
          </a:xfrm>
          <a:prstGeom prst="rect">
            <a:avLst/>
          </a:prstGeom>
          <a:ln>
            <a:noFill/>
          </a:ln>
        </p:spPr>
      </p:pic>
      <p:pic>
        <p:nvPicPr>
          <p:cNvPr id="2711" name="Google Shape;2638;p103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4000" y="1875112"/>
            <a:ext cx="2120585" cy="1034113"/>
          </a:xfrm>
          <a:prstGeom prst="rect">
            <a:avLst/>
          </a:prstGeom>
          <a:ln>
            <a:noFill/>
          </a:ln>
        </p:spPr>
      </p:pic>
      <p:pic>
        <p:nvPicPr>
          <p:cNvPr id="2712" name="Google Shape;2639;p103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94829" y="1469165"/>
            <a:ext cx="1979315" cy="1872805"/>
          </a:xfrm>
          <a:prstGeom prst="rect">
            <a:avLst/>
          </a:prstGeom>
          <a:ln>
            <a:noFill/>
          </a:ln>
        </p:spPr>
      </p:pic>
      <p:sp>
        <p:nvSpPr>
          <p:cNvPr id="2640" name="Google Shape;2640;p103">
            <a:extLst>
              <a:ext uri="{FF2B5EF4-FFF2-40B4-BE49-F238E27FC236}">
                <a16:creationId xmlns:a16="http://schemas.microsoft.com/office/drawing/2014/main" id="{6D323F45-67C1-4206-BC02-1075BB796F8F}"/>
              </a:ext>
            </a:extLst>
          </p:cNvPr>
          <p:cNvSpPr>
            <a:spLocks noGrp="1"/>
          </p:cNvSpPr>
          <p:nvPr/>
        </p:nvSpPr>
        <p:spPr>
          <a:xfrm>
            <a:off x="416946" y="3356406"/>
            <a:ext cx="5639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Via7, Via8 Minimum and Maximum width = 0.36um</a:t>
            </a:r>
          </a:p>
        </p:txBody>
      </p:sp>
      <p:sp>
        <p:nvSpPr>
          <p:cNvPr id="2641" name="Google Shape;2641;p103">
            <a:extLst>
              <a:ext uri="{FF2B5EF4-FFF2-40B4-BE49-F238E27FC236}">
                <a16:creationId xmlns:a16="http://schemas.microsoft.com/office/drawing/2014/main" id="{562CF1DF-60BC-46FB-A3BB-31AB9720F100}"/>
              </a:ext>
            </a:extLst>
          </p:cNvPr>
          <p:cNvSpPr>
            <a:spLocks noGrp="1"/>
          </p:cNvSpPr>
          <p:nvPr/>
        </p:nvSpPr>
        <p:spPr>
          <a:xfrm>
            <a:off x="7673005" y="5003766"/>
            <a:ext cx="3718723" cy="424658"/>
          </a:xfrm>
          <a:prstGeom prst="rect">
            <a:avLst/>
          </a:prstGeom>
          <a:solidFill>
            <a:schemeClr val="lt1"/>
          </a:solidFill>
          <a:ln w="12700" cmpd="sng">
            <a:solidFill>
              <a:srgbClr val="31538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ILD</a:t>
            </a:r>
          </a:p>
        </p:txBody>
      </p:sp>
      <p:sp>
        <p:nvSpPr>
          <p:cNvPr id="2642" name="Google Shape;2642;p103">
            <a:extLst>
              <a:ext uri="{FF2B5EF4-FFF2-40B4-BE49-F238E27FC236}">
                <a16:creationId xmlns:a16="http://schemas.microsoft.com/office/drawing/2014/main" id="{41F3C8CE-E6F4-4B8C-887E-8AC80505B7C2}"/>
              </a:ext>
            </a:extLst>
          </p:cNvPr>
          <p:cNvSpPr>
            <a:spLocks noGrp="1"/>
          </p:cNvSpPr>
          <p:nvPr/>
        </p:nvSpPr>
        <p:spPr>
          <a:xfrm>
            <a:off x="416946" y="3725738"/>
            <a:ext cx="550022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“Via의 폭을 적절한 범위로 제한하여 금속층 간 안정적인 연결과 공정 신뢰성을 확보”</a:t>
            </a:r>
          </a:p>
        </p:txBody>
      </p:sp>
      <p:sp>
        <p:nvSpPr>
          <p:cNvPr id="2643" name="Google Shape;2643;p103">
            <a:extLst>
              <a:ext uri="{FF2B5EF4-FFF2-40B4-BE49-F238E27FC236}">
                <a16:creationId xmlns:a16="http://schemas.microsoft.com/office/drawing/2014/main" id="{960313FA-710C-40EC-A1A3-E00AB350342D}"/>
              </a:ext>
            </a:extLst>
          </p:cNvPr>
          <p:cNvSpPr>
            <a:spLocks noGrp="1"/>
          </p:cNvSpPr>
          <p:nvPr/>
        </p:nvSpPr>
        <p:spPr>
          <a:xfrm>
            <a:off x="8430094" y="4849087"/>
            <a:ext cx="1910104" cy="149702"/>
          </a:xfrm>
          <a:prstGeom prst="rect">
            <a:avLst/>
          </a:prstGeom>
          <a:solidFill>
            <a:srgbClr val="D4DBE5"/>
          </a:solidFill>
          <a:ln w="12700" cmpd="sng">
            <a:solidFill>
              <a:srgbClr val="7B7B7B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metal1</a:t>
            </a:r>
          </a:p>
        </p:txBody>
      </p:sp>
      <p:sp>
        <p:nvSpPr>
          <p:cNvPr id="2644" name="Google Shape;2644;p103">
            <a:extLst>
              <a:ext uri="{FF2B5EF4-FFF2-40B4-BE49-F238E27FC236}">
                <a16:creationId xmlns:a16="http://schemas.microsoft.com/office/drawing/2014/main" id="{BCEFD51A-31C6-4494-AB9D-257E6F58A536}"/>
              </a:ext>
            </a:extLst>
          </p:cNvPr>
          <p:cNvSpPr>
            <a:spLocks noGrp="1"/>
          </p:cNvSpPr>
          <p:nvPr/>
        </p:nvSpPr>
        <p:spPr>
          <a:xfrm>
            <a:off x="7681919" y="4512071"/>
            <a:ext cx="1474422" cy="330868"/>
          </a:xfrm>
          <a:prstGeom prst="rect">
            <a:avLst/>
          </a:prstGeom>
          <a:solidFill>
            <a:schemeClr val="lt1"/>
          </a:solidFill>
          <a:ln w="12700" cmpd="sng">
            <a:solidFill>
              <a:srgbClr val="31538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IMD</a:t>
            </a:r>
          </a:p>
        </p:txBody>
      </p:sp>
      <p:sp>
        <p:nvSpPr>
          <p:cNvPr id="2645" name="Google Shape;2645;p103">
            <a:extLst>
              <a:ext uri="{FF2B5EF4-FFF2-40B4-BE49-F238E27FC236}">
                <a16:creationId xmlns:a16="http://schemas.microsoft.com/office/drawing/2014/main" id="{DB4C4CD7-1E0D-4FAD-A104-3D6EB67DD252}"/>
              </a:ext>
            </a:extLst>
          </p:cNvPr>
          <p:cNvSpPr>
            <a:spLocks noGrp="1"/>
          </p:cNvSpPr>
          <p:nvPr/>
        </p:nvSpPr>
        <p:spPr>
          <a:xfrm>
            <a:off x="9692407" y="4513544"/>
            <a:ext cx="1698613" cy="330868"/>
          </a:xfrm>
          <a:prstGeom prst="rect">
            <a:avLst/>
          </a:prstGeom>
          <a:solidFill>
            <a:schemeClr val="lt1"/>
          </a:solidFill>
          <a:ln w="12700" cmpd="sng">
            <a:solidFill>
              <a:srgbClr val="31538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IMD</a:t>
            </a:r>
          </a:p>
        </p:txBody>
      </p:sp>
      <p:sp>
        <p:nvSpPr>
          <p:cNvPr id="2646" name="Google Shape;2646;p103">
            <a:extLst>
              <a:ext uri="{FF2B5EF4-FFF2-40B4-BE49-F238E27FC236}">
                <a16:creationId xmlns:a16="http://schemas.microsoft.com/office/drawing/2014/main" id="{715D9DA0-EEAA-4871-8DCA-48345DFC404E}"/>
              </a:ext>
            </a:extLst>
          </p:cNvPr>
          <p:cNvSpPr>
            <a:spLocks noGrp="1"/>
          </p:cNvSpPr>
          <p:nvPr/>
        </p:nvSpPr>
        <p:spPr>
          <a:xfrm rot="10800000" flipH="1">
            <a:off x="8984353" y="4497906"/>
            <a:ext cx="882765" cy="338686"/>
          </a:xfrm>
          <a:prstGeom prst="trapezoid">
            <a:avLst>
              <a:gd name="adj" fmla="val 25000"/>
            </a:avLst>
          </a:prstGeom>
          <a:solidFill>
            <a:srgbClr val="AEABAB"/>
          </a:solidFill>
          <a:ln w="12700" cmpd="sng">
            <a:solidFill>
              <a:srgbClr val="757070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7" name="Google Shape;2647;p103">
            <a:extLst>
              <a:ext uri="{FF2B5EF4-FFF2-40B4-BE49-F238E27FC236}">
                <a16:creationId xmlns:a16="http://schemas.microsoft.com/office/drawing/2014/main" id="{91209948-0957-4BCA-AA2E-14882CFB52FF}"/>
              </a:ext>
            </a:extLst>
          </p:cNvPr>
          <p:cNvSpPr>
            <a:spLocks noGrp="1"/>
          </p:cNvSpPr>
          <p:nvPr/>
        </p:nvSpPr>
        <p:spPr>
          <a:xfrm>
            <a:off x="8774232" y="4382038"/>
            <a:ext cx="1332283" cy="127470"/>
          </a:xfrm>
          <a:prstGeom prst="rect">
            <a:avLst/>
          </a:prstGeom>
          <a:solidFill>
            <a:srgbClr val="D4DBE5"/>
          </a:solidFill>
          <a:ln w="12700" cmpd="sng">
            <a:solidFill>
              <a:srgbClr val="7B7B7B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</a:rPr>
              <a:t>metal2</a:t>
            </a:r>
          </a:p>
        </p:txBody>
      </p:sp>
      <p:sp>
        <p:nvSpPr>
          <p:cNvPr id="2648" name="Google Shape;2648;p103">
            <a:extLst>
              <a:ext uri="{FF2B5EF4-FFF2-40B4-BE49-F238E27FC236}">
                <a16:creationId xmlns:a16="http://schemas.microsoft.com/office/drawing/2014/main" id="{DB38F1B8-1106-406D-99B2-ACE5C16081FA}"/>
              </a:ext>
            </a:extLst>
          </p:cNvPr>
          <p:cNvSpPr>
            <a:spLocks noGrp="1"/>
          </p:cNvSpPr>
          <p:nvPr/>
        </p:nvSpPr>
        <p:spPr>
          <a:xfrm>
            <a:off x="7682058" y="4379051"/>
            <a:ext cx="1101227" cy="127471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D70C9"/>
              </a:gs>
              <a:gs pos="100000">
                <a:srgbClr val="2D60B9"/>
              </a:gs>
            </a:gsLst>
            <a:lin ang="5400000" scaled="0"/>
          </a:gradFill>
          <a:ln w="9525" cmpd="sng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9" name="Google Shape;2649;p103">
            <a:extLst>
              <a:ext uri="{FF2B5EF4-FFF2-40B4-BE49-F238E27FC236}">
                <a16:creationId xmlns:a16="http://schemas.microsoft.com/office/drawing/2014/main" id="{DAA359D5-601F-4324-BFBC-6E29BDBCA885}"/>
              </a:ext>
            </a:extLst>
          </p:cNvPr>
          <p:cNvSpPr>
            <a:spLocks noGrp="1"/>
          </p:cNvSpPr>
          <p:nvPr/>
        </p:nvSpPr>
        <p:spPr>
          <a:xfrm>
            <a:off x="10102378" y="4374218"/>
            <a:ext cx="1288642" cy="132304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D70C9"/>
              </a:gs>
              <a:gs pos="100000">
                <a:srgbClr val="2D60B9"/>
              </a:gs>
            </a:gsLst>
            <a:lin ang="5400000" scaled="0"/>
          </a:gradFill>
          <a:ln w="9525" cmpd="sng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0" name="Google Shape;2650;p103">
            <a:extLst>
              <a:ext uri="{FF2B5EF4-FFF2-40B4-BE49-F238E27FC236}">
                <a16:creationId xmlns:a16="http://schemas.microsoft.com/office/drawing/2014/main" id="{CDFDFADD-3170-46EB-BC73-66691C6CC883}"/>
              </a:ext>
            </a:extLst>
          </p:cNvPr>
          <p:cNvSpPr>
            <a:spLocks noGrp="1"/>
          </p:cNvSpPr>
          <p:nvPr/>
        </p:nvSpPr>
        <p:spPr>
          <a:xfrm>
            <a:off x="10340198" y="4836592"/>
            <a:ext cx="1050822" cy="160650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D70C9"/>
              </a:gs>
              <a:gs pos="100000">
                <a:srgbClr val="2D60B9"/>
              </a:gs>
            </a:gsLst>
            <a:lin ang="5400000" scaled="0"/>
          </a:gradFill>
          <a:ln w="9525" cmpd="sng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1" name="Google Shape;2651;p103">
            <a:extLst>
              <a:ext uri="{FF2B5EF4-FFF2-40B4-BE49-F238E27FC236}">
                <a16:creationId xmlns:a16="http://schemas.microsoft.com/office/drawing/2014/main" id="{65644B80-B337-48EB-B20C-A945F680DAB9}"/>
              </a:ext>
            </a:extLst>
          </p:cNvPr>
          <p:cNvSpPr>
            <a:spLocks noGrp="1"/>
          </p:cNvSpPr>
          <p:nvPr/>
        </p:nvSpPr>
        <p:spPr>
          <a:xfrm>
            <a:off x="7673005" y="4845358"/>
            <a:ext cx="746125" cy="159176"/>
          </a:xfrm>
          <a:prstGeom prst="rect">
            <a:avLst/>
          </a:prstGeom>
          <a:gradFill>
            <a:gsLst>
              <a:gs pos="0">
                <a:srgbClr val="5F82CA"/>
              </a:gs>
              <a:gs pos="50000">
                <a:srgbClr val="3D70C9"/>
              </a:gs>
              <a:gs pos="100000">
                <a:srgbClr val="2D60B9"/>
              </a:gs>
            </a:gsLst>
            <a:lin ang="5400000" scaled="0"/>
          </a:gradFill>
          <a:ln w="9525" cmpd="sng">
            <a:solidFill>
              <a:schemeClr val="accent1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9" name="Slide 5 copied left comparison heading">
            <a:extLst>
              <a:ext uri="{FF2B5EF4-FFF2-40B4-BE49-F238E27FC236}">
                <a16:creationId xmlns:a16="http://schemas.microsoft.com/office/drawing/2014/main" id="{97136ECD-F299-4AF4-9514-48C3D3C92CA3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2700" name="Slide 5 copied right comparison heading">
            <a:extLst>
              <a:ext uri="{FF2B5EF4-FFF2-40B4-BE49-F238E27FC236}">
                <a16:creationId xmlns:a16="http://schemas.microsoft.com/office/drawing/2014/main" id="{3939FFB7-BC1C-4C62-A504-EB403DEDC489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A582817-D0F4-247F-F739-06FD31CDBCB3}"/>
              </a:ext>
            </a:extLst>
          </p:cNvPr>
          <p:cNvSpPr/>
          <p:nvPr/>
        </p:nvSpPr>
        <p:spPr>
          <a:xfrm>
            <a:off x="7683969" y="5015519"/>
            <a:ext cx="3718723" cy="42465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ILD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CE56289-B95E-9A22-6FC6-5CFD6BE9C3E1}"/>
              </a:ext>
            </a:extLst>
          </p:cNvPr>
          <p:cNvSpPr/>
          <p:nvPr/>
        </p:nvSpPr>
        <p:spPr>
          <a:xfrm>
            <a:off x="7692883" y="4523824"/>
            <a:ext cx="1474422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0A4214-EB63-9114-7ED7-9422AF1760B6}"/>
              </a:ext>
            </a:extLst>
          </p:cNvPr>
          <p:cNvSpPr/>
          <p:nvPr/>
        </p:nvSpPr>
        <p:spPr>
          <a:xfrm>
            <a:off x="9703371" y="4525297"/>
            <a:ext cx="1698613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IMD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98070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5" name="Google Shape;2656;p10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58153" y="1268086"/>
            <a:ext cx="2992977" cy="1363596"/>
          </a:xfrm>
          <a:prstGeom prst="rect">
            <a:avLst/>
          </a:prstGeom>
          <a:ln>
            <a:noFill/>
          </a:ln>
        </p:spPr>
      </p:pic>
      <p:cxnSp>
        <p:nvCxnSpPr>
          <p:cNvPr id="2796" name="Google Shape;2657;p104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797" name="Google Shape;2658;p104"/>
          <p:cNvGraphicFramePr/>
          <p:nvPr>
            <p:extLst>
              <p:ext uri="{D42A27DB-BD31-4B8C-83A1-F6EECF244321}">
                <p14:modId xmlns:p14="http://schemas.microsoft.com/office/powerpoint/2010/main" val="961249547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dirty="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VIAk.SP.1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0.15um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0" dirty="0"/>
                        <a:t>Minimum Via k to Via k spacing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798" name="Google Shape;2661;p104"/>
          <p:cNvCxnSpPr/>
          <p:nvPr/>
        </p:nvCxnSpPr>
        <p:spPr>
          <a:xfrm>
            <a:off x="8111000" y="2327646"/>
            <a:ext cx="10758" cy="2605786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662" name="Google Shape;2662;p104">
            <a:extLst>
              <a:ext uri="{FF2B5EF4-FFF2-40B4-BE49-F238E27FC236}">
                <a16:creationId xmlns:a16="http://schemas.microsoft.com/office/drawing/2014/main" id="{26CE17A8-427B-4C33-9079-A76DD632B1A5}"/>
              </a:ext>
            </a:extLst>
          </p:cNvPr>
          <p:cNvSpPr>
            <a:spLocks noGrp="1"/>
          </p:cNvSpPr>
          <p:nvPr/>
        </p:nvSpPr>
        <p:spPr>
          <a:xfrm>
            <a:off x="1486678" y="3261207"/>
            <a:ext cx="32335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Via7, Via8 spacing = 0.36um</a:t>
            </a:r>
          </a:p>
        </p:txBody>
      </p:sp>
      <p:pic>
        <p:nvPicPr>
          <p:cNvPr id="2800" name="Google Shape;2663;p10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2201" y="1898423"/>
            <a:ext cx="2377169" cy="890174"/>
          </a:xfrm>
          <a:prstGeom prst="rect">
            <a:avLst/>
          </a:prstGeom>
          <a:ln>
            <a:noFill/>
          </a:ln>
        </p:spPr>
      </p:pic>
      <p:pic>
        <p:nvPicPr>
          <p:cNvPr id="2801" name="Google Shape;2664;p104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5227" y="1464500"/>
            <a:ext cx="1271057" cy="1758021"/>
          </a:xfrm>
          <a:prstGeom prst="rect">
            <a:avLst/>
          </a:prstGeom>
          <a:ln>
            <a:noFill/>
          </a:ln>
        </p:spPr>
      </p:pic>
      <p:pic>
        <p:nvPicPr>
          <p:cNvPr id="2802" name="Google Shape;2665;p10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213" y="4167529"/>
            <a:ext cx="4932953" cy="2247447"/>
          </a:xfrm>
          <a:prstGeom prst="rect">
            <a:avLst/>
          </a:prstGeom>
          <a:ln>
            <a:noFill/>
          </a:ln>
        </p:spPr>
      </p:pic>
      <p:cxnSp>
        <p:nvCxnSpPr>
          <p:cNvPr id="2803" name="Google Shape;2666;p104"/>
          <p:cNvCxnSpPr/>
          <p:nvPr/>
        </p:nvCxnSpPr>
        <p:spPr>
          <a:xfrm>
            <a:off x="8799988" y="2327646"/>
            <a:ext cx="0" cy="2605786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04" name="Google Shape;2667;p104"/>
          <p:cNvCxnSpPr/>
          <p:nvPr/>
        </p:nvCxnSpPr>
        <p:spPr>
          <a:xfrm>
            <a:off x="9527882" y="2314890"/>
            <a:ext cx="0" cy="2605786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05" name="Google Shape;2668;p104"/>
          <p:cNvCxnSpPr/>
          <p:nvPr/>
        </p:nvCxnSpPr>
        <p:spPr>
          <a:xfrm>
            <a:off x="10280149" y="2300082"/>
            <a:ext cx="0" cy="266091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669" name="Google Shape;2669;p104">
            <a:extLst>
              <a:ext uri="{FF2B5EF4-FFF2-40B4-BE49-F238E27FC236}">
                <a16:creationId xmlns:a16="http://schemas.microsoft.com/office/drawing/2014/main" id="{97DD497A-942E-43D4-A1F0-AD336A73B01D}"/>
              </a:ext>
            </a:extLst>
          </p:cNvPr>
          <p:cNvSpPr>
            <a:spLocks noGrp="1"/>
          </p:cNvSpPr>
          <p:nvPr/>
        </p:nvSpPr>
        <p:spPr>
          <a:xfrm>
            <a:off x="1089416" y="3596738"/>
            <a:ext cx="415966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“인접한 Via 사이의 최소 간격을 확보하여 브리징을 방지하고 공정 수율 및 전기적 신뢰성을 확보”</a:t>
            </a:r>
          </a:p>
        </p:txBody>
      </p:sp>
      <p:cxnSp>
        <p:nvCxnSpPr>
          <p:cNvPr id="2821" name="Google Shape;2684;p104"/>
          <p:cNvCxnSpPr/>
          <p:nvPr/>
        </p:nvCxnSpPr>
        <p:spPr>
          <a:xfrm>
            <a:off x="8849052" y="3596058"/>
            <a:ext cx="629167" cy="68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685" name="Google Shape;2685;p104">
            <a:extLst>
              <a:ext uri="{FF2B5EF4-FFF2-40B4-BE49-F238E27FC236}">
                <a16:creationId xmlns:a16="http://schemas.microsoft.com/office/drawing/2014/main" id="{19FB6875-3918-4F16-B382-C986BC15ED91}"/>
              </a:ext>
            </a:extLst>
          </p:cNvPr>
          <p:cNvSpPr>
            <a:spLocks noGrp="1"/>
          </p:cNvSpPr>
          <p:nvPr/>
        </p:nvSpPr>
        <p:spPr>
          <a:xfrm>
            <a:off x="8712376" y="3211256"/>
            <a:ext cx="99998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0.15um</a:t>
            </a:r>
          </a:p>
        </p:txBody>
      </p:sp>
      <p:sp>
        <p:nvSpPr>
          <p:cNvPr id="2793" name="Slide 5 copied left comparison heading">
            <a:extLst>
              <a:ext uri="{FF2B5EF4-FFF2-40B4-BE49-F238E27FC236}">
                <a16:creationId xmlns:a16="http://schemas.microsoft.com/office/drawing/2014/main" id="{BA36B620-AD00-4B42-A347-B36C26C44EDF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2794" name="Slide 5 copied right comparison heading">
            <a:extLst>
              <a:ext uri="{FF2B5EF4-FFF2-40B4-BE49-F238E27FC236}">
                <a16:creationId xmlns:a16="http://schemas.microsoft.com/office/drawing/2014/main" id="{913EDB70-75D7-40B4-8D7B-1B5355037D06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F02FDB-F601-8D92-2420-A1025BA5C60D}"/>
              </a:ext>
            </a:extLst>
          </p:cNvPr>
          <p:cNvSpPr/>
          <p:nvPr/>
        </p:nvSpPr>
        <p:spPr>
          <a:xfrm>
            <a:off x="6436823" y="5595331"/>
            <a:ext cx="5407750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Substrate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9E99BBB-C967-EE56-BBD8-8853789B8A58}"/>
              </a:ext>
            </a:extLst>
          </p:cNvPr>
          <p:cNvSpPr/>
          <p:nvPr/>
        </p:nvSpPr>
        <p:spPr>
          <a:xfrm>
            <a:off x="6427859" y="5714600"/>
            <a:ext cx="5416713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A47B87-2D7C-7B65-7EDC-7DB6230B9B5D}"/>
              </a:ext>
            </a:extLst>
          </p:cNvPr>
          <p:cNvSpPr/>
          <p:nvPr/>
        </p:nvSpPr>
        <p:spPr>
          <a:xfrm>
            <a:off x="6436823" y="5307994"/>
            <a:ext cx="5407736" cy="42465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20DC6CE-0498-0A62-5DBE-6106ED42F054}"/>
              </a:ext>
            </a:extLst>
          </p:cNvPr>
          <p:cNvSpPr/>
          <p:nvPr/>
        </p:nvSpPr>
        <p:spPr>
          <a:xfrm>
            <a:off x="7193911" y="5153314"/>
            <a:ext cx="3944519" cy="1483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metal1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CB5B1AE-2507-6AEC-85E1-E8F479E045DB}"/>
              </a:ext>
            </a:extLst>
          </p:cNvPr>
          <p:cNvSpPr/>
          <p:nvPr/>
        </p:nvSpPr>
        <p:spPr>
          <a:xfrm>
            <a:off x="6445736" y="4816299"/>
            <a:ext cx="1769167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2F9C89B-6035-2809-70AF-0D567BB89CFE}"/>
              </a:ext>
            </a:extLst>
          </p:cNvPr>
          <p:cNvSpPr/>
          <p:nvPr/>
        </p:nvSpPr>
        <p:spPr>
          <a:xfrm>
            <a:off x="8340753" y="4810750"/>
            <a:ext cx="1698613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다리꼴 22">
            <a:extLst>
              <a:ext uri="{FF2B5EF4-FFF2-40B4-BE49-F238E27FC236}">
                <a16:creationId xmlns:a16="http://schemas.microsoft.com/office/drawing/2014/main" id="{FF3D3986-3575-46AF-0C8A-2F60A80B2010}"/>
              </a:ext>
            </a:extLst>
          </p:cNvPr>
          <p:cNvSpPr/>
          <p:nvPr/>
        </p:nvSpPr>
        <p:spPr>
          <a:xfrm flipV="1">
            <a:off x="8111000" y="4817206"/>
            <a:ext cx="666681" cy="32494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8969368-C2F2-C5B1-6AAE-6C3303FAFC72}"/>
              </a:ext>
            </a:extLst>
          </p:cNvPr>
          <p:cNvSpPr/>
          <p:nvPr/>
        </p:nvSpPr>
        <p:spPr>
          <a:xfrm>
            <a:off x="7538050" y="4681430"/>
            <a:ext cx="3007143" cy="1323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metal2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8AE94D2-A6B9-12A2-6436-1657CC45A424}"/>
              </a:ext>
            </a:extLst>
          </p:cNvPr>
          <p:cNvSpPr/>
          <p:nvPr/>
        </p:nvSpPr>
        <p:spPr>
          <a:xfrm>
            <a:off x="6445736" y="4666751"/>
            <a:ext cx="1101367" cy="143201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4F046B6-58DE-0E48-D885-E068333013C7}"/>
              </a:ext>
            </a:extLst>
          </p:cNvPr>
          <p:cNvSpPr/>
          <p:nvPr/>
        </p:nvSpPr>
        <p:spPr>
          <a:xfrm>
            <a:off x="10554110" y="4666749"/>
            <a:ext cx="1288642" cy="146985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2D7DF3F-7A64-6346-9DD1-B41AA663CA60}"/>
              </a:ext>
            </a:extLst>
          </p:cNvPr>
          <p:cNvSpPr/>
          <p:nvPr/>
        </p:nvSpPr>
        <p:spPr>
          <a:xfrm>
            <a:off x="11138430" y="5147344"/>
            <a:ext cx="715041" cy="158408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E106DC9-8787-72CF-C3F1-408E7A6D9FA1}"/>
              </a:ext>
            </a:extLst>
          </p:cNvPr>
          <p:cNvSpPr/>
          <p:nvPr/>
        </p:nvSpPr>
        <p:spPr>
          <a:xfrm>
            <a:off x="6436823" y="5149586"/>
            <a:ext cx="757074" cy="158408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CF2F8EF-9273-4177-134D-4415C5581116}"/>
              </a:ext>
            </a:extLst>
          </p:cNvPr>
          <p:cNvSpPr/>
          <p:nvPr/>
        </p:nvSpPr>
        <p:spPr>
          <a:xfrm>
            <a:off x="10050704" y="4810750"/>
            <a:ext cx="1793855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다리꼴 36">
            <a:extLst>
              <a:ext uri="{FF2B5EF4-FFF2-40B4-BE49-F238E27FC236}">
                <a16:creationId xmlns:a16="http://schemas.microsoft.com/office/drawing/2014/main" id="{D50839F1-624B-F2DA-D027-403997A78846}"/>
              </a:ext>
            </a:extLst>
          </p:cNvPr>
          <p:cNvSpPr/>
          <p:nvPr/>
        </p:nvSpPr>
        <p:spPr>
          <a:xfrm flipV="1">
            <a:off x="9521124" y="4810750"/>
            <a:ext cx="729675" cy="339094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6858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4" name="Google Shape;2690;p10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428" y="1255758"/>
            <a:ext cx="2859459" cy="1284523"/>
          </a:xfrm>
          <a:prstGeom prst="rect">
            <a:avLst/>
          </a:prstGeom>
          <a:ln>
            <a:noFill/>
          </a:ln>
        </p:spPr>
      </p:pic>
      <p:pic>
        <p:nvPicPr>
          <p:cNvPr id="2795" name="Google Shape;2691;p10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9580" y="1270617"/>
            <a:ext cx="2971873" cy="2971873"/>
          </a:xfrm>
          <a:prstGeom prst="rect">
            <a:avLst/>
          </a:prstGeom>
          <a:ln>
            <a:noFill/>
          </a:ln>
        </p:spPr>
      </p:pic>
      <p:cxnSp>
        <p:nvCxnSpPr>
          <p:cNvPr id="2796" name="Google Shape;2692;p105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797" name="Google Shape;2693;p105"/>
          <p:cNvGraphicFramePr/>
          <p:nvPr>
            <p:extLst>
              <p:ext uri="{D42A27DB-BD31-4B8C-83A1-F6EECF244321}">
                <p14:modId xmlns:p14="http://schemas.microsoft.com/office/powerpoint/2010/main" val="3745233992"/>
              </p:ext>
            </p:extLst>
          </p:nvPr>
        </p:nvGraphicFramePr>
        <p:xfrm>
          <a:off x="515294" y="255775"/>
          <a:ext cx="10911275" cy="76202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VIAk.SP.2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0.20um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000" dirty="0"/>
                        <a:t>Minimum Via k to Via k spacing when the Via </a:t>
                      </a:r>
                      <a:r>
                        <a:rPr sz="1000" dirty="0" err="1"/>
                        <a:t>ks</a:t>
                      </a:r>
                      <a:r>
                        <a:rPr sz="1000" dirty="0"/>
                        <a:t> are in a 3x3 or larger array (minimum dimension on one side of array is 3). Via </a:t>
                      </a:r>
                      <a:r>
                        <a:rPr sz="1000" dirty="0" err="1"/>
                        <a:t>ks</a:t>
                      </a:r>
                      <a:r>
                        <a:rPr sz="1000" dirty="0"/>
                        <a:t> spaced less than 0.21um should be considered for array spacing check.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798" name="Google Shape;2696;p105"/>
          <p:cNvCxnSpPr/>
          <p:nvPr/>
        </p:nvCxnSpPr>
        <p:spPr>
          <a:xfrm>
            <a:off x="8256312" y="4412355"/>
            <a:ext cx="585079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2799" name="Google Shape;2697;p105"/>
          <p:cNvCxnSpPr/>
          <p:nvPr/>
        </p:nvCxnSpPr>
        <p:spPr>
          <a:xfrm>
            <a:off x="7803912" y="4101086"/>
            <a:ext cx="0" cy="65228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pic>
        <p:nvPicPr>
          <p:cNvPr id="2800" name="Google Shape;2698;p10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6599" y="3342434"/>
            <a:ext cx="3245585" cy="3245585"/>
          </a:xfrm>
          <a:prstGeom prst="rect">
            <a:avLst/>
          </a:prstGeom>
          <a:ln>
            <a:noFill/>
          </a:ln>
        </p:spPr>
      </p:pic>
      <p:pic>
        <p:nvPicPr>
          <p:cNvPr id="2801" name="Google Shape;2699;p105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2449" y="1202157"/>
            <a:ext cx="1880659" cy="1951963"/>
          </a:xfrm>
          <a:prstGeom prst="rect">
            <a:avLst/>
          </a:prstGeom>
          <a:ln>
            <a:noFill/>
          </a:ln>
        </p:spPr>
      </p:pic>
      <p:cxnSp>
        <p:nvCxnSpPr>
          <p:cNvPr id="2802" name="Google Shape;2700;p105"/>
          <p:cNvCxnSpPr/>
          <p:nvPr/>
        </p:nvCxnSpPr>
        <p:spPr>
          <a:xfrm>
            <a:off x="8233039" y="4101086"/>
            <a:ext cx="0" cy="65228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03" name="Google Shape;2701;p105"/>
          <p:cNvCxnSpPr/>
          <p:nvPr/>
        </p:nvCxnSpPr>
        <p:spPr>
          <a:xfrm>
            <a:off x="8857438" y="4101086"/>
            <a:ext cx="0" cy="65228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04" name="Google Shape;2702;p105"/>
          <p:cNvCxnSpPr/>
          <p:nvPr/>
        </p:nvCxnSpPr>
        <p:spPr>
          <a:xfrm>
            <a:off x="9315881" y="4101086"/>
            <a:ext cx="0" cy="65228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05" name="Google Shape;2703;p105"/>
          <p:cNvCxnSpPr/>
          <p:nvPr/>
        </p:nvCxnSpPr>
        <p:spPr>
          <a:xfrm>
            <a:off x="9965586" y="4101086"/>
            <a:ext cx="0" cy="65228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06" name="Google Shape;2704;p105"/>
          <p:cNvCxnSpPr/>
          <p:nvPr/>
        </p:nvCxnSpPr>
        <p:spPr>
          <a:xfrm>
            <a:off x="10392707" y="4101085"/>
            <a:ext cx="0" cy="652281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07" name="Google Shape;2705;p105"/>
          <p:cNvCxnSpPr/>
          <p:nvPr/>
        </p:nvCxnSpPr>
        <p:spPr>
          <a:xfrm>
            <a:off x="9344196" y="4412355"/>
            <a:ext cx="585079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706" name="Google Shape;2706;p105">
            <a:extLst>
              <a:ext uri="{FF2B5EF4-FFF2-40B4-BE49-F238E27FC236}">
                <a16:creationId xmlns:a16="http://schemas.microsoft.com/office/drawing/2014/main" id="{3C31133A-3E66-42DE-BF77-3A40F3965D72}"/>
              </a:ext>
            </a:extLst>
          </p:cNvPr>
          <p:cNvSpPr>
            <a:spLocks noGrp="1"/>
          </p:cNvSpPr>
          <p:nvPr/>
        </p:nvSpPr>
        <p:spPr>
          <a:xfrm>
            <a:off x="8706400" y="4198468"/>
            <a:ext cx="99998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0.2um</a:t>
            </a:r>
          </a:p>
        </p:txBody>
      </p:sp>
      <p:sp>
        <p:nvSpPr>
          <p:cNvPr id="2707" name="Google Shape;2707;p105">
            <a:extLst>
              <a:ext uri="{FF2B5EF4-FFF2-40B4-BE49-F238E27FC236}">
                <a16:creationId xmlns:a16="http://schemas.microsoft.com/office/drawing/2014/main" id="{B551CF17-9819-4366-89A1-48C76D9A1D40}"/>
              </a:ext>
            </a:extLst>
          </p:cNvPr>
          <p:cNvSpPr>
            <a:spLocks noGrp="1"/>
          </p:cNvSpPr>
          <p:nvPr/>
        </p:nvSpPr>
        <p:spPr>
          <a:xfrm>
            <a:off x="3649100" y="4175912"/>
            <a:ext cx="243240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“3×3 이상의 Via Array에서는 Via가 밀집되면서 식각 및 금속 매립 공정의 균일성이 저하되어 Void, 브리징 등의 결함이 발생할 수 있으므로, 공정 신뢰성과 수율을 확보하기 위해 더 큰 최소 간격을 적용”</a:t>
            </a:r>
          </a:p>
        </p:txBody>
      </p:sp>
      <p:sp>
        <p:nvSpPr>
          <p:cNvPr id="2792" name="Slide 5 copied left comparison heading">
            <a:extLst>
              <a:ext uri="{FF2B5EF4-FFF2-40B4-BE49-F238E27FC236}">
                <a16:creationId xmlns:a16="http://schemas.microsoft.com/office/drawing/2014/main" id="{FA6CF959-B429-4E21-9357-29DE0B451BD7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2793" name="Slide 5 copied right comparison heading">
            <a:extLst>
              <a:ext uri="{FF2B5EF4-FFF2-40B4-BE49-F238E27FC236}">
                <a16:creationId xmlns:a16="http://schemas.microsoft.com/office/drawing/2014/main" id="{4C18FBA1-3945-4664-86A2-589929058043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9FC3B7C-BFD3-2905-19B6-C55CC9469EEA}"/>
              </a:ext>
            </a:extLst>
          </p:cNvPr>
          <p:cNvSpPr/>
          <p:nvPr/>
        </p:nvSpPr>
        <p:spPr>
          <a:xfrm>
            <a:off x="6459130" y="5607333"/>
            <a:ext cx="5407750" cy="1125889"/>
          </a:xfrm>
          <a:prstGeom prst="rect">
            <a:avLst/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Substrate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AD766EA-77D3-1B1C-84F8-9DB819592306}"/>
              </a:ext>
            </a:extLst>
          </p:cNvPr>
          <p:cNvSpPr/>
          <p:nvPr/>
        </p:nvSpPr>
        <p:spPr>
          <a:xfrm>
            <a:off x="6450166" y="5726602"/>
            <a:ext cx="5416713" cy="330868"/>
          </a:xfrm>
          <a:prstGeom prst="rect">
            <a:avLst/>
          </a:prstGeom>
          <a:gradFill rotWithShape="1">
            <a:gsLst>
              <a:gs pos="0">
                <a:srgbClr val="5B9BD5">
                  <a:lumMod val="110000"/>
                  <a:satMod val="105000"/>
                  <a:tint val="67000"/>
                </a:srgbClr>
              </a:gs>
              <a:gs pos="50000">
                <a:srgbClr val="5B9BD5">
                  <a:lumMod val="105000"/>
                  <a:satMod val="103000"/>
                  <a:tint val="73000"/>
                </a:srgbClr>
              </a:gs>
              <a:gs pos="100000">
                <a:srgbClr val="5B9B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E95E3E6-38EE-2AE0-0E56-32D8876C1C08}"/>
              </a:ext>
            </a:extLst>
          </p:cNvPr>
          <p:cNvSpPr/>
          <p:nvPr/>
        </p:nvSpPr>
        <p:spPr>
          <a:xfrm>
            <a:off x="6459130" y="5319996"/>
            <a:ext cx="5407736" cy="424658"/>
          </a:xfrm>
          <a:prstGeom prst="rect">
            <a:avLst/>
          </a:prstGeom>
          <a:pattFill prst="pct5">
            <a:fgClr>
              <a:srgbClr val="0070C0"/>
            </a:fgClr>
            <a:bgClr>
              <a:sysClr val="window" lastClr="FFFFFF"/>
            </a:bgClr>
          </a:patt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B3E8CB8-87B9-9D8B-C30F-8F578E87E797}"/>
              </a:ext>
            </a:extLst>
          </p:cNvPr>
          <p:cNvSpPr/>
          <p:nvPr/>
        </p:nvSpPr>
        <p:spPr>
          <a:xfrm>
            <a:off x="7216218" y="5165316"/>
            <a:ext cx="3944519" cy="148333"/>
          </a:xfrm>
          <a:prstGeom prst="rect">
            <a:avLst/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solidFill>
              <a:srgbClr val="A5A5A5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metal1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F850971-6C54-D80E-AACC-17FE2D52A9C0}"/>
              </a:ext>
            </a:extLst>
          </p:cNvPr>
          <p:cNvSpPr/>
          <p:nvPr/>
        </p:nvSpPr>
        <p:spPr>
          <a:xfrm>
            <a:off x="6468043" y="4828301"/>
            <a:ext cx="1769167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ysClr val="window" lastClr="FFFFFF"/>
            </a:bgClr>
          </a:patt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IMD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4775F53-8CD6-8108-E581-6CFDB525C9BC}"/>
              </a:ext>
            </a:extLst>
          </p:cNvPr>
          <p:cNvSpPr/>
          <p:nvPr/>
        </p:nvSpPr>
        <p:spPr>
          <a:xfrm>
            <a:off x="9199881" y="4822752"/>
            <a:ext cx="861792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ysClr val="window" lastClr="FFFFFF"/>
            </a:bgClr>
          </a:patt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IMD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0FB683C-8AD9-E1B9-609F-1C261A44ECB1}"/>
              </a:ext>
            </a:extLst>
          </p:cNvPr>
          <p:cNvSpPr/>
          <p:nvPr/>
        </p:nvSpPr>
        <p:spPr>
          <a:xfrm>
            <a:off x="7560357" y="4693432"/>
            <a:ext cx="3007143" cy="132305"/>
          </a:xfrm>
          <a:prstGeom prst="rect">
            <a:avLst/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solidFill>
              <a:srgbClr val="A5A5A5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metal2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2358209-FED0-6FEF-1DAB-56C2E248F291}"/>
              </a:ext>
            </a:extLst>
          </p:cNvPr>
          <p:cNvSpPr/>
          <p:nvPr/>
        </p:nvSpPr>
        <p:spPr>
          <a:xfrm>
            <a:off x="6468043" y="4678753"/>
            <a:ext cx="1101367" cy="143201"/>
          </a:xfrm>
          <a:prstGeom prst="rect">
            <a:avLst/>
          </a:prstGeom>
          <a:gradFill rotWithShape="1">
            <a:gsLst>
              <a:gs pos="0">
                <a:srgbClr val="4472C4">
                  <a:satMod val="103000"/>
                  <a:lumMod val="102000"/>
                  <a:tint val="94000"/>
                </a:srgbClr>
              </a:gs>
              <a:gs pos="50000">
                <a:srgbClr val="4472C4">
                  <a:satMod val="110000"/>
                  <a:lumMod val="100000"/>
                  <a:shade val="100000"/>
                </a:srgbClr>
              </a:gs>
              <a:gs pos="100000">
                <a:srgbClr val="4472C4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5713AF5-9C6D-FD00-A41E-ECDBCE614524}"/>
              </a:ext>
            </a:extLst>
          </p:cNvPr>
          <p:cNvSpPr/>
          <p:nvPr/>
        </p:nvSpPr>
        <p:spPr>
          <a:xfrm>
            <a:off x="10576417" y="4678751"/>
            <a:ext cx="1288642" cy="146985"/>
          </a:xfrm>
          <a:prstGeom prst="rect">
            <a:avLst/>
          </a:prstGeom>
          <a:gradFill rotWithShape="1">
            <a:gsLst>
              <a:gs pos="0">
                <a:srgbClr val="4472C4">
                  <a:satMod val="103000"/>
                  <a:lumMod val="102000"/>
                  <a:tint val="94000"/>
                </a:srgbClr>
              </a:gs>
              <a:gs pos="50000">
                <a:srgbClr val="4472C4">
                  <a:satMod val="110000"/>
                  <a:lumMod val="100000"/>
                  <a:shade val="100000"/>
                </a:srgbClr>
              </a:gs>
              <a:gs pos="100000">
                <a:srgbClr val="4472C4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E7D4BD4-DB4E-8F0B-AF8E-ADD486B64F0C}"/>
              </a:ext>
            </a:extLst>
          </p:cNvPr>
          <p:cNvSpPr/>
          <p:nvPr/>
        </p:nvSpPr>
        <p:spPr>
          <a:xfrm>
            <a:off x="11160737" y="5159346"/>
            <a:ext cx="715041" cy="158408"/>
          </a:xfrm>
          <a:prstGeom prst="rect">
            <a:avLst/>
          </a:prstGeom>
          <a:gradFill rotWithShape="1">
            <a:gsLst>
              <a:gs pos="0">
                <a:srgbClr val="4472C4">
                  <a:satMod val="103000"/>
                  <a:lumMod val="102000"/>
                  <a:tint val="94000"/>
                </a:srgbClr>
              </a:gs>
              <a:gs pos="50000">
                <a:srgbClr val="4472C4">
                  <a:satMod val="110000"/>
                  <a:lumMod val="100000"/>
                  <a:shade val="100000"/>
                </a:srgbClr>
              </a:gs>
              <a:gs pos="100000">
                <a:srgbClr val="4472C4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AED5E86-D7AA-96ED-341C-871B81F393A6}"/>
              </a:ext>
            </a:extLst>
          </p:cNvPr>
          <p:cNvSpPr/>
          <p:nvPr/>
        </p:nvSpPr>
        <p:spPr>
          <a:xfrm>
            <a:off x="6459130" y="5161588"/>
            <a:ext cx="757074" cy="158408"/>
          </a:xfrm>
          <a:prstGeom prst="rect">
            <a:avLst/>
          </a:prstGeom>
          <a:gradFill rotWithShape="1">
            <a:gsLst>
              <a:gs pos="0">
                <a:srgbClr val="4472C4">
                  <a:satMod val="103000"/>
                  <a:lumMod val="102000"/>
                  <a:tint val="94000"/>
                </a:srgbClr>
              </a:gs>
              <a:gs pos="50000">
                <a:srgbClr val="4472C4">
                  <a:satMod val="110000"/>
                  <a:lumMod val="100000"/>
                  <a:shade val="100000"/>
                </a:srgbClr>
              </a:gs>
              <a:gs pos="100000">
                <a:srgbClr val="4472C4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C902C82-5A32-D412-97F2-48CC97CCACF0}"/>
              </a:ext>
            </a:extLst>
          </p:cNvPr>
          <p:cNvSpPr/>
          <p:nvPr/>
        </p:nvSpPr>
        <p:spPr>
          <a:xfrm>
            <a:off x="10073011" y="4822752"/>
            <a:ext cx="1793855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ysClr val="window" lastClr="FFFFFF"/>
            </a:bgClr>
          </a:patt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IMD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사다리꼴 45">
            <a:extLst>
              <a:ext uri="{FF2B5EF4-FFF2-40B4-BE49-F238E27FC236}">
                <a16:creationId xmlns:a16="http://schemas.microsoft.com/office/drawing/2014/main" id="{7AFBE93B-B771-6BCB-D5C2-1C428B85A5A8}"/>
              </a:ext>
            </a:extLst>
          </p:cNvPr>
          <p:cNvSpPr/>
          <p:nvPr/>
        </p:nvSpPr>
        <p:spPr>
          <a:xfrm flipV="1">
            <a:off x="9965586" y="4818647"/>
            <a:ext cx="427121" cy="328629"/>
          </a:xfrm>
          <a:prstGeom prst="trapezoid">
            <a:avLst/>
          </a:prstGeom>
          <a:solidFill>
            <a:srgbClr val="E7E6E6">
              <a:lumMod val="75000"/>
            </a:srgb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F4E0665-3BFD-BC8E-767E-E1839DF13E0D}"/>
              </a:ext>
            </a:extLst>
          </p:cNvPr>
          <p:cNvSpPr/>
          <p:nvPr/>
        </p:nvSpPr>
        <p:spPr>
          <a:xfrm>
            <a:off x="8090059" y="4832280"/>
            <a:ext cx="861792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ysClr val="window" lastClr="FFFFFF"/>
            </a:bgClr>
          </a:patt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IMD</a:t>
            </a: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다리꼴 47">
            <a:extLst>
              <a:ext uri="{FF2B5EF4-FFF2-40B4-BE49-F238E27FC236}">
                <a16:creationId xmlns:a16="http://schemas.microsoft.com/office/drawing/2014/main" id="{3902E907-FC11-34A0-2B21-00E1D8DE9928}"/>
              </a:ext>
            </a:extLst>
          </p:cNvPr>
          <p:cNvSpPr/>
          <p:nvPr/>
        </p:nvSpPr>
        <p:spPr>
          <a:xfrm flipV="1">
            <a:off x="8877422" y="4832582"/>
            <a:ext cx="427121" cy="328629"/>
          </a:xfrm>
          <a:prstGeom prst="trapezoid">
            <a:avLst/>
          </a:prstGeom>
          <a:solidFill>
            <a:srgbClr val="E7E6E6">
              <a:lumMod val="75000"/>
            </a:srgb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다리꼴 48">
            <a:extLst>
              <a:ext uri="{FF2B5EF4-FFF2-40B4-BE49-F238E27FC236}">
                <a16:creationId xmlns:a16="http://schemas.microsoft.com/office/drawing/2014/main" id="{B5C6A169-E6DB-AF51-C6E6-2DD4FDFD84FC}"/>
              </a:ext>
            </a:extLst>
          </p:cNvPr>
          <p:cNvSpPr/>
          <p:nvPr/>
        </p:nvSpPr>
        <p:spPr>
          <a:xfrm flipV="1">
            <a:off x="7805918" y="4833400"/>
            <a:ext cx="427121" cy="328629"/>
          </a:xfrm>
          <a:prstGeom prst="trapezoid">
            <a:avLst/>
          </a:prstGeom>
          <a:solidFill>
            <a:srgbClr val="E7E6E6">
              <a:lumMod val="75000"/>
            </a:srgbClr>
          </a:solidFill>
          <a:ln w="12700" cap="flat" cmpd="sng" algn="ctr">
            <a:solidFill>
              <a:srgbClr val="E7E6E6">
                <a:lumMod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956938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3" name="Google Shape;2728;p10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2389" y="1368528"/>
            <a:ext cx="2544503" cy="2388441"/>
          </a:xfrm>
          <a:prstGeom prst="rect">
            <a:avLst/>
          </a:prstGeom>
          <a:ln>
            <a:noFill/>
          </a:ln>
        </p:spPr>
      </p:pic>
      <p:cxnSp>
        <p:nvCxnSpPr>
          <p:cNvPr id="2815" name="Google Shape;2730;p106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graphicFrame>
        <p:nvGraphicFramePr>
          <p:cNvPr id="2816" name="Google Shape;2731;p106"/>
          <p:cNvGraphicFramePr/>
          <p:nvPr>
            <p:extLst>
              <p:ext uri="{D42A27DB-BD31-4B8C-83A1-F6EECF244321}">
                <p14:modId xmlns:p14="http://schemas.microsoft.com/office/powerpoint/2010/main" val="3662093056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VIAk.E.1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0.005um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Metal k to Via k enclosure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2818" name="Google Shape;2735;p106"/>
          <p:cNvCxnSpPr/>
          <p:nvPr/>
        </p:nvCxnSpPr>
        <p:spPr>
          <a:xfrm>
            <a:off x="9900640" y="3756969"/>
            <a:ext cx="0" cy="153428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19" name="Google Shape;2736;p106"/>
          <p:cNvCxnSpPr/>
          <p:nvPr/>
        </p:nvCxnSpPr>
        <p:spPr>
          <a:xfrm>
            <a:off x="10073330" y="3756969"/>
            <a:ext cx="0" cy="1534284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737" name="Google Shape;2737;p106">
            <a:extLst>
              <a:ext uri="{FF2B5EF4-FFF2-40B4-BE49-F238E27FC236}">
                <a16:creationId xmlns:a16="http://schemas.microsoft.com/office/drawing/2014/main" id="{C6FE1A09-E7D4-436E-926F-E3B80C35E8A0}"/>
              </a:ext>
            </a:extLst>
          </p:cNvPr>
          <p:cNvSpPr>
            <a:spLocks noGrp="1"/>
          </p:cNvSpPr>
          <p:nvPr/>
        </p:nvSpPr>
        <p:spPr>
          <a:xfrm>
            <a:off x="10444240" y="3826259"/>
            <a:ext cx="117354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0.005um</a:t>
            </a:r>
          </a:p>
        </p:txBody>
      </p:sp>
      <p:pic>
        <p:nvPicPr>
          <p:cNvPr id="2821" name="Google Shape;2738;p10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1160" y="3230387"/>
            <a:ext cx="3664156" cy="3439422"/>
          </a:xfrm>
          <a:prstGeom prst="rect">
            <a:avLst/>
          </a:prstGeom>
          <a:ln>
            <a:noFill/>
          </a:ln>
        </p:spPr>
      </p:pic>
      <p:pic>
        <p:nvPicPr>
          <p:cNvPr id="2822" name="Google Shape;2739;p106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314" y="1363263"/>
            <a:ext cx="2422920" cy="1567062"/>
          </a:xfrm>
          <a:prstGeom prst="rect">
            <a:avLst/>
          </a:prstGeom>
          <a:ln>
            <a:noFill/>
          </a:ln>
        </p:spPr>
      </p:pic>
      <p:sp>
        <p:nvSpPr>
          <p:cNvPr id="2740" name="Google Shape;2740;p106">
            <a:extLst>
              <a:ext uri="{FF2B5EF4-FFF2-40B4-BE49-F238E27FC236}">
                <a16:creationId xmlns:a16="http://schemas.microsoft.com/office/drawing/2014/main" id="{A888CA69-F2E8-4C51-8D22-E3452B8DED97}"/>
              </a:ext>
            </a:extLst>
          </p:cNvPr>
          <p:cNvSpPr>
            <a:spLocks noGrp="1"/>
          </p:cNvSpPr>
          <p:nvPr/>
        </p:nvSpPr>
        <p:spPr>
          <a:xfrm>
            <a:off x="2063912" y="2732515"/>
            <a:ext cx="415966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“Via를 네 방향에서 충분히 감싸 안정적인 금속층 연결과 공정 신뢰성을 확보” (각 면당 최소 0.005um 이상 권장)</a:t>
            </a:r>
          </a:p>
        </p:txBody>
      </p:sp>
      <p:cxnSp>
        <p:nvCxnSpPr>
          <p:cNvPr id="2826" name="Google Shape;2743;p106"/>
          <p:cNvCxnSpPr/>
          <p:nvPr/>
        </p:nvCxnSpPr>
        <p:spPr>
          <a:xfrm flipH="1">
            <a:off x="9983095" y="4129429"/>
            <a:ext cx="543797" cy="610369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811" name="Slide 5 copied left comparison heading">
            <a:extLst>
              <a:ext uri="{FF2B5EF4-FFF2-40B4-BE49-F238E27FC236}">
                <a16:creationId xmlns:a16="http://schemas.microsoft.com/office/drawing/2014/main" id="{9F692990-C0E5-40B7-8427-161DD27E8380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2812" name="Slide 5 copied right comparison heading">
            <a:extLst>
              <a:ext uri="{FF2B5EF4-FFF2-40B4-BE49-F238E27FC236}">
                <a16:creationId xmlns:a16="http://schemas.microsoft.com/office/drawing/2014/main" id="{BAF6377E-DE22-4CEE-B3FE-0B4401D49D17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5B547E-51B8-46BA-43C2-2ACD0DCF8F09}"/>
              </a:ext>
            </a:extLst>
          </p:cNvPr>
          <p:cNvSpPr/>
          <p:nvPr/>
        </p:nvSpPr>
        <p:spPr>
          <a:xfrm>
            <a:off x="7371829" y="5613885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Substrate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3D70F80-C0B8-7E6B-DB97-A299E48DB57A}"/>
              </a:ext>
            </a:extLst>
          </p:cNvPr>
          <p:cNvSpPr/>
          <p:nvPr/>
        </p:nvSpPr>
        <p:spPr>
          <a:xfrm>
            <a:off x="7371829" y="5603748"/>
            <a:ext cx="3709755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D6AA5FB-5902-0878-9C7E-EE853026136D}"/>
              </a:ext>
            </a:extLst>
          </p:cNvPr>
          <p:cNvSpPr/>
          <p:nvPr/>
        </p:nvSpPr>
        <p:spPr>
          <a:xfrm>
            <a:off x="9302748" y="4763058"/>
            <a:ext cx="1778828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FAB0C5B-B453-46F8-500E-EC5EC1F98BB4}"/>
              </a:ext>
            </a:extLst>
          </p:cNvPr>
          <p:cNvSpPr/>
          <p:nvPr/>
        </p:nvSpPr>
        <p:spPr>
          <a:xfrm>
            <a:off x="7371820" y="5277949"/>
            <a:ext cx="3709762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순서도: 수동 입력 24">
            <a:extLst>
              <a:ext uri="{FF2B5EF4-FFF2-40B4-BE49-F238E27FC236}">
                <a16:creationId xmlns:a16="http://schemas.microsoft.com/office/drawing/2014/main" id="{D4E7360D-3011-239E-F68A-1658C28D5AAE}"/>
              </a:ext>
            </a:extLst>
          </p:cNvPr>
          <p:cNvSpPr/>
          <p:nvPr/>
        </p:nvSpPr>
        <p:spPr>
          <a:xfrm rot="5400000" flipH="1">
            <a:off x="8470788" y="3664090"/>
            <a:ext cx="330870" cy="2528807"/>
          </a:xfrm>
          <a:prstGeom prst="flowChartManualInpu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9A8BA7-4613-A356-2FB9-F84F280A6A20}"/>
              </a:ext>
            </a:extLst>
          </p:cNvPr>
          <p:cNvSpPr/>
          <p:nvPr/>
        </p:nvSpPr>
        <p:spPr>
          <a:xfrm>
            <a:off x="7371820" y="5100399"/>
            <a:ext cx="2713530" cy="1631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03BE057-9BED-A978-A0EE-7344DA23348A}"/>
              </a:ext>
            </a:extLst>
          </p:cNvPr>
          <p:cNvSpPr/>
          <p:nvPr/>
        </p:nvSpPr>
        <p:spPr>
          <a:xfrm>
            <a:off x="10073323" y="5093927"/>
            <a:ext cx="1008254" cy="178954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950746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9" name="Google Shape;2751;p10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2884" y="1480742"/>
            <a:ext cx="2774826" cy="2622452"/>
          </a:xfrm>
          <a:prstGeom prst="rect">
            <a:avLst/>
          </a:prstGeom>
          <a:ln>
            <a:noFill/>
          </a:ln>
        </p:spPr>
      </p:pic>
      <p:pic>
        <p:nvPicPr>
          <p:cNvPr id="2860" name="Google Shape;2752;p107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0155" y="1480742"/>
            <a:ext cx="2515921" cy="1694396"/>
          </a:xfrm>
          <a:prstGeom prst="rect">
            <a:avLst/>
          </a:prstGeom>
          <a:ln>
            <a:noFill/>
          </a:ln>
        </p:spPr>
      </p:pic>
      <p:cxnSp>
        <p:nvCxnSpPr>
          <p:cNvPr id="2862" name="Google Shape;2754;p107"/>
          <p:cNvCxnSpPr/>
          <p:nvPr/>
        </p:nvCxnSpPr>
        <p:spPr>
          <a:xfrm>
            <a:off x="6161698" y="1194679"/>
            <a:ext cx="0" cy="5668864"/>
          </a:xfrm>
          <a:prstGeom prst="straightConnector1">
            <a:avLst/>
          </a:prstGeom>
          <a:ln w="15875" cap="flat">
            <a:solidFill>
              <a:schemeClr val="dk1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63" name="Google Shape;2757;p107"/>
          <p:cNvCxnSpPr/>
          <p:nvPr/>
        </p:nvCxnSpPr>
        <p:spPr>
          <a:xfrm>
            <a:off x="8225190" y="4278122"/>
            <a:ext cx="452731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cxnSp>
        <p:nvCxnSpPr>
          <p:cNvPr id="2864" name="Google Shape;2758;p107"/>
          <p:cNvCxnSpPr/>
          <p:nvPr/>
        </p:nvCxnSpPr>
        <p:spPr>
          <a:xfrm>
            <a:off x="8243784" y="3754222"/>
            <a:ext cx="3485" cy="1692328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65" name="Google Shape;2759;p107"/>
          <p:cNvCxnSpPr/>
          <p:nvPr/>
        </p:nvCxnSpPr>
        <p:spPr>
          <a:xfrm>
            <a:off x="8679673" y="3331558"/>
            <a:ext cx="0" cy="201046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66" name="Google Shape;2760;p107"/>
          <p:cNvCxnSpPr/>
          <p:nvPr/>
        </p:nvCxnSpPr>
        <p:spPr>
          <a:xfrm>
            <a:off x="9660230" y="3331558"/>
            <a:ext cx="0" cy="2010463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cxnSp>
        <p:nvCxnSpPr>
          <p:cNvPr id="2867" name="Google Shape;2761;p107"/>
          <p:cNvCxnSpPr/>
          <p:nvPr/>
        </p:nvCxnSpPr>
        <p:spPr>
          <a:xfrm>
            <a:off x="10085362" y="3754222"/>
            <a:ext cx="0" cy="1798352"/>
          </a:xfrm>
          <a:prstGeom prst="straightConnector1">
            <a:avLst/>
          </a:prstGeom>
          <a:ln w="15875" cap="flat">
            <a:solidFill>
              <a:srgbClr val="FF0000"/>
            </a:solidFill>
            <a:prstDash val="dash"/>
            <a:miter/>
            <a:headEnd type="none" w="sm" len="sm"/>
            <a:tailEnd type="none" w="sm" len="sm"/>
          </a:ln>
        </p:spPr>
      </p:cxnSp>
      <p:sp>
        <p:nvSpPr>
          <p:cNvPr id="2762" name="Google Shape;2762;p107">
            <a:extLst>
              <a:ext uri="{FF2B5EF4-FFF2-40B4-BE49-F238E27FC236}">
                <a16:creationId xmlns:a16="http://schemas.microsoft.com/office/drawing/2014/main" id="{33380633-3F08-43D4-90A1-C531CBA42B05}"/>
              </a:ext>
            </a:extLst>
          </p:cNvPr>
          <p:cNvSpPr>
            <a:spLocks noGrp="1"/>
          </p:cNvSpPr>
          <p:nvPr/>
        </p:nvSpPr>
        <p:spPr>
          <a:xfrm>
            <a:off x="8717310" y="4072381"/>
            <a:ext cx="99998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0.06um</a:t>
            </a:r>
          </a:p>
        </p:txBody>
      </p:sp>
      <p:graphicFrame>
        <p:nvGraphicFramePr>
          <p:cNvPr id="2869" name="Google Shape;2763;p107"/>
          <p:cNvGraphicFramePr/>
          <p:nvPr>
            <p:extLst>
              <p:ext uri="{D42A27DB-BD31-4B8C-83A1-F6EECF244321}">
                <p14:modId xmlns:p14="http://schemas.microsoft.com/office/powerpoint/2010/main" val="488329908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VIAk.E.2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>
                          <a:solidFill>
                            <a:schemeClr val="dk1"/>
                          </a:solidFill>
                        </a:rPr>
                        <a:t>0.06um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dirty="0"/>
                        <a:t>Minimum Metal k to Via k enclosure on at least two opposite sides of Via k</a:t>
                      </a: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870" name="Google Shape;2764;p10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7046" y="3282395"/>
            <a:ext cx="3480439" cy="3289318"/>
          </a:xfrm>
          <a:prstGeom prst="rect">
            <a:avLst/>
          </a:prstGeom>
          <a:ln>
            <a:noFill/>
          </a:ln>
        </p:spPr>
      </p:pic>
      <p:sp>
        <p:nvSpPr>
          <p:cNvPr id="2765" name="Google Shape;2765;p107">
            <a:extLst>
              <a:ext uri="{FF2B5EF4-FFF2-40B4-BE49-F238E27FC236}">
                <a16:creationId xmlns:a16="http://schemas.microsoft.com/office/drawing/2014/main" id="{F7267544-6BA9-4FE2-9371-44BE3AE0B9FA}"/>
              </a:ext>
            </a:extLst>
          </p:cNvPr>
          <p:cNvSpPr>
            <a:spLocks noGrp="1"/>
          </p:cNvSpPr>
          <p:nvPr/>
        </p:nvSpPr>
        <p:spPr>
          <a:xfrm>
            <a:off x="2063912" y="2792672"/>
            <a:ext cx="4159662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chemeClr val="dk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“Via의 마주보는 두 방향에서 충분한 Enclosure를 확보하여 Overlay 오차에도 안정적인 접촉을 보장”</a:t>
            </a:r>
          </a:p>
        </p:txBody>
      </p:sp>
      <p:cxnSp>
        <p:nvCxnSpPr>
          <p:cNvPr id="2878" name="Google Shape;2772;p107"/>
          <p:cNvCxnSpPr/>
          <p:nvPr/>
        </p:nvCxnSpPr>
        <p:spPr>
          <a:xfrm>
            <a:off x="9613090" y="4362339"/>
            <a:ext cx="452731" cy="0"/>
          </a:xfrm>
          <a:prstGeom prst="straightConnector1">
            <a:avLst/>
          </a:prstGeom>
          <a:ln w="19050" cap="flat">
            <a:solidFill>
              <a:schemeClr val="accent1"/>
            </a:solidFill>
            <a:prstDash val="solid"/>
            <a:miter/>
            <a:headEnd type="stealth" w="med" len="med"/>
            <a:tailEnd type="stealth" w="med" len="med"/>
          </a:ln>
        </p:spPr>
      </p:cxnSp>
      <p:sp>
        <p:nvSpPr>
          <p:cNvPr id="2857" name="Slide 5 copied left comparison heading">
            <a:extLst>
              <a:ext uri="{FF2B5EF4-FFF2-40B4-BE49-F238E27FC236}">
                <a16:creationId xmlns:a16="http://schemas.microsoft.com/office/drawing/2014/main" id="{787B1E36-FB93-4FBD-B3C5-BA8CB6F873A8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2858" name="Slide 5 copied right comparison heading">
            <a:extLst>
              <a:ext uri="{FF2B5EF4-FFF2-40B4-BE49-F238E27FC236}">
                <a16:creationId xmlns:a16="http://schemas.microsoft.com/office/drawing/2014/main" id="{C2B30225-EECA-492B-A7C9-96DC4A7E5594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6663F8-E3AD-975B-728C-8EF619F1972B}"/>
              </a:ext>
            </a:extLst>
          </p:cNvPr>
          <p:cNvSpPr/>
          <p:nvPr/>
        </p:nvSpPr>
        <p:spPr>
          <a:xfrm>
            <a:off x="7371829" y="5594539"/>
            <a:ext cx="3709759" cy="112588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Substrate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63CFA9-BC35-EE96-6E61-FD317334AC04}"/>
              </a:ext>
            </a:extLst>
          </p:cNvPr>
          <p:cNvSpPr/>
          <p:nvPr/>
        </p:nvSpPr>
        <p:spPr>
          <a:xfrm>
            <a:off x="7371833" y="5594539"/>
            <a:ext cx="3709755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312F95B-7447-70A1-3316-F7AB6C79D7D8}"/>
              </a:ext>
            </a:extLst>
          </p:cNvPr>
          <p:cNvSpPr/>
          <p:nvPr/>
        </p:nvSpPr>
        <p:spPr>
          <a:xfrm>
            <a:off x="7367402" y="4598213"/>
            <a:ext cx="1519847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3D3E54C-D091-BBBD-5239-DAA3F41A1DA3}"/>
              </a:ext>
            </a:extLst>
          </p:cNvPr>
          <p:cNvSpPr/>
          <p:nvPr/>
        </p:nvSpPr>
        <p:spPr>
          <a:xfrm>
            <a:off x="8240300" y="4924287"/>
            <a:ext cx="1845059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096AD42-2BA7-D053-2981-092CF4944912}"/>
              </a:ext>
            </a:extLst>
          </p:cNvPr>
          <p:cNvSpPr/>
          <p:nvPr/>
        </p:nvSpPr>
        <p:spPr>
          <a:xfrm>
            <a:off x="9561742" y="4589641"/>
            <a:ext cx="1519852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878C9C6-4668-3EEC-4F6F-97A23288DC78}"/>
              </a:ext>
            </a:extLst>
          </p:cNvPr>
          <p:cNvSpPr/>
          <p:nvPr/>
        </p:nvSpPr>
        <p:spPr>
          <a:xfrm>
            <a:off x="7371834" y="5256266"/>
            <a:ext cx="3709751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다리꼴 14">
            <a:extLst>
              <a:ext uri="{FF2B5EF4-FFF2-40B4-BE49-F238E27FC236}">
                <a16:creationId xmlns:a16="http://schemas.microsoft.com/office/drawing/2014/main" id="{510FFBF4-BB41-D9A3-57DF-C1FDC46C6DAF}"/>
              </a:ext>
            </a:extLst>
          </p:cNvPr>
          <p:cNvSpPr/>
          <p:nvPr/>
        </p:nvSpPr>
        <p:spPr>
          <a:xfrm flipV="1">
            <a:off x="8717317" y="4585863"/>
            <a:ext cx="942914" cy="347533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6B950B-4329-EEF3-4452-F225F9890ECA}"/>
              </a:ext>
            </a:extLst>
          </p:cNvPr>
          <p:cNvSpPr/>
          <p:nvPr/>
        </p:nvSpPr>
        <p:spPr>
          <a:xfrm>
            <a:off x="10073322" y="4927914"/>
            <a:ext cx="1008257" cy="329117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6D95759-F848-8CE4-9BDF-F376EBA2A202}"/>
              </a:ext>
            </a:extLst>
          </p:cNvPr>
          <p:cNvSpPr/>
          <p:nvPr/>
        </p:nvSpPr>
        <p:spPr>
          <a:xfrm>
            <a:off x="7361716" y="4918970"/>
            <a:ext cx="881508" cy="338554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730338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7223078F-2A1C-A26F-924D-8B2ADB07F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531" y="1733550"/>
            <a:ext cx="4124157" cy="1679553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B65F90F3-356B-78F2-6091-ECEFB456FE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55"/>
          <a:stretch>
            <a:fillRect/>
          </a:stretch>
        </p:blipFill>
        <p:spPr>
          <a:xfrm>
            <a:off x="920283" y="4696666"/>
            <a:ext cx="3961031" cy="1679553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17519C5-1357-26F1-94BC-EBAD6208F789}"/>
              </a:ext>
            </a:extLst>
          </p:cNvPr>
          <p:cNvCxnSpPr>
            <a:cxnSpLocks/>
          </p:cNvCxnSpPr>
          <p:nvPr/>
        </p:nvCxnSpPr>
        <p:spPr>
          <a:xfrm>
            <a:off x="6161697" y="1349122"/>
            <a:ext cx="0" cy="5342062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641891E-272E-12ED-226C-2C7EF9A85B4D}"/>
              </a:ext>
            </a:extLst>
          </p:cNvPr>
          <p:cNvSpPr txBox="1"/>
          <p:nvPr/>
        </p:nvSpPr>
        <p:spPr>
          <a:xfrm>
            <a:off x="847797" y="1765174"/>
            <a:ext cx="5182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넓은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Metal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연결부의 전류 분산과 신뢰성 확보를 위해 최소 개수의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Via를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배치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5C1BBD2-9924-211C-128D-2BC8B0478521}"/>
              </a:ext>
            </a:extLst>
          </p:cNvPr>
          <p:cNvCxnSpPr>
            <a:cxnSpLocks/>
          </p:cNvCxnSpPr>
          <p:nvPr/>
        </p:nvCxnSpPr>
        <p:spPr>
          <a:xfrm>
            <a:off x="3489035" y="4452255"/>
            <a:ext cx="0" cy="1237392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766E78D-C121-502C-5769-3DFC845D4174}"/>
              </a:ext>
            </a:extLst>
          </p:cNvPr>
          <p:cNvCxnSpPr>
            <a:cxnSpLocks/>
          </p:cNvCxnSpPr>
          <p:nvPr/>
        </p:nvCxnSpPr>
        <p:spPr>
          <a:xfrm>
            <a:off x="2572923" y="4452256"/>
            <a:ext cx="106" cy="1260000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C8B3B37-CCF7-BB9E-6087-E03F6962DB6C}"/>
              </a:ext>
            </a:extLst>
          </p:cNvPr>
          <p:cNvCxnSpPr>
            <a:cxnSpLocks/>
          </p:cNvCxnSpPr>
          <p:nvPr/>
        </p:nvCxnSpPr>
        <p:spPr>
          <a:xfrm>
            <a:off x="2572923" y="4452256"/>
            <a:ext cx="913611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6F151E4-4312-CF1D-18F5-264843C66B5E}"/>
              </a:ext>
            </a:extLst>
          </p:cNvPr>
          <p:cNvSpPr txBox="1"/>
          <p:nvPr/>
        </p:nvSpPr>
        <p:spPr>
          <a:xfrm>
            <a:off x="2517850" y="4082923"/>
            <a:ext cx="171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≤ 0.3 um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6687814-0076-E413-687B-1319B9282065}"/>
              </a:ext>
            </a:extLst>
          </p:cNvPr>
          <p:cNvSpPr/>
          <p:nvPr/>
        </p:nvSpPr>
        <p:spPr>
          <a:xfrm>
            <a:off x="6806315" y="4749565"/>
            <a:ext cx="4124158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2C4DBE1-D30D-FC4D-E3A8-3684DC5407D5}"/>
              </a:ext>
            </a:extLst>
          </p:cNvPr>
          <p:cNvSpPr/>
          <p:nvPr/>
        </p:nvSpPr>
        <p:spPr>
          <a:xfrm>
            <a:off x="7763511" y="3753645"/>
            <a:ext cx="2878666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 2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5B35256-043C-956D-DD57-3E24F305030E}"/>
              </a:ext>
            </a:extLst>
          </p:cNvPr>
          <p:cNvSpPr/>
          <p:nvPr/>
        </p:nvSpPr>
        <p:spPr>
          <a:xfrm>
            <a:off x="6806531" y="3753645"/>
            <a:ext cx="956979" cy="330868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DE6692E9-6109-8670-4482-202C3357D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83" y="2502807"/>
            <a:ext cx="3311357" cy="1495993"/>
          </a:xfrm>
          <a:prstGeom prst="rect">
            <a:avLst/>
          </a:prstGeom>
        </p:spPr>
      </p:pic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1401DEE-22E0-3687-BAB9-5E9D3B92F5BC}"/>
              </a:ext>
            </a:extLst>
          </p:cNvPr>
          <p:cNvCxnSpPr>
            <a:cxnSpLocks/>
          </p:cNvCxnSpPr>
          <p:nvPr/>
        </p:nvCxnSpPr>
        <p:spPr>
          <a:xfrm>
            <a:off x="7763510" y="3251200"/>
            <a:ext cx="0" cy="527258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38BF9D2-5E85-1D66-9AC0-9345EF27F7AB}"/>
              </a:ext>
            </a:extLst>
          </p:cNvPr>
          <p:cNvCxnSpPr>
            <a:cxnSpLocks/>
          </p:cNvCxnSpPr>
          <p:nvPr/>
        </p:nvCxnSpPr>
        <p:spPr>
          <a:xfrm>
            <a:off x="10642176" y="3251200"/>
            <a:ext cx="0" cy="527258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E5FCC84-1900-9BA7-D83D-1135CD6602A6}"/>
              </a:ext>
            </a:extLst>
          </p:cNvPr>
          <p:cNvSpPr/>
          <p:nvPr/>
        </p:nvSpPr>
        <p:spPr>
          <a:xfrm>
            <a:off x="10642177" y="3753645"/>
            <a:ext cx="288406" cy="330868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985EB39-6374-890F-380C-BCAC7A3E762B}"/>
              </a:ext>
            </a:extLst>
          </p:cNvPr>
          <p:cNvSpPr/>
          <p:nvPr/>
        </p:nvSpPr>
        <p:spPr>
          <a:xfrm>
            <a:off x="6806531" y="4077408"/>
            <a:ext cx="4123944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사다리꼴 52">
            <a:extLst>
              <a:ext uri="{FF2B5EF4-FFF2-40B4-BE49-F238E27FC236}">
                <a16:creationId xmlns:a16="http://schemas.microsoft.com/office/drawing/2014/main" id="{454C2884-233B-D6F5-C100-E7A41B7B94A3}"/>
              </a:ext>
            </a:extLst>
          </p:cNvPr>
          <p:cNvSpPr/>
          <p:nvPr/>
        </p:nvSpPr>
        <p:spPr>
          <a:xfrm flipV="1">
            <a:off x="8010234" y="4075586"/>
            <a:ext cx="451043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9DCF8A4-1D0B-B487-73FB-15AE69C66C9E}"/>
              </a:ext>
            </a:extLst>
          </p:cNvPr>
          <p:cNvCxnSpPr>
            <a:cxnSpLocks/>
          </p:cNvCxnSpPr>
          <p:nvPr/>
        </p:nvCxnSpPr>
        <p:spPr>
          <a:xfrm>
            <a:off x="8006923" y="2808631"/>
            <a:ext cx="106" cy="1260000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EB4E2E7-1B9A-4CE5-8042-865EC5D1BB49}"/>
              </a:ext>
            </a:extLst>
          </p:cNvPr>
          <p:cNvCxnSpPr>
            <a:cxnSpLocks/>
          </p:cNvCxnSpPr>
          <p:nvPr/>
        </p:nvCxnSpPr>
        <p:spPr>
          <a:xfrm>
            <a:off x="8461489" y="2805352"/>
            <a:ext cx="106" cy="1260000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1A08779-2166-3546-C1A2-7D23A25F84C4}"/>
              </a:ext>
            </a:extLst>
          </p:cNvPr>
          <p:cNvCxnSpPr>
            <a:cxnSpLocks/>
          </p:cNvCxnSpPr>
          <p:nvPr/>
        </p:nvCxnSpPr>
        <p:spPr>
          <a:xfrm>
            <a:off x="9825184" y="2815586"/>
            <a:ext cx="106" cy="1260000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294B21E8-8498-EFD4-3744-894A12B66706}"/>
              </a:ext>
            </a:extLst>
          </p:cNvPr>
          <p:cNvCxnSpPr>
            <a:cxnSpLocks/>
          </p:cNvCxnSpPr>
          <p:nvPr/>
        </p:nvCxnSpPr>
        <p:spPr>
          <a:xfrm>
            <a:off x="9375380" y="2805352"/>
            <a:ext cx="106" cy="1260000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사다리꼴 56">
            <a:extLst>
              <a:ext uri="{FF2B5EF4-FFF2-40B4-BE49-F238E27FC236}">
                <a16:creationId xmlns:a16="http://schemas.microsoft.com/office/drawing/2014/main" id="{157BB9F6-736A-7A98-52CB-F140DF7FD145}"/>
              </a:ext>
            </a:extLst>
          </p:cNvPr>
          <p:cNvSpPr/>
          <p:nvPr/>
        </p:nvSpPr>
        <p:spPr>
          <a:xfrm flipV="1">
            <a:off x="9375380" y="4075586"/>
            <a:ext cx="451043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3D45E3B-C87D-0D8C-5301-6C03B51E1EF8}"/>
              </a:ext>
            </a:extLst>
          </p:cNvPr>
          <p:cNvSpPr/>
          <p:nvPr/>
        </p:nvSpPr>
        <p:spPr>
          <a:xfrm>
            <a:off x="7075201" y="4417950"/>
            <a:ext cx="2968621" cy="321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 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82B070FA-F0BB-798F-6420-A20D39D370A8}"/>
              </a:ext>
            </a:extLst>
          </p:cNvPr>
          <p:cNvCxnSpPr>
            <a:cxnSpLocks/>
          </p:cNvCxnSpPr>
          <p:nvPr/>
        </p:nvCxnSpPr>
        <p:spPr>
          <a:xfrm>
            <a:off x="7075202" y="3238645"/>
            <a:ext cx="0" cy="117420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977A356F-095A-1A3B-9BC6-28C4F9E701A1}"/>
              </a:ext>
            </a:extLst>
          </p:cNvPr>
          <p:cNvCxnSpPr>
            <a:cxnSpLocks/>
          </p:cNvCxnSpPr>
          <p:nvPr/>
        </p:nvCxnSpPr>
        <p:spPr>
          <a:xfrm>
            <a:off x="10043827" y="3250803"/>
            <a:ext cx="0" cy="117420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ADE3737-5755-993B-D9CE-5C65C15EA3D1}"/>
              </a:ext>
            </a:extLst>
          </p:cNvPr>
          <p:cNvSpPr/>
          <p:nvPr/>
        </p:nvSpPr>
        <p:spPr>
          <a:xfrm>
            <a:off x="10054598" y="4405894"/>
            <a:ext cx="875877" cy="330868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186B5E1C-7EA6-64B8-BEF4-D09CBD93086F}"/>
              </a:ext>
            </a:extLst>
          </p:cNvPr>
          <p:cNvSpPr/>
          <p:nvPr/>
        </p:nvSpPr>
        <p:spPr>
          <a:xfrm>
            <a:off x="6806423" y="4409023"/>
            <a:ext cx="258505" cy="330868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25ECD4F-0007-A965-931E-1974B8587A07}"/>
              </a:ext>
            </a:extLst>
          </p:cNvPr>
          <p:cNvSpPr/>
          <p:nvPr/>
        </p:nvSpPr>
        <p:spPr>
          <a:xfrm>
            <a:off x="6806097" y="5089312"/>
            <a:ext cx="4123936" cy="101821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4027FBE-361F-1176-73D6-0233F66BAE5F}"/>
              </a:ext>
            </a:extLst>
          </p:cNvPr>
          <p:cNvSpPr/>
          <p:nvPr/>
        </p:nvSpPr>
        <p:spPr>
          <a:xfrm>
            <a:off x="6806314" y="5077901"/>
            <a:ext cx="4123937" cy="30432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B1F5884C-8805-FF8C-AE6E-6F0D590981EE}"/>
              </a:ext>
            </a:extLst>
          </p:cNvPr>
          <p:cNvCxnSpPr>
            <a:cxnSpLocks/>
          </p:cNvCxnSpPr>
          <p:nvPr/>
        </p:nvCxnSpPr>
        <p:spPr>
          <a:xfrm flipH="1">
            <a:off x="4007272" y="4904583"/>
            <a:ext cx="1015578" cy="0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9903335F-A800-CEEB-F502-D195C619890B}"/>
              </a:ext>
            </a:extLst>
          </p:cNvPr>
          <p:cNvCxnSpPr>
            <a:cxnSpLocks/>
          </p:cNvCxnSpPr>
          <p:nvPr/>
        </p:nvCxnSpPr>
        <p:spPr>
          <a:xfrm flipH="1">
            <a:off x="3984664" y="6207002"/>
            <a:ext cx="1038186" cy="104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B353AAEC-C251-1642-5FC6-513708FC13A2}"/>
              </a:ext>
            </a:extLst>
          </p:cNvPr>
          <p:cNvCxnSpPr>
            <a:cxnSpLocks/>
          </p:cNvCxnSpPr>
          <p:nvPr/>
        </p:nvCxnSpPr>
        <p:spPr>
          <a:xfrm>
            <a:off x="5022850" y="4904583"/>
            <a:ext cx="0" cy="1302419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4366744-1B35-A46E-8BF9-CC489FE39C5B}"/>
              </a:ext>
            </a:extLst>
          </p:cNvPr>
          <p:cNvSpPr txBox="1"/>
          <p:nvPr/>
        </p:nvSpPr>
        <p:spPr>
          <a:xfrm>
            <a:off x="4994745" y="53203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0.4 um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Google Shape;2763;p107">
            <a:extLst>
              <a:ext uri="{FF2B5EF4-FFF2-40B4-BE49-F238E27FC236}">
                <a16:creationId xmlns:a16="http://schemas.microsoft.com/office/drawing/2014/main" id="{526C4947-032C-A413-624A-F6A87EC9BA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9668543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dirty="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VIAk.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1</a:t>
                      </a:r>
                      <a:endParaRPr sz="1800" b="1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---</a:t>
                      </a:r>
                      <a:endParaRPr sz="1800" b="1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of two Via k with spacing &lt;= 0.30um or four Via k with spacing &lt;= 0.60um are required when connecting Metal k and Metal k+1 when one of the Metals has a width &gt; 0.40um at the connection point</a:t>
                      </a:r>
                      <a:endParaRPr lang="ko-KR" altLang="en-US" sz="900" b="0" i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lide 5 copied left comparison heading">
            <a:extLst>
              <a:ext uri="{FF2B5EF4-FFF2-40B4-BE49-F238E27FC236}">
                <a16:creationId xmlns:a16="http://schemas.microsoft.com/office/drawing/2014/main" id="{34DF2365-26BE-CEA9-42B1-8D47F71C1E25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9" name="Slide 5 copied right comparison heading">
            <a:extLst>
              <a:ext uri="{FF2B5EF4-FFF2-40B4-BE49-F238E27FC236}">
                <a16:creationId xmlns:a16="http://schemas.microsoft.com/office/drawing/2014/main" id="{F9018166-B023-9AE5-C4B5-6C4D70121AED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01040043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A0668290-FFA5-760B-96A5-BE3E29214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97" y="4635291"/>
            <a:ext cx="2964262" cy="1790908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93838F5-02FB-D786-9C97-5474917F7562}"/>
              </a:ext>
            </a:extLst>
          </p:cNvPr>
          <p:cNvCxnSpPr>
            <a:cxnSpLocks/>
          </p:cNvCxnSpPr>
          <p:nvPr/>
        </p:nvCxnSpPr>
        <p:spPr>
          <a:xfrm>
            <a:off x="6161697" y="1349122"/>
            <a:ext cx="0" cy="5342062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23590DE-3629-A5C7-CC4F-EB30C8D4CBD8}"/>
              </a:ext>
            </a:extLst>
          </p:cNvPr>
          <p:cNvSpPr txBox="1"/>
          <p:nvPr/>
        </p:nvSpPr>
        <p:spPr>
          <a:xfrm>
            <a:off x="847797" y="1765174"/>
            <a:ext cx="5182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더 넓은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Metal에서는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더 큰 전류를 고려하여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더 많은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Via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개수를 요구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FE431039-DD88-1380-9C6F-B3F0CC66D4EE}"/>
              </a:ext>
            </a:extLst>
          </p:cNvPr>
          <p:cNvCxnSpPr>
            <a:cxnSpLocks/>
          </p:cNvCxnSpPr>
          <p:nvPr/>
        </p:nvCxnSpPr>
        <p:spPr>
          <a:xfrm>
            <a:off x="2441959" y="4529374"/>
            <a:ext cx="0" cy="637409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CC8CFF8-1005-A317-2BF3-F7AE12391B90}"/>
              </a:ext>
            </a:extLst>
          </p:cNvPr>
          <p:cNvCxnSpPr>
            <a:cxnSpLocks/>
          </p:cNvCxnSpPr>
          <p:nvPr/>
        </p:nvCxnSpPr>
        <p:spPr>
          <a:xfrm>
            <a:off x="2012855" y="4529374"/>
            <a:ext cx="106" cy="720000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2C1153CA-91E3-2051-5D6B-37EA9730FFB3}"/>
              </a:ext>
            </a:extLst>
          </p:cNvPr>
          <p:cNvCxnSpPr>
            <a:cxnSpLocks/>
          </p:cNvCxnSpPr>
          <p:nvPr/>
        </p:nvCxnSpPr>
        <p:spPr>
          <a:xfrm>
            <a:off x="2012855" y="4530280"/>
            <a:ext cx="429104" cy="0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DB43536-CB48-3BF0-6358-D3D58E22BDD6}"/>
              </a:ext>
            </a:extLst>
          </p:cNvPr>
          <p:cNvSpPr txBox="1"/>
          <p:nvPr/>
        </p:nvSpPr>
        <p:spPr>
          <a:xfrm>
            <a:off x="1751773" y="4166951"/>
            <a:ext cx="1713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≤ 0.3 um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B046BD8-C625-06B2-B69F-D4DE84735B44}"/>
              </a:ext>
            </a:extLst>
          </p:cNvPr>
          <p:cNvCxnSpPr>
            <a:cxnSpLocks/>
          </p:cNvCxnSpPr>
          <p:nvPr/>
        </p:nvCxnSpPr>
        <p:spPr>
          <a:xfrm flipH="1">
            <a:off x="3209091" y="4722549"/>
            <a:ext cx="1015578" cy="0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84372B69-C8C2-A049-5710-B982F1244E05}"/>
              </a:ext>
            </a:extLst>
          </p:cNvPr>
          <p:cNvCxnSpPr>
            <a:cxnSpLocks/>
          </p:cNvCxnSpPr>
          <p:nvPr/>
        </p:nvCxnSpPr>
        <p:spPr>
          <a:xfrm flipH="1">
            <a:off x="3186483" y="6270502"/>
            <a:ext cx="1038186" cy="104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DC463ABF-79BB-33E4-BD29-9687F34D705D}"/>
              </a:ext>
            </a:extLst>
          </p:cNvPr>
          <p:cNvCxnSpPr>
            <a:cxnSpLocks/>
          </p:cNvCxnSpPr>
          <p:nvPr/>
        </p:nvCxnSpPr>
        <p:spPr>
          <a:xfrm>
            <a:off x="4224669" y="4722549"/>
            <a:ext cx="0" cy="1547953"/>
          </a:xfrm>
          <a:prstGeom prst="line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5152FD6-37B3-8025-67C9-5D2FA74A46F2}"/>
              </a:ext>
            </a:extLst>
          </p:cNvPr>
          <p:cNvSpPr txBox="1"/>
          <p:nvPr/>
        </p:nvSpPr>
        <p:spPr>
          <a:xfrm>
            <a:off x="4361650" y="53118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0.4 um</a:t>
            </a:r>
            <a:endParaRPr lang="ko-KR" altLang="en-US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34121789-8A16-8782-3DCC-234160FA6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97" y="2613426"/>
            <a:ext cx="2908030" cy="1503972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0C716696-36C2-FB99-9D0E-E466B098A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664" y="1765174"/>
            <a:ext cx="3461286" cy="2091193"/>
          </a:xfrm>
          <a:prstGeom prst="rect">
            <a:avLst/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1F9F64C7-7F92-6DBE-8B3C-F1F7CF15F581}"/>
              </a:ext>
            </a:extLst>
          </p:cNvPr>
          <p:cNvSpPr/>
          <p:nvPr/>
        </p:nvSpPr>
        <p:spPr>
          <a:xfrm>
            <a:off x="7060882" y="5068238"/>
            <a:ext cx="3461066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0619875-725D-CEC7-5E7B-FCFC3ACAA575}"/>
              </a:ext>
            </a:extLst>
          </p:cNvPr>
          <p:cNvSpPr/>
          <p:nvPr/>
        </p:nvSpPr>
        <p:spPr>
          <a:xfrm>
            <a:off x="7843048" y="4072318"/>
            <a:ext cx="2460604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 2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780B4B0-EFEB-DE0A-02B7-9A39C254943F}"/>
              </a:ext>
            </a:extLst>
          </p:cNvPr>
          <p:cNvSpPr/>
          <p:nvPr/>
        </p:nvSpPr>
        <p:spPr>
          <a:xfrm>
            <a:off x="7061099" y="4072318"/>
            <a:ext cx="781949" cy="330868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DD569D54-B548-622F-E4A2-AAE804777753}"/>
              </a:ext>
            </a:extLst>
          </p:cNvPr>
          <p:cNvCxnSpPr>
            <a:cxnSpLocks/>
          </p:cNvCxnSpPr>
          <p:nvPr/>
        </p:nvCxnSpPr>
        <p:spPr>
          <a:xfrm>
            <a:off x="7843048" y="3569873"/>
            <a:ext cx="0" cy="527258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4E8D0A3F-9ED4-AEC6-4836-D57130645946}"/>
              </a:ext>
            </a:extLst>
          </p:cNvPr>
          <p:cNvCxnSpPr>
            <a:cxnSpLocks/>
          </p:cNvCxnSpPr>
          <p:nvPr/>
        </p:nvCxnSpPr>
        <p:spPr>
          <a:xfrm>
            <a:off x="10304076" y="3548345"/>
            <a:ext cx="0" cy="527258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BF4B275-C811-332B-E7B5-B5B94ED46F7E}"/>
              </a:ext>
            </a:extLst>
          </p:cNvPr>
          <p:cNvSpPr/>
          <p:nvPr/>
        </p:nvSpPr>
        <p:spPr>
          <a:xfrm>
            <a:off x="10317167" y="4071062"/>
            <a:ext cx="204375" cy="315345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D58F7AD-ED9F-E459-BA54-ADFE6DC0F714}"/>
              </a:ext>
            </a:extLst>
          </p:cNvPr>
          <p:cNvSpPr/>
          <p:nvPr/>
        </p:nvSpPr>
        <p:spPr>
          <a:xfrm>
            <a:off x="7061098" y="4396081"/>
            <a:ext cx="3460886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사다리꼴 58">
            <a:extLst>
              <a:ext uri="{FF2B5EF4-FFF2-40B4-BE49-F238E27FC236}">
                <a16:creationId xmlns:a16="http://schemas.microsoft.com/office/drawing/2014/main" id="{DFC4CCAE-0781-3A42-9390-4059B8BB6F31}"/>
              </a:ext>
            </a:extLst>
          </p:cNvPr>
          <p:cNvSpPr/>
          <p:nvPr/>
        </p:nvSpPr>
        <p:spPr>
          <a:xfrm flipV="1">
            <a:off x="8155418" y="4392735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84EEC63-A5F7-02BF-B737-09E558EC43F1}"/>
              </a:ext>
            </a:extLst>
          </p:cNvPr>
          <p:cNvCxnSpPr>
            <a:cxnSpLocks/>
          </p:cNvCxnSpPr>
          <p:nvPr/>
        </p:nvCxnSpPr>
        <p:spPr>
          <a:xfrm>
            <a:off x="8157193" y="3150396"/>
            <a:ext cx="106" cy="1260000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61E65FE-EF50-8A32-7537-B2C1A06C993C}"/>
              </a:ext>
            </a:extLst>
          </p:cNvPr>
          <p:cNvCxnSpPr>
            <a:cxnSpLocks/>
          </p:cNvCxnSpPr>
          <p:nvPr/>
        </p:nvCxnSpPr>
        <p:spPr>
          <a:xfrm>
            <a:off x="8426468" y="3128231"/>
            <a:ext cx="106" cy="1260000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C10DD70-63E7-A27E-0165-4D90CA83A54F}"/>
              </a:ext>
            </a:extLst>
          </p:cNvPr>
          <p:cNvCxnSpPr>
            <a:cxnSpLocks/>
          </p:cNvCxnSpPr>
          <p:nvPr/>
        </p:nvCxnSpPr>
        <p:spPr>
          <a:xfrm>
            <a:off x="9196318" y="3129826"/>
            <a:ext cx="106" cy="1260000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C6FC865D-FB51-D2F2-3007-E474DD055E60}"/>
              </a:ext>
            </a:extLst>
          </p:cNvPr>
          <p:cNvCxnSpPr>
            <a:cxnSpLocks/>
          </p:cNvCxnSpPr>
          <p:nvPr/>
        </p:nvCxnSpPr>
        <p:spPr>
          <a:xfrm>
            <a:off x="8926437" y="3135170"/>
            <a:ext cx="106" cy="1260000"/>
          </a:xfrm>
          <a:prstGeom prst="line">
            <a:avLst/>
          </a:prstGeom>
          <a:ln>
            <a:solidFill>
              <a:srgbClr val="38BEF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사다리꼴 63">
            <a:extLst>
              <a:ext uri="{FF2B5EF4-FFF2-40B4-BE49-F238E27FC236}">
                <a16:creationId xmlns:a16="http://schemas.microsoft.com/office/drawing/2014/main" id="{9CEDD25B-6AA7-25DE-8A74-DB8C2433074F}"/>
              </a:ext>
            </a:extLst>
          </p:cNvPr>
          <p:cNvSpPr/>
          <p:nvPr/>
        </p:nvSpPr>
        <p:spPr>
          <a:xfrm flipV="1">
            <a:off x="8930160" y="4404049"/>
            <a:ext cx="266158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978D2CE8-DC6E-C953-1141-04CAF01A3B90}"/>
              </a:ext>
            </a:extLst>
          </p:cNvPr>
          <p:cNvSpPr/>
          <p:nvPr/>
        </p:nvSpPr>
        <p:spPr>
          <a:xfrm>
            <a:off x="7282167" y="4736623"/>
            <a:ext cx="2207658" cy="321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 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8DC1D1AD-398F-8DCB-8718-FB18690668B9}"/>
              </a:ext>
            </a:extLst>
          </p:cNvPr>
          <p:cNvCxnSpPr>
            <a:cxnSpLocks/>
          </p:cNvCxnSpPr>
          <p:nvPr/>
        </p:nvCxnSpPr>
        <p:spPr>
          <a:xfrm>
            <a:off x="7277933" y="3562419"/>
            <a:ext cx="0" cy="117420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E5A5BAA2-C9D8-478A-A9DF-3BB19685AB14}"/>
              </a:ext>
            </a:extLst>
          </p:cNvPr>
          <p:cNvCxnSpPr>
            <a:cxnSpLocks/>
          </p:cNvCxnSpPr>
          <p:nvPr/>
        </p:nvCxnSpPr>
        <p:spPr>
          <a:xfrm>
            <a:off x="9489827" y="3548345"/>
            <a:ext cx="0" cy="1174204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B5164E5-D49C-1887-3B8A-6606F22E6D6A}"/>
              </a:ext>
            </a:extLst>
          </p:cNvPr>
          <p:cNvSpPr/>
          <p:nvPr/>
        </p:nvSpPr>
        <p:spPr>
          <a:xfrm>
            <a:off x="9504356" y="4732676"/>
            <a:ext cx="1017187" cy="330868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9E7EC55-D038-2B80-B5E4-55FCE6485EFF}"/>
              </a:ext>
            </a:extLst>
          </p:cNvPr>
          <p:cNvSpPr/>
          <p:nvPr/>
        </p:nvSpPr>
        <p:spPr>
          <a:xfrm>
            <a:off x="7060991" y="4727696"/>
            <a:ext cx="216942" cy="330868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1DF9521-B3D6-E79D-6AD0-7271665B7839}"/>
              </a:ext>
            </a:extLst>
          </p:cNvPr>
          <p:cNvSpPr/>
          <p:nvPr/>
        </p:nvSpPr>
        <p:spPr>
          <a:xfrm>
            <a:off x="7060664" y="5407985"/>
            <a:ext cx="3460880" cy="101821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5DDB7F3-92EE-3A74-CA68-F7629B3B6227}"/>
              </a:ext>
            </a:extLst>
          </p:cNvPr>
          <p:cNvSpPr/>
          <p:nvPr/>
        </p:nvSpPr>
        <p:spPr>
          <a:xfrm>
            <a:off x="7060881" y="5396574"/>
            <a:ext cx="3460881" cy="30432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Google Shape;2763;p107">
            <a:extLst>
              <a:ext uri="{FF2B5EF4-FFF2-40B4-BE49-F238E27FC236}">
                <a16:creationId xmlns:a16="http://schemas.microsoft.com/office/drawing/2014/main" id="{CBC782B1-C291-F155-9EE7-B6C0775BDD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4359300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dirty="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VIAk.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2</a:t>
                      </a:r>
                      <a:endParaRPr sz="1800" b="1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---</a:t>
                      </a:r>
                      <a:endParaRPr sz="1800" b="1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/>
                        <a:t>Minimum of four Via k with spacing &lt;= 0.30um or nine Via k with spacing &lt;= 0.60um are required when connecting Metal k and Metal k+1 when one of the Metals has a width &gt; 1.0um at the connection point</a:t>
                      </a:r>
                      <a:endParaRPr lang="ko-KR" altLang="en-US" sz="9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lide 5 copied left comparison heading">
            <a:extLst>
              <a:ext uri="{FF2B5EF4-FFF2-40B4-BE49-F238E27FC236}">
                <a16:creationId xmlns:a16="http://schemas.microsoft.com/office/drawing/2014/main" id="{A54710E0-4B5B-0912-A29C-97C9342FD619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9" name="Slide 5 copied right comparison heading">
            <a:extLst>
              <a:ext uri="{FF2B5EF4-FFF2-40B4-BE49-F238E27FC236}">
                <a16:creationId xmlns:a16="http://schemas.microsoft.com/office/drawing/2014/main" id="{D951BCD8-5D5A-6728-87A7-4744BC369A31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81283825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5A4797E-D3CE-5F2F-A7E5-2AADAB00C75C}"/>
              </a:ext>
            </a:extLst>
          </p:cNvPr>
          <p:cNvCxnSpPr>
            <a:cxnSpLocks/>
          </p:cNvCxnSpPr>
          <p:nvPr/>
        </p:nvCxnSpPr>
        <p:spPr>
          <a:xfrm>
            <a:off x="6161697" y="1349122"/>
            <a:ext cx="0" cy="5342062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9BBFEF5-BF44-C9BE-5F85-EAFC3AF672E3}"/>
              </a:ext>
            </a:extLst>
          </p:cNvPr>
          <p:cNvSpPr txBox="1"/>
          <p:nvPr/>
        </p:nvSpPr>
        <p:spPr>
          <a:xfrm>
            <a:off x="847803" y="1765174"/>
            <a:ext cx="5182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단일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Via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Stack은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신뢰성 확보를 위해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최대 4층까지만 허용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FC15B13-1968-312F-7212-58F675B4036B}"/>
              </a:ext>
            </a:extLst>
          </p:cNvPr>
          <p:cNvSpPr/>
          <p:nvPr/>
        </p:nvSpPr>
        <p:spPr>
          <a:xfrm>
            <a:off x="7186967" y="4320109"/>
            <a:ext cx="3461066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78C06F7-1D13-EC76-DFA4-0C0F90E9CB6C}"/>
              </a:ext>
            </a:extLst>
          </p:cNvPr>
          <p:cNvSpPr/>
          <p:nvPr/>
        </p:nvSpPr>
        <p:spPr>
          <a:xfrm>
            <a:off x="7187183" y="3647952"/>
            <a:ext cx="3460886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다리꼴 21">
            <a:extLst>
              <a:ext uri="{FF2B5EF4-FFF2-40B4-BE49-F238E27FC236}">
                <a16:creationId xmlns:a16="http://schemas.microsoft.com/office/drawing/2014/main" id="{FB56223D-0D7A-126E-4FAB-13A9F88975B0}"/>
              </a:ext>
            </a:extLst>
          </p:cNvPr>
          <p:cNvSpPr/>
          <p:nvPr/>
        </p:nvSpPr>
        <p:spPr>
          <a:xfrm flipV="1">
            <a:off x="8281503" y="3644606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FD4D8E2-6B92-9AE8-4A27-47F0D7883FAB}"/>
              </a:ext>
            </a:extLst>
          </p:cNvPr>
          <p:cNvSpPr/>
          <p:nvPr/>
        </p:nvSpPr>
        <p:spPr>
          <a:xfrm>
            <a:off x="7186749" y="4659856"/>
            <a:ext cx="3460880" cy="101821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5CB7D35-F6BF-C028-3F40-DC64591B487B}"/>
              </a:ext>
            </a:extLst>
          </p:cNvPr>
          <p:cNvSpPr/>
          <p:nvPr/>
        </p:nvSpPr>
        <p:spPr>
          <a:xfrm>
            <a:off x="7186966" y="4648445"/>
            <a:ext cx="3460881" cy="30432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9F3484D-B84B-E904-18DF-A46E096C385D}"/>
              </a:ext>
            </a:extLst>
          </p:cNvPr>
          <p:cNvSpPr/>
          <p:nvPr/>
        </p:nvSpPr>
        <p:spPr>
          <a:xfrm>
            <a:off x="7186749" y="3317424"/>
            <a:ext cx="3460886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사다리꼴 37">
            <a:extLst>
              <a:ext uri="{FF2B5EF4-FFF2-40B4-BE49-F238E27FC236}">
                <a16:creationId xmlns:a16="http://schemas.microsoft.com/office/drawing/2014/main" id="{934E3F70-BAF2-7D22-AE99-75FB6002BBD4}"/>
              </a:ext>
            </a:extLst>
          </p:cNvPr>
          <p:cNvSpPr/>
          <p:nvPr/>
        </p:nvSpPr>
        <p:spPr>
          <a:xfrm flipV="1">
            <a:off x="8281069" y="3314078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E84A015-27B7-2207-518A-9ED6DE02FC6C}"/>
              </a:ext>
            </a:extLst>
          </p:cNvPr>
          <p:cNvSpPr/>
          <p:nvPr/>
        </p:nvSpPr>
        <p:spPr>
          <a:xfrm>
            <a:off x="7186966" y="3011941"/>
            <a:ext cx="3460886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사다리꼴 41">
            <a:extLst>
              <a:ext uri="{FF2B5EF4-FFF2-40B4-BE49-F238E27FC236}">
                <a16:creationId xmlns:a16="http://schemas.microsoft.com/office/drawing/2014/main" id="{4BD02689-C1BE-6986-1630-619B0F72D9D2}"/>
              </a:ext>
            </a:extLst>
          </p:cNvPr>
          <p:cNvSpPr/>
          <p:nvPr/>
        </p:nvSpPr>
        <p:spPr>
          <a:xfrm flipV="1">
            <a:off x="8281286" y="3008595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EFF8937-FFFA-2FD4-EF64-F19C1EB4393A}"/>
              </a:ext>
            </a:extLst>
          </p:cNvPr>
          <p:cNvSpPr/>
          <p:nvPr/>
        </p:nvSpPr>
        <p:spPr>
          <a:xfrm>
            <a:off x="7186741" y="2676571"/>
            <a:ext cx="3460886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사다리꼴 45">
            <a:extLst>
              <a:ext uri="{FF2B5EF4-FFF2-40B4-BE49-F238E27FC236}">
                <a16:creationId xmlns:a16="http://schemas.microsoft.com/office/drawing/2014/main" id="{292EEF26-977F-2EFE-D14A-B6055AEC1EDF}"/>
              </a:ext>
            </a:extLst>
          </p:cNvPr>
          <p:cNvSpPr/>
          <p:nvPr/>
        </p:nvSpPr>
        <p:spPr>
          <a:xfrm flipV="1">
            <a:off x="8281061" y="2673225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ECD0639-2DB7-20FA-B7E3-773E9551C8B1}"/>
              </a:ext>
            </a:extLst>
          </p:cNvPr>
          <p:cNvSpPr/>
          <p:nvPr/>
        </p:nvSpPr>
        <p:spPr>
          <a:xfrm>
            <a:off x="7969133" y="2351205"/>
            <a:ext cx="2460604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 2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D19E258-902A-52B5-9500-D87C89FAA13F}"/>
              </a:ext>
            </a:extLst>
          </p:cNvPr>
          <p:cNvSpPr/>
          <p:nvPr/>
        </p:nvSpPr>
        <p:spPr>
          <a:xfrm>
            <a:off x="7187184" y="2351205"/>
            <a:ext cx="781949" cy="330868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2697F8B-69B9-458D-1194-653D1B5D770B}"/>
              </a:ext>
            </a:extLst>
          </p:cNvPr>
          <p:cNvSpPr/>
          <p:nvPr/>
        </p:nvSpPr>
        <p:spPr>
          <a:xfrm>
            <a:off x="10443252" y="2349949"/>
            <a:ext cx="204375" cy="315345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17B23E1-10B7-1D5A-3BE8-041DAA0F8AC2}"/>
              </a:ext>
            </a:extLst>
          </p:cNvPr>
          <p:cNvSpPr/>
          <p:nvPr/>
        </p:nvSpPr>
        <p:spPr>
          <a:xfrm>
            <a:off x="7413065" y="3987785"/>
            <a:ext cx="2207657" cy="321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 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C86A4A8-5452-A455-FFB2-B3DB54BBEB76}"/>
              </a:ext>
            </a:extLst>
          </p:cNvPr>
          <p:cNvSpPr/>
          <p:nvPr/>
        </p:nvSpPr>
        <p:spPr>
          <a:xfrm>
            <a:off x="9630106" y="3995108"/>
            <a:ext cx="1017187" cy="311161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D0EB4D9-FF7C-4E40-D0EC-6AE0B638A2EF}"/>
              </a:ext>
            </a:extLst>
          </p:cNvPr>
          <p:cNvSpPr/>
          <p:nvPr/>
        </p:nvSpPr>
        <p:spPr>
          <a:xfrm>
            <a:off x="7186741" y="3990128"/>
            <a:ext cx="216942" cy="330868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Google Shape;2763;p107">
            <a:extLst>
              <a:ext uri="{FF2B5EF4-FFF2-40B4-BE49-F238E27FC236}">
                <a16:creationId xmlns:a16="http://schemas.microsoft.com/office/drawing/2014/main" id="{3315C33E-5218-A66B-CF5A-C1D0773E5B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8185572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dirty="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VIAk.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sz="1800" b="1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---</a:t>
                      </a:r>
                      <a:endParaRPr sz="1800" b="1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/>
                        <a:t>Vias 1 through 6 may be consecutively stacked up to four high </a:t>
                      </a:r>
                    </a:p>
                    <a:p>
                      <a:pPr algn="ctr" latinLnBrk="1"/>
                      <a:r>
                        <a:rPr lang="en-US" altLang="ko-KR" sz="900" b="0" dirty="0"/>
                        <a:t>when only one Via is connecting two Metal layers for any level of the stack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" name="Google Shape;2764;p107">
            <a:extLst>
              <a:ext uri="{FF2B5EF4-FFF2-40B4-BE49-F238E27FC236}">
                <a16:creationId xmlns:a16="http://schemas.microsoft.com/office/drawing/2014/main" id="{1893419C-B278-BE21-845C-E3A70D4C56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3823" y="2661610"/>
            <a:ext cx="3480439" cy="3289318"/>
          </a:xfrm>
          <a:prstGeom prst="rect">
            <a:avLst/>
          </a:prstGeom>
          <a:ln>
            <a:noFill/>
          </a:ln>
        </p:spPr>
      </p:pic>
      <p:sp>
        <p:nvSpPr>
          <p:cNvPr id="13" name="Slide 5 copied left comparison heading">
            <a:extLst>
              <a:ext uri="{FF2B5EF4-FFF2-40B4-BE49-F238E27FC236}">
                <a16:creationId xmlns:a16="http://schemas.microsoft.com/office/drawing/2014/main" id="{1767F9C7-2B3E-F018-AEDC-928E92593D81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5" name="Slide 5 copied right comparison heading">
            <a:extLst>
              <a:ext uri="{FF2B5EF4-FFF2-40B4-BE49-F238E27FC236}">
                <a16:creationId xmlns:a16="http://schemas.microsoft.com/office/drawing/2014/main" id="{0CDEAD64-B113-E4B3-010C-BBB24FEFCC88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27575602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0CC66-D959-89AF-9B78-A66EAF12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870C8AF-7EB4-FA46-31A2-9F4C1B764531}"/>
              </a:ext>
            </a:extLst>
          </p:cNvPr>
          <p:cNvCxnSpPr>
            <a:cxnSpLocks/>
          </p:cNvCxnSpPr>
          <p:nvPr/>
        </p:nvCxnSpPr>
        <p:spPr>
          <a:xfrm>
            <a:off x="6161697" y="1349122"/>
            <a:ext cx="0" cy="5342062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A5A12E4-1F84-6899-8384-39AEE84F516D}"/>
              </a:ext>
            </a:extLst>
          </p:cNvPr>
          <p:cNvSpPr txBox="1"/>
          <p:nvPr/>
        </p:nvSpPr>
        <p:spPr>
          <a:xfrm>
            <a:off x="800073" y="2312028"/>
            <a:ext cx="5182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층에 2개 이상의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Via를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사용하면 </a:t>
            </a: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전류 분산을 통해 4층 이상의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Via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ko-KR" sz="16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Stack을</a:t>
            </a:r>
            <a:r>
              <a:rPr lang="ko-KR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허용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0153EB6-BE39-E8C0-EF54-41A279036199}"/>
              </a:ext>
            </a:extLst>
          </p:cNvPr>
          <p:cNvSpPr/>
          <p:nvPr/>
        </p:nvSpPr>
        <p:spPr>
          <a:xfrm>
            <a:off x="7366140" y="5160368"/>
            <a:ext cx="3461066" cy="33086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DD7A5B-227A-3F49-695D-4F10AB403893}"/>
              </a:ext>
            </a:extLst>
          </p:cNvPr>
          <p:cNvSpPr/>
          <p:nvPr/>
        </p:nvSpPr>
        <p:spPr>
          <a:xfrm>
            <a:off x="7366356" y="4488211"/>
            <a:ext cx="3460886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사다리꼴 11">
            <a:extLst>
              <a:ext uri="{FF2B5EF4-FFF2-40B4-BE49-F238E27FC236}">
                <a16:creationId xmlns:a16="http://schemas.microsoft.com/office/drawing/2014/main" id="{BCCD92D5-A65F-D49D-4DB5-EF53B5CA6482}"/>
              </a:ext>
            </a:extLst>
          </p:cNvPr>
          <p:cNvSpPr/>
          <p:nvPr/>
        </p:nvSpPr>
        <p:spPr>
          <a:xfrm flipV="1">
            <a:off x="8460676" y="4484865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F231FB-9B0F-1137-0257-1384CFA0B035}"/>
              </a:ext>
            </a:extLst>
          </p:cNvPr>
          <p:cNvSpPr/>
          <p:nvPr/>
        </p:nvSpPr>
        <p:spPr>
          <a:xfrm>
            <a:off x="7365922" y="5500115"/>
            <a:ext cx="3460880" cy="101821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12DADE-FF7A-26DE-B695-CACFAB9F30FB}"/>
              </a:ext>
            </a:extLst>
          </p:cNvPr>
          <p:cNvSpPr/>
          <p:nvPr/>
        </p:nvSpPr>
        <p:spPr>
          <a:xfrm>
            <a:off x="7366139" y="5488704"/>
            <a:ext cx="3460881" cy="304329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9E97CD-97D7-D5CF-58EE-B0187B40FD9F}"/>
              </a:ext>
            </a:extLst>
          </p:cNvPr>
          <p:cNvSpPr/>
          <p:nvPr/>
        </p:nvSpPr>
        <p:spPr>
          <a:xfrm>
            <a:off x="7365922" y="4157683"/>
            <a:ext cx="3460886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다리꼴 19">
            <a:extLst>
              <a:ext uri="{FF2B5EF4-FFF2-40B4-BE49-F238E27FC236}">
                <a16:creationId xmlns:a16="http://schemas.microsoft.com/office/drawing/2014/main" id="{66248314-1233-BF6C-1FF8-867AF7C0171E}"/>
              </a:ext>
            </a:extLst>
          </p:cNvPr>
          <p:cNvSpPr/>
          <p:nvPr/>
        </p:nvSpPr>
        <p:spPr>
          <a:xfrm flipV="1">
            <a:off x="8460242" y="4154337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DC192BE-4168-D29E-5915-545B134E895D}"/>
              </a:ext>
            </a:extLst>
          </p:cNvPr>
          <p:cNvSpPr/>
          <p:nvPr/>
        </p:nvSpPr>
        <p:spPr>
          <a:xfrm>
            <a:off x="7366139" y="3852200"/>
            <a:ext cx="3460886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다리꼴 23">
            <a:extLst>
              <a:ext uri="{FF2B5EF4-FFF2-40B4-BE49-F238E27FC236}">
                <a16:creationId xmlns:a16="http://schemas.microsoft.com/office/drawing/2014/main" id="{F55707F9-6438-ECD4-96C1-A36385FAE72B}"/>
              </a:ext>
            </a:extLst>
          </p:cNvPr>
          <p:cNvSpPr/>
          <p:nvPr/>
        </p:nvSpPr>
        <p:spPr>
          <a:xfrm flipV="1">
            <a:off x="8460459" y="3848854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8573003-E739-4325-A871-37FB56F88EAA}"/>
              </a:ext>
            </a:extLst>
          </p:cNvPr>
          <p:cNvSpPr/>
          <p:nvPr/>
        </p:nvSpPr>
        <p:spPr>
          <a:xfrm>
            <a:off x="7365580" y="2709394"/>
            <a:ext cx="3460886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다리꼴 27">
            <a:extLst>
              <a:ext uri="{FF2B5EF4-FFF2-40B4-BE49-F238E27FC236}">
                <a16:creationId xmlns:a16="http://schemas.microsoft.com/office/drawing/2014/main" id="{D361D7D9-C7AD-90E5-40E0-F78A765EC106}"/>
              </a:ext>
            </a:extLst>
          </p:cNvPr>
          <p:cNvSpPr/>
          <p:nvPr/>
        </p:nvSpPr>
        <p:spPr>
          <a:xfrm flipV="1">
            <a:off x="8459900" y="2706048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A914196-E175-277C-039E-8F415FD92554}"/>
              </a:ext>
            </a:extLst>
          </p:cNvPr>
          <p:cNvSpPr/>
          <p:nvPr/>
        </p:nvSpPr>
        <p:spPr>
          <a:xfrm>
            <a:off x="8147863" y="2055700"/>
            <a:ext cx="2460604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 2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0539D04-C279-037A-AC35-9EFA648563BE}"/>
              </a:ext>
            </a:extLst>
          </p:cNvPr>
          <p:cNvSpPr/>
          <p:nvPr/>
        </p:nvSpPr>
        <p:spPr>
          <a:xfrm>
            <a:off x="7365914" y="2055700"/>
            <a:ext cx="781949" cy="330868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282884B-96BA-0161-667F-6C29D860F122}"/>
              </a:ext>
            </a:extLst>
          </p:cNvPr>
          <p:cNvSpPr/>
          <p:nvPr/>
        </p:nvSpPr>
        <p:spPr>
          <a:xfrm>
            <a:off x="10622092" y="2055701"/>
            <a:ext cx="204374" cy="330868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2A006A6-091F-1F0E-004F-0E295CF01633}"/>
              </a:ext>
            </a:extLst>
          </p:cNvPr>
          <p:cNvSpPr/>
          <p:nvPr/>
        </p:nvSpPr>
        <p:spPr>
          <a:xfrm>
            <a:off x="7592238" y="4828044"/>
            <a:ext cx="2207657" cy="321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 1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51F7965-AD84-6872-823F-A919DB69D15C}"/>
              </a:ext>
            </a:extLst>
          </p:cNvPr>
          <p:cNvSpPr/>
          <p:nvPr/>
        </p:nvSpPr>
        <p:spPr>
          <a:xfrm>
            <a:off x="9809279" y="4835367"/>
            <a:ext cx="1017187" cy="311161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4B398CE-B100-B086-E565-7B5599069380}"/>
              </a:ext>
            </a:extLst>
          </p:cNvPr>
          <p:cNvSpPr/>
          <p:nvPr/>
        </p:nvSpPr>
        <p:spPr>
          <a:xfrm>
            <a:off x="7365914" y="4830387"/>
            <a:ext cx="216942" cy="330868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D27702-1CBF-00F1-B960-50893D40F282}"/>
              </a:ext>
            </a:extLst>
          </p:cNvPr>
          <p:cNvSpPr txBox="1"/>
          <p:nvPr/>
        </p:nvSpPr>
        <p:spPr>
          <a:xfrm rot="5400000">
            <a:off x="8324730" y="3485366"/>
            <a:ext cx="1284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 • • • )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3459AB3-17E7-08EF-DDB8-AD86FC72CABA}"/>
              </a:ext>
            </a:extLst>
          </p:cNvPr>
          <p:cNvSpPr/>
          <p:nvPr/>
        </p:nvSpPr>
        <p:spPr>
          <a:xfrm>
            <a:off x="7365580" y="2382772"/>
            <a:ext cx="3460886" cy="330868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IMD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사다리꼴 45">
            <a:extLst>
              <a:ext uri="{FF2B5EF4-FFF2-40B4-BE49-F238E27FC236}">
                <a16:creationId xmlns:a16="http://schemas.microsoft.com/office/drawing/2014/main" id="{F4328580-F6F7-4880-A8D3-FB4C3533D97E}"/>
              </a:ext>
            </a:extLst>
          </p:cNvPr>
          <p:cNvSpPr/>
          <p:nvPr/>
        </p:nvSpPr>
        <p:spPr>
          <a:xfrm flipV="1">
            <a:off x="8459900" y="2379426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사다리꼴 47">
            <a:extLst>
              <a:ext uri="{FF2B5EF4-FFF2-40B4-BE49-F238E27FC236}">
                <a16:creationId xmlns:a16="http://schemas.microsoft.com/office/drawing/2014/main" id="{461997B3-66C0-DC5E-7F7D-6FDF029FC83A}"/>
              </a:ext>
            </a:extLst>
          </p:cNvPr>
          <p:cNvSpPr/>
          <p:nvPr/>
        </p:nvSpPr>
        <p:spPr>
          <a:xfrm flipV="1">
            <a:off x="8026015" y="4492031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사다리꼴 49">
            <a:extLst>
              <a:ext uri="{FF2B5EF4-FFF2-40B4-BE49-F238E27FC236}">
                <a16:creationId xmlns:a16="http://schemas.microsoft.com/office/drawing/2014/main" id="{0F0E4857-7FDA-ED27-43FA-3624995FD8F4}"/>
              </a:ext>
            </a:extLst>
          </p:cNvPr>
          <p:cNvSpPr/>
          <p:nvPr/>
        </p:nvSpPr>
        <p:spPr>
          <a:xfrm flipV="1">
            <a:off x="8026015" y="4186414"/>
            <a:ext cx="270945" cy="298044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사다리꼴 51">
            <a:extLst>
              <a:ext uri="{FF2B5EF4-FFF2-40B4-BE49-F238E27FC236}">
                <a16:creationId xmlns:a16="http://schemas.microsoft.com/office/drawing/2014/main" id="{0D3F55B5-2A07-3FA0-9095-E1400E41C240}"/>
              </a:ext>
            </a:extLst>
          </p:cNvPr>
          <p:cNvSpPr/>
          <p:nvPr/>
        </p:nvSpPr>
        <p:spPr>
          <a:xfrm flipV="1">
            <a:off x="8026574" y="3852827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사다리꼴 53">
            <a:extLst>
              <a:ext uri="{FF2B5EF4-FFF2-40B4-BE49-F238E27FC236}">
                <a16:creationId xmlns:a16="http://schemas.microsoft.com/office/drawing/2014/main" id="{D882DA69-BEE5-A8EE-C9D6-974492BEFCED}"/>
              </a:ext>
            </a:extLst>
          </p:cNvPr>
          <p:cNvSpPr/>
          <p:nvPr/>
        </p:nvSpPr>
        <p:spPr>
          <a:xfrm flipV="1">
            <a:off x="8026015" y="2710021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923817-8CF0-7768-2267-B295DA5484A2}"/>
              </a:ext>
            </a:extLst>
          </p:cNvPr>
          <p:cNvSpPr txBox="1"/>
          <p:nvPr/>
        </p:nvSpPr>
        <p:spPr>
          <a:xfrm rot="5400000">
            <a:off x="7890845" y="3489339"/>
            <a:ext cx="1284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 • • • )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다리꼴 57">
            <a:extLst>
              <a:ext uri="{FF2B5EF4-FFF2-40B4-BE49-F238E27FC236}">
                <a16:creationId xmlns:a16="http://schemas.microsoft.com/office/drawing/2014/main" id="{A365FB88-C378-010C-5097-7EDEE37BA9C1}"/>
              </a:ext>
            </a:extLst>
          </p:cNvPr>
          <p:cNvSpPr/>
          <p:nvPr/>
        </p:nvSpPr>
        <p:spPr>
          <a:xfrm flipV="1">
            <a:off x="8026015" y="2383399"/>
            <a:ext cx="270945" cy="330308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B6FEF7-D182-B6E4-B272-FF646FF688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55"/>
          <a:stretch>
            <a:fillRect/>
          </a:stretch>
        </p:blipFill>
        <p:spPr>
          <a:xfrm>
            <a:off x="987602" y="3036356"/>
            <a:ext cx="3961031" cy="1679553"/>
          </a:xfrm>
          <a:prstGeom prst="rect">
            <a:avLst/>
          </a:prstGeom>
        </p:spPr>
      </p:pic>
      <p:graphicFrame>
        <p:nvGraphicFramePr>
          <p:cNvPr id="13" name="Google Shape;2763;p107">
            <a:extLst>
              <a:ext uri="{FF2B5EF4-FFF2-40B4-BE49-F238E27FC236}">
                <a16:creationId xmlns:a16="http://schemas.microsoft.com/office/drawing/2014/main" id="{96896506-B874-CF18-ACC5-48D4463164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9274378"/>
              </p:ext>
            </p:extLst>
          </p:nvPr>
        </p:nvGraphicFramePr>
        <p:xfrm>
          <a:off x="515294" y="255775"/>
          <a:ext cx="10911275" cy="731540"/>
        </p:xfrm>
        <a:graphic>
          <a:graphicData uri="http://schemas.openxmlformats.org/drawingml/2006/table">
            <a:tbl>
              <a:tblPr firstRow="1" bandRow="1">
                <a:tableStyleId>{20303085-00F8-480F-B401-9EFD05B799E1}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dirty="0">
                          <a:solidFill>
                            <a:schemeClr val="dk1"/>
                          </a:solidFill>
                        </a:rPr>
                        <a:t>Rule Name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dirty="0">
                          <a:solidFill>
                            <a:schemeClr val="dk1"/>
                          </a:solidFill>
                        </a:rPr>
                        <a:t>Value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>
                          <a:solidFill>
                            <a:schemeClr val="dk1"/>
                          </a:solidFill>
                        </a:rPr>
                        <a:t>Description</a:t>
                      </a: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VIAk.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sz="1800" b="1" dirty="0">
                          <a:solidFill>
                            <a:schemeClr val="dk1"/>
                          </a:solidFill>
                        </a:rPr>
                        <a:t>.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sz="1800" b="1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</a:rPr>
                        <a:t>---</a:t>
                      </a:r>
                      <a:endParaRPr sz="1800" b="1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/>
                        <a:t>Vias 1 through 6 may be consecutively stacked up more than four high </a:t>
                      </a:r>
                    </a:p>
                    <a:p>
                      <a:pPr algn="ctr" latinLnBrk="1"/>
                      <a:r>
                        <a:rPr lang="en-US" altLang="ko-KR" sz="900" b="0" dirty="0"/>
                        <a:t>when at least two Vias are connecting two Metal layers for all levels of the stack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mpd="sng">
                      <a:solidFill>
                        <a:schemeClr val="dk1"/>
                      </a:solidFill>
                      <a:prstDash val="solid"/>
                    </a:lnL>
                    <a:lnR w="12700" cmpd="sng">
                      <a:solidFill>
                        <a:schemeClr val="dk1"/>
                      </a:solidFill>
                      <a:prstDash val="solid"/>
                    </a:lnR>
                    <a:lnT w="12700" cmpd="sng">
                      <a:solidFill>
                        <a:schemeClr val="dk1"/>
                      </a:solidFill>
                      <a:prstDash val="solid"/>
                    </a:lnT>
                    <a:lnB w="12700" cmpd="sng">
                      <a:solidFill>
                        <a:schemeClr val="dk1"/>
                      </a:solidFill>
                      <a:prstDash val="solid"/>
                    </a:lnB>
                    <a:solidFill>
                      <a:srgbClr val="FBE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Slide 5 copied left comparison heading">
            <a:extLst>
              <a:ext uri="{FF2B5EF4-FFF2-40B4-BE49-F238E27FC236}">
                <a16:creationId xmlns:a16="http://schemas.microsoft.com/office/drawing/2014/main" id="{02FC57BE-3C9E-B0C4-10D6-B3A657556769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21" name="Slide 5 copied right comparison heading">
            <a:extLst>
              <a:ext uri="{FF2B5EF4-FFF2-40B4-BE49-F238E27FC236}">
                <a16:creationId xmlns:a16="http://schemas.microsoft.com/office/drawing/2014/main" id="{23AFC972-612E-6C81-8655-3E82EA89C538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17712153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0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9" name="Google Shape;2779;p108">
            <a:extLst>
              <a:ext uri="{FF2B5EF4-FFF2-40B4-BE49-F238E27FC236}">
                <a16:creationId xmlns:a16="http://schemas.microsoft.com/office/drawing/2014/main" id="{8A7B412C-7A56-403C-94A1-0019D7A76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5232" y="2301478"/>
            <a:ext cx="5621536" cy="225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/>
              <a:t>Latch up</a:t>
            </a:r>
          </a:p>
        </p:txBody>
      </p:sp>
    </p:spTree>
    <p:extLst>
      <p:ext uri="{BB962C8B-B14F-4D97-AF65-F5344CB8AC3E}">
        <p14:creationId xmlns:p14="http://schemas.microsoft.com/office/powerpoint/2010/main" val="34271606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그림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3" y="4205265"/>
            <a:ext cx="6064921" cy="212239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E92F175-46CC-4413-8DA4-27BAD4C13AB5}"/>
              </a:ext>
            </a:extLst>
          </p:cNvPr>
          <p:cNvSpPr>
            <a:spLocks noGrp="1"/>
          </p:cNvSpPr>
          <p:nvPr/>
        </p:nvSpPr>
        <p:spPr>
          <a:xfrm>
            <a:off x="6320432" y="5380051"/>
            <a:ext cx="5687749" cy="111127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80" name="표 4"/>
          <p:cNvGraphicFramePr/>
          <p:nvPr/>
        </p:nvGraphicFramePr>
        <p:xfrm>
          <a:off x="515294" y="255775"/>
          <a:ext cx="10911275" cy="694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Rule Name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LATCHUP.1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25um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/>
                        <a:t>The maximum distance from any point in a P+ source/drain Active Area to the nearest Nwell pick-up in the same Nwell.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690A1A61-EA70-41C6-8D51-85B146E9C3EC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F634D2-282E-4223-B6C4-6215603B199F}"/>
              </a:ext>
            </a:extLst>
          </p:cNvPr>
          <p:cNvSpPr>
            <a:spLocks noGrp="1"/>
          </p:cNvSpPr>
          <p:nvPr/>
        </p:nvSpPr>
        <p:spPr>
          <a:xfrm flipH="1">
            <a:off x="10651384" y="6148582"/>
            <a:ext cx="16696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P-Substrate</a:t>
            </a:r>
          </a:p>
          <a:p>
            <a:endParaRPr/>
          </a:p>
        </p:txBody>
      </p:sp>
      <p:cxnSp>
        <p:nvCxnSpPr>
          <p:cNvPr id="183" name="직선 화살표 연결선 26"/>
          <p:cNvCxnSpPr/>
          <p:nvPr/>
        </p:nvCxnSpPr>
        <p:spPr>
          <a:xfrm flipV="1">
            <a:off x="408185" y="5095269"/>
            <a:ext cx="5504603" cy="483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91D24AE-6431-463A-BAFB-C0D858BE6B97}"/>
              </a:ext>
            </a:extLst>
          </p:cNvPr>
          <p:cNvSpPr>
            <a:spLocks noGrp="1"/>
          </p:cNvSpPr>
          <p:nvPr/>
        </p:nvSpPr>
        <p:spPr>
          <a:xfrm>
            <a:off x="2899036" y="4718721"/>
            <a:ext cx="522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0000"/>
                </a:solidFill>
              </a:rPr>
              <a:t>25</a:t>
            </a:r>
          </a:p>
        </p:txBody>
      </p:sp>
      <p:pic>
        <p:nvPicPr>
          <p:cNvPr id="185" name="그림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874" y="1540916"/>
            <a:ext cx="4064209" cy="1428823"/>
          </a:xfrm>
          <a:prstGeom prst="rect">
            <a:avLst/>
          </a:prstGeom>
        </p:spPr>
      </p:pic>
      <p:pic>
        <p:nvPicPr>
          <p:cNvPr id="186" name="그림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162" y="1403842"/>
            <a:ext cx="5730384" cy="1120461"/>
          </a:xfrm>
          <a:prstGeom prst="rect">
            <a:avLst/>
          </a:prstGeom>
        </p:spPr>
      </p:pic>
      <p:pic>
        <p:nvPicPr>
          <p:cNvPr id="187" name="그림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854" y="2676790"/>
            <a:ext cx="1900023" cy="1863248"/>
          </a:xfrm>
          <a:prstGeom prst="rect">
            <a:avLst/>
          </a:prstGeom>
        </p:spPr>
      </p:pic>
      <p:pic>
        <p:nvPicPr>
          <p:cNvPr id="188" name="그림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8054" y="2658650"/>
            <a:ext cx="1830143" cy="190746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A61A594-BB56-4725-A419-CBA243711AED}"/>
              </a:ext>
            </a:extLst>
          </p:cNvPr>
          <p:cNvSpPr>
            <a:spLocks noGrp="1"/>
          </p:cNvSpPr>
          <p:nvPr/>
        </p:nvSpPr>
        <p:spPr>
          <a:xfrm>
            <a:off x="10860130" y="5200045"/>
            <a:ext cx="433345" cy="1016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직선 연결선 36">
            <a:extLst>
              <a:ext uri="{FF2B5EF4-FFF2-40B4-BE49-F238E27FC236}">
                <a16:creationId xmlns:a16="http://schemas.microsoft.com/office/drawing/2014/main" id="{017BC32A-5131-489D-BF92-B2DA1CDF8F62}"/>
              </a:ext>
            </a:extLst>
          </p:cNvPr>
          <p:cNvSpPr>
            <a:spLocks noGrp="1"/>
          </p:cNvSpPr>
          <p:nvPr/>
        </p:nvSpPr>
        <p:spPr>
          <a:xfrm>
            <a:off x="10596563" y="4006850"/>
            <a:ext cx="0" cy="1452563"/>
          </a:xfrm>
          <a:prstGeom prst="line">
            <a:avLst/>
          </a:prstGeom>
          <a:ln w="9525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C562AB3A-5410-406F-BDA6-41DD2D51C862}"/>
              </a:ext>
            </a:extLst>
          </p:cNvPr>
          <p:cNvSpPr>
            <a:spLocks noGrp="1"/>
          </p:cNvSpPr>
          <p:nvPr/>
        </p:nvSpPr>
        <p:spPr>
          <a:xfrm>
            <a:off x="11558588" y="4006850"/>
            <a:ext cx="0" cy="1439863"/>
          </a:xfrm>
          <a:prstGeom prst="line">
            <a:avLst/>
          </a:prstGeom>
          <a:ln w="9525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037839D4-7B9D-45D1-87F2-F973F3EDE11A}"/>
              </a:ext>
            </a:extLst>
          </p:cNvPr>
          <p:cNvSpPr>
            <a:spLocks noGrp="1"/>
          </p:cNvSpPr>
          <p:nvPr/>
        </p:nvSpPr>
        <p:spPr>
          <a:xfrm>
            <a:off x="10860130" y="4099317"/>
            <a:ext cx="0" cy="1173466"/>
          </a:xfrm>
          <a:prstGeom prst="line">
            <a:avLst/>
          </a:prstGeom>
          <a:ln w="9525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37FABAF0-884D-4917-9992-8C05570C46B6}"/>
              </a:ext>
            </a:extLst>
          </p:cNvPr>
          <p:cNvSpPr>
            <a:spLocks noGrp="1"/>
          </p:cNvSpPr>
          <p:nvPr/>
        </p:nvSpPr>
        <p:spPr>
          <a:xfrm>
            <a:off x="11296651" y="4097729"/>
            <a:ext cx="0" cy="1173466"/>
          </a:xfrm>
          <a:prstGeom prst="line">
            <a:avLst/>
          </a:prstGeom>
          <a:ln w="9525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FD9D495-16B6-4A84-A7E2-9CEB252FF2BE}"/>
              </a:ext>
            </a:extLst>
          </p:cNvPr>
          <p:cNvSpPr>
            <a:spLocks noGrp="1"/>
          </p:cNvSpPr>
          <p:nvPr/>
        </p:nvSpPr>
        <p:spPr>
          <a:xfrm>
            <a:off x="10855156" y="5306482"/>
            <a:ext cx="439865" cy="688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cxnSp>
        <p:nvCxnSpPr>
          <p:cNvPr id="195" name="직선 연결선 46"/>
          <p:cNvCxnSpPr>
            <a:endCxn id="53" idx="1"/>
          </p:cNvCxnSpPr>
          <p:nvPr/>
        </p:nvCxnSpPr>
        <p:spPr>
          <a:xfrm>
            <a:off x="6764338" y="3879850"/>
            <a:ext cx="3552" cy="1241656"/>
          </a:xfrm>
          <a:prstGeom prst="line">
            <a:avLst/>
          </a:prstGeom>
          <a:ln w="9525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6" name="직선 연결선 47"/>
          <p:cNvCxnSpPr>
            <a:endCxn id="53" idx="3"/>
          </p:cNvCxnSpPr>
          <p:nvPr/>
        </p:nvCxnSpPr>
        <p:spPr>
          <a:xfrm flipH="1">
            <a:off x="6950493" y="3876653"/>
            <a:ext cx="2758" cy="1244853"/>
          </a:xfrm>
          <a:prstGeom prst="line">
            <a:avLst/>
          </a:prstGeom>
          <a:ln w="9525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7" name="직선 연결선 48"/>
          <p:cNvCxnSpPr>
            <a:endCxn id="14" idx="3"/>
          </p:cNvCxnSpPr>
          <p:nvPr/>
        </p:nvCxnSpPr>
        <p:spPr>
          <a:xfrm>
            <a:off x="7359651" y="3876653"/>
            <a:ext cx="791" cy="1237977"/>
          </a:xfrm>
          <a:prstGeom prst="line">
            <a:avLst/>
          </a:prstGeom>
          <a:ln w="9525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8" name="직선 연결선 49"/>
          <p:cNvCxnSpPr>
            <a:endCxn id="14" idx="1"/>
          </p:cNvCxnSpPr>
          <p:nvPr/>
        </p:nvCxnSpPr>
        <p:spPr>
          <a:xfrm>
            <a:off x="7173914" y="3876653"/>
            <a:ext cx="3925" cy="1237977"/>
          </a:xfrm>
          <a:prstGeom prst="line">
            <a:avLst/>
          </a:prstGeom>
          <a:ln w="9525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9" name="직선 연결선 50"/>
          <p:cNvCxnSpPr>
            <a:endCxn id="55" idx="1"/>
          </p:cNvCxnSpPr>
          <p:nvPr/>
        </p:nvCxnSpPr>
        <p:spPr>
          <a:xfrm>
            <a:off x="7580314" y="3887766"/>
            <a:ext cx="5362" cy="1227005"/>
          </a:xfrm>
          <a:prstGeom prst="line">
            <a:avLst/>
          </a:prstGeom>
          <a:ln w="9525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0" name="직선 연결선 51"/>
          <p:cNvCxnSpPr>
            <a:endCxn id="55" idx="3"/>
          </p:cNvCxnSpPr>
          <p:nvPr/>
        </p:nvCxnSpPr>
        <p:spPr>
          <a:xfrm flipH="1">
            <a:off x="7768279" y="3887766"/>
            <a:ext cx="2536" cy="1227005"/>
          </a:xfrm>
          <a:prstGeom prst="line">
            <a:avLst/>
          </a:prstGeom>
          <a:ln w="9525" cap="flat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CCFE016-58C5-4778-8E80-61DF1FF90B7B}"/>
              </a:ext>
            </a:extLst>
          </p:cNvPr>
          <p:cNvSpPr>
            <a:spLocks noGrp="1"/>
          </p:cNvSpPr>
          <p:nvPr/>
        </p:nvSpPr>
        <p:spPr>
          <a:xfrm>
            <a:off x="6767890" y="5070264"/>
            <a:ext cx="182603" cy="10248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사다리꼴 53">
            <a:extLst>
              <a:ext uri="{FF2B5EF4-FFF2-40B4-BE49-F238E27FC236}">
                <a16:creationId xmlns:a16="http://schemas.microsoft.com/office/drawing/2014/main" id="{C8448218-9250-429D-BDFE-8E3D5ABD037D}"/>
              </a:ext>
            </a:extLst>
          </p:cNvPr>
          <p:cNvSpPr>
            <a:spLocks noGrp="1"/>
          </p:cNvSpPr>
          <p:nvPr/>
        </p:nvSpPr>
        <p:spPr>
          <a:xfrm flipV="1">
            <a:off x="6767097" y="5187191"/>
            <a:ext cx="182603" cy="191245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6DF9F53-9844-4544-A7BF-272773A9EA7E}"/>
              </a:ext>
            </a:extLst>
          </p:cNvPr>
          <p:cNvSpPr>
            <a:spLocks noGrp="1"/>
          </p:cNvSpPr>
          <p:nvPr/>
        </p:nvSpPr>
        <p:spPr>
          <a:xfrm>
            <a:off x="7585676" y="5063529"/>
            <a:ext cx="182603" cy="10248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사다리꼴 55">
            <a:extLst>
              <a:ext uri="{FF2B5EF4-FFF2-40B4-BE49-F238E27FC236}">
                <a16:creationId xmlns:a16="http://schemas.microsoft.com/office/drawing/2014/main" id="{927945B1-5B28-474C-8B14-1D9D50627538}"/>
              </a:ext>
            </a:extLst>
          </p:cNvPr>
          <p:cNvSpPr>
            <a:spLocks noGrp="1"/>
          </p:cNvSpPr>
          <p:nvPr/>
        </p:nvSpPr>
        <p:spPr>
          <a:xfrm flipV="1">
            <a:off x="7584883" y="5180456"/>
            <a:ext cx="182603" cy="191245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007409-7CA5-49FF-8A20-35DEAA04891F}"/>
              </a:ext>
            </a:extLst>
          </p:cNvPr>
          <p:cNvSpPr>
            <a:spLocks noGrp="1"/>
          </p:cNvSpPr>
          <p:nvPr/>
        </p:nvSpPr>
        <p:spPr>
          <a:xfrm>
            <a:off x="7177839" y="5063388"/>
            <a:ext cx="182603" cy="10248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사다리꼴 14">
            <a:extLst>
              <a:ext uri="{FF2B5EF4-FFF2-40B4-BE49-F238E27FC236}">
                <a16:creationId xmlns:a16="http://schemas.microsoft.com/office/drawing/2014/main" id="{075C2103-F615-4B8F-ACB5-AE22BD6D96BF}"/>
              </a:ext>
            </a:extLst>
          </p:cNvPr>
          <p:cNvSpPr>
            <a:spLocks noGrp="1"/>
          </p:cNvSpPr>
          <p:nvPr/>
        </p:nvSpPr>
        <p:spPr>
          <a:xfrm flipV="1">
            <a:off x="7177046" y="5180315"/>
            <a:ext cx="182603" cy="191245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직선 연결선 63">
            <a:extLst>
              <a:ext uri="{FF2B5EF4-FFF2-40B4-BE49-F238E27FC236}">
                <a16:creationId xmlns:a16="http://schemas.microsoft.com/office/drawing/2014/main" id="{84C4A784-F050-4ECE-AB72-AEFADCEFC640}"/>
              </a:ext>
            </a:extLst>
          </p:cNvPr>
          <p:cNvSpPr>
            <a:spLocks noGrp="1"/>
          </p:cNvSpPr>
          <p:nvPr/>
        </p:nvSpPr>
        <p:spPr>
          <a:xfrm>
            <a:off x="6494047" y="4138846"/>
            <a:ext cx="3552" cy="1241656"/>
          </a:xfrm>
          <a:prstGeom prst="line">
            <a:avLst/>
          </a:prstGeom>
          <a:ln w="9525">
            <a:solidFill>
              <a:srgbClr val="7030A0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65" name="직선 연결선 64">
            <a:extLst>
              <a:ext uri="{FF2B5EF4-FFF2-40B4-BE49-F238E27FC236}">
                <a16:creationId xmlns:a16="http://schemas.microsoft.com/office/drawing/2014/main" id="{DC7D68C2-6ECE-46C8-A8E6-ECCB4F7FF8E8}"/>
              </a:ext>
            </a:extLst>
          </p:cNvPr>
          <p:cNvSpPr>
            <a:spLocks noGrp="1"/>
          </p:cNvSpPr>
          <p:nvPr/>
        </p:nvSpPr>
        <p:spPr>
          <a:xfrm>
            <a:off x="8033999" y="4138846"/>
            <a:ext cx="3552" cy="1241656"/>
          </a:xfrm>
          <a:prstGeom prst="line">
            <a:avLst/>
          </a:prstGeom>
          <a:ln w="9525">
            <a:solidFill>
              <a:srgbClr val="7030A0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66" name="직선 연결선 65">
            <a:extLst>
              <a:ext uri="{FF2B5EF4-FFF2-40B4-BE49-F238E27FC236}">
                <a16:creationId xmlns:a16="http://schemas.microsoft.com/office/drawing/2014/main" id="{7E8D84BF-C358-444A-8F85-9AAFE9604B60}"/>
              </a:ext>
            </a:extLst>
          </p:cNvPr>
          <p:cNvSpPr>
            <a:spLocks noGrp="1"/>
          </p:cNvSpPr>
          <p:nvPr/>
        </p:nvSpPr>
        <p:spPr>
          <a:xfrm>
            <a:off x="10453290" y="4135549"/>
            <a:ext cx="3552" cy="1241656"/>
          </a:xfrm>
          <a:prstGeom prst="line">
            <a:avLst/>
          </a:prstGeom>
          <a:ln w="9525">
            <a:solidFill>
              <a:srgbClr val="7030A0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67" name="직선 연결선 66">
            <a:extLst>
              <a:ext uri="{FF2B5EF4-FFF2-40B4-BE49-F238E27FC236}">
                <a16:creationId xmlns:a16="http://schemas.microsoft.com/office/drawing/2014/main" id="{E35082C2-7E88-4DFA-909E-55AE20D9B626}"/>
              </a:ext>
            </a:extLst>
          </p:cNvPr>
          <p:cNvSpPr>
            <a:spLocks noGrp="1"/>
          </p:cNvSpPr>
          <p:nvPr/>
        </p:nvSpPr>
        <p:spPr>
          <a:xfrm>
            <a:off x="11699547" y="4135549"/>
            <a:ext cx="3552" cy="1241656"/>
          </a:xfrm>
          <a:prstGeom prst="line">
            <a:avLst/>
          </a:prstGeom>
          <a:ln w="9525">
            <a:solidFill>
              <a:srgbClr val="7030A0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9696E1B-7501-48C6-BD51-7E1E5706DBFD}"/>
              </a:ext>
            </a:extLst>
          </p:cNvPr>
          <p:cNvSpPr>
            <a:spLocks noGrp="1"/>
          </p:cNvSpPr>
          <p:nvPr/>
        </p:nvSpPr>
        <p:spPr>
          <a:xfrm>
            <a:off x="6316881" y="5377547"/>
            <a:ext cx="5687748" cy="466572"/>
          </a:xfrm>
          <a:prstGeom prst="rect">
            <a:avLst/>
          </a:prstGeom>
          <a:solidFill>
            <a:srgbClr val="CDACE6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rgbClr val="7030A0"/>
                </a:solidFill>
              </a:rPr>
              <a:t>Nwell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AA803CB-A8CA-2768-CD17-F25758E1E71B}"/>
              </a:ext>
            </a:extLst>
          </p:cNvPr>
          <p:cNvSpPr>
            <a:spLocks noGrp="1"/>
          </p:cNvSpPr>
          <p:nvPr/>
        </p:nvSpPr>
        <p:spPr>
          <a:xfrm>
            <a:off x="6677635" y="5376591"/>
            <a:ext cx="1177315" cy="1330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200">
                <a:solidFill>
                  <a:sysClr val="windowText" lastClr="000000"/>
                </a:solidFill>
              </a:rPr>
              <a:t>N+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B37ED94-238E-7D31-A391-7A107EBEF89A}"/>
              </a:ext>
            </a:extLst>
          </p:cNvPr>
          <p:cNvSpPr>
            <a:spLocks noGrp="1"/>
          </p:cNvSpPr>
          <p:nvPr/>
        </p:nvSpPr>
        <p:spPr>
          <a:xfrm>
            <a:off x="10593431" y="5377208"/>
            <a:ext cx="268286" cy="13304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DD7E2EC-629A-4D2A-8018-EC801A75827E}"/>
              </a:ext>
            </a:extLst>
          </p:cNvPr>
          <p:cNvSpPr>
            <a:spLocks noGrp="1"/>
          </p:cNvSpPr>
          <p:nvPr/>
        </p:nvSpPr>
        <p:spPr>
          <a:xfrm>
            <a:off x="11291889" y="5377208"/>
            <a:ext cx="268286" cy="13304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F8DB5E-647C-4DED-99C3-A9D2AFF06B26}"/>
              </a:ext>
            </a:extLst>
          </p:cNvPr>
          <p:cNvSpPr>
            <a:spLocks noGrp="1"/>
          </p:cNvSpPr>
          <p:nvPr/>
        </p:nvSpPr>
        <p:spPr>
          <a:xfrm>
            <a:off x="10594806" y="5339562"/>
            <a:ext cx="4228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P+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0F58B8-A8BD-4D5A-9685-19EB52C84742}"/>
              </a:ext>
            </a:extLst>
          </p:cNvPr>
          <p:cNvSpPr>
            <a:spLocks noGrp="1"/>
          </p:cNvSpPr>
          <p:nvPr/>
        </p:nvSpPr>
        <p:spPr>
          <a:xfrm>
            <a:off x="11295021" y="5333875"/>
            <a:ext cx="4228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P+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D6D35F8-136E-4ED8-9E0B-19F3474C73F9}"/>
              </a:ext>
            </a:extLst>
          </p:cNvPr>
          <p:cNvSpPr>
            <a:spLocks noGrp="1"/>
          </p:cNvSpPr>
          <p:nvPr/>
        </p:nvSpPr>
        <p:spPr>
          <a:xfrm>
            <a:off x="10883757" y="5243309"/>
            <a:ext cx="5243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oxide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34070F0-1F6A-4E60-91C9-769E09873818}"/>
              </a:ext>
            </a:extLst>
          </p:cNvPr>
          <p:cNvSpPr>
            <a:spLocks noGrp="1"/>
          </p:cNvSpPr>
          <p:nvPr/>
        </p:nvSpPr>
        <p:spPr>
          <a:xfrm>
            <a:off x="10921291" y="5145229"/>
            <a:ext cx="5243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poly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DDB1D1E-D516-4294-A156-7A5BDF0830A3}"/>
              </a:ext>
            </a:extLst>
          </p:cNvPr>
          <p:cNvSpPr>
            <a:spLocks noGrp="1"/>
          </p:cNvSpPr>
          <p:nvPr/>
        </p:nvSpPr>
        <p:spPr>
          <a:xfrm>
            <a:off x="433590" y="3364943"/>
            <a:ext cx="56524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기생 BJT가 켜져서 latch-up이 발생하는 걸 막기 위해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E547650-8C5A-4095-9D0A-BFD12B77C780}"/>
              </a:ext>
            </a:extLst>
          </p:cNvPr>
          <p:cNvSpPr>
            <a:spLocks noGrp="1"/>
          </p:cNvSpPr>
          <p:nvPr/>
        </p:nvSpPr>
        <p:spPr>
          <a:xfrm>
            <a:off x="6320431" y="5378435"/>
            <a:ext cx="355638" cy="325671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C5A730-7916-4E64-AD8C-7CFB498064D3}"/>
              </a:ext>
            </a:extLst>
          </p:cNvPr>
          <p:cNvSpPr>
            <a:spLocks noGrp="1"/>
          </p:cNvSpPr>
          <p:nvPr/>
        </p:nvSpPr>
        <p:spPr>
          <a:xfrm>
            <a:off x="7854950" y="5380532"/>
            <a:ext cx="2741612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STI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FAB1000-2336-4FE0-BEAC-81C1F3069827}"/>
              </a:ext>
            </a:extLst>
          </p:cNvPr>
          <p:cNvSpPr>
            <a:spLocks noGrp="1"/>
          </p:cNvSpPr>
          <p:nvPr/>
        </p:nvSpPr>
        <p:spPr>
          <a:xfrm>
            <a:off x="11560173" y="5378435"/>
            <a:ext cx="448007" cy="325671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6" name="Slide 5 copied left comparison heading">
            <a:extLst>
              <a:ext uri="{FF2B5EF4-FFF2-40B4-BE49-F238E27FC236}">
                <a16:creationId xmlns:a16="http://schemas.microsoft.com/office/drawing/2014/main" id="{2CCE8DE9-64EF-4E56-8EB8-4DBBD4CC92D0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77" name="Slide 5 copied right comparison heading">
            <a:extLst>
              <a:ext uri="{FF2B5EF4-FFF2-40B4-BE49-F238E27FC236}">
                <a16:creationId xmlns:a16="http://schemas.microsoft.com/office/drawing/2014/main" id="{E948DF39-4305-429D-8BA7-EAEDFFDC5675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2485580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그림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3" y="4923100"/>
            <a:ext cx="6064921" cy="68672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BE92F175-46CC-4413-8DA4-27BAD4C13AB5}"/>
              </a:ext>
            </a:extLst>
          </p:cNvPr>
          <p:cNvSpPr>
            <a:spLocks noGrp="1"/>
          </p:cNvSpPr>
          <p:nvPr/>
        </p:nvSpPr>
        <p:spPr>
          <a:xfrm>
            <a:off x="6320432" y="5380051"/>
            <a:ext cx="5687749" cy="1111279"/>
          </a:xfrm>
          <a:prstGeom prst="rect">
            <a:avLst/>
          </a:prstGeom>
          <a:solidFill>
            <a:srgbClr val="F5B195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aphicFrame>
        <p:nvGraphicFramePr>
          <p:cNvPr id="124" name="표 4"/>
          <p:cNvGraphicFramePr/>
          <p:nvPr/>
        </p:nvGraphicFramePr>
        <p:xfrm>
          <a:off x="515294" y="255775"/>
          <a:ext cx="10911275" cy="694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Rule Name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LATCHUP.2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25um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/>
                        <a:t>The maximum distance from any point in an N+ source/drain Active Area to the nearest Psub pick-up in the same Psub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5601907A-3E03-4E32-9F79-6A0C045DA239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F634D2-282E-4223-B6C4-6215603B199F}"/>
              </a:ext>
            </a:extLst>
          </p:cNvPr>
          <p:cNvSpPr>
            <a:spLocks noGrp="1"/>
          </p:cNvSpPr>
          <p:nvPr/>
        </p:nvSpPr>
        <p:spPr>
          <a:xfrm flipH="1">
            <a:off x="10651384" y="6148582"/>
            <a:ext cx="16696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P-Substrate</a:t>
            </a:r>
          </a:p>
          <a:p>
            <a:endParaRPr/>
          </a:p>
        </p:txBody>
      </p:sp>
      <p:cxnSp>
        <p:nvCxnSpPr>
          <p:cNvPr id="127" name="직선 화살표 연결선 26"/>
          <p:cNvCxnSpPr/>
          <p:nvPr/>
        </p:nvCxnSpPr>
        <p:spPr>
          <a:xfrm>
            <a:off x="408185" y="5100101"/>
            <a:ext cx="56033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91D24AE-6431-463A-BAFB-C0D858BE6B97}"/>
              </a:ext>
            </a:extLst>
          </p:cNvPr>
          <p:cNvSpPr>
            <a:spLocks noGrp="1"/>
          </p:cNvSpPr>
          <p:nvPr/>
        </p:nvSpPr>
        <p:spPr>
          <a:xfrm>
            <a:off x="3004068" y="4858095"/>
            <a:ext cx="522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0000"/>
                </a:solidFill>
              </a:rPr>
              <a:t>25</a:t>
            </a:r>
          </a:p>
        </p:txBody>
      </p:sp>
      <p:pic>
        <p:nvPicPr>
          <p:cNvPr id="129" name="그림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403" y="1540916"/>
            <a:ext cx="3363151" cy="1428823"/>
          </a:xfrm>
          <a:prstGeom prst="rect">
            <a:avLst/>
          </a:prstGeom>
        </p:spPr>
      </p:pic>
      <p:pic>
        <p:nvPicPr>
          <p:cNvPr id="130" name="그림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162" y="1639649"/>
            <a:ext cx="5730384" cy="648847"/>
          </a:xfrm>
          <a:prstGeom prst="rect">
            <a:avLst/>
          </a:prstGeom>
        </p:spPr>
      </p:pic>
      <p:pic>
        <p:nvPicPr>
          <p:cNvPr id="131" name="그림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854" y="2725070"/>
            <a:ext cx="1900023" cy="1766688"/>
          </a:xfrm>
          <a:prstGeom prst="rect">
            <a:avLst/>
          </a:prstGeom>
        </p:spPr>
      </p:pic>
      <p:pic>
        <p:nvPicPr>
          <p:cNvPr id="132" name="그림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8393" y="2658650"/>
            <a:ext cx="1729465" cy="190746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3A61A594-BB56-4725-A419-CBA243711AED}"/>
              </a:ext>
            </a:extLst>
          </p:cNvPr>
          <p:cNvSpPr>
            <a:spLocks noGrp="1"/>
          </p:cNvSpPr>
          <p:nvPr/>
        </p:nvSpPr>
        <p:spPr>
          <a:xfrm>
            <a:off x="10881301" y="5200045"/>
            <a:ext cx="402648" cy="10167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직선 연결선 36">
            <a:extLst>
              <a:ext uri="{FF2B5EF4-FFF2-40B4-BE49-F238E27FC236}">
                <a16:creationId xmlns:a16="http://schemas.microsoft.com/office/drawing/2014/main" id="{88B5E9E1-9D96-4986-B392-414B0DDD5C52}"/>
              </a:ext>
            </a:extLst>
          </p:cNvPr>
          <p:cNvSpPr>
            <a:spLocks noGrp="1"/>
          </p:cNvSpPr>
          <p:nvPr/>
        </p:nvSpPr>
        <p:spPr>
          <a:xfrm>
            <a:off x="10638897" y="3938573"/>
            <a:ext cx="0" cy="1452563"/>
          </a:xfrm>
          <a:prstGeom prst="line">
            <a:avLst/>
          </a:prstGeom>
          <a:ln w="9525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C1CBB3C9-0CD4-46D7-B8CF-57F3B6A1AF32}"/>
              </a:ext>
            </a:extLst>
          </p:cNvPr>
          <p:cNvSpPr>
            <a:spLocks noGrp="1"/>
          </p:cNvSpPr>
          <p:nvPr/>
        </p:nvSpPr>
        <p:spPr>
          <a:xfrm>
            <a:off x="11517914" y="3938573"/>
            <a:ext cx="0" cy="1439863"/>
          </a:xfrm>
          <a:prstGeom prst="line">
            <a:avLst/>
          </a:prstGeom>
          <a:ln w="9525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40" name="직선 연결선 39">
            <a:extLst>
              <a:ext uri="{FF2B5EF4-FFF2-40B4-BE49-F238E27FC236}">
                <a16:creationId xmlns:a16="http://schemas.microsoft.com/office/drawing/2014/main" id="{20D9AC3B-6387-487C-8361-5F84C206E132}"/>
              </a:ext>
            </a:extLst>
          </p:cNvPr>
          <p:cNvSpPr>
            <a:spLocks noGrp="1"/>
          </p:cNvSpPr>
          <p:nvPr/>
        </p:nvSpPr>
        <p:spPr>
          <a:xfrm>
            <a:off x="10881300" y="4099317"/>
            <a:ext cx="0" cy="1173466"/>
          </a:xfrm>
          <a:prstGeom prst="line">
            <a:avLst/>
          </a:prstGeom>
          <a:ln w="9525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E7D1E90F-5C92-42F2-9298-9625C07A39FF}"/>
              </a:ext>
            </a:extLst>
          </p:cNvPr>
          <p:cNvSpPr>
            <a:spLocks noGrp="1"/>
          </p:cNvSpPr>
          <p:nvPr/>
        </p:nvSpPr>
        <p:spPr>
          <a:xfrm>
            <a:off x="11283949" y="4097729"/>
            <a:ext cx="0" cy="1173466"/>
          </a:xfrm>
          <a:prstGeom prst="line">
            <a:avLst/>
          </a:prstGeom>
          <a:ln w="9525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FD9D495-16B6-4A84-A7E2-9CEB252FF2BE}"/>
              </a:ext>
            </a:extLst>
          </p:cNvPr>
          <p:cNvSpPr>
            <a:spLocks noGrp="1"/>
          </p:cNvSpPr>
          <p:nvPr/>
        </p:nvSpPr>
        <p:spPr>
          <a:xfrm>
            <a:off x="10868936" y="5306482"/>
            <a:ext cx="422946" cy="719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직선 연결선 46">
            <a:extLst>
              <a:ext uri="{FF2B5EF4-FFF2-40B4-BE49-F238E27FC236}">
                <a16:creationId xmlns:a16="http://schemas.microsoft.com/office/drawing/2014/main" id="{4664D2A2-63FC-44DD-B17D-75D61A648D71}"/>
              </a:ext>
            </a:extLst>
          </p:cNvPr>
          <p:cNvSpPr>
            <a:spLocks noGrp="1"/>
          </p:cNvSpPr>
          <p:nvPr/>
        </p:nvSpPr>
        <p:spPr>
          <a:xfrm>
            <a:off x="6789436" y="3885373"/>
            <a:ext cx="3552" cy="1241656"/>
          </a:xfrm>
          <a:prstGeom prst="line">
            <a:avLst/>
          </a:prstGeom>
          <a:ln w="9525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48" name="직선 연결선 47">
            <a:extLst>
              <a:ext uri="{FF2B5EF4-FFF2-40B4-BE49-F238E27FC236}">
                <a16:creationId xmlns:a16="http://schemas.microsoft.com/office/drawing/2014/main" id="{EC3FFB05-480C-484B-AAB2-EAD1409D1F6A}"/>
              </a:ext>
            </a:extLst>
          </p:cNvPr>
          <p:cNvSpPr>
            <a:spLocks noGrp="1"/>
          </p:cNvSpPr>
          <p:nvPr/>
        </p:nvSpPr>
        <p:spPr>
          <a:xfrm flipH="1">
            <a:off x="6965904" y="3876653"/>
            <a:ext cx="2758" cy="1244853"/>
          </a:xfrm>
          <a:prstGeom prst="line">
            <a:avLst/>
          </a:prstGeom>
          <a:ln w="9525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49" name="직선 연결선 48">
            <a:extLst>
              <a:ext uri="{FF2B5EF4-FFF2-40B4-BE49-F238E27FC236}">
                <a16:creationId xmlns:a16="http://schemas.microsoft.com/office/drawing/2014/main" id="{EC50ECF4-348E-4BDA-8B03-664B91763409}"/>
              </a:ext>
            </a:extLst>
          </p:cNvPr>
          <p:cNvSpPr>
            <a:spLocks noGrp="1"/>
          </p:cNvSpPr>
          <p:nvPr/>
        </p:nvSpPr>
        <p:spPr>
          <a:xfrm>
            <a:off x="7348715" y="3875285"/>
            <a:ext cx="791" cy="1237977"/>
          </a:xfrm>
          <a:prstGeom prst="line">
            <a:avLst/>
          </a:prstGeom>
          <a:ln w="9525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50" name="직선 연결선 49">
            <a:extLst>
              <a:ext uri="{FF2B5EF4-FFF2-40B4-BE49-F238E27FC236}">
                <a16:creationId xmlns:a16="http://schemas.microsoft.com/office/drawing/2014/main" id="{43DA8E90-017B-40D4-87C7-56EC335B64A0}"/>
              </a:ext>
            </a:extLst>
          </p:cNvPr>
          <p:cNvSpPr>
            <a:spLocks noGrp="1"/>
          </p:cNvSpPr>
          <p:nvPr/>
        </p:nvSpPr>
        <p:spPr>
          <a:xfrm>
            <a:off x="7178148" y="3876653"/>
            <a:ext cx="3925" cy="1237977"/>
          </a:xfrm>
          <a:prstGeom prst="line">
            <a:avLst/>
          </a:prstGeom>
          <a:ln w="9525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51" name="직선 연결선 50">
            <a:extLst>
              <a:ext uri="{FF2B5EF4-FFF2-40B4-BE49-F238E27FC236}">
                <a16:creationId xmlns:a16="http://schemas.microsoft.com/office/drawing/2014/main" id="{999FE286-27D9-44A1-BDED-2239CA6C1B2A}"/>
              </a:ext>
            </a:extLst>
          </p:cNvPr>
          <p:cNvSpPr>
            <a:spLocks noGrp="1"/>
          </p:cNvSpPr>
          <p:nvPr/>
        </p:nvSpPr>
        <p:spPr>
          <a:xfrm>
            <a:off x="7565962" y="3886257"/>
            <a:ext cx="5362" cy="1227005"/>
          </a:xfrm>
          <a:prstGeom prst="line">
            <a:avLst/>
          </a:prstGeom>
          <a:ln w="9525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52" name="직선 연결선 51">
            <a:extLst>
              <a:ext uri="{FF2B5EF4-FFF2-40B4-BE49-F238E27FC236}">
                <a16:creationId xmlns:a16="http://schemas.microsoft.com/office/drawing/2014/main" id="{EE80D76E-70A9-465A-A00D-287EE5C6F08F}"/>
              </a:ext>
            </a:extLst>
          </p:cNvPr>
          <p:cNvSpPr>
            <a:spLocks noGrp="1"/>
          </p:cNvSpPr>
          <p:nvPr/>
        </p:nvSpPr>
        <p:spPr>
          <a:xfrm flipH="1">
            <a:off x="7736168" y="3892470"/>
            <a:ext cx="2536" cy="1227005"/>
          </a:xfrm>
          <a:prstGeom prst="line">
            <a:avLst/>
          </a:prstGeom>
          <a:ln w="9525">
            <a:solidFill>
              <a:schemeClr val="accent2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CCFE016-58C5-4778-8E80-61DF1FF90B7B}"/>
              </a:ext>
            </a:extLst>
          </p:cNvPr>
          <p:cNvSpPr>
            <a:spLocks noGrp="1"/>
          </p:cNvSpPr>
          <p:nvPr/>
        </p:nvSpPr>
        <p:spPr>
          <a:xfrm>
            <a:off x="6784826" y="5070264"/>
            <a:ext cx="182603" cy="10248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4" name="사다리꼴 53">
            <a:extLst>
              <a:ext uri="{FF2B5EF4-FFF2-40B4-BE49-F238E27FC236}">
                <a16:creationId xmlns:a16="http://schemas.microsoft.com/office/drawing/2014/main" id="{C8448218-9250-429D-BDFE-8E3D5ABD037D}"/>
              </a:ext>
            </a:extLst>
          </p:cNvPr>
          <p:cNvSpPr>
            <a:spLocks noGrp="1"/>
          </p:cNvSpPr>
          <p:nvPr/>
        </p:nvSpPr>
        <p:spPr>
          <a:xfrm flipV="1">
            <a:off x="6784033" y="5187191"/>
            <a:ext cx="182603" cy="191245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6DF9F53-9844-4544-A7BF-272773A9EA7E}"/>
              </a:ext>
            </a:extLst>
          </p:cNvPr>
          <p:cNvSpPr>
            <a:spLocks noGrp="1"/>
          </p:cNvSpPr>
          <p:nvPr/>
        </p:nvSpPr>
        <p:spPr>
          <a:xfrm>
            <a:off x="7562389" y="5063529"/>
            <a:ext cx="182603" cy="10248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6" name="사다리꼴 55">
            <a:extLst>
              <a:ext uri="{FF2B5EF4-FFF2-40B4-BE49-F238E27FC236}">
                <a16:creationId xmlns:a16="http://schemas.microsoft.com/office/drawing/2014/main" id="{927945B1-5B28-474C-8B14-1D9D50627538}"/>
              </a:ext>
            </a:extLst>
          </p:cNvPr>
          <p:cNvSpPr>
            <a:spLocks noGrp="1"/>
          </p:cNvSpPr>
          <p:nvPr/>
        </p:nvSpPr>
        <p:spPr>
          <a:xfrm flipV="1">
            <a:off x="7561596" y="5180456"/>
            <a:ext cx="182603" cy="191245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007409-7CA5-49FF-8A20-35DEAA04891F}"/>
              </a:ext>
            </a:extLst>
          </p:cNvPr>
          <p:cNvSpPr>
            <a:spLocks noGrp="1"/>
          </p:cNvSpPr>
          <p:nvPr/>
        </p:nvSpPr>
        <p:spPr>
          <a:xfrm>
            <a:off x="7175722" y="5063388"/>
            <a:ext cx="182603" cy="10248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사다리꼴 14">
            <a:extLst>
              <a:ext uri="{FF2B5EF4-FFF2-40B4-BE49-F238E27FC236}">
                <a16:creationId xmlns:a16="http://schemas.microsoft.com/office/drawing/2014/main" id="{075C2103-F615-4B8F-ACB5-AE22BD6D96BF}"/>
              </a:ext>
            </a:extLst>
          </p:cNvPr>
          <p:cNvSpPr>
            <a:spLocks noGrp="1"/>
          </p:cNvSpPr>
          <p:nvPr/>
        </p:nvSpPr>
        <p:spPr>
          <a:xfrm flipV="1">
            <a:off x="7174929" y="5180315"/>
            <a:ext cx="182603" cy="191245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직선 연결선 63">
            <a:extLst>
              <a:ext uri="{FF2B5EF4-FFF2-40B4-BE49-F238E27FC236}">
                <a16:creationId xmlns:a16="http://schemas.microsoft.com/office/drawing/2014/main" id="{8709EF74-BD0B-47F1-8331-D41C8831A96B}"/>
              </a:ext>
            </a:extLst>
          </p:cNvPr>
          <p:cNvSpPr>
            <a:spLocks noGrp="1"/>
          </p:cNvSpPr>
          <p:nvPr/>
        </p:nvSpPr>
        <p:spPr>
          <a:xfrm>
            <a:off x="6512499" y="4129904"/>
            <a:ext cx="3552" cy="1241656"/>
          </a:xfrm>
          <a:prstGeom prst="line">
            <a:avLst/>
          </a:prstGeom>
          <a:ln w="9525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65" name="직선 연결선 64">
            <a:extLst>
              <a:ext uri="{FF2B5EF4-FFF2-40B4-BE49-F238E27FC236}">
                <a16:creationId xmlns:a16="http://schemas.microsoft.com/office/drawing/2014/main" id="{4E2343EC-7916-4768-BE1B-69B12D7C462E}"/>
              </a:ext>
            </a:extLst>
          </p:cNvPr>
          <p:cNvSpPr>
            <a:spLocks noGrp="1"/>
          </p:cNvSpPr>
          <p:nvPr/>
        </p:nvSpPr>
        <p:spPr>
          <a:xfrm>
            <a:off x="8018313" y="4144678"/>
            <a:ext cx="3552" cy="1241656"/>
          </a:xfrm>
          <a:prstGeom prst="line">
            <a:avLst/>
          </a:prstGeom>
          <a:ln w="9525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66" name="직선 연결선 65">
            <a:extLst>
              <a:ext uri="{FF2B5EF4-FFF2-40B4-BE49-F238E27FC236}">
                <a16:creationId xmlns:a16="http://schemas.microsoft.com/office/drawing/2014/main" id="{E838B8C1-30AB-4A21-B78A-4783FB0152E7}"/>
              </a:ext>
            </a:extLst>
          </p:cNvPr>
          <p:cNvSpPr>
            <a:spLocks noGrp="1"/>
          </p:cNvSpPr>
          <p:nvPr/>
        </p:nvSpPr>
        <p:spPr>
          <a:xfrm>
            <a:off x="10484247" y="4144678"/>
            <a:ext cx="3552" cy="1241656"/>
          </a:xfrm>
          <a:prstGeom prst="line">
            <a:avLst/>
          </a:prstGeom>
          <a:ln w="9525">
            <a:solidFill>
              <a:srgbClr val="FFFF00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67" name="직선 연결선 66">
            <a:extLst>
              <a:ext uri="{FF2B5EF4-FFF2-40B4-BE49-F238E27FC236}">
                <a16:creationId xmlns:a16="http://schemas.microsoft.com/office/drawing/2014/main" id="{30240BD7-9EAE-4356-B8B5-D5E97963753F}"/>
              </a:ext>
            </a:extLst>
          </p:cNvPr>
          <p:cNvSpPr>
            <a:spLocks noGrp="1"/>
          </p:cNvSpPr>
          <p:nvPr/>
        </p:nvSpPr>
        <p:spPr>
          <a:xfrm>
            <a:off x="11675420" y="4144678"/>
            <a:ext cx="3552" cy="1241656"/>
          </a:xfrm>
          <a:prstGeom prst="line">
            <a:avLst/>
          </a:prstGeom>
          <a:ln w="9525">
            <a:solidFill>
              <a:srgbClr val="FFFF00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9696E1B-7501-48C6-BD51-7E1E5706DBFD}"/>
              </a:ext>
            </a:extLst>
          </p:cNvPr>
          <p:cNvSpPr>
            <a:spLocks noGrp="1"/>
          </p:cNvSpPr>
          <p:nvPr/>
        </p:nvSpPr>
        <p:spPr>
          <a:xfrm>
            <a:off x="6519601" y="5377547"/>
            <a:ext cx="1502264" cy="466572"/>
          </a:xfrm>
          <a:prstGeom prst="rect">
            <a:avLst/>
          </a:prstGeom>
          <a:solidFill>
            <a:srgbClr val="F5B195"/>
          </a:solidFill>
          <a:ln>
            <a:solidFill>
              <a:srgbClr val="F5B1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AA803CB-A8CA-2768-CD17-F25758E1E71B}"/>
              </a:ext>
            </a:extLst>
          </p:cNvPr>
          <p:cNvSpPr>
            <a:spLocks noGrp="1"/>
          </p:cNvSpPr>
          <p:nvPr/>
        </p:nvSpPr>
        <p:spPr>
          <a:xfrm>
            <a:off x="6677635" y="5374474"/>
            <a:ext cx="1177315" cy="1330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10295C3-4531-424C-AA83-7D1ADC44A27E}"/>
              </a:ext>
            </a:extLst>
          </p:cNvPr>
          <p:cNvSpPr>
            <a:spLocks noGrp="1"/>
          </p:cNvSpPr>
          <p:nvPr/>
        </p:nvSpPr>
        <p:spPr>
          <a:xfrm>
            <a:off x="10487797" y="5377721"/>
            <a:ext cx="1191175" cy="466572"/>
          </a:xfrm>
          <a:prstGeom prst="rect">
            <a:avLst/>
          </a:prstGeom>
          <a:solidFill>
            <a:srgbClr val="F5B195"/>
          </a:solidFill>
          <a:ln>
            <a:solidFill>
              <a:srgbClr val="F5B1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B37ED94-238E-7D31-A391-7A107EBEF89A}"/>
              </a:ext>
            </a:extLst>
          </p:cNvPr>
          <p:cNvSpPr>
            <a:spLocks noGrp="1"/>
          </p:cNvSpPr>
          <p:nvPr/>
        </p:nvSpPr>
        <p:spPr>
          <a:xfrm>
            <a:off x="10630457" y="5375091"/>
            <a:ext cx="231260" cy="1330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DD7E2EC-629A-4D2A-8018-EC801A75827E}"/>
              </a:ext>
            </a:extLst>
          </p:cNvPr>
          <p:cNvSpPr>
            <a:spLocks noGrp="1"/>
          </p:cNvSpPr>
          <p:nvPr/>
        </p:nvSpPr>
        <p:spPr>
          <a:xfrm>
            <a:off x="11291889" y="5375091"/>
            <a:ext cx="232376" cy="13304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70EA2-63FA-47BC-8E2E-DFF837C11139}"/>
              </a:ext>
            </a:extLst>
          </p:cNvPr>
          <p:cNvSpPr>
            <a:spLocks noGrp="1"/>
          </p:cNvSpPr>
          <p:nvPr/>
        </p:nvSpPr>
        <p:spPr>
          <a:xfrm>
            <a:off x="10607229" y="5317883"/>
            <a:ext cx="3810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N+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5611D0-CAFD-4686-BE9F-4BE527A74B2E}"/>
              </a:ext>
            </a:extLst>
          </p:cNvPr>
          <p:cNvSpPr>
            <a:spLocks noGrp="1"/>
          </p:cNvSpPr>
          <p:nvPr/>
        </p:nvSpPr>
        <p:spPr>
          <a:xfrm>
            <a:off x="11262203" y="5315163"/>
            <a:ext cx="3810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/>
              <a:t>N+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39D1045-20BB-4661-BC53-3E4B99184DA5}"/>
              </a:ext>
            </a:extLst>
          </p:cNvPr>
          <p:cNvSpPr>
            <a:spLocks noGrp="1"/>
          </p:cNvSpPr>
          <p:nvPr/>
        </p:nvSpPr>
        <p:spPr>
          <a:xfrm>
            <a:off x="10883757" y="5243309"/>
            <a:ext cx="5243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oxide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7B0D63-9571-4BD0-A896-D7DDB4F88CBE}"/>
              </a:ext>
            </a:extLst>
          </p:cNvPr>
          <p:cNvSpPr>
            <a:spLocks noGrp="1"/>
          </p:cNvSpPr>
          <p:nvPr/>
        </p:nvSpPr>
        <p:spPr>
          <a:xfrm>
            <a:off x="10921291" y="5145229"/>
            <a:ext cx="5243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/>
              <a:t>poly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34B547-8EED-44D3-9208-2AD1DEFDC703}"/>
              </a:ext>
            </a:extLst>
          </p:cNvPr>
          <p:cNvSpPr>
            <a:spLocks noGrp="1"/>
          </p:cNvSpPr>
          <p:nvPr/>
        </p:nvSpPr>
        <p:spPr>
          <a:xfrm>
            <a:off x="7146475" y="5340393"/>
            <a:ext cx="4228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/>
              <a:t>P+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DB5EF-E506-4D02-A71E-F2C5291348EE}"/>
              </a:ext>
            </a:extLst>
          </p:cNvPr>
          <p:cNvSpPr>
            <a:spLocks noGrp="1"/>
          </p:cNvSpPr>
          <p:nvPr/>
        </p:nvSpPr>
        <p:spPr>
          <a:xfrm>
            <a:off x="433590" y="3618943"/>
            <a:ext cx="565244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기생 BJT가 켜져서 latch-up이 발생하는 걸 막기 위해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3C5A730-7916-4E64-AD8C-7CFB498064D3}"/>
              </a:ext>
            </a:extLst>
          </p:cNvPr>
          <p:cNvSpPr>
            <a:spLocks noGrp="1"/>
          </p:cNvSpPr>
          <p:nvPr/>
        </p:nvSpPr>
        <p:spPr>
          <a:xfrm>
            <a:off x="7854950" y="5380532"/>
            <a:ext cx="2775500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t>STI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781D3E1-2E0C-41DE-A9B2-05C4D15968CA}"/>
              </a:ext>
            </a:extLst>
          </p:cNvPr>
          <p:cNvSpPr>
            <a:spLocks noGrp="1"/>
          </p:cNvSpPr>
          <p:nvPr/>
        </p:nvSpPr>
        <p:spPr>
          <a:xfrm>
            <a:off x="6320431" y="5378435"/>
            <a:ext cx="355638" cy="325671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67C304D-3070-4D18-A7B6-A9E00B461B76}"/>
              </a:ext>
            </a:extLst>
          </p:cNvPr>
          <p:cNvSpPr>
            <a:spLocks noGrp="1"/>
          </p:cNvSpPr>
          <p:nvPr/>
        </p:nvSpPr>
        <p:spPr>
          <a:xfrm>
            <a:off x="11530838" y="5374936"/>
            <a:ext cx="477341" cy="325671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0" name="Slide 5 copied left comparison heading">
            <a:extLst>
              <a:ext uri="{FF2B5EF4-FFF2-40B4-BE49-F238E27FC236}">
                <a16:creationId xmlns:a16="http://schemas.microsoft.com/office/drawing/2014/main" id="{4173910A-6039-4621-A286-38AA7486B812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Schematic in Design Rule Manual</a:t>
            </a:r>
          </a:p>
        </p:txBody>
      </p:sp>
      <p:sp>
        <p:nvSpPr>
          <p:cNvPr id="121" name="Slide 5 copied right comparison heading">
            <a:extLst>
              <a:ext uri="{FF2B5EF4-FFF2-40B4-BE49-F238E27FC236}">
                <a16:creationId xmlns:a16="http://schemas.microsoft.com/office/drawing/2014/main" id="{359ACE40-9559-49D1-B549-6C733D941F8B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407163498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B0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Google Shape;2885;p111">
            <a:extLst>
              <a:ext uri="{FF2B5EF4-FFF2-40B4-BE49-F238E27FC236}">
                <a16:creationId xmlns:a16="http://schemas.microsoft.com/office/drawing/2014/main" id="{AC155618-D271-40BF-9922-9E8590E3F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430" y="2301478"/>
            <a:ext cx="5171139" cy="225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0" b="1"/>
              <a:t>Antenna</a:t>
            </a:r>
          </a:p>
        </p:txBody>
      </p:sp>
    </p:spTree>
    <p:extLst>
      <p:ext uri="{BB962C8B-B14F-4D97-AF65-F5344CB8AC3E}">
        <p14:creationId xmlns:p14="http://schemas.microsoft.com/office/powerpoint/2010/main" val="149127264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선 연결선 43">
            <a:extLst>
              <a:ext uri="{FF2B5EF4-FFF2-40B4-BE49-F238E27FC236}">
                <a16:creationId xmlns:a16="http://schemas.microsoft.com/office/drawing/2014/main" id="{A8198869-068F-496E-B9E2-27F486846D92}"/>
              </a:ext>
            </a:extLst>
          </p:cNvPr>
          <p:cNvSpPr>
            <a:spLocks noGrp="1"/>
          </p:cNvSpPr>
          <p:nvPr/>
        </p:nvSpPr>
        <p:spPr>
          <a:xfrm flipH="1">
            <a:off x="8670658" y="2624191"/>
            <a:ext cx="8204" cy="252673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직선 연결선 44">
            <a:extLst>
              <a:ext uri="{FF2B5EF4-FFF2-40B4-BE49-F238E27FC236}">
                <a16:creationId xmlns:a16="http://schemas.microsoft.com/office/drawing/2014/main" id="{5311AF8D-808A-41D6-9529-C9D904B58FB7}"/>
              </a:ext>
            </a:extLst>
          </p:cNvPr>
          <p:cNvSpPr>
            <a:spLocks noGrp="1"/>
          </p:cNvSpPr>
          <p:nvPr/>
        </p:nvSpPr>
        <p:spPr>
          <a:xfrm flipH="1">
            <a:off x="9392619" y="2644529"/>
            <a:ext cx="8204" cy="252673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1565813F-DD35-40F5-8D33-735233BA6091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aphicFrame>
        <p:nvGraphicFramePr>
          <p:cNvPr id="55" name="표 29"/>
          <p:cNvGraphicFramePr/>
          <p:nvPr>
            <p:extLst>
              <p:ext uri="{D42A27DB-BD31-4B8C-83A1-F6EECF244321}">
                <p14:modId xmlns:p14="http://schemas.microsoft.com/office/powerpoint/2010/main" val="202085987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ANT.1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275um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Maximum ratio of Poly area to the gate area the Poly is connected to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ADAB3906-D10D-4E9E-8339-823EC73BFFFE}"/>
              </a:ext>
            </a:extLst>
          </p:cNvPr>
          <p:cNvSpPr>
            <a:spLocks noGrp="1"/>
          </p:cNvSpPr>
          <p:nvPr/>
        </p:nvSpPr>
        <p:spPr>
          <a:xfrm>
            <a:off x="466223" y="3031369"/>
            <a:ext cx="41610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공정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중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poly에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축적된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전하로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인해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gate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oxide가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  <a:p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손상되는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것을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방지하기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위함이다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</p:txBody>
      </p:sp>
      <p:pic>
        <p:nvPicPr>
          <p:cNvPr id="57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00" y="1558800"/>
            <a:ext cx="1657220" cy="1315254"/>
          </a:xfrm>
          <a:prstGeom prst="rect">
            <a:avLst/>
          </a:prstGeom>
        </p:spPr>
      </p:pic>
      <p:pic>
        <p:nvPicPr>
          <p:cNvPr id="58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73" y="1768883"/>
            <a:ext cx="4293828" cy="1785706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A70F20D9-DAA4-4BCF-8011-0CA99681ECF0}"/>
              </a:ext>
            </a:extLst>
          </p:cNvPr>
          <p:cNvSpPr>
            <a:spLocks noGrp="1"/>
          </p:cNvSpPr>
          <p:nvPr/>
        </p:nvSpPr>
        <p:spPr>
          <a:xfrm>
            <a:off x="6457384" y="2499158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✄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A2574F52-ED74-4733-B675-CD5AC765C082}"/>
              </a:ext>
            </a:extLst>
          </p:cNvPr>
          <p:cNvSpPr>
            <a:spLocks noGrp="1"/>
          </p:cNvSpPr>
          <p:nvPr/>
        </p:nvSpPr>
        <p:spPr>
          <a:xfrm>
            <a:off x="6874984" y="2707958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1" name="그림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679" y="4280664"/>
            <a:ext cx="4293828" cy="178570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716BA28-C856-474F-8DCE-D70975023A90}"/>
              </a:ext>
            </a:extLst>
          </p:cNvPr>
          <p:cNvSpPr>
            <a:spLocks noGrp="1"/>
          </p:cNvSpPr>
          <p:nvPr/>
        </p:nvSpPr>
        <p:spPr>
          <a:xfrm>
            <a:off x="2351034" y="4988851"/>
            <a:ext cx="1548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Gate area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E04577-34CF-498A-912A-F6F32AD93B21}"/>
              </a:ext>
            </a:extLst>
          </p:cNvPr>
          <p:cNvSpPr>
            <a:spLocks noGrp="1"/>
          </p:cNvSpPr>
          <p:nvPr/>
        </p:nvSpPr>
        <p:spPr>
          <a:xfrm>
            <a:off x="3845623" y="4848096"/>
            <a:ext cx="15488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Poly on </a:t>
            </a:r>
            <a:endParaRPr lang="en-US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field area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C8FE615-803F-424E-A3B8-EF3CB31FF6D2}"/>
              </a:ext>
            </a:extLst>
          </p:cNvPr>
          <p:cNvSpPr>
            <a:spLocks noGrp="1"/>
          </p:cNvSpPr>
          <p:nvPr/>
        </p:nvSpPr>
        <p:spPr>
          <a:xfrm>
            <a:off x="6932973" y="4985039"/>
            <a:ext cx="4293825" cy="11183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Substrate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5AD717-81A4-41D1-86EF-036E9F64F31E}"/>
              </a:ext>
            </a:extLst>
          </p:cNvPr>
          <p:cNvSpPr>
            <a:spLocks noGrp="1"/>
          </p:cNvSpPr>
          <p:nvPr/>
        </p:nvSpPr>
        <p:spPr>
          <a:xfrm>
            <a:off x="6932973" y="4978918"/>
            <a:ext cx="1744609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3C158E5-6DB3-4882-B754-2A22DCBED02F}"/>
              </a:ext>
            </a:extLst>
          </p:cNvPr>
          <p:cNvSpPr>
            <a:spLocks noGrp="1"/>
          </p:cNvSpPr>
          <p:nvPr/>
        </p:nvSpPr>
        <p:spPr>
          <a:xfrm>
            <a:off x="9398001" y="4986512"/>
            <a:ext cx="1828798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EB28B8-8B41-4014-9872-A068C8AF89A1}"/>
              </a:ext>
            </a:extLst>
          </p:cNvPr>
          <p:cNvSpPr>
            <a:spLocks noGrp="1"/>
          </p:cNvSpPr>
          <p:nvPr/>
        </p:nvSpPr>
        <p:spPr>
          <a:xfrm>
            <a:off x="6939898" y="4654212"/>
            <a:ext cx="4278696" cy="3308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POLY 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8F0A41F-B4FF-461F-AF58-7CC719D63AA5}"/>
              </a:ext>
            </a:extLst>
          </p:cNvPr>
          <p:cNvSpPr>
            <a:spLocks noGrp="1"/>
          </p:cNvSpPr>
          <p:nvPr/>
        </p:nvSpPr>
        <p:spPr>
          <a:xfrm>
            <a:off x="8683226" y="4996182"/>
            <a:ext cx="710555" cy="1008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800">
                <a:latin typeface="맑은 고딕" panose="020B0503020000020004" pitchFamily="50" charset="-127"/>
                <a:ea typeface="맑은 고딕" panose="020B0503020000020004" pitchFamily="50" charset="-127"/>
              </a:rPr>
              <a:t>OXIDE</a:t>
            </a:r>
          </a:p>
        </p:txBody>
      </p:sp>
      <p:sp>
        <p:nvSpPr>
          <p:cNvPr id="50" name="Slide 5 copied left comparison heading">
            <a:extLst>
              <a:ext uri="{FF2B5EF4-FFF2-40B4-BE49-F238E27FC236}">
                <a16:creationId xmlns:a16="http://schemas.microsoft.com/office/drawing/2014/main" id="{B961B517-A702-4ABF-AF00-E482B4E40B3A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51" name="Slide 5 copied right comparison heading">
            <a:extLst>
              <a:ext uri="{FF2B5EF4-FFF2-40B4-BE49-F238E27FC236}">
                <a16:creationId xmlns:a16="http://schemas.microsoft.com/office/drawing/2014/main" id="{85973B52-245F-4A91-AE20-551F5E721B82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259975004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선 연결선 43">
            <a:extLst>
              <a:ext uri="{FF2B5EF4-FFF2-40B4-BE49-F238E27FC236}">
                <a16:creationId xmlns:a16="http://schemas.microsoft.com/office/drawing/2014/main" id="{DC89AD71-C462-4FE9-9806-85B1F519AF9C}"/>
              </a:ext>
            </a:extLst>
          </p:cNvPr>
          <p:cNvSpPr>
            <a:spLocks noGrp="1"/>
          </p:cNvSpPr>
          <p:nvPr/>
        </p:nvSpPr>
        <p:spPr>
          <a:xfrm flipH="1">
            <a:off x="8670658" y="2624191"/>
            <a:ext cx="8204" cy="252673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직선 연결선 44">
            <a:extLst>
              <a:ext uri="{FF2B5EF4-FFF2-40B4-BE49-F238E27FC236}">
                <a16:creationId xmlns:a16="http://schemas.microsoft.com/office/drawing/2014/main" id="{4CBE7BAA-200C-4ECE-8739-0E6653CDF5C3}"/>
              </a:ext>
            </a:extLst>
          </p:cNvPr>
          <p:cNvSpPr>
            <a:spLocks noGrp="1"/>
          </p:cNvSpPr>
          <p:nvPr/>
        </p:nvSpPr>
        <p:spPr>
          <a:xfrm flipH="1">
            <a:off x="9392619" y="2644529"/>
            <a:ext cx="8204" cy="252673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3A584007-F4C3-45FD-8E0C-646DEFD768BF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aphicFrame>
        <p:nvGraphicFramePr>
          <p:cNvPr id="55" name="표 29"/>
          <p:cNvGraphicFramePr/>
          <p:nvPr>
            <p:extLst>
              <p:ext uri="{D42A27DB-BD31-4B8C-83A1-F6EECF244321}">
                <p14:modId xmlns:p14="http://schemas.microsoft.com/office/powerpoint/2010/main" val="1371359154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ANT.2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550um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Maximum ratio of Poly sidewall area to the gate area the Poly is connected to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ADAB3906-D10D-4E9E-8339-823EC73BFFFE}"/>
              </a:ext>
            </a:extLst>
          </p:cNvPr>
          <p:cNvSpPr>
            <a:spLocks noGrp="1"/>
          </p:cNvSpPr>
          <p:nvPr/>
        </p:nvSpPr>
        <p:spPr>
          <a:xfrm>
            <a:off x="466223" y="3031369"/>
            <a:ext cx="52263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Poly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측면에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축적되는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전하로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인해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gate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oxide가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손상되지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않게</a:t>
            </a:r>
            <a:endParaRPr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하기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위함이다</a:t>
            </a:r>
            <a:r>
              <a:rPr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57" name="그림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973" y="1768883"/>
            <a:ext cx="4293828" cy="1785706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A70F20D9-DAA4-4BCF-8011-0CA99681ECF0}"/>
              </a:ext>
            </a:extLst>
          </p:cNvPr>
          <p:cNvSpPr>
            <a:spLocks noGrp="1"/>
          </p:cNvSpPr>
          <p:nvPr/>
        </p:nvSpPr>
        <p:spPr>
          <a:xfrm>
            <a:off x="6457384" y="2499158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✄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6A2C0E32-BB0E-46A5-9F86-8A94C7FA229F}"/>
              </a:ext>
            </a:extLst>
          </p:cNvPr>
          <p:cNvSpPr>
            <a:spLocks noGrp="1"/>
          </p:cNvSpPr>
          <p:nvPr/>
        </p:nvSpPr>
        <p:spPr>
          <a:xfrm>
            <a:off x="6874984" y="2707958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0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79" y="4275020"/>
            <a:ext cx="4293828" cy="178570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716BA28-C856-474F-8DCE-D70975023A90}"/>
              </a:ext>
            </a:extLst>
          </p:cNvPr>
          <p:cNvSpPr>
            <a:spLocks noGrp="1"/>
          </p:cNvSpPr>
          <p:nvPr/>
        </p:nvSpPr>
        <p:spPr>
          <a:xfrm>
            <a:off x="2351034" y="4983207"/>
            <a:ext cx="1548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Gate area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C8FE615-803F-424E-A3B8-EF3CB31FF6D2}"/>
              </a:ext>
            </a:extLst>
          </p:cNvPr>
          <p:cNvSpPr>
            <a:spLocks noGrp="1"/>
          </p:cNvSpPr>
          <p:nvPr/>
        </p:nvSpPr>
        <p:spPr>
          <a:xfrm>
            <a:off x="6932973" y="4985039"/>
            <a:ext cx="4293825" cy="11183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Substrate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5AD717-81A4-41D1-86EF-036E9F64F31E}"/>
              </a:ext>
            </a:extLst>
          </p:cNvPr>
          <p:cNvSpPr>
            <a:spLocks noGrp="1"/>
          </p:cNvSpPr>
          <p:nvPr/>
        </p:nvSpPr>
        <p:spPr>
          <a:xfrm>
            <a:off x="6932973" y="4978918"/>
            <a:ext cx="1744609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3C158E5-6DB3-4882-B754-2A22DCBED02F}"/>
              </a:ext>
            </a:extLst>
          </p:cNvPr>
          <p:cNvSpPr>
            <a:spLocks noGrp="1"/>
          </p:cNvSpPr>
          <p:nvPr/>
        </p:nvSpPr>
        <p:spPr>
          <a:xfrm>
            <a:off x="9398001" y="4986512"/>
            <a:ext cx="1828798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EB28B8-8B41-4014-9872-A068C8AF89A1}"/>
              </a:ext>
            </a:extLst>
          </p:cNvPr>
          <p:cNvSpPr>
            <a:spLocks noGrp="1"/>
          </p:cNvSpPr>
          <p:nvPr/>
        </p:nvSpPr>
        <p:spPr>
          <a:xfrm>
            <a:off x="6939899" y="4654212"/>
            <a:ext cx="4278695" cy="3308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POLY 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8F0A41F-B4FF-461F-AF58-7CC719D63AA5}"/>
              </a:ext>
            </a:extLst>
          </p:cNvPr>
          <p:cNvSpPr>
            <a:spLocks noGrp="1"/>
          </p:cNvSpPr>
          <p:nvPr/>
        </p:nvSpPr>
        <p:spPr>
          <a:xfrm>
            <a:off x="8683226" y="4996182"/>
            <a:ext cx="710555" cy="1008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800">
                <a:latin typeface="맑은 고딕" panose="020B0503020000020004" pitchFamily="50" charset="-127"/>
                <a:ea typeface="맑은 고딕" panose="020B0503020000020004" pitchFamily="50" charset="-127"/>
              </a:rPr>
              <a:t>OXIDE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695D383-4789-439B-A019-73C244067881}"/>
              </a:ext>
            </a:extLst>
          </p:cNvPr>
          <p:cNvSpPr>
            <a:spLocks noGrp="1"/>
          </p:cNvSpPr>
          <p:nvPr/>
        </p:nvSpPr>
        <p:spPr>
          <a:xfrm>
            <a:off x="869950" y="5005432"/>
            <a:ext cx="4127500" cy="3664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E04577-34CF-498A-912A-F6F32AD93B21}"/>
              </a:ext>
            </a:extLst>
          </p:cNvPr>
          <p:cNvSpPr>
            <a:spLocks noGrp="1"/>
          </p:cNvSpPr>
          <p:nvPr/>
        </p:nvSpPr>
        <p:spPr>
          <a:xfrm>
            <a:off x="3590762" y="4332587"/>
            <a:ext cx="18568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Poly on field perimeter</a:t>
            </a:r>
          </a:p>
        </p:txBody>
      </p:sp>
      <p:pic>
        <p:nvPicPr>
          <p:cNvPr id="69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00" y="1558800"/>
            <a:ext cx="1567579" cy="1314000"/>
          </a:xfrm>
          <a:prstGeom prst="rect">
            <a:avLst/>
          </a:prstGeom>
        </p:spPr>
      </p:pic>
      <p:sp>
        <p:nvSpPr>
          <p:cNvPr id="50" name="Slide 5 copied left comparison heading">
            <a:extLst>
              <a:ext uri="{FF2B5EF4-FFF2-40B4-BE49-F238E27FC236}">
                <a16:creationId xmlns:a16="http://schemas.microsoft.com/office/drawing/2014/main" id="{1E5F19CA-0A1D-43AD-80E9-C4F2B5EB6EB6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51" name="Slide 5 copied right comparison heading">
            <a:extLst>
              <a:ext uri="{FF2B5EF4-FFF2-40B4-BE49-F238E27FC236}">
                <a16:creationId xmlns:a16="http://schemas.microsoft.com/office/drawing/2014/main" id="{27AF79F5-D833-42F9-AB71-829964CB7840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267761012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60E86F9C-C2DB-4895-8E28-750E5214A58D}"/>
              </a:ext>
            </a:extLst>
          </p:cNvPr>
          <p:cNvSpPr>
            <a:spLocks noGrp="1"/>
          </p:cNvSpPr>
          <p:nvPr/>
        </p:nvSpPr>
        <p:spPr>
          <a:xfrm flipH="1">
            <a:off x="6980383" y="2524240"/>
            <a:ext cx="8204" cy="252673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직선 연결선 43">
            <a:extLst>
              <a:ext uri="{FF2B5EF4-FFF2-40B4-BE49-F238E27FC236}">
                <a16:creationId xmlns:a16="http://schemas.microsoft.com/office/drawing/2014/main" id="{6F426D6E-A36B-4A85-875C-A37AF1569819}"/>
              </a:ext>
            </a:extLst>
          </p:cNvPr>
          <p:cNvSpPr>
            <a:spLocks noGrp="1"/>
          </p:cNvSpPr>
          <p:nvPr/>
        </p:nvSpPr>
        <p:spPr>
          <a:xfrm flipH="1">
            <a:off x="8670658" y="2624191"/>
            <a:ext cx="8204" cy="252673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직선 연결선 44">
            <a:extLst>
              <a:ext uri="{FF2B5EF4-FFF2-40B4-BE49-F238E27FC236}">
                <a16:creationId xmlns:a16="http://schemas.microsoft.com/office/drawing/2014/main" id="{4D479734-C161-4064-AF73-DD9655FA78E8}"/>
              </a:ext>
            </a:extLst>
          </p:cNvPr>
          <p:cNvSpPr>
            <a:spLocks noGrp="1"/>
          </p:cNvSpPr>
          <p:nvPr/>
        </p:nvSpPr>
        <p:spPr>
          <a:xfrm flipH="1">
            <a:off x="9392619" y="2644529"/>
            <a:ext cx="8204" cy="252673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6" name="직선 연결선 45">
            <a:extLst>
              <a:ext uri="{FF2B5EF4-FFF2-40B4-BE49-F238E27FC236}">
                <a16:creationId xmlns:a16="http://schemas.microsoft.com/office/drawing/2014/main" id="{51EB0C27-58CC-4D1C-8926-638904DB493D}"/>
              </a:ext>
            </a:extLst>
          </p:cNvPr>
          <p:cNvSpPr>
            <a:spLocks noGrp="1"/>
          </p:cNvSpPr>
          <p:nvPr/>
        </p:nvSpPr>
        <p:spPr>
          <a:xfrm flipH="1">
            <a:off x="11078203" y="2511081"/>
            <a:ext cx="8204" cy="2526733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1D20317-9E0E-41C0-9DD1-C1BA5D63C67E}"/>
              </a:ext>
            </a:extLst>
          </p:cNvPr>
          <p:cNvSpPr>
            <a:spLocks noGrp="1"/>
          </p:cNvSpPr>
          <p:nvPr/>
        </p:nvSpPr>
        <p:spPr>
          <a:xfrm>
            <a:off x="6932971" y="4249214"/>
            <a:ext cx="4293819" cy="74005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</a:p>
          <a:p>
            <a:pPr algn="ctr">
              <a:buNone/>
            </a:pPr>
            <a:endParaRPr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B3082C60-00A0-45AB-80BF-4A908656636B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aphicFrame>
        <p:nvGraphicFramePr>
          <p:cNvPr id="64" name="표 29"/>
          <p:cNvGraphicFramePr/>
          <p:nvPr>
            <p:extLst>
              <p:ext uri="{D42A27DB-BD31-4B8C-83A1-F6EECF244321}">
                <p14:modId xmlns:p14="http://schemas.microsoft.com/office/powerpoint/2010/main" val="2691995529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ANT.3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Maximum ratio of Poly Contact area to the gate area the Contact is connected with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ADAB3906-D10D-4E9E-8339-823EC73BFFFE}"/>
              </a:ext>
            </a:extLst>
          </p:cNvPr>
          <p:cNvSpPr>
            <a:spLocks noGrp="1"/>
          </p:cNvSpPr>
          <p:nvPr/>
        </p:nvSpPr>
        <p:spPr>
          <a:xfrm>
            <a:off x="461616" y="3006912"/>
            <a:ext cx="4855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sz="1400">
                <a:latin typeface="맑은 고딕" panose="020B0503020000020004" pitchFamily="50" charset="-127"/>
                <a:ea typeface="맑은 고딕" panose="020B0503020000020004" pitchFamily="50" charset="-127"/>
              </a:rPr>
              <a:t>Contact을 통해 전달되는 과도한 전하로부터 gate oxide를</a:t>
            </a:r>
          </a:p>
          <a:p>
            <a:r>
              <a:rPr sz="1400">
                <a:latin typeface="맑은 고딕" panose="020B0503020000020004" pitchFamily="50" charset="-127"/>
                <a:ea typeface="맑은 고딕" panose="020B0503020000020004" pitchFamily="50" charset="-127"/>
              </a:rPr>
              <a:t>보호하기 위함이다.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C8FE615-803F-424E-A3B8-EF3CB31FF6D2}"/>
              </a:ext>
            </a:extLst>
          </p:cNvPr>
          <p:cNvSpPr>
            <a:spLocks noGrp="1"/>
          </p:cNvSpPr>
          <p:nvPr/>
        </p:nvSpPr>
        <p:spPr>
          <a:xfrm>
            <a:off x="6932973" y="4985039"/>
            <a:ext cx="4293825" cy="11183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Substrate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5AD717-81A4-41D1-86EF-036E9F64F31E}"/>
              </a:ext>
            </a:extLst>
          </p:cNvPr>
          <p:cNvSpPr>
            <a:spLocks noGrp="1"/>
          </p:cNvSpPr>
          <p:nvPr/>
        </p:nvSpPr>
        <p:spPr>
          <a:xfrm>
            <a:off x="6932973" y="4978918"/>
            <a:ext cx="1744609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3C158E5-6DB3-4882-B754-2A22DCBED02F}"/>
              </a:ext>
            </a:extLst>
          </p:cNvPr>
          <p:cNvSpPr>
            <a:spLocks noGrp="1"/>
          </p:cNvSpPr>
          <p:nvPr/>
        </p:nvSpPr>
        <p:spPr>
          <a:xfrm>
            <a:off x="9398001" y="4986512"/>
            <a:ext cx="1828798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EB28B8-8B41-4014-9872-A068C8AF89A1}"/>
              </a:ext>
            </a:extLst>
          </p:cNvPr>
          <p:cNvSpPr>
            <a:spLocks noGrp="1"/>
          </p:cNvSpPr>
          <p:nvPr/>
        </p:nvSpPr>
        <p:spPr>
          <a:xfrm>
            <a:off x="6931695" y="4654212"/>
            <a:ext cx="4295095" cy="3308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POLY 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8F0A41F-B4FF-461F-AF58-7CC719D63AA5}"/>
              </a:ext>
            </a:extLst>
          </p:cNvPr>
          <p:cNvSpPr>
            <a:spLocks noGrp="1"/>
          </p:cNvSpPr>
          <p:nvPr/>
        </p:nvSpPr>
        <p:spPr>
          <a:xfrm>
            <a:off x="8683226" y="4996182"/>
            <a:ext cx="710555" cy="1008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800">
                <a:latin typeface="맑은 고딕" panose="020B0503020000020004" pitchFamily="50" charset="-127"/>
                <a:ea typeface="맑은 고딕" panose="020B0503020000020004" pitchFamily="50" charset="-127"/>
              </a:rPr>
              <a:t>OXIDE</a:t>
            </a:r>
          </a:p>
        </p:txBody>
      </p:sp>
      <p:pic>
        <p:nvPicPr>
          <p:cNvPr id="71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44" y="4320606"/>
            <a:ext cx="4905022" cy="1720741"/>
          </a:xfrm>
          <a:prstGeom prst="rect">
            <a:avLst/>
          </a:prstGeom>
        </p:spPr>
      </p:pic>
      <p:pic>
        <p:nvPicPr>
          <p:cNvPr id="72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882" y="1763820"/>
            <a:ext cx="4353909" cy="1720741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A70F20D9-DAA4-4BCF-8011-0CA99681ECF0}"/>
              </a:ext>
            </a:extLst>
          </p:cNvPr>
          <p:cNvSpPr>
            <a:spLocks noGrp="1"/>
          </p:cNvSpPr>
          <p:nvPr/>
        </p:nvSpPr>
        <p:spPr>
          <a:xfrm>
            <a:off x="6457384" y="2448362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✄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12D60EB2-9FE4-4CB3-8753-E65F38CDF042}"/>
              </a:ext>
            </a:extLst>
          </p:cNvPr>
          <p:cNvSpPr>
            <a:spLocks noGrp="1"/>
          </p:cNvSpPr>
          <p:nvPr/>
        </p:nvSpPr>
        <p:spPr>
          <a:xfrm>
            <a:off x="6874984" y="2657162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AE8340-5717-465B-8963-44330C33D4C3}"/>
              </a:ext>
            </a:extLst>
          </p:cNvPr>
          <p:cNvSpPr>
            <a:spLocks noGrp="1"/>
          </p:cNvSpPr>
          <p:nvPr/>
        </p:nvSpPr>
        <p:spPr>
          <a:xfrm>
            <a:off x="2480857" y="4996310"/>
            <a:ext cx="1548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Gate area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206B29-F31E-4364-BE4A-6F6BB6B4ADA8}"/>
              </a:ext>
            </a:extLst>
          </p:cNvPr>
          <p:cNvSpPr>
            <a:spLocks noGrp="1"/>
          </p:cNvSpPr>
          <p:nvPr/>
        </p:nvSpPr>
        <p:spPr>
          <a:xfrm>
            <a:off x="3899043" y="4290136"/>
            <a:ext cx="1672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</a:t>
            </a:r>
            <a:r>
              <a:rPr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antenna area</a:t>
            </a:r>
          </a:p>
        </p:txBody>
      </p:sp>
      <p:sp>
        <p:nvSpPr>
          <p:cNvPr id="47" name="직선 연결선 46">
            <a:extLst>
              <a:ext uri="{FF2B5EF4-FFF2-40B4-BE49-F238E27FC236}">
                <a16:creationId xmlns:a16="http://schemas.microsoft.com/office/drawing/2014/main" id="{1938B84C-EDC6-4C2E-ADB7-33D8627ABC69}"/>
              </a:ext>
            </a:extLst>
          </p:cNvPr>
          <p:cNvSpPr>
            <a:spLocks noGrp="1"/>
          </p:cNvSpPr>
          <p:nvPr/>
        </p:nvSpPr>
        <p:spPr>
          <a:xfrm flipH="1">
            <a:off x="1016000" y="4601842"/>
            <a:ext cx="2883043" cy="542510"/>
          </a:xfrm>
          <a:prstGeom prst="line">
            <a:avLst/>
          </a:prstGeom>
          <a:ln w="317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직선 연결선 47">
            <a:extLst>
              <a:ext uri="{FF2B5EF4-FFF2-40B4-BE49-F238E27FC236}">
                <a16:creationId xmlns:a16="http://schemas.microsoft.com/office/drawing/2014/main" id="{86457704-834A-4B3E-999E-6D3DFE82B9D3}"/>
              </a:ext>
            </a:extLst>
          </p:cNvPr>
          <p:cNvSpPr>
            <a:spLocks noGrp="1"/>
          </p:cNvSpPr>
          <p:nvPr/>
        </p:nvSpPr>
        <p:spPr>
          <a:xfrm>
            <a:off x="4696457" y="4711700"/>
            <a:ext cx="500440" cy="432652"/>
          </a:xfrm>
          <a:prstGeom prst="line">
            <a:avLst/>
          </a:prstGeom>
          <a:ln w="317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사다리꼴 49">
            <a:extLst>
              <a:ext uri="{FF2B5EF4-FFF2-40B4-BE49-F238E27FC236}">
                <a16:creationId xmlns:a16="http://schemas.microsoft.com/office/drawing/2014/main" id="{DD8FE337-F279-4472-A243-506653129693}"/>
              </a:ext>
            </a:extLst>
          </p:cNvPr>
          <p:cNvSpPr>
            <a:spLocks noGrp="1"/>
          </p:cNvSpPr>
          <p:nvPr/>
        </p:nvSpPr>
        <p:spPr>
          <a:xfrm flipV="1">
            <a:off x="10871996" y="4249213"/>
            <a:ext cx="140575" cy="394667"/>
          </a:xfrm>
          <a:prstGeom prst="trapezoid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다리꼴 50">
            <a:extLst>
              <a:ext uri="{FF2B5EF4-FFF2-40B4-BE49-F238E27FC236}">
                <a16:creationId xmlns:a16="http://schemas.microsoft.com/office/drawing/2014/main" id="{9A891760-FF40-4AE8-AAD5-523E85A5944E}"/>
              </a:ext>
            </a:extLst>
          </p:cNvPr>
          <p:cNvSpPr>
            <a:spLocks noGrp="1"/>
          </p:cNvSpPr>
          <p:nvPr/>
        </p:nvSpPr>
        <p:spPr>
          <a:xfrm flipV="1">
            <a:off x="7079096" y="4248425"/>
            <a:ext cx="140575" cy="394667"/>
          </a:xfrm>
          <a:prstGeom prst="trapezoid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1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00" y="1558800"/>
            <a:ext cx="1592587" cy="1314000"/>
          </a:xfrm>
          <a:prstGeom prst="rect">
            <a:avLst/>
          </a:prstGeom>
        </p:spPr>
      </p:pic>
      <p:sp>
        <p:nvSpPr>
          <p:cNvPr id="56" name="Slide 5 copied left comparison heading">
            <a:extLst>
              <a:ext uri="{FF2B5EF4-FFF2-40B4-BE49-F238E27FC236}">
                <a16:creationId xmlns:a16="http://schemas.microsoft.com/office/drawing/2014/main" id="{BBD0C372-A97D-42E8-BED2-4381D9037F62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57" name="Slide 5 copied right comparison heading">
            <a:extLst>
              <a:ext uri="{FF2B5EF4-FFF2-40B4-BE49-F238E27FC236}">
                <a16:creationId xmlns:a16="http://schemas.microsoft.com/office/drawing/2014/main" id="{42E3A513-A72C-4AFB-BB45-1A00F9E19850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201354502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그림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989" y="3602982"/>
            <a:ext cx="3969233" cy="2927836"/>
          </a:xfrm>
          <a:prstGeom prst="rect">
            <a:avLst/>
          </a:prstGeom>
        </p:spPr>
      </p:pic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3E9D2E5C-2248-4ABD-BF5E-23E8CA5D1B08}"/>
              </a:ext>
            </a:extLst>
          </p:cNvPr>
          <p:cNvSpPr>
            <a:spLocks noGrp="1"/>
          </p:cNvSpPr>
          <p:nvPr/>
        </p:nvSpPr>
        <p:spPr>
          <a:xfrm flipH="1">
            <a:off x="7691255" y="2526938"/>
            <a:ext cx="2097" cy="306376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직선 연결선 43">
            <a:extLst>
              <a:ext uri="{FF2B5EF4-FFF2-40B4-BE49-F238E27FC236}">
                <a16:creationId xmlns:a16="http://schemas.microsoft.com/office/drawing/2014/main" id="{4E0514A1-D217-4F07-A1BA-EECAFD11000B}"/>
              </a:ext>
            </a:extLst>
          </p:cNvPr>
          <p:cNvSpPr>
            <a:spLocks noGrp="1"/>
          </p:cNvSpPr>
          <p:nvPr/>
        </p:nvSpPr>
        <p:spPr>
          <a:xfrm>
            <a:off x="8426295" y="2696951"/>
            <a:ext cx="0" cy="266431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직선 연결선 44">
            <a:extLst>
              <a:ext uri="{FF2B5EF4-FFF2-40B4-BE49-F238E27FC236}">
                <a16:creationId xmlns:a16="http://schemas.microsoft.com/office/drawing/2014/main" id="{5FF38FBA-8833-4E13-91BA-09FC273E9A05}"/>
              </a:ext>
            </a:extLst>
          </p:cNvPr>
          <p:cNvSpPr>
            <a:spLocks noGrp="1"/>
          </p:cNvSpPr>
          <p:nvPr/>
        </p:nvSpPr>
        <p:spPr>
          <a:xfrm>
            <a:off x="9534596" y="2644529"/>
            <a:ext cx="0" cy="274344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직선 연결선 55">
            <a:extLst>
              <a:ext uri="{FF2B5EF4-FFF2-40B4-BE49-F238E27FC236}">
                <a16:creationId xmlns:a16="http://schemas.microsoft.com/office/drawing/2014/main" id="{F7DCABC0-0CED-4F28-AD26-41466B416681}"/>
              </a:ext>
            </a:extLst>
          </p:cNvPr>
          <p:cNvSpPr>
            <a:spLocks noGrp="1"/>
          </p:cNvSpPr>
          <p:nvPr/>
        </p:nvSpPr>
        <p:spPr>
          <a:xfrm>
            <a:off x="10222031" y="2708667"/>
            <a:ext cx="0" cy="2804824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1D20317-9E0E-41C0-9DD1-C1BA5D63C67E}"/>
              </a:ext>
            </a:extLst>
          </p:cNvPr>
          <p:cNvSpPr>
            <a:spLocks noGrp="1"/>
          </p:cNvSpPr>
          <p:nvPr/>
        </p:nvSpPr>
        <p:spPr>
          <a:xfrm>
            <a:off x="6989949" y="4616447"/>
            <a:ext cx="4006576" cy="74005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A2D29C21-E082-4ED5-8FA7-1175A9D9F321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aphicFrame>
        <p:nvGraphicFramePr>
          <p:cNvPr id="80" name="표 29"/>
          <p:cNvGraphicFramePr/>
          <p:nvPr>
            <p:extLst>
              <p:ext uri="{D42A27DB-BD31-4B8C-83A1-F6EECF244321}">
                <p14:modId xmlns:p14="http://schemas.microsoft.com/office/powerpoint/2010/main" val="284744523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ANT.4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475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Maximum ratio of single level Metal x (x = 1, 2, 3, 4, 5, 6, 7, 8, 9) area to the (gate area + 2*Diff area)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ADAB3906-D10D-4E9E-8339-823EC73BFFFE}"/>
              </a:ext>
            </a:extLst>
          </p:cNvPr>
          <p:cNvSpPr>
            <a:spLocks noGrp="1"/>
          </p:cNvSpPr>
          <p:nvPr/>
        </p:nvSpPr>
        <p:spPr>
          <a:xfrm>
            <a:off x="461616" y="3006912"/>
            <a:ext cx="55099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sz="1400">
                <a:latin typeface="맑은 고딕" panose="020B0503020000020004" pitchFamily="50" charset="-127"/>
                <a:ea typeface="맑은 고딕" panose="020B0503020000020004" pitchFamily="50" charset="-127"/>
              </a:rPr>
              <a:t>공정 중 metal에 축적되는 전하로 부터 gate를 보호하기 위함이다. 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C8FE615-803F-424E-A3B8-EF3CB31FF6D2}"/>
              </a:ext>
            </a:extLst>
          </p:cNvPr>
          <p:cNvSpPr>
            <a:spLocks noGrp="1"/>
          </p:cNvSpPr>
          <p:nvPr/>
        </p:nvSpPr>
        <p:spPr>
          <a:xfrm>
            <a:off x="6989950" y="5359724"/>
            <a:ext cx="4006576" cy="11183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Substrate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5AD717-81A4-41D1-86EF-036E9F64F31E}"/>
              </a:ext>
            </a:extLst>
          </p:cNvPr>
          <p:cNvSpPr>
            <a:spLocks noGrp="1"/>
          </p:cNvSpPr>
          <p:nvPr/>
        </p:nvSpPr>
        <p:spPr>
          <a:xfrm>
            <a:off x="6989950" y="5354334"/>
            <a:ext cx="561992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3C158E5-6DB3-4882-B754-2A22DCBED02F}"/>
              </a:ext>
            </a:extLst>
          </p:cNvPr>
          <p:cNvSpPr>
            <a:spLocks noGrp="1"/>
          </p:cNvSpPr>
          <p:nvPr/>
        </p:nvSpPr>
        <p:spPr>
          <a:xfrm>
            <a:off x="8413707" y="5357582"/>
            <a:ext cx="1112019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8F0A41F-B4FF-461F-AF58-7CC719D63AA5}"/>
              </a:ext>
            </a:extLst>
          </p:cNvPr>
          <p:cNvSpPr>
            <a:spLocks noGrp="1"/>
          </p:cNvSpPr>
          <p:nvPr/>
        </p:nvSpPr>
        <p:spPr>
          <a:xfrm>
            <a:off x="7553580" y="5262522"/>
            <a:ext cx="860127" cy="1008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800">
                <a:latin typeface="맑은 고딕" panose="020B0503020000020004" pitchFamily="50" charset="-127"/>
                <a:ea typeface="맑은 고딕" panose="020B0503020000020004" pitchFamily="50" charset="-127"/>
              </a:rPr>
              <a:t>OXIDE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70F20D9-DAA4-4BCF-8011-0CA99681ECF0}"/>
              </a:ext>
            </a:extLst>
          </p:cNvPr>
          <p:cNvSpPr>
            <a:spLocks noGrp="1"/>
          </p:cNvSpPr>
          <p:nvPr/>
        </p:nvSpPr>
        <p:spPr>
          <a:xfrm>
            <a:off x="6584384" y="3314919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AE8340-5717-465B-8963-44330C33D4C3}"/>
              </a:ext>
            </a:extLst>
          </p:cNvPr>
          <p:cNvSpPr>
            <a:spLocks noGrp="1"/>
          </p:cNvSpPr>
          <p:nvPr/>
        </p:nvSpPr>
        <p:spPr>
          <a:xfrm>
            <a:off x="1172914" y="3535077"/>
            <a:ext cx="1548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Gate area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206B29-F31E-4364-BE4A-6F6BB6B4ADA8}"/>
              </a:ext>
            </a:extLst>
          </p:cNvPr>
          <p:cNvSpPr>
            <a:spLocks noGrp="1"/>
          </p:cNvSpPr>
          <p:nvPr/>
        </p:nvSpPr>
        <p:spPr>
          <a:xfrm>
            <a:off x="2823841" y="3602981"/>
            <a:ext cx="1909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Diff diode area</a:t>
            </a:r>
          </a:p>
        </p:txBody>
      </p:sp>
      <p:sp>
        <p:nvSpPr>
          <p:cNvPr id="47" name="직선 연결선 46">
            <a:extLst>
              <a:ext uri="{FF2B5EF4-FFF2-40B4-BE49-F238E27FC236}">
                <a16:creationId xmlns:a16="http://schemas.microsoft.com/office/drawing/2014/main" id="{A98D3798-7D39-4AA4-947D-E18F94EAF6B5}"/>
              </a:ext>
            </a:extLst>
          </p:cNvPr>
          <p:cNvSpPr>
            <a:spLocks noGrp="1"/>
          </p:cNvSpPr>
          <p:nvPr/>
        </p:nvSpPr>
        <p:spPr>
          <a:xfrm>
            <a:off x="1693046" y="3914652"/>
            <a:ext cx="321522" cy="419978"/>
          </a:xfrm>
          <a:prstGeom prst="line">
            <a:avLst/>
          </a:prstGeom>
          <a:ln w="317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직선 연결선 47">
            <a:extLst>
              <a:ext uri="{FF2B5EF4-FFF2-40B4-BE49-F238E27FC236}">
                <a16:creationId xmlns:a16="http://schemas.microsoft.com/office/drawing/2014/main" id="{1DF6376A-0B13-4DBF-845B-B44DC09CC8F1}"/>
              </a:ext>
            </a:extLst>
          </p:cNvPr>
          <p:cNvSpPr>
            <a:spLocks noGrp="1"/>
          </p:cNvSpPr>
          <p:nvPr/>
        </p:nvSpPr>
        <p:spPr>
          <a:xfrm>
            <a:off x="3544124" y="4026258"/>
            <a:ext cx="89490" cy="1644292"/>
          </a:xfrm>
          <a:prstGeom prst="line">
            <a:avLst/>
          </a:prstGeom>
          <a:ln w="317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사다리꼴 49">
            <a:extLst>
              <a:ext uri="{FF2B5EF4-FFF2-40B4-BE49-F238E27FC236}">
                <a16:creationId xmlns:a16="http://schemas.microsoft.com/office/drawing/2014/main" id="{DD8FE337-F279-4472-A243-506653129693}"/>
              </a:ext>
            </a:extLst>
          </p:cNvPr>
          <p:cNvSpPr>
            <a:spLocks noGrp="1"/>
          </p:cNvSpPr>
          <p:nvPr/>
        </p:nvSpPr>
        <p:spPr>
          <a:xfrm flipV="1">
            <a:off x="9830393" y="4628973"/>
            <a:ext cx="140575" cy="717832"/>
          </a:xfrm>
          <a:prstGeom prst="trapezoid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다리꼴 50">
            <a:extLst>
              <a:ext uri="{FF2B5EF4-FFF2-40B4-BE49-F238E27FC236}">
                <a16:creationId xmlns:a16="http://schemas.microsoft.com/office/drawing/2014/main" id="{9A891760-FF40-4AE8-AAD5-523E85A5944E}"/>
              </a:ext>
            </a:extLst>
          </p:cNvPr>
          <p:cNvSpPr>
            <a:spLocks noGrp="1"/>
          </p:cNvSpPr>
          <p:nvPr/>
        </p:nvSpPr>
        <p:spPr>
          <a:xfrm flipV="1">
            <a:off x="7967607" y="4610679"/>
            <a:ext cx="140575" cy="324514"/>
          </a:xfrm>
          <a:prstGeom prst="trapezoid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3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00" y="1558800"/>
            <a:ext cx="3437377" cy="1234720"/>
          </a:xfrm>
          <a:prstGeom prst="rect">
            <a:avLst/>
          </a:prstGeom>
        </p:spPr>
      </p:pic>
      <p:sp>
        <p:nvSpPr>
          <p:cNvPr id="53" name="직선 연결선 52">
            <a:extLst>
              <a:ext uri="{FF2B5EF4-FFF2-40B4-BE49-F238E27FC236}">
                <a16:creationId xmlns:a16="http://schemas.microsoft.com/office/drawing/2014/main" id="{4D55DD83-2DB5-445B-A0B7-059ADDBFC33A}"/>
              </a:ext>
            </a:extLst>
          </p:cNvPr>
          <p:cNvSpPr>
            <a:spLocks noGrp="1"/>
          </p:cNvSpPr>
          <p:nvPr/>
        </p:nvSpPr>
        <p:spPr>
          <a:xfrm>
            <a:off x="2742756" y="5225454"/>
            <a:ext cx="89490" cy="695325"/>
          </a:xfrm>
          <a:prstGeom prst="line">
            <a:avLst/>
          </a:prstGeom>
          <a:ln w="317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9FF887-FB5B-4B28-8346-24496F41AF76}"/>
              </a:ext>
            </a:extLst>
          </p:cNvPr>
          <p:cNvSpPr>
            <a:spLocks noGrp="1"/>
          </p:cNvSpPr>
          <p:nvPr/>
        </p:nvSpPr>
        <p:spPr>
          <a:xfrm>
            <a:off x="1667518" y="4775085"/>
            <a:ext cx="1909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Metal1 conn area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48E07B4-AA15-4FDE-94DB-282998BE1B9B}"/>
              </a:ext>
            </a:extLst>
          </p:cNvPr>
          <p:cNvSpPr>
            <a:spLocks noGrp="1"/>
          </p:cNvSpPr>
          <p:nvPr/>
        </p:nvSpPr>
        <p:spPr>
          <a:xfrm>
            <a:off x="9527288" y="5356074"/>
            <a:ext cx="694744" cy="20257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2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N+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FE932F7-2766-4EE7-A49E-F8D1A370789D}"/>
              </a:ext>
            </a:extLst>
          </p:cNvPr>
          <p:cNvSpPr>
            <a:spLocks noGrp="1"/>
          </p:cNvSpPr>
          <p:nvPr/>
        </p:nvSpPr>
        <p:spPr>
          <a:xfrm>
            <a:off x="7592367" y="4292324"/>
            <a:ext cx="3243271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 1</a:t>
            </a:r>
          </a:p>
        </p:txBody>
      </p:sp>
      <p:pic>
        <p:nvPicPr>
          <p:cNvPr id="98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722" y="1666516"/>
            <a:ext cx="3747803" cy="2276718"/>
          </a:xfrm>
          <a:prstGeom prst="rect">
            <a:avLst/>
          </a:prstGeom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13142484-9453-4CAC-BFCC-4BE9D0F94385}"/>
              </a:ext>
            </a:extLst>
          </p:cNvPr>
          <p:cNvSpPr>
            <a:spLocks noGrp="1"/>
          </p:cNvSpPr>
          <p:nvPr/>
        </p:nvSpPr>
        <p:spPr>
          <a:xfrm>
            <a:off x="10219934" y="5343849"/>
            <a:ext cx="777744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8B0855EA-DAB4-420F-8B8D-48DC3FED3289}"/>
              </a:ext>
            </a:extLst>
          </p:cNvPr>
          <p:cNvSpPr>
            <a:spLocks noGrp="1"/>
          </p:cNvSpPr>
          <p:nvPr/>
        </p:nvSpPr>
        <p:spPr>
          <a:xfrm>
            <a:off x="7001984" y="3523719"/>
            <a:ext cx="4466116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EB28B8-8B41-4014-9872-A068C8AF89A1}"/>
              </a:ext>
            </a:extLst>
          </p:cNvPr>
          <p:cNvSpPr>
            <a:spLocks noGrp="1"/>
          </p:cNvSpPr>
          <p:nvPr/>
        </p:nvSpPr>
        <p:spPr>
          <a:xfrm>
            <a:off x="7900942" y="4933597"/>
            <a:ext cx="269685" cy="3308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04BA730-6472-4B0A-B034-4C37FA2FCCD7}"/>
              </a:ext>
            </a:extLst>
          </p:cNvPr>
          <p:cNvSpPr>
            <a:spLocks noGrp="1"/>
          </p:cNvSpPr>
          <p:nvPr/>
        </p:nvSpPr>
        <p:spPr>
          <a:xfrm>
            <a:off x="6986712" y="4286639"/>
            <a:ext cx="603664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286BF46-3C4C-454F-B69B-02A82BDE0241}"/>
              </a:ext>
            </a:extLst>
          </p:cNvPr>
          <p:cNvSpPr>
            <a:spLocks noGrp="1"/>
          </p:cNvSpPr>
          <p:nvPr/>
        </p:nvSpPr>
        <p:spPr>
          <a:xfrm>
            <a:off x="10835637" y="4282199"/>
            <a:ext cx="161845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Slide 5 copied left comparison heading">
            <a:extLst>
              <a:ext uri="{FF2B5EF4-FFF2-40B4-BE49-F238E27FC236}">
                <a16:creationId xmlns:a16="http://schemas.microsoft.com/office/drawing/2014/main" id="{D7D7A0DC-B6B1-49A4-AFA3-3009D77C481E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72" name="Slide 5 copied right comparison heading">
            <a:extLst>
              <a:ext uri="{FF2B5EF4-FFF2-40B4-BE49-F238E27FC236}">
                <a16:creationId xmlns:a16="http://schemas.microsoft.com/office/drawing/2014/main" id="{70D40F8F-1A35-486A-9BB7-7F5237B20126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423216803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E1FFD2AD-BF5B-430B-BD4F-907248D2D56D}"/>
              </a:ext>
            </a:extLst>
          </p:cNvPr>
          <p:cNvSpPr>
            <a:spLocks noGrp="1"/>
          </p:cNvSpPr>
          <p:nvPr/>
        </p:nvSpPr>
        <p:spPr>
          <a:xfrm flipH="1">
            <a:off x="7702343" y="2287185"/>
            <a:ext cx="2097" cy="306376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4" name="직선 연결선 43">
            <a:extLst>
              <a:ext uri="{FF2B5EF4-FFF2-40B4-BE49-F238E27FC236}">
                <a16:creationId xmlns:a16="http://schemas.microsoft.com/office/drawing/2014/main" id="{60DB182A-7327-425F-9D53-5DD9B55E1E7E}"/>
              </a:ext>
            </a:extLst>
          </p:cNvPr>
          <p:cNvSpPr>
            <a:spLocks noGrp="1"/>
          </p:cNvSpPr>
          <p:nvPr/>
        </p:nvSpPr>
        <p:spPr>
          <a:xfrm>
            <a:off x="8525915" y="2366065"/>
            <a:ext cx="0" cy="266431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5" name="직선 연결선 44">
            <a:extLst>
              <a:ext uri="{FF2B5EF4-FFF2-40B4-BE49-F238E27FC236}">
                <a16:creationId xmlns:a16="http://schemas.microsoft.com/office/drawing/2014/main" id="{2923F3DC-96F1-41F2-A032-74381A6C1F2E}"/>
              </a:ext>
            </a:extLst>
          </p:cNvPr>
          <p:cNvSpPr>
            <a:spLocks noGrp="1"/>
          </p:cNvSpPr>
          <p:nvPr/>
        </p:nvSpPr>
        <p:spPr>
          <a:xfrm>
            <a:off x="9749368" y="2583660"/>
            <a:ext cx="0" cy="274344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6" name="직선 연결선 55">
            <a:extLst>
              <a:ext uri="{FF2B5EF4-FFF2-40B4-BE49-F238E27FC236}">
                <a16:creationId xmlns:a16="http://schemas.microsoft.com/office/drawing/2014/main" id="{A23BF6A7-142E-49D5-AABF-9665AE2FFAFA}"/>
              </a:ext>
            </a:extLst>
          </p:cNvPr>
          <p:cNvSpPr>
            <a:spLocks noGrp="1"/>
          </p:cNvSpPr>
          <p:nvPr/>
        </p:nvSpPr>
        <p:spPr>
          <a:xfrm>
            <a:off x="10474621" y="2679986"/>
            <a:ext cx="0" cy="2804824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82" name="그림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389" y="1623917"/>
            <a:ext cx="3954663" cy="2017021"/>
          </a:xfrm>
          <a:prstGeom prst="rect">
            <a:avLst/>
          </a:prstGeom>
        </p:spPr>
      </p:pic>
      <p:pic>
        <p:nvPicPr>
          <p:cNvPr id="83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80" y="3627464"/>
            <a:ext cx="3618750" cy="2950198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91D20317-9E0E-41C0-9DD1-C1BA5D63C67E}"/>
              </a:ext>
            </a:extLst>
          </p:cNvPr>
          <p:cNvSpPr>
            <a:spLocks noGrp="1"/>
          </p:cNvSpPr>
          <p:nvPr/>
        </p:nvSpPr>
        <p:spPr>
          <a:xfrm>
            <a:off x="7173393" y="4906006"/>
            <a:ext cx="4075660" cy="74005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0B8F62DA-720C-41D6-A6AD-9E5CD9BA179A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aphicFrame>
        <p:nvGraphicFramePr>
          <p:cNvPr id="86" name="표 29"/>
          <p:cNvGraphicFramePr/>
          <p:nvPr>
            <p:extLst>
              <p:ext uri="{D42A27DB-BD31-4B8C-83A1-F6EECF244321}">
                <p14:modId xmlns:p14="http://schemas.microsoft.com/office/powerpoint/2010/main" val="1515519689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ANT.5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Maximum ratio of single level Via x (x = 1, 2, 3, 4, 5, 6, 7, 8) area to the (gate area + 2*Diff area)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ADAB3906-D10D-4E9E-8339-823EC73BFFFE}"/>
              </a:ext>
            </a:extLst>
          </p:cNvPr>
          <p:cNvSpPr>
            <a:spLocks noGrp="1"/>
          </p:cNvSpPr>
          <p:nvPr/>
        </p:nvSpPr>
        <p:spPr>
          <a:xfrm>
            <a:off x="461616" y="3006912"/>
            <a:ext cx="574240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sz="1400">
                <a:latin typeface="맑은 고딕" panose="020B0503020000020004" pitchFamily="50" charset="-127"/>
                <a:ea typeface="맑은 고딕" panose="020B0503020000020004" pitchFamily="50" charset="-127"/>
              </a:rPr>
              <a:t>공정 중 via를 통해 축적되는 전하로 부터 gate를 보호하기 위함이다. 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C8FE615-803F-424E-A3B8-EF3CB31FF6D2}"/>
              </a:ext>
            </a:extLst>
          </p:cNvPr>
          <p:cNvSpPr>
            <a:spLocks noGrp="1"/>
          </p:cNvSpPr>
          <p:nvPr/>
        </p:nvSpPr>
        <p:spPr>
          <a:xfrm>
            <a:off x="7173394" y="5649283"/>
            <a:ext cx="4075658" cy="11183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Substrate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5AD717-81A4-41D1-86EF-036E9F64F31E}"/>
              </a:ext>
            </a:extLst>
          </p:cNvPr>
          <p:cNvSpPr>
            <a:spLocks noGrp="1"/>
          </p:cNvSpPr>
          <p:nvPr/>
        </p:nvSpPr>
        <p:spPr>
          <a:xfrm>
            <a:off x="7173394" y="5643893"/>
            <a:ext cx="514114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3C158E5-6DB3-4882-B754-2A22DCBED02F}"/>
              </a:ext>
            </a:extLst>
          </p:cNvPr>
          <p:cNvSpPr>
            <a:spLocks noGrp="1"/>
          </p:cNvSpPr>
          <p:nvPr/>
        </p:nvSpPr>
        <p:spPr>
          <a:xfrm>
            <a:off x="8511385" y="5647141"/>
            <a:ext cx="1254914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EB28B8-8B41-4014-9872-A068C8AF89A1}"/>
              </a:ext>
            </a:extLst>
          </p:cNvPr>
          <p:cNvSpPr>
            <a:spLocks noGrp="1"/>
          </p:cNvSpPr>
          <p:nvPr/>
        </p:nvSpPr>
        <p:spPr>
          <a:xfrm>
            <a:off x="7981660" y="5229485"/>
            <a:ext cx="312066" cy="3308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8F0A41F-B4FF-461F-AF58-7CC719D63AA5}"/>
              </a:ext>
            </a:extLst>
          </p:cNvPr>
          <p:cNvSpPr>
            <a:spLocks noGrp="1"/>
          </p:cNvSpPr>
          <p:nvPr/>
        </p:nvSpPr>
        <p:spPr>
          <a:xfrm>
            <a:off x="7687508" y="5552081"/>
            <a:ext cx="832081" cy="1008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800">
                <a:latin typeface="맑은 고딕" panose="020B0503020000020004" pitchFamily="50" charset="-127"/>
                <a:ea typeface="맑은 고딕" panose="020B0503020000020004" pitchFamily="50" charset="-127"/>
              </a:rPr>
              <a:t>OXIDE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AE8340-5717-465B-8963-44330C33D4C3}"/>
              </a:ext>
            </a:extLst>
          </p:cNvPr>
          <p:cNvSpPr>
            <a:spLocks noGrp="1"/>
          </p:cNvSpPr>
          <p:nvPr/>
        </p:nvSpPr>
        <p:spPr>
          <a:xfrm>
            <a:off x="1242096" y="3583672"/>
            <a:ext cx="1548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Gate area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206B29-F31E-4364-BE4A-6F6BB6B4ADA8}"/>
              </a:ext>
            </a:extLst>
          </p:cNvPr>
          <p:cNvSpPr>
            <a:spLocks noGrp="1"/>
          </p:cNvSpPr>
          <p:nvPr/>
        </p:nvSpPr>
        <p:spPr>
          <a:xfrm>
            <a:off x="2601591" y="3614275"/>
            <a:ext cx="1909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Diff diode area</a:t>
            </a:r>
          </a:p>
        </p:txBody>
      </p:sp>
      <p:sp>
        <p:nvSpPr>
          <p:cNvPr id="47" name="직선 연결선 46">
            <a:extLst>
              <a:ext uri="{FF2B5EF4-FFF2-40B4-BE49-F238E27FC236}">
                <a16:creationId xmlns:a16="http://schemas.microsoft.com/office/drawing/2014/main" id="{3669CF16-DC57-4A95-8881-9BA040EC510A}"/>
              </a:ext>
            </a:extLst>
          </p:cNvPr>
          <p:cNvSpPr>
            <a:spLocks noGrp="1"/>
          </p:cNvSpPr>
          <p:nvPr/>
        </p:nvSpPr>
        <p:spPr>
          <a:xfrm>
            <a:off x="1786444" y="3915877"/>
            <a:ext cx="269687" cy="564778"/>
          </a:xfrm>
          <a:prstGeom prst="line">
            <a:avLst/>
          </a:prstGeom>
          <a:ln w="317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직선 연결선 47">
            <a:extLst>
              <a:ext uri="{FF2B5EF4-FFF2-40B4-BE49-F238E27FC236}">
                <a16:creationId xmlns:a16="http://schemas.microsoft.com/office/drawing/2014/main" id="{E4C5E857-A19F-405F-8568-D68FC421443E}"/>
              </a:ext>
            </a:extLst>
          </p:cNvPr>
          <p:cNvSpPr>
            <a:spLocks noGrp="1"/>
          </p:cNvSpPr>
          <p:nvPr/>
        </p:nvSpPr>
        <p:spPr>
          <a:xfrm>
            <a:off x="3898402" y="4041830"/>
            <a:ext cx="105124" cy="1714328"/>
          </a:xfrm>
          <a:prstGeom prst="line">
            <a:avLst/>
          </a:prstGeom>
          <a:ln w="317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0" name="사다리꼴 49">
            <a:extLst>
              <a:ext uri="{FF2B5EF4-FFF2-40B4-BE49-F238E27FC236}">
                <a16:creationId xmlns:a16="http://schemas.microsoft.com/office/drawing/2014/main" id="{DD8FE337-F279-4472-A243-506653129693}"/>
              </a:ext>
            </a:extLst>
          </p:cNvPr>
          <p:cNvSpPr>
            <a:spLocks noGrp="1"/>
          </p:cNvSpPr>
          <p:nvPr/>
        </p:nvSpPr>
        <p:spPr>
          <a:xfrm flipV="1">
            <a:off x="10031275" y="4920519"/>
            <a:ext cx="140575" cy="717832"/>
          </a:xfrm>
          <a:prstGeom prst="trapezoid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다리꼴 50">
            <a:extLst>
              <a:ext uri="{FF2B5EF4-FFF2-40B4-BE49-F238E27FC236}">
                <a16:creationId xmlns:a16="http://schemas.microsoft.com/office/drawing/2014/main" id="{9A891760-FF40-4AE8-AAD5-523E85A5944E}"/>
              </a:ext>
            </a:extLst>
          </p:cNvPr>
          <p:cNvSpPr>
            <a:spLocks noGrp="1"/>
          </p:cNvSpPr>
          <p:nvPr/>
        </p:nvSpPr>
        <p:spPr>
          <a:xfrm flipV="1">
            <a:off x="8087738" y="4903861"/>
            <a:ext cx="140575" cy="324514"/>
          </a:xfrm>
          <a:prstGeom prst="trapezoid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직선 연결선 52">
            <a:extLst>
              <a:ext uri="{FF2B5EF4-FFF2-40B4-BE49-F238E27FC236}">
                <a16:creationId xmlns:a16="http://schemas.microsoft.com/office/drawing/2014/main" id="{52AF2B77-156D-4598-86E7-6E942AFA4247}"/>
              </a:ext>
            </a:extLst>
          </p:cNvPr>
          <p:cNvSpPr>
            <a:spLocks noGrp="1"/>
          </p:cNvSpPr>
          <p:nvPr/>
        </p:nvSpPr>
        <p:spPr>
          <a:xfrm>
            <a:off x="3217578" y="4813555"/>
            <a:ext cx="657594" cy="1198306"/>
          </a:xfrm>
          <a:prstGeom prst="line">
            <a:avLst/>
          </a:prstGeom>
          <a:ln w="317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9FF887-FB5B-4B28-8346-24496F41AF76}"/>
              </a:ext>
            </a:extLst>
          </p:cNvPr>
          <p:cNvSpPr>
            <a:spLocks noGrp="1"/>
          </p:cNvSpPr>
          <p:nvPr/>
        </p:nvSpPr>
        <p:spPr>
          <a:xfrm>
            <a:off x="2551442" y="4381756"/>
            <a:ext cx="1347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Via x area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48E07B4-AA15-4FDE-94DB-282998BE1B9B}"/>
              </a:ext>
            </a:extLst>
          </p:cNvPr>
          <p:cNvSpPr>
            <a:spLocks noGrp="1"/>
          </p:cNvSpPr>
          <p:nvPr/>
        </p:nvSpPr>
        <p:spPr>
          <a:xfrm>
            <a:off x="9762112" y="5646408"/>
            <a:ext cx="713449" cy="20257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2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N+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FE932F7-2766-4EE7-A49E-F8D1A370789D}"/>
              </a:ext>
            </a:extLst>
          </p:cNvPr>
          <p:cNvSpPr>
            <a:spLocks noGrp="1"/>
          </p:cNvSpPr>
          <p:nvPr/>
        </p:nvSpPr>
        <p:spPr>
          <a:xfrm>
            <a:off x="7679917" y="4577650"/>
            <a:ext cx="3480265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 1</a:t>
            </a:r>
          </a:p>
        </p:txBody>
      </p:sp>
      <p:pic>
        <p:nvPicPr>
          <p:cNvPr id="10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00" y="1558800"/>
            <a:ext cx="2670260" cy="1396751"/>
          </a:xfrm>
          <a:prstGeom prst="rect">
            <a:avLst/>
          </a:prstGeom>
        </p:spPr>
      </p:pic>
      <p:sp>
        <p:nvSpPr>
          <p:cNvPr id="52" name="직선 연결선 51">
            <a:extLst>
              <a:ext uri="{FF2B5EF4-FFF2-40B4-BE49-F238E27FC236}">
                <a16:creationId xmlns:a16="http://schemas.microsoft.com/office/drawing/2014/main" id="{57A2F573-10DA-4298-B6A2-60D6B05C5F97}"/>
              </a:ext>
            </a:extLst>
          </p:cNvPr>
          <p:cNvSpPr>
            <a:spLocks noGrp="1"/>
          </p:cNvSpPr>
          <p:nvPr/>
        </p:nvSpPr>
        <p:spPr>
          <a:xfrm flipH="1">
            <a:off x="2824493" y="4773697"/>
            <a:ext cx="287007" cy="1238164"/>
          </a:xfrm>
          <a:prstGeom prst="line">
            <a:avLst/>
          </a:prstGeom>
          <a:ln w="317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64FE5FD-4A0D-471E-AC7D-4FD5DA624CFB}"/>
              </a:ext>
            </a:extLst>
          </p:cNvPr>
          <p:cNvSpPr>
            <a:spLocks noGrp="1"/>
          </p:cNvSpPr>
          <p:nvPr/>
        </p:nvSpPr>
        <p:spPr>
          <a:xfrm>
            <a:off x="7173392" y="4127605"/>
            <a:ext cx="4075660" cy="443356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IMD</a:t>
            </a:r>
          </a:p>
        </p:txBody>
      </p:sp>
      <p:sp>
        <p:nvSpPr>
          <p:cNvPr id="69" name="사다리꼴 68">
            <a:extLst>
              <a:ext uri="{FF2B5EF4-FFF2-40B4-BE49-F238E27FC236}">
                <a16:creationId xmlns:a16="http://schemas.microsoft.com/office/drawing/2014/main" id="{8EC5339C-CBD6-40F9-AABD-8B49994363D9}"/>
              </a:ext>
            </a:extLst>
          </p:cNvPr>
          <p:cNvSpPr>
            <a:spLocks noGrp="1"/>
          </p:cNvSpPr>
          <p:nvPr/>
        </p:nvSpPr>
        <p:spPr>
          <a:xfrm flipV="1">
            <a:off x="8865073" y="4121385"/>
            <a:ext cx="140575" cy="449576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FE7E525-A3AD-4D01-A4B6-F4EEBF0FE498}"/>
              </a:ext>
            </a:extLst>
          </p:cNvPr>
          <p:cNvSpPr>
            <a:spLocks noGrp="1"/>
          </p:cNvSpPr>
          <p:nvPr/>
        </p:nvSpPr>
        <p:spPr>
          <a:xfrm>
            <a:off x="8759839" y="3794200"/>
            <a:ext cx="366779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70F20D9-DAA4-4BCF-8011-0CA99681ECF0}"/>
              </a:ext>
            </a:extLst>
          </p:cNvPr>
          <p:cNvSpPr>
            <a:spLocks noGrp="1"/>
          </p:cNvSpPr>
          <p:nvPr/>
        </p:nvSpPr>
        <p:spPr>
          <a:xfrm>
            <a:off x="6767828" y="3093943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✄</a:t>
            </a: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9C1673C9-FBA1-4912-B8F6-E9A3E6DF9BC1}"/>
              </a:ext>
            </a:extLst>
          </p:cNvPr>
          <p:cNvSpPr>
            <a:spLocks noGrp="1"/>
          </p:cNvSpPr>
          <p:nvPr/>
        </p:nvSpPr>
        <p:spPr>
          <a:xfrm>
            <a:off x="7185428" y="3280161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667C7CE-9A43-45B9-B5A3-901EBAC3C0A1}"/>
              </a:ext>
            </a:extLst>
          </p:cNvPr>
          <p:cNvSpPr>
            <a:spLocks noGrp="1"/>
          </p:cNvSpPr>
          <p:nvPr/>
        </p:nvSpPr>
        <p:spPr>
          <a:xfrm>
            <a:off x="10471374" y="5638054"/>
            <a:ext cx="777678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9AA4A98-A1C8-4DF2-B39D-6B7640B968FC}"/>
              </a:ext>
            </a:extLst>
          </p:cNvPr>
          <p:cNvSpPr>
            <a:spLocks noGrp="1"/>
          </p:cNvSpPr>
          <p:nvPr/>
        </p:nvSpPr>
        <p:spPr>
          <a:xfrm>
            <a:off x="7165957" y="4570632"/>
            <a:ext cx="513959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04A8CA-32B6-4FB7-9430-B8A7DCBDAB59}"/>
              </a:ext>
            </a:extLst>
          </p:cNvPr>
          <p:cNvSpPr>
            <a:spLocks noGrp="1"/>
          </p:cNvSpPr>
          <p:nvPr/>
        </p:nvSpPr>
        <p:spPr>
          <a:xfrm>
            <a:off x="11160182" y="4573566"/>
            <a:ext cx="8887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F1A1660-9EB4-4B4B-A38E-EB2CB6FD7C0F}"/>
              </a:ext>
            </a:extLst>
          </p:cNvPr>
          <p:cNvSpPr>
            <a:spLocks noGrp="1"/>
          </p:cNvSpPr>
          <p:nvPr/>
        </p:nvSpPr>
        <p:spPr>
          <a:xfrm>
            <a:off x="7162828" y="3788795"/>
            <a:ext cx="1594579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DF2D5D1-56D8-4C23-B2EA-E5C74FB63988}"/>
              </a:ext>
            </a:extLst>
          </p:cNvPr>
          <p:cNvSpPr>
            <a:spLocks noGrp="1"/>
          </p:cNvSpPr>
          <p:nvPr/>
        </p:nvSpPr>
        <p:spPr>
          <a:xfrm>
            <a:off x="9126618" y="3790763"/>
            <a:ext cx="2125609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1DDAB4E-C0E1-47F8-89EC-BC8C04C8D74F}"/>
              </a:ext>
            </a:extLst>
          </p:cNvPr>
          <p:cNvSpPr>
            <a:spLocks noGrp="1"/>
          </p:cNvSpPr>
          <p:nvPr/>
        </p:nvSpPr>
        <p:spPr>
          <a:xfrm>
            <a:off x="8379930" y="3762804"/>
            <a:ext cx="1091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METAL 2</a:t>
            </a:r>
          </a:p>
        </p:txBody>
      </p:sp>
      <p:sp>
        <p:nvSpPr>
          <p:cNvPr id="76" name="Slide 5 copied left comparison heading">
            <a:extLst>
              <a:ext uri="{FF2B5EF4-FFF2-40B4-BE49-F238E27FC236}">
                <a16:creationId xmlns:a16="http://schemas.microsoft.com/office/drawing/2014/main" id="{BBEAA398-4188-4A84-B136-686FAE44DC8D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77" name="Slide 5 copied right comparison heading">
            <a:extLst>
              <a:ext uri="{FF2B5EF4-FFF2-40B4-BE49-F238E27FC236}">
                <a16:creationId xmlns:a16="http://schemas.microsoft.com/office/drawing/2014/main" id="{16162FF5-2AF0-4802-AB35-7395D225F859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377128558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680" y="3627464"/>
            <a:ext cx="3618750" cy="2950198"/>
          </a:xfrm>
          <a:prstGeom prst="rect">
            <a:avLst/>
          </a:prstGeom>
        </p:spPr>
      </p:pic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F7D74524-3042-4D1F-9571-FE1A0F1A4016}"/>
              </a:ext>
            </a:extLst>
          </p:cNvPr>
          <p:cNvSpPr>
            <a:spLocks noGrp="1"/>
          </p:cNvSpPr>
          <p:nvPr/>
        </p:nvSpPr>
        <p:spPr>
          <a:xfrm>
            <a:off x="6161698" y="1194679"/>
            <a:ext cx="0" cy="5668864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graphicFrame>
        <p:nvGraphicFramePr>
          <p:cNvPr id="130" name="표 29"/>
          <p:cNvGraphicFramePr/>
          <p:nvPr>
            <p:extLst>
              <p:ext uri="{D42A27DB-BD31-4B8C-83A1-F6EECF244321}">
                <p14:modId xmlns:p14="http://schemas.microsoft.com/office/powerpoint/2010/main" val="1473319927"/>
              </p:ext>
            </p:extLst>
          </p:nvPr>
        </p:nvGraphicFramePr>
        <p:xfrm>
          <a:off x="515294" y="255775"/>
          <a:ext cx="1091127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Rule Name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2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ANT.6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Maximum ratio of </a:t>
                      </a:r>
                      <a:r>
                        <a:rPr sz="14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cummulative</a:t>
                      </a:r>
                      <a:r>
                        <a:rPr sz="14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multi level Metal areas to the (gate area + 2*Diff area) 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ADAB3906-D10D-4E9E-8339-823EC73BFFFE}"/>
              </a:ext>
            </a:extLst>
          </p:cNvPr>
          <p:cNvSpPr>
            <a:spLocks noGrp="1"/>
          </p:cNvSpPr>
          <p:nvPr/>
        </p:nvSpPr>
        <p:spPr>
          <a:xfrm>
            <a:off x="461616" y="3006912"/>
            <a:ext cx="54082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sz="1400">
                <a:latin typeface="맑은 고딕" panose="020B0503020000020004" pitchFamily="50" charset="-127"/>
                <a:ea typeface="맑은 고딕" panose="020B0503020000020004" pitchFamily="50" charset="-127"/>
              </a:rPr>
              <a:t>공정 중 여러 metal 층에 축적된 전하가 gate oxide를 손상시키는</a:t>
            </a:r>
          </a:p>
          <a:p>
            <a:r>
              <a:rPr sz="1400">
                <a:latin typeface="맑은 고딕" panose="020B0503020000020004" pitchFamily="50" charset="-127"/>
                <a:ea typeface="맑은 고딕" panose="020B0503020000020004" pitchFamily="50" charset="-127"/>
              </a:rPr>
              <a:t>것을 방지하기 위함이다.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56D8EC8-2F25-4138-8817-C43B0E397393}"/>
              </a:ext>
            </a:extLst>
          </p:cNvPr>
          <p:cNvSpPr>
            <a:spLocks noGrp="1"/>
          </p:cNvSpPr>
          <p:nvPr/>
        </p:nvSpPr>
        <p:spPr>
          <a:xfrm>
            <a:off x="1292264" y="3588185"/>
            <a:ext cx="1548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Gate area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98825F-87E0-4B4A-BEEF-894DFC37C11D}"/>
              </a:ext>
            </a:extLst>
          </p:cNvPr>
          <p:cNvSpPr>
            <a:spLocks noGrp="1"/>
          </p:cNvSpPr>
          <p:nvPr/>
        </p:nvSpPr>
        <p:spPr>
          <a:xfrm>
            <a:off x="2601591" y="3704581"/>
            <a:ext cx="1909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Diff diode area</a:t>
            </a:r>
          </a:p>
        </p:txBody>
      </p:sp>
      <p:sp>
        <p:nvSpPr>
          <p:cNvPr id="75" name="직선 연결선 74">
            <a:extLst>
              <a:ext uri="{FF2B5EF4-FFF2-40B4-BE49-F238E27FC236}">
                <a16:creationId xmlns:a16="http://schemas.microsoft.com/office/drawing/2014/main" id="{F3F6BFA5-4117-4208-BBC0-E32723B965B7}"/>
              </a:ext>
            </a:extLst>
          </p:cNvPr>
          <p:cNvSpPr>
            <a:spLocks noGrp="1"/>
          </p:cNvSpPr>
          <p:nvPr/>
        </p:nvSpPr>
        <p:spPr>
          <a:xfrm>
            <a:off x="1827160" y="3955383"/>
            <a:ext cx="168123" cy="503285"/>
          </a:xfrm>
          <a:prstGeom prst="line">
            <a:avLst/>
          </a:prstGeom>
          <a:ln w="317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6" name="직선 연결선 75">
            <a:extLst>
              <a:ext uri="{FF2B5EF4-FFF2-40B4-BE49-F238E27FC236}">
                <a16:creationId xmlns:a16="http://schemas.microsoft.com/office/drawing/2014/main" id="{9DFDB851-5420-48A5-B04B-EDD1769F0A1F}"/>
              </a:ext>
            </a:extLst>
          </p:cNvPr>
          <p:cNvSpPr>
            <a:spLocks noGrp="1"/>
          </p:cNvSpPr>
          <p:nvPr/>
        </p:nvSpPr>
        <p:spPr>
          <a:xfrm>
            <a:off x="3177504" y="4133198"/>
            <a:ext cx="397003" cy="1670290"/>
          </a:xfrm>
          <a:prstGeom prst="line">
            <a:avLst/>
          </a:prstGeom>
          <a:ln w="317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7" name="직선 연결선 76">
            <a:extLst>
              <a:ext uri="{FF2B5EF4-FFF2-40B4-BE49-F238E27FC236}">
                <a16:creationId xmlns:a16="http://schemas.microsoft.com/office/drawing/2014/main" id="{418DB661-2DC9-4CED-91C4-77273EF1CDE9}"/>
              </a:ext>
            </a:extLst>
          </p:cNvPr>
          <p:cNvSpPr>
            <a:spLocks noGrp="1"/>
          </p:cNvSpPr>
          <p:nvPr/>
        </p:nvSpPr>
        <p:spPr>
          <a:xfrm>
            <a:off x="4147457" y="5126922"/>
            <a:ext cx="363314" cy="851087"/>
          </a:xfrm>
          <a:prstGeom prst="line">
            <a:avLst/>
          </a:prstGeom>
          <a:ln w="317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8AFBB50-51DA-45B7-8C85-ED2EA2C4D928}"/>
              </a:ext>
            </a:extLst>
          </p:cNvPr>
          <p:cNvSpPr>
            <a:spLocks noGrp="1"/>
          </p:cNvSpPr>
          <p:nvPr/>
        </p:nvSpPr>
        <p:spPr>
          <a:xfrm>
            <a:off x="3438192" y="4597353"/>
            <a:ext cx="1909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Metal1 conn area</a:t>
            </a:r>
          </a:p>
        </p:txBody>
      </p:sp>
      <p:sp>
        <p:nvSpPr>
          <p:cNvPr id="79" name="직선 연결선 78">
            <a:extLst>
              <a:ext uri="{FF2B5EF4-FFF2-40B4-BE49-F238E27FC236}">
                <a16:creationId xmlns:a16="http://schemas.microsoft.com/office/drawing/2014/main" id="{F80168EE-5336-4BCA-BDA1-55DCDE55B75C}"/>
              </a:ext>
            </a:extLst>
          </p:cNvPr>
          <p:cNvSpPr>
            <a:spLocks noGrp="1"/>
          </p:cNvSpPr>
          <p:nvPr/>
        </p:nvSpPr>
        <p:spPr>
          <a:xfrm>
            <a:off x="2355456" y="5348334"/>
            <a:ext cx="326784" cy="916999"/>
          </a:xfrm>
          <a:prstGeom prst="line">
            <a:avLst/>
          </a:prstGeom>
          <a:ln w="317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A75CC88-1358-455D-A605-B93CD0BB20EC}"/>
              </a:ext>
            </a:extLst>
          </p:cNvPr>
          <p:cNvSpPr>
            <a:spLocks noGrp="1"/>
          </p:cNvSpPr>
          <p:nvPr/>
        </p:nvSpPr>
        <p:spPr>
          <a:xfrm>
            <a:off x="1455318" y="4912834"/>
            <a:ext cx="1909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Metal2 conn area</a:t>
            </a:r>
          </a:p>
        </p:txBody>
      </p:sp>
      <p:pic>
        <p:nvPicPr>
          <p:cNvPr id="140" name="그림 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00" y="1558800"/>
            <a:ext cx="2980397" cy="1396800"/>
          </a:xfrm>
          <a:prstGeom prst="rect">
            <a:avLst/>
          </a:prstGeom>
        </p:spPr>
      </p:pic>
      <p:sp>
        <p:nvSpPr>
          <p:cNvPr id="96" name="직선 연결선 95">
            <a:extLst>
              <a:ext uri="{FF2B5EF4-FFF2-40B4-BE49-F238E27FC236}">
                <a16:creationId xmlns:a16="http://schemas.microsoft.com/office/drawing/2014/main" id="{347CAD21-6B9C-4B8E-8F9A-DF85DBE4E077}"/>
              </a:ext>
            </a:extLst>
          </p:cNvPr>
          <p:cNvSpPr>
            <a:spLocks noGrp="1"/>
          </p:cNvSpPr>
          <p:nvPr/>
        </p:nvSpPr>
        <p:spPr>
          <a:xfrm flipH="1">
            <a:off x="7702343" y="2287185"/>
            <a:ext cx="2097" cy="306376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" name="직선 연결선 96">
            <a:extLst>
              <a:ext uri="{FF2B5EF4-FFF2-40B4-BE49-F238E27FC236}">
                <a16:creationId xmlns:a16="http://schemas.microsoft.com/office/drawing/2014/main" id="{199FD318-0F91-4F88-BA84-52D23AAB77AF}"/>
              </a:ext>
            </a:extLst>
          </p:cNvPr>
          <p:cNvSpPr>
            <a:spLocks noGrp="1"/>
          </p:cNvSpPr>
          <p:nvPr/>
        </p:nvSpPr>
        <p:spPr>
          <a:xfrm>
            <a:off x="8525915" y="2366065"/>
            <a:ext cx="0" cy="2664319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8" name="직선 연결선 97">
            <a:extLst>
              <a:ext uri="{FF2B5EF4-FFF2-40B4-BE49-F238E27FC236}">
                <a16:creationId xmlns:a16="http://schemas.microsoft.com/office/drawing/2014/main" id="{31510C80-0AFC-4BB5-A3C5-A8440323A8AB}"/>
              </a:ext>
            </a:extLst>
          </p:cNvPr>
          <p:cNvSpPr>
            <a:spLocks noGrp="1"/>
          </p:cNvSpPr>
          <p:nvPr/>
        </p:nvSpPr>
        <p:spPr>
          <a:xfrm>
            <a:off x="9749368" y="2583660"/>
            <a:ext cx="0" cy="2743446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9" name="직선 연결선 98">
            <a:extLst>
              <a:ext uri="{FF2B5EF4-FFF2-40B4-BE49-F238E27FC236}">
                <a16:creationId xmlns:a16="http://schemas.microsoft.com/office/drawing/2014/main" id="{C24BF818-8827-4F60-8789-9584F619F256}"/>
              </a:ext>
            </a:extLst>
          </p:cNvPr>
          <p:cNvSpPr>
            <a:spLocks noGrp="1"/>
          </p:cNvSpPr>
          <p:nvPr/>
        </p:nvSpPr>
        <p:spPr>
          <a:xfrm>
            <a:off x="10474621" y="2679986"/>
            <a:ext cx="0" cy="2804824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145" name="그림 9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389" y="1623917"/>
            <a:ext cx="3954663" cy="2017021"/>
          </a:xfrm>
          <a:prstGeom prst="rect">
            <a:avLst/>
          </a:prstGeom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10F892DE-D90A-4C1F-AD64-15BDE7F24D3F}"/>
              </a:ext>
            </a:extLst>
          </p:cNvPr>
          <p:cNvSpPr>
            <a:spLocks noGrp="1"/>
          </p:cNvSpPr>
          <p:nvPr/>
        </p:nvSpPr>
        <p:spPr>
          <a:xfrm>
            <a:off x="7173393" y="4906006"/>
            <a:ext cx="4075660" cy="740058"/>
          </a:xfrm>
          <a:prstGeom prst="rect">
            <a:avLst/>
          </a:prstGeom>
          <a:pattFill prst="pct5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ILD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F48A5DB-96F8-4207-A830-3FECF94AA156}"/>
              </a:ext>
            </a:extLst>
          </p:cNvPr>
          <p:cNvSpPr>
            <a:spLocks noGrp="1"/>
          </p:cNvSpPr>
          <p:nvPr/>
        </p:nvSpPr>
        <p:spPr>
          <a:xfrm>
            <a:off x="7173394" y="5649283"/>
            <a:ext cx="4075658" cy="111839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Substrate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8EEFFEB-DF4E-4D37-83D9-571C858E8BF7}"/>
              </a:ext>
            </a:extLst>
          </p:cNvPr>
          <p:cNvSpPr>
            <a:spLocks noGrp="1"/>
          </p:cNvSpPr>
          <p:nvPr/>
        </p:nvSpPr>
        <p:spPr>
          <a:xfrm>
            <a:off x="7173394" y="5643893"/>
            <a:ext cx="514114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 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E5BCB31-84F2-4486-A1F2-20DF392816E2}"/>
              </a:ext>
            </a:extLst>
          </p:cNvPr>
          <p:cNvSpPr>
            <a:spLocks noGrp="1"/>
          </p:cNvSpPr>
          <p:nvPr/>
        </p:nvSpPr>
        <p:spPr>
          <a:xfrm>
            <a:off x="8511385" y="5647141"/>
            <a:ext cx="1254914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CB8A255-6532-41F3-9BE2-E2A659497684}"/>
              </a:ext>
            </a:extLst>
          </p:cNvPr>
          <p:cNvSpPr>
            <a:spLocks noGrp="1"/>
          </p:cNvSpPr>
          <p:nvPr/>
        </p:nvSpPr>
        <p:spPr>
          <a:xfrm>
            <a:off x="7981660" y="5229485"/>
            <a:ext cx="312066" cy="3308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F799D9DB-E8C2-460A-891D-9CD72D90FC93}"/>
              </a:ext>
            </a:extLst>
          </p:cNvPr>
          <p:cNvSpPr>
            <a:spLocks noGrp="1"/>
          </p:cNvSpPr>
          <p:nvPr/>
        </p:nvSpPr>
        <p:spPr>
          <a:xfrm>
            <a:off x="7687508" y="5552081"/>
            <a:ext cx="832081" cy="10083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800">
                <a:latin typeface="맑은 고딕" panose="020B0503020000020004" pitchFamily="50" charset="-127"/>
                <a:ea typeface="맑은 고딕" panose="020B0503020000020004" pitchFamily="50" charset="-127"/>
              </a:rPr>
              <a:t>OXIDE</a:t>
            </a:r>
          </a:p>
        </p:txBody>
      </p:sp>
      <p:sp>
        <p:nvSpPr>
          <p:cNvPr id="107" name="사다리꼴 106">
            <a:extLst>
              <a:ext uri="{FF2B5EF4-FFF2-40B4-BE49-F238E27FC236}">
                <a16:creationId xmlns:a16="http://schemas.microsoft.com/office/drawing/2014/main" id="{5971BC44-2C51-4886-9DE7-F8807DAAB185}"/>
              </a:ext>
            </a:extLst>
          </p:cNvPr>
          <p:cNvSpPr>
            <a:spLocks noGrp="1"/>
          </p:cNvSpPr>
          <p:nvPr/>
        </p:nvSpPr>
        <p:spPr>
          <a:xfrm flipV="1">
            <a:off x="10031275" y="4920519"/>
            <a:ext cx="140575" cy="717832"/>
          </a:xfrm>
          <a:prstGeom prst="trapezoid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8" name="사다리꼴 107">
            <a:extLst>
              <a:ext uri="{FF2B5EF4-FFF2-40B4-BE49-F238E27FC236}">
                <a16:creationId xmlns:a16="http://schemas.microsoft.com/office/drawing/2014/main" id="{0F76C165-E486-45F5-BE6F-1DF35314971C}"/>
              </a:ext>
            </a:extLst>
          </p:cNvPr>
          <p:cNvSpPr>
            <a:spLocks noGrp="1"/>
          </p:cNvSpPr>
          <p:nvPr/>
        </p:nvSpPr>
        <p:spPr>
          <a:xfrm flipV="1">
            <a:off x="8087738" y="4903861"/>
            <a:ext cx="140575" cy="324514"/>
          </a:xfrm>
          <a:prstGeom prst="trapezoid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DE683933-7DD2-4AF3-BCB4-9A8C5598C675}"/>
              </a:ext>
            </a:extLst>
          </p:cNvPr>
          <p:cNvSpPr>
            <a:spLocks noGrp="1"/>
          </p:cNvSpPr>
          <p:nvPr/>
        </p:nvSpPr>
        <p:spPr>
          <a:xfrm>
            <a:off x="9762112" y="5646408"/>
            <a:ext cx="713449" cy="20257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2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N+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29391E17-37F4-4BC1-9610-3A0A5469B0E1}"/>
              </a:ext>
            </a:extLst>
          </p:cNvPr>
          <p:cNvSpPr>
            <a:spLocks noGrp="1"/>
          </p:cNvSpPr>
          <p:nvPr/>
        </p:nvSpPr>
        <p:spPr>
          <a:xfrm>
            <a:off x="7679917" y="4577650"/>
            <a:ext cx="3480265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METAL 1</a:t>
            </a: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6782986A-09D8-4E7C-82FC-59570669CDAE}"/>
              </a:ext>
            </a:extLst>
          </p:cNvPr>
          <p:cNvSpPr>
            <a:spLocks noGrp="1"/>
          </p:cNvSpPr>
          <p:nvPr/>
        </p:nvSpPr>
        <p:spPr>
          <a:xfrm>
            <a:off x="7173392" y="4127605"/>
            <a:ext cx="4075660" cy="443356"/>
          </a:xfrm>
          <a:prstGeom prst="rect">
            <a:avLst/>
          </a:prstGeom>
          <a:pattFill prst="ltDnDiag">
            <a:fgClr>
              <a:srgbClr val="0070C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IMD</a:t>
            </a:r>
          </a:p>
        </p:txBody>
      </p:sp>
      <p:sp>
        <p:nvSpPr>
          <p:cNvPr id="112" name="사다리꼴 111">
            <a:extLst>
              <a:ext uri="{FF2B5EF4-FFF2-40B4-BE49-F238E27FC236}">
                <a16:creationId xmlns:a16="http://schemas.microsoft.com/office/drawing/2014/main" id="{CFE33B60-DE78-40E9-A00B-E3E6E704D861}"/>
              </a:ext>
            </a:extLst>
          </p:cNvPr>
          <p:cNvSpPr>
            <a:spLocks noGrp="1"/>
          </p:cNvSpPr>
          <p:nvPr/>
        </p:nvSpPr>
        <p:spPr>
          <a:xfrm flipV="1">
            <a:off x="8865073" y="4121385"/>
            <a:ext cx="140575" cy="449576"/>
          </a:xfrm>
          <a:prstGeom prst="trapezoid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CBC47E4-4A56-4EB1-863E-D5CD39850107}"/>
              </a:ext>
            </a:extLst>
          </p:cNvPr>
          <p:cNvSpPr>
            <a:spLocks noGrp="1"/>
          </p:cNvSpPr>
          <p:nvPr/>
        </p:nvSpPr>
        <p:spPr>
          <a:xfrm>
            <a:off x="8759839" y="3794200"/>
            <a:ext cx="366779" cy="33086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4EAB42EB-69D7-46A9-877A-0FFBABE44190}"/>
              </a:ext>
            </a:extLst>
          </p:cNvPr>
          <p:cNvSpPr>
            <a:spLocks noGrp="1"/>
          </p:cNvSpPr>
          <p:nvPr/>
        </p:nvSpPr>
        <p:spPr>
          <a:xfrm>
            <a:off x="6767828" y="3093943"/>
            <a:ext cx="429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✄</a:t>
            </a:r>
          </a:p>
        </p:txBody>
      </p:sp>
      <p:sp>
        <p:nvSpPr>
          <p:cNvPr id="115" name="직선 연결선 114">
            <a:extLst>
              <a:ext uri="{FF2B5EF4-FFF2-40B4-BE49-F238E27FC236}">
                <a16:creationId xmlns:a16="http://schemas.microsoft.com/office/drawing/2014/main" id="{407AB915-1698-4BBF-8F5F-DBBA31C779CD}"/>
              </a:ext>
            </a:extLst>
          </p:cNvPr>
          <p:cNvSpPr>
            <a:spLocks noGrp="1"/>
          </p:cNvSpPr>
          <p:nvPr/>
        </p:nvSpPr>
        <p:spPr>
          <a:xfrm>
            <a:off x="7185428" y="3280161"/>
            <a:ext cx="4740442" cy="0"/>
          </a:xfrm>
          <a:prstGeom prst="line">
            <a:avLst/>
          </a:prstGeom>
          <a:ln w="158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6EB5D95C-F2D1-485E-BF01-0407DF1840AD}"/>
              </a:ext>
            </a:extLst>
          </p:cNvPr>
          <p:cNvSpPr>
            <a:spLocks noGrp="1"/>
          </p:cNvSpPr>
          <p:nvPr/>
        </p:nvSpPr>
        <p:spPr>
          <a:xfrm>
            <a:off x="10471374" y="5638054"/>
            <a:ext cx="777678" cy="330868"/>
          </a:xfrm>
          <a:prstGeom prst="rect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STI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70BE1402-C502-44DF-A721-AF22EA7FCB95}"/>
              </a:ext>
            </a:extLst>
          </p:cNvPr>
          <p:cNvSpPr>
            <a:spLocks noGrp="1"/>
          </p:cNvSpPr>
          <p:nvPr/>
        </p:nvSpPr>
        <p:spPr>
          <a:xfrm>
            <a:off x="7165957" y="4570632"/>
            <a:ext cx="513959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91708CEB-E076-4E6F-A608-085764F51BEC}"/>
              </a:ext>
            </a:extLst>
          </p:cNvPr>
          <p:cNvSpPr>
            <a:spLocks noGrp="1"/>
          </p:cNvSpPr>
          <p:nvPr/>
        </p:nvSpPr>
        <p:spPr>
          <a:xfrm>
            <a:off x="11160182" y="4573566"/>
            <a:ext cx="88870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F1129EC6-5AE1-46EF-B60A-114ED3097788}"/>
              </a:ext>
            </a:extLst>
          </p:cNvPr>
          <p:cNvSpPr>
            <a:spLocks noGrp="1"/>
          </p:cNvSpPr>
          <p:nvPr/>
        </p:nvSpPr>
        <p:spPr>
          <a:xfrm>
            <a:off x="7162828" y="3788795"/>
            <a:ext cx="1594579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0073615F-9198-4181-9676-F40D1AE4C5FE}"/>
              </a:ext>
            </a:extLst>
          </p:cNvPr>
          <p:cNvSpPr>
            <a:spLocks noGrp="1"/>
          </p:cNvSpPr>
          <p:nvPr/>
        </p:nvSpPr>
        <p:spPr>
          <a:xfrm>
            <a:off x="9126618" y="3790763"/>
            <a:ext cx="2125609" cy="33855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05F38C4-B44E-45F8-9354-F3912517093F}"/>
              </a:ext>
            </a:extLst>
          </p:cNvPr>
          <p:cNvSpPr>
            <a:spLocks noGrp="1"/>
          </p:cNvSpPr>
          <p:nvPr/>
        </p:nvSpPr>
        <p:spPr>
          <a:xfrm>
            <a:off x="8379930" y="3762804"/>
            <a:ext cx="1091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>
                <a:latin typeface="맑은 고딕" panose="020B0503020000020004" pitchFamily="50" charset="-127"/>
                <a:ea typeface="맑은 고딕" panose="020B0503020000020004" pitchFamily="50" charset="-127"/>
              </a:rPr>
              <a:t>METAL 2</a:t>
            </a:r>
          </a:p>
        </p:txBody>
      </p:sp>
      <p:sp>
        <p:nvSpPr>
          <p:cNvPr id="126" name="Slide 5 copied left comparison heading">
            <a:extLst>
              <a:ext uri="{FF2B5EF4-FFF2-40B4-BE49-F238E27FC236}">
                <a16:creationId xmlns:a16="http://schemas.microsoft.com/office/drawing/2014/main" id="{320FEDB0-CB57-4911-8430-06ADBDCDEEE6}"/>
              </a:ext>
            </a:extLst>
          </p:cNvPr>
          <p:cNvSpPr>
            <a:spLocks noGrp="1"/>
          </p:cNvSpPr>
          <p:nvPr/>
        </p:nvSpPr>
        <p:spPr>
          <a:xfrm>
            <a:off x="466223" y="1025402"/>
            <a:ext cx="3615092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Schematic in Design Rule Manual</a:t>
            </a:r>
          </a:p>
        </p:txBody>
      </p:sp>
      <p:sp>
        <p:nvSpPr>
          <p:cNvPr id="127" name="Slide 5 copied right comparison heading">
            <a:extLst>
              <a:ext uri="{FF2B5EF4-FFF2-40B4-BE49-F238E27FC236}">
                <a16:creationId xmlns:a16="http://schemas.microsoft.com/office/drawing/2014/main" id="{7A182A21-1519-4248-8035-D36C55D5A923}"/>
              </a:ext>
            </a:extLst>
          </p:cNvPr>
          <p:cNvSpPr>
            <a:spLocks noGrp="1"/>
          </p:cNvSpPr>
          <p:nvPr/>
        </p:nvSpPr>
        <p:spPr>
          <a:xfrm>
            <a:off x="6165606" y="1022809"/>
            <a:ext cx="4806211" cy="3385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1425" tIns="45700" rIns="91425" bIns="45700" anchor="t">
            <a:spAutoFit/>
          </a:bodyPr>
          <a:lstStyle/>
          <a:p>
            <a:pPr marL="285750" indent="-285750" algn="l">
              <a:spcBef>
                <a:spcPts val="0"/>
              </a:spcBef>
              <a:spcAft>
                <a:spcPts val="0"/>
              </a:spcAft>
              <a:buChar char="✔"/>
              <a:defRPr sz="16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Cadence Reproducing and vertical structure</a:t>
            </a:r>
          </a:p>
        </p:txBody>
      </p:sp>
    </p:spTree>
    <p:extLst>
      <p:ext uri="{BB962C8B-B14F-4D97-AF65-F5344CB8AC3E}">
        <p14:creationId xmlns:p14="http://schemas.microsoft.com/office/powerpoint/2010/main" val="3623993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5999</Words>
  <Application>Microsoft Office PowerPoint</Application>
  <DocSecurity>0</DocSecurity>
  <PresentationFormat>와이드스크린</PresentationFormat>
  <Paragraphs>1942</Paragraphs>
  <Slides>121</Slides>
  <Notes>115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121</vt:i4>
      </vt:variant>
    </vt:vector>
  </HeadingPairs>
  <TitlesOfParts>
    <vt:vector size="126" baseType="lpstr">
      <vt:lpstr>맑은 고딕</vt:lpstr>
      <vt:lpstr>맑은 고딕</vt:lpstr>
      <vt:lpstr>Arial</vt:lpstr>
      <vt:lpstr>Wingdings</vt:lpstr>
      <vt:lpstr>Office 테마</vt:lpstr>
      <vt:lpstr>3조</vt:lpstr>
      <vt:lpstr>Definition</vt:lpstr>
      <vt:lpstr>Layer colors</vt:lpstr>
      <vt:lpstr>Nwell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Oxide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POLY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Implant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Contact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Salicide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Metal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Via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Latch up</vt:lpstr>
      <vt:lpstr>PowerPoint 프레젠테이션</vt:lpstr>
      <vt:lpstr>PowerPoint 프레젠테이션</vt:lpstr>
      <vt:lpstr>Antenna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fl27</cp:lastModifiedBy>
  <cp:revision>7</cp:revision>
  <dcterms:created xsi:type="dcterms:W3CDTF">2026-07-28T05:03:17Z</dcterms:created>
  <dcterms:modified xsi:type="dcterms:W3CDTF">2026-07-28T07:03:30Z</dcterms:modified>
</cp:coreProperties>
</file>