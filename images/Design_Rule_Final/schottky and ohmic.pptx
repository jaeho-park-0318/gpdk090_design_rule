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8" r:id="rId2"/>
    <p:sldId id="350" r:id="rId3"/>
    <p:sldId id="351" r:id="rId4"/>
    <p:sldId id="352" r:id="rId5"/>
    <p:sldId id="34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25" initials="f" lastIdx="1" clrIdx="0">
    <p:extLst>
      <p:ext uri="{19B8F6BF-5375-455C-9EA6-DF929625EA0E}">
        <p15:presenceInfo xmlns:p15="http://schemas.microsoft.com/office/powerpoint/2012/main" userId="ddd2d90861e252a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CD0E3-6839-4647-A550-18A079049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89D32F-5812-4133-83FC-C3D706D36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75E53-28FC-4CAD-B1B7-A476DB21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05BFC5-B8B9-4F92-B4C4-1423B96B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D0A8BF-9398-444F-A133-367FC063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83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F8DB7-B632-4575-A990-737F9DF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C7A9F7-9C3B-4105-B287-91B5BC372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25C99-9182-4154-9447-A23C3A29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C28155-4B11-4221-BFB8-3AA5D50E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429D6-6BF6-4C72-97D7-C6C574F80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88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D73CC-EAC7-43B0-AE37-9F51102A5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1EE8BB-4FA9-46E1-AAE1-EC6C7EDE6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00B449-5478-4A06-945C-5F039F6C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F20E05-AE7C-4EAA-BBE1-B52C4044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248F2-BE8C-4AC7-804A-FA35B4EE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1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7BFBC-93A3-4798-B639-8C5EDD01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21EE94-DB3C-41C6-976A-561C19AD9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22FD20-8412-4C51-8360-4C943467F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A27CF9-4A26-42E1-9134-88C30F29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AC6572-350E-4787-804A-10B9B49D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B1EFEB-D14C-46CB-B25C-50124168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146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4BE17-DE99-4ACA-849E-9FE32BA1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26C023-795D-471B-B81C-1CDE2E9C7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479724-A049-4E67-87E2-6976A1DD2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FDBB99-FD7A-4387-A88F-CC4970363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C3F6D-C5D3-4A44-80F5-2ACCAC23C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3B95D8-1B6B-40F1-932E-DAA2BFC1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9F790E-2AEB-4E53-A3E6-7F2953ED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E75777-B8EC-4548-9429-8620C2D4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92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ED451-A3E7-4182-8A79-1B750A94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362449-1C55-4C2C-BF70-C599982E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B7948-BB54-4890-A4DA-DE7C153FA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C257F7-D148-4FE2-B3B5-7F65C54DB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08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8293CC-2966-4B26-8024-DEB5F8A9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B9C2F5-85A1-464C-B066-0560D571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FADEE-AC49-4C7E-88AC-CEC53C32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07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202E1-C8B8-4CC8-8F84-1569977D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2D6A24-443F-4BEB-A52E-C66B6D43F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40A622-8129-4886-99AA-A103C2294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E1EA4-FA55-4A07-961A-858E7026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2A2697-992F-4541-8567-FA2AC3AD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A74967-B074-46FC-AD82-74533DB7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82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00AC4-36E3-4243-B029-64A0B26C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72B9A2-5130-468A-91A4-BF77E10E6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C557D4-0098-41C5-8BD6-752C0FB8D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8B624F-4D66-4CA9-94C3-F19DF163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6F7910-72D6-48B6-B6EE-DED4CD8D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81480E-C960-4687-8536-9DCC8BDF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51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EA09C-37AD-4D74-9527-FC18B3F1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589F93-3867-4892-B3E2-932261812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F8DA9D-0DA1-4C2B-A2A1-22F135D1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9EAC55-EE8B-4659-9159-FD32C4645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8C4A22-31D0-4DAF-A0CB-12E7E2C0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01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C165DC-BDC1-4174-BD88-B4D61E438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FC1DAE-D628-4FA3-8886-B29DE7C94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066A1A-BB56-4828-B7BC-C0472E5E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DAF21-B3AC-4188-B2C0-5A5567E2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E0D50F-F156-4F3D-877B-C7C2C7BA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21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A0CE6A3-0852-4142-9C44-75D2B00A5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058630-E125-47DB-B755-CA7862A5E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BE5F11-02DF-4C4A-AC77-1132623A6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F460B-7EDE-4AD8-8F2A-1BDFEFEE162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DDA0E3-4EC9-477F-B5F0-047F66E9A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4937AB-3560-4D87-A1EF-AEB2B1BB8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B48C-14EC-478E-8418-DDC118B9FA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57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AC1CFA-7B08-453D-A874-AFED136106C1}"/>
              </a:ext>
            </a:extLst>
          </p:cNvPr>
          <p:cNvSpPr/>
          <p:nvPr/>
        </p:nvSpPr>
        <p:spPr>
          <a:xfrm>
            <a:off x="3821811" y="5995830"/>
            <a:ext cx="67927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sz="1400" dirty="0"/>
              <a:t>이상적인 경우</a:t>
            </a:r>
            <a:r>
              <a:rPr lang="en-US" altLang="ko-KR" sz="1400" dirty="0"/>
              <a:t>, </a:t>
            </a:r>
            <a:r>
              <a:rPr lang="ko-KR" altLang="en-US" sz="1400" dirty="0"/>
              <a:t>형성되는 </a:t>
            </a:r>
            <a:r>
              <a:rPr lang="en-US" altLang="ko-KR" sz="1400" dirty="0"/>
              <a:t>barrier height</a:t>
            </a:r>
            <a:r>
              <a:rPr lang="ko-KR" altLang="en-US" sz="1400" dirty="0"/>
              <a:t>는 </a:t>
            </a:r>
            <a:r>
              <a:rPr lang="en-US" altLang="ko-KR" sz="1400" dirty="0"/>
              <a:t>Schottky-Mott Rule</a:t>
            </a:r>
            <a:r>
              <a:rPr lang="ko-KR" altLang="en-US" sz="1400" dirty="0"/>
              <a:t>에 의해 금속의 </a:t>
            </a:r>
            <a:r>
              <a:rPr lang="en-US" altLang="ko-KR" sz="1400" dirty="0"/>
              <a:t>Work Function</a:t>
            </a:r>
            <a:r>
              <a:rPr lang="ko-KR" altLang="en-US" sz="1400" dirty="0"/>
              <a:t>과 반도체의 </a:t>
            </a:r>
            <a:r>
              <a:rPr lang="en-US" altLang="ko-KR" sz="1400" dirty="0"/>
              <a:t>Electron Affinity</a:t>
            </a:r>
            <a:r>
              <a:rPr lang="ko-KR" altLang="en-US" sz="1400" dirty="0"/>
              <a:t>로 결정</a:t>
            </a:r>
          </a:p>
        </p:txBody>
      </p:sp>
      <p:pic>
        <p:nvPicPr>
          <p:cNvPr id="1028" name="Picture 4" descr="Figure 1 from Evaluation of Work Functions of Organic Semiconductors by ...">
            <a:extLst>
              <a:ext uri="{FF2B5EF4-FFF2-40B4-BE49-F238E27FC236}">
                <a16:creationId xmlns:a16="http://schemas.microsoft.com/office/drawing/2014/main" id="{7C04F79B-54BA-4E82-8CC0-D7EEE0EF1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46" y="971400"/>
            <a:ext cx="5193443" cy="305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blog.kakaocdn.net/dna/Dl534/btsLFhbK46s/AAAAAAAAAAAAAAAAAAAAAGebQOgv9f16Rdcl-TFg4iWwKWLLLz5zfyzgPNlv_42V/img.png?credential=yqXZFxpELC7KVnFOS48ylbz2pIh7yKj8&amp;expires=1785509999&amp;allow_ip=&amp;allow_referer=&amp;signature=GUKbuhn8Ofd0U8Ve0JBLoyygYm8%3D">
            <a:extLst>
              <a:ext uri="{FF2B5EF4-FFF2-40B4-BE49-F238E27FC236}">
                <a16:creationId xmlns:a16="http://schemas.microsoft.com/office/drawing/2014/main" id="{43242EFF-157A-454F-9410-816252784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397" y="1139957"/>
            <a:ext cx="5999701" cy="228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60D1B6-1097-4C7C-B85C-84BC09CE2F7E}"/>
              </a:ext>
            </a:extLst>
          </p:cNvPr>
          <p:cNvSpPr/>
          <p:nvPr/>
        </p:nvSpPr>
        <p:spPr>
          <a:xfrm>
            <a:off x="4267678" y="324151"/>
            <a:ext cx="54747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Schottky contact (p, n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type)</a:t>
            </a:r>
            <a:endParaRPr lang="ko-KR" altLang="en-US" sz="2000" b="1" dirty="0"/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C27C1D3-5096-4D89-B5DB-5F60F932A9DA}"/>
              </a:ext>
            </a:extLst>
          </p:cNvPr>
          <p:cNvCxnSpPr>
            <a:cxnSpLocks/>
          </p:cNvCxnSpPr>
          <p:nvPr/>
        </p:nvCxnSpPr>
        <p:spPr>
          <a:xfrm>
            <a:off x="5952073" y="862170"/>
            <a:ext cx="0" cy="3234817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3216DE7-0EA0-4541-BBC0-4CA2099D8A8A}"/>
              </a:ext>
            </a:extLst>
          </p:cNvPr>
          <p:cNvSpPr/>
          <p:nvPr/>
        </p:nvSpPr>
        <p:spPr>
          <a:xfrm>
            <a:off x="3821812" y="4277359"/>
            <a:ext cx="7055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Metal</a:t>
            </a:r>
            <a:r>
              <a:rPr lang="ko-KR" altLang="en-US" sz="1400" dirty="0"/>
              <a:t>과</a:t>
            </a:r>
            <a:r>
              <a:rPr lang="en-US" altLang="ko-KR" sz="1400" dirty="0"/>
              <a:t> semiconductor</a:t>
            </a:r>
            <a:r>
              <a:rPr lang="ko-KR" altLang="en-US" sz="1400" dirty="0"/>
              <a:t>는 각각 다른 </a:t>
            </a:r>
            <a:r>
              <a:rPr lang="en-US" altLang="ko-KR" sz="1400" dirty="0"/>
              <a:t>work function</a:t>
            </a:r>
            <a:r>
              <a:rPr lang="ko-KR" altLang="en-US" sz="1400" dirty="0"/>
              <a:t>을</a:t>
            </a:r>
            <a:r>
              <a:rPr lang="en-US" altLang="ko-KR" sz="1400" dirty="0"/>
              <a:t> </a:t>
            </a:r>
            <a:r>
              <a:rPr lang="ko-KR" altLang="en-US" sz="1400" dirty="0"/>
              <a:t>가짐</a:t>
            </a:r>
            <a:r>
              <a:rPr lang="en-US" altLang="ko-KR" sz="1400" dirty="0"/>
              <a:t>.</a:t>
            </a:r>
            <a:r>
              <a:rPr lang="ko-KR" altLang="en-US" sz="1400" b="1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서로 다른 </a:t>
            </a:r>
            <a:r>
              <a:rPr lang="en-US" altLang="ko-KR" sz="1400" dirty="0"/>
              <a:t>Fermi level)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159B227-5D08-4985-9BD8-276906FF155A}"/>
              </a:ext>
            </a:extLst>
          </p:cNvPr>
          <p:cNvSpPr/>
          <p:nvPr/>
        </p:nvSpPr>
        <p:spPr>
          <a:xfrm>
            <a:off x="3821811" y="4965439"/>
            <a:ext cx="68362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sz="1400" dirty="0"/>
              <a:t>접촉 후 </a:t>
            </a:r>
            <a:r>
              <a:rPr lang="en-US" altLang="ko-KR" sz="1400" dirty="0"/>
              <a:t>Fermi level</a:t>
            </a:r>
            <a:r>
              <a:rPr lang="ko-KR" altLang="en-US" sz="1400" dirty="0"/>
              <a:t>을</a:t>
            </a:r>
            <a:r>
              <a:rPr lang="en-US" altLang="ko-KR" sz="1400" dirty="0"/>
              <a:t> </a:t>
            </a:r>
            <a:r>
              <a:rPr lang="ko-KR" altLang="en-US" sz="1400" dirty="0"/>
              <a:t>일치시키기 위해 전자가 이동</a:t>
            </a:r>
            <a:r>
              <a:rPr lang="en-US" altLang="ko-KR" sz="1400" dirty="0"/>
              <a:t>, semiconductor</a:t>
            </a:r>
            <a:r>
              <a:rPr lang="ko-KR" altLang="en-US" sz="1400" dirty="0"/>
              <a:t>의 </a:t>
            </a:r>
            <a:r>
              <a:rPr lang="en-US" altLang="ko-KR" sz="1400" dirty="0"/>
              <a:t>Band</a:t>
            </a:r>
            <a:r>
              <a:rPr lang="ko-KR" altLang="en-US" sz="1400" dirty="0"/>
              <a:t>가 휘어지며</a:t>
            </a:r>
            <a:r>
              <a:rPr lang="en-US" altLang="ko-KR" sz="1400" dirty="0"/>
              <a:t>(Band Bending) Schottky Barrier</a:t>
            </a:r>
            <a:r>
              <a:rPr lang="ko-KR" altLang="en-US" sz="1400" dirty="0"/>
              <a:t>가 형성</a:t>
            </a:r>
            <a:r>
              <a:rPr lang="en-US" altLang="ko-KR" sz="1400" dirty="0"/>
              <a:t>. </a:t>
            </a:r>
            <a:endParaRPr lang="ko-KR" altLang="en-US" sz="1400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9A61612-61BE-4223-8807-07EB0E0214A5}"/>
              </a:ext>
            </a:extLst>
          </p:cNvPr>
          <p:cNvCxnSpPr>
            <a:cxnSpLocks/>
          </p:cNvCxnSpPr>
          <p:nvPr/>
        </p:nvCxnSpPr>
        <p:spPr>
          <a:xfrm>
            <a:off x="7451766" y="4585136"/>
            <a:ext cx="0" cy="380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1989D0D-E1DE-4957-9BD3-C9BA1BE8FF14}"/>
              </a:ext>
            </a:extLst>
          </p:cNvPr>
          <p:cNvCxnSpPr>
            <a:cxnSpLocks/>
          </p:cNvCxnSpPr>
          <p:nvPr/>
        </p:nvCxnSpPr>
        <p:spPr>
          <a:xfrm>
            <a:off x="7443850" y="5546150"/>
            <a:ext cx="0" cy="340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B6486D34-C995-45C3-873D-F4B5D206A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54" y="4208827"/>
            <a:ext cx="2584101" cy="87193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4B9B87B-5A1D-472C-9405-706284A6F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89" y="5280395"/>
            <a:ext cx="2838429" cy="871936"/>
          </a:xfrm>
          <a:prstGeom prst="rect">
            <a:avLst/>
          </a:prstGeom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81AC487D-886A-413A-9251-357D0BFDBFEE}"/>
              </a:ext>
            </a:extLst>
          </p:cNvPr>
          <p:cNvSpPr/>
          <p:nvPr/>
        </p:nvSpPr>
        <p:spPr>
          <a:xfrm>
            <a:off x="1183509" y="6103551"/>
            <a:ext cx="12271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(PMOS)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56089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7354471" y="4817370"/>
            <a:ext cx="42120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실제 </a:t>
            </a:r>
            <a:r>
              <a:rPr lang="en-US" altLang="ko-KR" sz="1400" dirty="0"/>
              <a:t>CMOS</a:t>
            </a:r>
            <a:r>
              <a:rPr lang="ko-KR" altLang="en-US" sz="1400" dirty="0"/>
              <a:t>에서는 </a:t>
            </a:r>
            <a:r>
              <a:rPr lang="en-US" altLang="ko-KR" sz="1400" dirty="0"/>
              <a:t>Bardeen model</a:t>
            </a:r>
            <a:r>
              <a:rPr lang="ko-KR" altLang="en-US" sz="1400" dirty="0"/>
              <a:t>에 의해 </a:t>
            </a:r>
            <a:r>
              <a:rPr lang="en-US" altLang="ko-KR" sz="1400" dirty="0"/>
              <a:t>Fermi level</a:t>
            </a:r>
            <a:r>
              <a:rPr lang="ko-KR" altLang="en-US" sz="1400" dirty="0"/>
              <a:t>이 </a:t>
            </a:r>
            <a:r>
              <a:rPr lang="en-US" altLang="ko-KR" sz="1400" dirty="0"/>
              <a:t>pinning</a:t>
            </a:r>
            <a:r>
              <a:rPr lang="ko-KR" altLang="en-US" sz="1400" dirty="0"/>
              <a:t>되어 </a:t>
            </a:r>
            <a:r>
              <a:rPr lang="en-US" altLang="ko-KR" sz="1400" dirty="0"/>
              <a:t>work function </a:t>
            </a:r>
            <a:r>
              <a:rPr lang="ko-KR" altLang="en-US" sz="1400" dirty="0"/>
              <a:t>조합만으로 </a:t>
            </a:r>
            <a:r>
              <a:rPr lang="en-US" altLang="ko-KR" sz="1400" dirty="0"/>
              <a:t>contact </a:t>
            </a:r>
            <a:r>
              <a:rPr lang="ko-KR" altLang="en-US" sz="1400" dirty="0"/>
              <a:t>특성이 결정되지 않음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37948" y="60585"/>
            <a:ext cx="0" cy="368608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Schottky barriers and Organic semiconductors Hubert Nguyen Physics">
            <a:extLst>
              <a:ext uri="{FF2B5EF4-FFF2-40B4-BE49-F238E27FC236}">
                <a16:creationId xmlns:a16="http://schemas.microsoft.com/office/drawing/2014/main" id="{16B7E534-5080-4A23-85BC-C210DE8B0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81" y="163626"/>
            <a:ext cx="4847388" cy="363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ermi level pinning at the semiconductor interface under different ...">
            <a:extLst>
              <a:ext uri="{FF2B5EF4-FFF2-40B4-BE49-F238E27FC236}">
                <a16:creationId xmlns:a16="http://schemas.microsoft.com/office/drawing/2014/main" id="{1ADAF946-B922-4B9A-B8E1-45692D92C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742" y="566824"/>
            <a:ext cx="5819528" cy="269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F5E980D-EF78-4195-8CC4-A5E5DF6FCF37}"/>
              </a:ext>
            </a:extLst>
          </p:cNvPr>
          <p:cNvSpPr/>
          <p:nvPr/>
        </p:nvSpPr>
        <p:spPr>
          <a:xfrm>
            <a:off x="2664510" y="163626"/>
            <a:ext cx="8862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Ideal</a:t>
            </a:r>
            <a:endParaRPr lang="ko-KR" altLang="en-US" sz="2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C6009D-5867-414C-96F0-DBA01449E864}"/>
              </a:ext>
            </a:extLst>
          </p:cNvPr>
          <p:cNvSpPr/>
          <p:nvPr/>
        </p:nvSpPr>
        <p:spPr>
          <a:xfrm>
            <a:off x="8686799" y="153080"/>
            <a:ext cx="1009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Reality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591845-F022-4A4E-A974-971D9E06A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11" y="3593654"/>
            <a:ext cx="6228608" cy="3019807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7B93F79-84B6-410A-A731-C992F1877FF7}"/>
              </a:ext>
            </a:extLst>
          </p:cNvPr>
          <p:cNvSpPr/>
          <p:nvPr/>
        </p:nvSpPr>
        <p:spPr>
          <a:xfrm>
            <a:off x="6780810" y="4886696"/>
            <a:ext cx="433450" cy="587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89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2013700-9452-46B7-8A17-39FDC276C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65" y="1007809"/>
            <a:ext cx="3880790" cy="169976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BB8D02E-8D56-4AEE-8929-83EA6BB18DE2}"/>
              </a:ext>
            </a:extLst>
          </p:cNvPr>
          <p:cNvSpPr/>
          <p:nvPr/>
        </p:nvSpPr>
        <p:spPr>
          <a:xfrm>
            <a:off x="1671522" y="638477"/>
            <a:ext cx="2461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Thermionic Emission</a:t>
            </a:r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5B83C9-625F-4C8C-BADC-33CD64BDE9A5}"/>
              </a:ext>
            </a:extLst>
          </p:cNvPr>
          <p:cNvSpPr/>
          <p:nvPr/>
        </p:nvSpPr>
        <p:spPr>
          <a:xfrm>
            <a:off x="8269670" y="638477"/>
            <a:ext cx="2004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Depletion Width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71D6B4-0896-494E-8821-E221D74FA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893" y="1074305"/>
            <a:ext cx="2563627" cy="26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2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BB8D02E-8D56-4AEE-8929-83EA6BB18DE2}"/>
              </a:ext>
            </a:extLst>
          </p:cNvPr>
          <p:cNvSpPr/>
          <p:nvPr/>
        </p:nvSpPr>
        <p:spPr>
          <a:xfrm>
            <a:off x="1208384" y="638477"/>
            <a:ext cx="2682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barrier wave equation</a:t>
            </a:r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5B83C9-625F-4C8C-BADC-33CD64BDE9A5}"/>
              </a:ext>
            </a:extLst>
          </p:cNvPr>
          <p:cNvSpPr/>
          <p:nvPr/>
        </p:nvSpPr>
        <p:spPr>
          <a:xfrm>
            <a:off x="7894890" y="638477"/>
            <a:ext cx="2537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Tunneling Probability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EFD0FA-3814-4300-878D-0A7038C4F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80" y="1164351"/>
            <a:ext cx="2851736" cy="29787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37B8968-ED57-4DF4-B03F-ED3FEC344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486" y="1086812"/>
            <a:ext cx="1813853" cy="5835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02544AC-7A11-4952-9CE4-A52916005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907" y="1749402"/>
            <a:ext cx="3003133" cy="5460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C565E0-5113-414E-96A7-B0705464D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523" y="2493401"/>
            <a:ext cx="5817412" cy="883420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DC6CE0CD-D3C0-405F-9E7A-D96768966BA5}"/>
              </a:ext>
            </a:extLst>
          </p:cNvPr>
          <p:cNvSpPr/>
          <p:nvPr/>
        </p:nvSpPr>
        <p:spPr>
          <a:xfrm>
            <a:off x="8829497" y="3748231"/>
            <a:ext cx="587829" cy="7897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8DEA3F-88E6-48BB-B85B-3F83DDAE04D5}"/>
              </a:ext>
            </a:extLst>
          </p:cNvPr>
          <p:cNvSpPr/>
          <p:nvPr/>
        </p:nvSpPr>
        <p:spPr>
          <a:xfrm>
            <a:off x="5915935" y="4857478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ko-KR" altLang="en-US" sz="1600" b="1" dirty="0">
                <a:latin typeface="Arial" panose="020B0604020202020204" pitchFamily="34" charset="0"/>
              </a:rPr>
              <a:t>본질적으로는 </a:t>
            </a:r>
            <a:r>
              <a:rPr lang="en-US" altLang="ko-KR" sz="1600" b="1" dirty="0">
                <a:latin typeface="Arial" panose="020B0604020202020204" pitchFamily="34" charset="0"/>
              </a:rPr>
              <a:t>Schottky barrier</a:t>
            </a:r>
            <a:r>
              <a:rPr lang="ko-KR" altLang="en-US" sz="1600" b="1" dirty="0">
                <a:latin typeface="Arial" panose="020B0604020202020204" pitchFamily="34" charset="0"/>
              </a:rPr>
              <a:t>임에도 불구하고 낮은 저항의 </a:t>
            </a:r>
            <a:r>
              <a:rPr lang="en-US" altLang="ko-KR" sz="1600" b="1" dirty="0">
                <a:latin typeface="Arial" panose="020B0604020202020204" pitchFamily="34" charset="0"/>
              </a:rPr>
              <a:t>Ohmic contact</a:t>
            </a:r>
            <a:r>
              <a:rPr lang="ko-KR" altLang="en-US" sz="1600" b="1" dirty="0">
                <a:latin typeface="Arial" panose="020B0604020202020204" pitchFamily="34" charset="0"/>
              </a:rPr>
              <a:t>처럼 거동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57423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1FBC3F3-2E83-466B-9762-C63518EF8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198" y="367970"/>
            <a:ext cx="9183090" cy="612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74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114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fl27</dc:creator>
  <cp:lastModifiedBy>fl27</cp:lastModifiedBy>
  <cp:revision>13</cp:revision>
  <dcterms:created xsi:type="dcterms:W3CDTF">2026-07-28T01:31:10Z</dcterms:created>
  <dcterms:modified xsi:type="dcterms:W3CDTF">2026-07-28T03:47:33Z</dcterms:modified>
</cp:coreProperties>
</file>