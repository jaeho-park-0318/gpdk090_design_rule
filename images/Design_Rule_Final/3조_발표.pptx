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omments/comment1.xml" ContentType="application/vnd.openxmlformats-officedocument.presentationml.comments+xml"/>
  <Override PartName="/ppt/comments/comment2.xml" ContentType="application/vnd.openxmlformats-officedocument.presentationml.comments+xml"/>
  <Override PartName="/ppt/comments/comment3.xml" ContentType="application/vnd.openxmlformats-officedocument.presentationml.comments+xml"/>
  <Override PartName="/ppt/comments/comment4.xml" ContentType="application/vnd.openxmlformats-officedocument.presentationml.comments+xml"/>
  <Override PartName="/ppt/comments/comment5.xml" ContentType="application/vnd.openxmlformats-officedocument.presentationml.comments+xml"/>
  <Override PartName="/ppt/comments/comment6.xml" ContentType="application/vnd.openxmlformats-officedocument.presentationml.comments+xml"/>
  <Override PartName="/ppt/comments/comment7.xml" ContentType="application/vnd.openxmlformats-officedocument.presentationml.comments+xml"/>
  <Override PartName="/ppt/comments/comment8.xml" ContentType="application/vnd.openxmlformats-officedocument.presentationml.comments+xml"/>
  <Override PartName="/ppt/charts/chart1.xml" ContentType="application/vnd.openxmlformats-officedocument.drawingml.chart+xml"/>
  <Override PartName="/ppt/comments/comment9.xml" ContentType="application/vnd.openxmlformats-officedocument.presentationml.comments+xml"/>
  <Override PartName="/ppt/comments/comment10.xml" ContentType="application/vnd.openxmlformats-officedocument.presentationml.comments+xml"/>
  <Override PartName="/ppt/charts/chart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sldIdLst>
    <p:sldId id="377" r:id="rId2"/>
    <p:sldId id="374" r:id="rId3"/>
    <p:sldId id="378" r:id="rId4"/>
    <p:sldId id="395" r:id="rId5"/>
    <p:sldId id="379" r:id="rId6"/>
    <p:sldId id="380" r:id="rId7"/>
    <p:sldId id="340" r:id="rId8"/>
    <p:sldId id="343" r:id="rId9"/>
    <p:sldId id="344" r:id="rId10"/>
    <p:sldId id="381" r:id="rId11"/>
    <p:sldId id="382" r:id="rId12"/>
    <p:sldId id="348" r:id="rId13"/>
    <p:sldId id="386" r:id="rId14"/>
    <p:sldId id="350" r:id="rId15"/>
    <p:sldId id="387" r:id="rId16"/>
    <p:sldId id="383" r:id="rId17"/>
    <p:sldId id="349" r:id="rId18"/>
    <p:sldId id="384" r:id="rId19"/>
    <p:sldId id="385" r:id="rId20"/>
    <p:sldId id="388" r:id="rId21"/>
    <p:sldId id="389" r:id="rId22"/>
    <p:sldId id="390" r:id="rId23"/>
    <p:sldId id="391" r:id="rId24"/>
    <p:sldId id="392" r:id="rId25"/>
    <p:sldId id="352" r:id="rId26"/>
    <p:sldId id="353" r:id="rId27"/>
    <p:sldId id="366" r:id="rId28"/>
    <p:sldId id="393" r:id="rId29"/>
    <p:sldId id="394" r:id="rId30"/>
    <p:sldId id="396" r:id="rId3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fl36" initials="f" lastIdx="1" clrIdx="0">
    <p:extLst>
      <p:ext uri="{19B8F6BF-5375-455C-9EA6-DF929625EA0E}">
        <p15:presenceInfo xmlns:p15="http://schemas.microsoft.com/office/powerpoint/2012/main" userId="fl36" providerId="None"/>
      </p:ext>
    </p:extLst>
  </p:cmAuthor>
  <p:cmAuthor id="2" name="fl25" initials="f" lastIdx="1" clrIdx="1">
    <p:extLst>
      <p:ext uri="{19B8F6BF-5375-455C-9EA6-DF929625EA0E}">
        <p15:presenceInfo xmlns:p15="http://schemas.microsoft.com/office/powerpoint/2012/main" userId="ddd2d90861e252ab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444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8" y="2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000000"/>
                </a:solidFill>
                <a:latin typeface="Arial"/>
              </a:rPr>
              <a:t>t_BD vs E_ox  (E-model, schematic)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t_BD</c:v>
                </c:pt>
              </c:strCache>
            </c:strRef>
          </c:tx>
          <c:spPr>
            <a:ln w="38100" cap="flat">
              <a:solidFill>
                <a:srgbClr val="D85A3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85A30"/>
              </a:solidFill>
              <a:ln w="9525" cap="flat">
                <a:solidFill>
                  <a:srgbClr val="D85A30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E1</c:v>
                </c:pt>
                <c:pt idx="1">
                  <c:v>E2</c:v>
                </c:pt>
                <c:pt idx="2">
                  <c:v>E3</c:v>
                </c:pt>
                <c:pt idx="3">
                  <c:v>E4</c:v>
                </c:pt>
                <c:pt idx="4">
                  <c:v>E5</c:v>
                </c:pt>
                <c:pt idx="5">
                  <c:v>E6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95</c:v>
                </c:pt>
                <c:pt idx="1">
                  <c:v>70</c:v>
                </c:pt>
                <c:pt idx="2">
                  <c:v>45</c:v>
                </c:pt>
                <c:pt idx="3">
                  <c:v>24</c:v>
                </c:pt>
                <c:pt idx="4">
                  <c:v>10</c:v>
                </c:pt>
                <c:pt idx="5">
                  <c:v>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A6C-488C-8697-267C8DCFD99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C2C2A"/>
                </a:solidFill>
                <a:latin typeface="Arial"/>
              </a:defRPr>
            </a:pPr>
            <a:endParaRPr lang="ko-K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5E3D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C2C2A"/>
                </a:solidFill>
                <a:latin typeface="Arial"/>
              </a:defRPr>
            </a:pPr>
            <a:endParaRPr lang="ko-KR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300" b="0" i="0" u="none" strike="noStrike" dirty="0">
                <a:solidFill>
                  <a:srgbClr val="000000"/>
                </a:solidFill>
                <a:latin typeface="Arial"/>
              </a:rPr>
              <a:t>MTTF vs J  (schematic)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MTTF</c:v>
                </c:pt>
              </c:strCache>
            </c:strRef>
          </c:tx>
          <c:spPr>
            <a:ln w="38100" cap="flat">
              <a:solidFill>
                <a:srgbClr val="D85A3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85A30"/>
              </a:solidFill>
              <a:ln w="9525" cap="flat">
                <a:solidFill>
                  <a:srgbClr val="D85A30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J1</c:v>
                </c:pt>
                <c:pt idx="1">
                  <c:v>J2</c:v>
                </c:pt>
                <c:pt idx="2">
                  <c:v>J3</c:v>
                </c:pt>
                <c:pt idx="3">
                  <c:v>J4</c:v>
                </c:pt>
                <c:pt idx="4">
                  <c:v>J5</c:v>
                </c:pt>
                <c:pt idx="5">
                  <c:v>J6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95</c:v>
                </c:pt>
                <c:pt idx="1">
                  <c:v>68</c:v>
                </c:pt>
                <c:pt idx="2">
                  <c:v>42</c:v>
                </c:pt>
                <c:pt idx="3">
                  <c:v>22</c:v>
                </c:pt>
                <c:pt idx="4">
                  <c:v>9</c:v>
                </c:pt>
                <c:pt idx="5">
                  <c:v>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6F8-44AA-8196-9325B575806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C2C2A"/>
                </a:solidFill>
                <a:latin typeface="Arial"/>
              </a:defRPr>
            </a:pPr>
            <a:endParaRPr lang="ko-K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5E3D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C2C2A"/>
                </a:solidFill>
                <a:latin typeface="Arial"/>
              </a:defRPr>
            </a:pPr>
            <a:endParaRPr lang="ko-KR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2" dt="2026-07-24T17:05:52.377" idx="1">
    <p:pos x="10" y="10"/>
    <p:text/>
    <p:extLst>
      <p:ext uri="{C676402C-5697-4E1C-873F-D02D1690AC5C}">
        <p15:threadingInfo xmlns:p15="http://schemas.microsoft.com/office/powerpoint/2012/main" timeZoneBias="-540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2" dt="2026-07-24T17:05:52.377" idx="1">
    <p:pos x="10" y="10"/>
    <p:text/>
    <p:extLst>
      <p:ext uri="{C676402C-5697-4E1C-873F-D02D1690AC5C}">
        <p15:threadingInfo xmlns:p15="http://schemas.microsoft.com/office/powerpoint/2012/main" timeZoneBias="-540"/>
      </p:ext>
    </p:extLst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2" dt="2026-07-24T17:05:52.377" idx="1">
    <p:pos x="10" y="10"/>
    <p:text/>
    <p:extLst>
      <p:ext uri="{C676402C-5697-4E1C-873F-D02D1690AC5C}">
        <p15:threadingInfo xmlns:p15="http://schemas.microsoft.com/office/powerpoint/2012/main" timeZoneBias="-540"/>
      </p:ext>
    </p:extLst>
  </p:cm>
</p:cmLst>
</file>

<file path=ppt/comments/comment4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2" dt="2026-07-24T17:05:52.377" idx="1">
    <p:pos x="10" y="10"/>
    <p:text/>
    <p:extLst>
      <p:ext uri="{C676402C-5697-4E1C-873F-D02D1690AC5C}">
        <p15:threadingInfo xmlns:p15="http://schemas.microsoft.com/office/powerpoint/2012/main" timeZoneBias="-540"/>
      </p:ext>
    </p:extLst>
  </p:cm>
</p:cmLst>
</file>

<file path=ppt/comments/comment5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2" dt="2026-07-24T17:05:52.377" idx="1">
    <p:pos x="10" y="10"/>
    <p:text/>
    <p:extLst>
      <p:ext uri="{C676402C-5697-4E1C-873F-D02D1690AC5C}">
        <p15:threadingInfo xmlns:p15="http://schemas.microsoft.com/office/powerpoint/2012/main" timeZoneBias="-540"/>
      </p:ext>
    </p:extLst>
  </p:cm>
</p:cmLst>
</file>

<file path=ppt/comments/comment6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2" dt="2026-07-24T17:05:52.377" idx="1">
    <p:pos x="10" y="10"/>
    <p:text/>
    <p:extLst>
      <p:ext uri="{C676402C-5697-4E1C-873F-D02D1690AC5C}">
        <p15:threadingInfo xmlns:p15="http://schemas.microsoft.com/office/powerpoint/2012/main" timeZoneBias="-540"/>
      </p:ext>
    </p:extLst>
  </p:cm>
</p:cmLst>
</file>

<file path=ppt/comments/comment7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2" dt="2026-07-24T17:05:52.377" idx="1">
    <p:pos x="10" y="10"/>
    <p:text/>
    <p:extLst>
      <p:ext uri="{C676402C-5697-4E1C-873F-D02D1690AC5C}">
        <p15:threadingInfo xmlns:p15="http://schemas.microsoft.com/office/powerpoint/2012/main" timeZoneBias="-540"/>
      </p:ext>
    </p:extLst>
  </p:cm>
</p:cmLst>
</file>

<file path=ppt/comments/comment8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2" dt="2026-07-24T17:05:52.377" idx="1">
    <p:pos x="10" y="10"/>
    <p:text/>
    <p:extLst>
      <p:ext uri="{C676402C-5697-4E1C-873F-D02D1690AC5C}">
        <p15:threadingInfo xmlns:p15="http://schemas.microsoft.com/office/powerpoint/2012/main" timeZoneBias="-540"/>
      </p:ext>
    </p:extLst>
  </p:cm>
</p:cmLst>
</file>

<file path=ppt/comments/comment9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2" dt="2026-07-24T17:05:52.377" idx="1">
    <p:pos x="10" y="10"/>
    <p:text/>
    <p:extLst>
      <p:ext uri="{C676402C-5697-4E1C-873F-D02D1690AC5C}">
        <p15:threadingInfo xmlns:p15="http://schemas.microsoft.com/office/powerpoint/2012/main" timeZoneBias="-540"/>
      </p:ext>
    </p:extLst>
  </p:cm>
</p:cmLst>
</file>

<file path=ppt/comments/comment10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2" dt="2026-07-24T17:05:52.377" idx="1">
    <p:pos x="10" y="10"/>
    <p:text/>
    <p:extLst>
      <p:ext uri="{C676402C-5697-4E1C-873F-D02D1690AC5C}">
        <p15:threadingInfo xmlns:p15="http://schemas.microsoft.com/office/powerpoint/2012/main" timeZoneBias="-54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0EC7A0-67F5-4B62-B558-535A2F7B9066}" type="datetimeFigureOut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242BC9-C00A-44C1-BC9B-4453B10A0AD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84201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583298-01C8-41A4-B6AF-AAA4D3B3FF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B009194-F920-49D3-AED1-EE08A473F4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DD8E3A8-E2AA-48FC-92E6-728D6139F5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7E5E4-A336-4156-8EE2-0C18373996E5}" type="datetimeFigureOut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A9F1350-B239-4124-947E-0F33E3DABA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A19937C-0C33-43DC-8BD5-E57A63456B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B4CBF-B661-405C-AF64-B837A4D41A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29142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C17635-6D66-48F2-9914-DCA038027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D43545B-5412-4AC7-93A1-8F5126491E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694EAA8-80DF-4DC5-BBDB-500D3703B2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7E5E4-A336-4156-8EE2-0C18373996E5}" type="datetimeFigureOut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4BB399F-BABF-44CC-A946-A436EE938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B27B196-F0B7-4DA1-A9EA-9B2195CDE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B4CBF-B661-405C-AF64-B837A4D41A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62280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823BFB-C163-40C8-AABD-540D5577EE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B82B9DD-43AC-47DC-A15C-F6B441B862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4C46446-897C-4158-ACBA-52FA000802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7E5E4-A336-4156-8EE2-0C18373996E5}" type="datetimeFigureOut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33189D1-5E06-462D-8ACF-C64D5C94A7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80683E3-36F3-4F58-B579-74EDED3A2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B4CBF-B661-405C-AF64-B837A4D41A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51299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5AFABA-7DD1-4F68-B908-233117C34C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E4719A3-6A53-4EC0-9284-BF349FF0BE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520D157-AAAA-4C18-BF11-C8573FD238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062C886-80A5-414C-A7C8-C2650444B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7E5E4-A336-4156-8EE2-0C18373996E5}" type="datetimeFigureOut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89A2DCD-2BA4-494C-BBE1-64032111F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5774368-AF24-4B45-B788-4FDBE32607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B4CBF-B661-405C-AF64-B837A4D41A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1393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ACA4A0-A92B-4C3F-9808-12AE2F63A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CBF313B-B425-49EF-B559-A7913904A7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10C45E9-475B-47BC-864D-29AD4018CC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7D90CA7-1B81-4FBE-A7C3-A8F64A0CE2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6A60DA2-3936-4E77-85AC-1819360A20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A941127-BA8B-4512-8B73-F3D5E01ABB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7E5E4-A336-4156-8EE2-0C18373996E5}" type="datetimeFigureOut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6814456-2678-4B32-8464-E9DC24A5A3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C338D87-CD83-4153-9DFB-C31BB8505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B4CBF-B661-405C-AF64-B837A4D41A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56720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6BE595-4FF7-4EE5-B588-06BAC9F23C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A4CD84F-5274-4516-A51E-74215E9CB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7E5E4-A336-4156-8EE2-0C18373996E5}" type="datetimeFigureOut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4822F17-B010-4A16-B931-CF2F1A3C1B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2E6F12B-7CE9-4D68-B4A4-DBC3BC2042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B4CBF-B661-405C-AF64-B837A4D41A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25300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E31791C-32F9-4A71-A1DF-78220A9B1D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7E5E4-A336-4156-8EE2-0C18373996E5}" type="datetimeFigureOut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C3F8B82-115B-4D48-95C0-14FEBD6305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39D9716-3DFD-43AB-8717-2319182A5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B4CBF-B661-405C-AF64-B837A4D41A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13097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D073B9-E2C9-466B-AC02-2579FC0B8F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F20730E-0D45-43D2-9BB5-83134B3D2A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725D925-4232-4DD9-B282-090AB8FAF9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F750225-E441-494E-A21D-3CF58F0C18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7E5E4-A336-4156-8EE2-0C18373996E5}" type="datetimeFigureOut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B45623F-D595-4C80-A18F-61E9FF6576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EBA5AA8-7A11-4E37-BFB3-AA17336F8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B4CBF-B661-405C-AF64-B837A4D41A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9901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7E2085-2F6A-47FC-97EE-DDA4631338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BAC2625-C06F-4A7F-A95B-29A3D80508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F45584E-E998-4669-9E44-80BFD4B965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71E22F1-9EEC-4648-8C18-BACBC0507B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7E5E4-A336-4156-8EE2-0C18373996E5}" type="datetimeFigureOut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A13681E-A0C1-4A9F-A066-DF874814F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5C86F1C-229D-4D5C-AB53-BFF0AAAD1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B4CBF-B661-405C-AF64-B837A4D41A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15424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1AE8B4-8535-4EE3-ADEF-B62C5CBCC2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D8ED2D3-6ADB-4554-90D6-CAE2C9B9F6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D326744-2B04-4F04-8659-513855008A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7E5E4-A336-4156-8EE2-0C18373996E5}" type="datetimeFigureOut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AA5805E-24B9-48A4-9E2F-F95B6BE7C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F69F1BC-EAE5-4479-B6FA-65391AF78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B4CBF-B661-405C-AF64-B837A4D41A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10577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533C112-CD2C-4EFE-AA58-909583B069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C41DFD3-3418-4C03-AED9-F8FDED76A5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E7E89D2-1AFA-4454-B31F-F9B2BC0B6F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7E5E4-A336-4156-8EE2-0C18373996E5}" type="datetimeFigureOut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089EB7D-ADB9-492F-93A1-61538FE44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C2C563D-E626-4D92-964C-3926ED3B0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B4CBF-B661-405C-AF64-B837A4D41A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5720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38E5A52-B902-479E-8976-73EF7C6F3F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0315F70-2A0F-4000-A82D-F3F3DEF6BE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EA340FD-5C2A-4CC7-B6C8-CFBB0E555B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17E5E4-A336-4156-8EE2-0C18373996E5}" type="datetimeFigureOut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FAF2421-245C-465A-9AA7-285D2BA8B7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131BDDD-58D1-426E-BDE1-8E2DA4016D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DB4CBF-B661-405C-AF64-B837A4D41A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7082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comments" Target="../comments/commen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comments" Target="../comments/commen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4" Type="http://schemas.openxmlformats.org/officeDocument/2006/relationships/comments" Target="../comments/commen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6" Type="http://schemas.openxmlformats.org/officeDocument/2006/relationships/comments" Target="../comments/comment4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.xml"/><Relationship Id="rId5" Type="http://schemas.openxmlformats.org/officeDocument/2006/relationships/comments" Target="../comments/comment5.xml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6.xml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7.xml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8.xml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9.xml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0.png"/><Relationship Id="rId2" Type="http://schemas.openxmlformats.org/officeDocument/2006/relationships/image" Target="../media/image800.png"/><Relationship Id="rId1" Type="http://schemas.openxmlformats.org/officeDocument/2006/relationships/slideLayout" Target="../slideLayouts/slideLayout1.xml"/><Relationship Id="rId5" Type="http://schemas.openxmlformats.org/officeDocument/2006/relationships/comments" Target="../comments/comment10.xml"/><Relationship Id="rId4" Type="http://schemas.openxmlformats.org/officeDocument/2006/relationships/image" Target="../media/image29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F8E2D9-1C19-41A7-8398-91C2C5BA70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4057" y="1392395"/>
            <a:ext cx="2301143" cy="2456805"/>
          </a:xfrm>
        </p:spPr>
        <p:txBody>
          <a:bodyPr>
            <a:noAutofit/>
          </a:bodyPr>
          <a:lstStyle/>
          <a:p>
            <a:r>
              <a:rPr lang="en-US" altLang="ko-KR" sz="9600" b="1" dirty="0"/>
              <a:t>3</a:t>
            </a:r>
            <a:r>
              <a:rPr lang="ko-KR" altLang="en-US" sz="9600" b="1" dirty="0"/>
              <a:t>조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AE64BEC0-5DEC-45D3-85AC-67D8F2F103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4408156"/>
              </p:ext>
            </p:extLst>
          </p:nvPr>
        </p:nvGraphicFramePr>
        <p:xfrm>
          <a:off x="3119526" y="3849200"/>
          <a:ext cx="5952948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6474">
                  <a:extLst>
                    <a:ext uri="{9D8B030D-6E8A-4147-A177-3AD203B41FA5}">
                      <a16:colId xmlns:a16="http://schemas.microsoft.com/office/drawing/2014/main" val="3120517776"/>
                    </a:ext>
                  </a:extLst>
                </a:gridCol>
                <a:gridCol w="2976474">
                  <a:extLst>
                    <a:ext uri="{9D8B030D-6E8A-4147-A177-3AD203B41FA5}">
                      <a16:colId xmlns:a16="http://schemas.microsoft.com/office/drawing/2014/main" val="3387080037"/>
                    </a:ext>
                  </a:extLst>
                </a:gridCol>
              </a:tblGrid>
              <a:tr h="36239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tx1"/>
                          </a:solidFill>
                        </a:rPr>
                        <a:t>조장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err="1">
                          <a:solidFill>
                            <a:schemeClr val="tx1"/>
                          </a:solidFill>
                        </a:rPr>
                        <a:t>유경환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9571808"/>
                  </a:ext>
                </a:extLst>
              </a:tr>
              <a:tr h="36239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err="1"/>
                        <a:t>곽대현</a:t>
                      </a:r>
                      <a:endParaRPr lang="ko-KR" altLang="en-US" b="1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err="1"/>
                        <a:t>전제현</a:t>
                      </a:r>
                      <a:endParaRPr lang="ko-KR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4224082"/>
                  </a:ext>
                </a:extLst>
              </a:tr>
              <a:tr h="36239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err="1"/>
                        <a:t>김규민</a:t>
                      </a:r>
                      <a:endParaRPr lang="ko-KR" altLang="en-US" b="1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/>
                        <a:t>박재호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7292689"/>
                  </a:ext>
                </a:extLst>
              </a:tr>
              <a:tr h="36239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/>
                        <a:t>전민석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/>
                        <a:t>이준민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20289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005548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A38BDF-8138-4370-BD3F-F0E3D0FE6B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9178" y="301917"/>
            <a:ext cx="7995449" cy="815438"/>
          </a:xfrm>
        </p:spPr>
        <p:txBody>
          <a:bodyPr>
            <a:normAutofit/>
          </a:bodyPr>
          <a:lstStyle/>
          <a:p>
            <a:pPr algn="l"/>
            <a:r>
              <a:rPr lang="en-US" altLang="ko-KR" sz="4800" dirty="0">
                <a:solidFill>
                  <a:schemeClr val="accent2">
                    <a:alpha val="56000"/>
                  </a:schemeClr>
                </a:solidFill>
              </a:rPr>
              <a:t>Definition</a:t>
            </a:r>
            <a:endParaRPr lang="ko-KR" altLang="en-US" sz="4800" dirty="0">
              <a:solidFill>
                <a:schemeClr val="accent2">
                  <a:alpha val="56000"/>
                </a:schemeClr>
              </a:solidFill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ABDB9494-C06C-4D0E-BA9E-14C5E0637174}"/>
              </a:ext>
            </a:extLst>
          </p:cNvPr>
          <p:cNvCxnSpPr>
            <a:cxnSpLocks/>
          </p:cNvCxnSpPr>
          <p:nvPr/>
        </p:nvCxnSpPr>
        <p:spPr>
          <a:xfrm>
            <a:off x="609249" y="1161022"/>
            <a:ext cx="1087561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그림 8">
            <a:extLst>
              <a:ext uri="{FF2B5EF4-FFF2-40B4-BE49-F238E27FC236}">
                <a16:creationId xmlns:a16="http://schemas.microsoft.com/office/drawing/2014/main" id="{502920F5-8AB1-4FFD-B182-520A8F94B9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571" y="3035289"/>
            <a:ext cx="4515733" cy="746324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91984595-37FD-459A-97C2-C78C4CA101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2868" y="2761957"/>
            <a:ext cx="1873266" cy="990749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76285928-932A-47A6-BD38-0772DCCB1B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570" y="5209431"/>
            <a:ext cx="4402817" cy="113435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3137F54-BFEF-4D09-A215-050BEFB93411}"/>
              </a:ext>
            </a:extLst>
          </p:cNvPr>
          <p:cNvSpPr txBox="1"/>
          <p:nvPr/>
        </p:nvSpPr>
        <p:spPr>
          <a:xfrm>
            <a:off x="844810" y="4012243"/>
            <a:ext cx="20811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ko-KR" sz="2400" b="1" dirty="0">
                <a:solidFill>
                  <a:schemeClr val="accent2"/>
                </a:solidFill>
              </a:rPr>
              <a:t>Enclosure</a:t>
            </a:r>
            <a:endParaRPr lang="ko-KR" altLang="en-US" sz="2400" b="1" dirty="0">
              <a:solidFill>
                <a:schemeClr val="accent2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38C799D-E800-4008-8DAF-A60A3A8E120D}"/>
              </a:ext>
            </a:extLst>
          </p:cNvPr>
          <p:cNvSpPr txBox="1"/>
          <p:nvPr/>
        </p:nvSpPr>
        <p:spPr>
          <a:xfrm>
            <a:off x="6303131" y="1424719"/>
            <a:ext cx="18153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ko-KR" sz="2400" b="1" dirty="0">
                <a:solidFill>
                  <a:schemeClr val="accent2"/>
                </a:solidFill>
              </a:rPr>
              <a:t>Overlap</a:t>
            </a:r>
            <a:endParaRPr lang="ko-KR" altLang="en-US" sz="2400" b="1" dirty="0">
              <a:solidFill>
                <a:schemeClr val="accent2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F2FCEB8-ED6A-4A21-B967-59FA06C1520F}"/>
              </a:ext>
            </a:extLst>
          </p:cNvPr>
          <p:cNvSpPr txBox="1"/>
          <p:nvPr/>
        </p:nvSpPr>
        <p:spPr>
          <a:xfrm>
            <a:off x="844810" y="1425932"/>
            <a:ext cx="18153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ko-KR" sz="2400" b="1" dirty="0">
                <a:solidFill>
                  <a:schemeClr val="accent2"/>
                </a:solidFill>
              </a:rPr>
              <a:t>Spacing</a:t>
            </a:r>
            <a:endParaRPr lang="ko-KR" altLang="en-US" sz="2400" b="1" dirty="0">
              <a:solidFill>
                <a:schemeClr val="accent2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0BB39DE-C581-4B6E-BFEA-448935168355}"/>
              </a:ext>
            </a:extLst>
          </p:cNvPr>
          <p:cNvSpPr txBox="1"/>
          <p:nvPr/>
        </p:nvSpPr>
        <p:spPr>
          <a:xfrm>
            <a:off x="6303131" y="4012242"/>
            <a:ext cx="28480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ko-KR" sz="2400" b="1" dirty="0">
                <a:solidFill>
                  <a:schemeClr val="accent2"/>
                </a:solidFill>
              </a:rPr>
              <a:t>Parallel length</a:t>
            </a:r>
            <a:endParaRPr lang="ko-KR" altLang="en-US" sz="2400" b="1" dirty="0">
              <a:solidFill>
                <a:schemeClr val="accent2"/>
              </a:solidFill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726D210F-A7B3-4F4F-B1C5-9A99DA78258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4380" t="1" r="33848" b="-3"/>
          <a:stretch/>
        </p:blipFill>
        <p:spPr>
          <a:xfrm>
            <a:off x="7571197" y="5179515"/>
            <a:ext cx="598725" cy="1072489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E8970710-7D41-4202-A964-A601D1A7F27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8480" b="2053"/>
          <a:stretch/>
        </p:blipFill>
        <p:spPr>
          <a:xfrm>
            <a:off x="8600308" y="5632404"/>
            <a:ext cx="598725" cy="1072489"/>
          </a:xfrm>
          <a:prstGeom prst="rect">
            <a:avLst/>
          </a:prstGeom>
        </p:spPr>
      </p:pic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969BFD3F-F990-4F98-9DC7-98F6AB518EF6}"/>
              </a:ext>
            </a:extLst>
          </p:cNvPr>
          <p:cNvCxnSpPr>
            <a:cxnSpLocks/>
          </p:cNvCxnSpPr>
          <p:nvPr/>
        </p:nvCxnSpPr>
        <p:spPr>
          <a:xfrm>
            <a:off x="8376030" y="5743090"/>
            <a:ext cx="0" cy="452889"/>
          </a:xfrm>
          <a:prstGeom prst="straightConnector1">
            <a:avLst/>
          </a:prstGeom>
          <a:ln w="158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9B205996-D09A-4D4B-86B9-9595B589A6FE}"/>
              </a:ext>
            </a:extLst>
          </p:cNvPr>
          <p:cNvCxnSpPr>
            <a:cxnSpLocks/>
          </p:cNvCxnSpPr>
          <p:nvPr/>
        </p:nvCxnSpPr>
        <p:spPr>
          <a:xfrm>
            <a:off x="8600309" y="5743090"/>
            <a:ext cx="0" cy="91016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AE038884-9EF8-4A45-BF45-642E4A6330D5}"/>
              </a:ext>
            </a:extLst>
          </p:cNvPr>
          <p:cNvSpPr txBox="1"/>
          <p:nvPr/>
        </p:nvSpPr>
        <p:spPr>
          <a:xfrm>
            <a:off x="1028572" y="2042886"/>
            <a:ext cx="40919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b="1" dirty="0"/>
              <a:t>한 도형의 외곽경계에서 다른 도형의 외곽까지의 거리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08712A27-1702-4DF2-91F5-06A6DFA6C232}"/>
              </a:ext>
            </a:extLst>
          </p:cNvPr>
          <p:cNvSpPr/>
          <p:nvPr/>
        </p:nvSpPr>
        <p:spPr>
          <a:xfrm>
            <a:off x="6645558" y="2042886"/>
            <a:ext cx="455191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b="1" dirty="0"/>
              <a:t>한 도형이 다른 도형을 얼마나 감싸고 있는지를 나타내는 거리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6D0966A-86F9-4BB4-8F93-DB42DC6A0C26}"/>
              </a:ext>
            </a:extLst>
          </p:cNvPr>
          <p:cNvSpPr txBox="1"/>
          <p:nvPr/>
        </p:nvSpPr>
        <p:spPr>
          <a:xfrm>
            <a:off x="1028571" y="4605872"/>
            <a:ext cx="4515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b="1" dirty="0"/>
              <a:t>두 도형이 서로 겹쳐 있는 영역의 거리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3DEF9A1F-23C3-4533-994E-03A739A95AEB}"/>
              </a:ext>
            </a:extLst>
          </p:cNvPr>
          <p:cNvSpPr/>
          <p:nvPr/>
        </p:nvSpPr>
        <p:spPr>
          <a:xfrm>
            <a:off x="6645558" y="4458314"/>
            <a:ext cx="434177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b="1" dirty="0"/>
              <a:t>두 도형의 서로 마주보는</a:t>
            </a:r>
            <a:r>
              <a:rPr lang="en-US" altLang="ko-KR" b="1" dirty="0"/>
              <a:t> </a:t>
            </a:r>
            <a:r>
              <a:rPr lang="ko-KR" altLang="en-US" b="1" dirty="0"/>
              <a:t>가장자리가 겹쳐 있는 길이</a:t>
            </a:r>
          </a:p>
        </p:txBody>
      </p:sp>
    </p:spTree>
    <p:extLst>
      <p:ext uri="{BB962C8B-B14F-4D97-AF65-F5344CB8AC3E}">
        <p14:creationId xmlns:p14="http://schemas.microsoft.com/office/powerpoint/2010/main" val="22922680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45126C8D-58A4-03F2-0A00-2DE6F6E9466C}"/>
              </a:ext>
            </a:extLst>
          </p:cNvPr>
          <p:cNvSpPr/>
          <p:nvPr/>
        </p:nvSpPr>
        <p:spPr>
          <a:xfrm>
            <a:off x="689178" y="1735358"/>
            <a:ext cx="3200455" cy="578839"/>
          </a:xfrm>
          <a:prstGeom prst="rect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STI</a:t>
            </a:r>
            <a:endParaRPr lang="ko-KR" altLang="en-US" b="1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EE4BA29-AB85-1BF4-89AD-D514C1F2A015}"/>
              </a:ext>
            </a:extLst>
          </p:cNvPr>
          <p:cNvSpPr/>
          <p:nvPr/>
        </p:nvSpPr>
        <p:spPr>
          <a:xfrm>
            <a:off x="4627446" y="2800468"/>
            <a:ext cx="3200454" cy="57883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METAL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4E2AFC5-FAA0-9DA1-FEA9-022E6FFAB8D2}"/>
              </a:ext>
            </a:extLst>
          </p:cNvPr>
          <p:cNvSpPr/>
          <p:nvPr/>
        </p:nvSpPr>
        <p:spPr>
          <a:xfrm>
            <a:off x="689178" y="2800987"/>
            <a:ext cx="3200454" cy="57883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POLY / Gate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F37E07F-91EF-3151-0723-A9C3D0A9709B}"/>
              </a:ext>
            </a:extLst>
          </p:cNvPr>
          <p:cNvSpPr/>
          <p:nvPr/>
        </p:nvSpPr>
        <p:spPr>
          <a:xfrm>
            <a:off x="8668078" y="4775883"/>
            <a:ext cx="3200454" cy="578839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 err="1">
                <a:solidFill>
                  <a:sysClr val="windowText" lastClr="000000"/>
                </a:solidFill>
              </a:rPr>
              <a:t>CONTACT</a:t>
            </a:r>
            <a:r>
              <a:rPr lang="en-US" altLang="ko-KR" b="1" dirty="0" err="1"/>
              <a:t>t</a:t>
            </a:r>
            <a:endParaRPr lang="ko-KR" altLang="en-US" b="1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CAA803CB-A8CA-2768-CD17-F25758E1E71B}"/>
              </a:ext>
            </a:extLst>
          </p:cNvPr>
          <p:cNvSpPr/>
          <p:nvPr/>
        </p:nvSpPr>
        <p:spPr>
          <a:xfrm>
            <a:off x="4627446" y="4775883"/>
            <a:ext cx="3200454" cy="578839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ysClr val="windowText" lastClr="000000"/>
                </a:solidFill>
              </a:rPr>
              <a:t>N+</a:t>
            </a:r>
            <a:endParaRPr lang="ko-KR" altLang="en-US" b="1" dirty="0">
              <a:solidFill>
                <a:sysClr val="windowText" lastClr="000000"/>
              </a:solidFill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B37ED94-238E-7D31-A391-7A107EBEF89A}"/>
              </a:ext>
            </a:extLst>
          </p:cNvPr>
          <p:cNvSpPr/>
          <p:nvPr/>
        </p:nvSpPr>
        <p:spPr>
          <a:xfrm>
            <a:off x="689178" y="4775883"/>
            <a:ext cx="3200454" cy="57883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ysClr val="windowText" lastClr="000000"/>
                </a:solidFill>
              </a:rPr>
              <a:t>P+</a:t>
            </a:r>
            <a:endParaRPr lang="ko-KR" altLang="en-US" b="1" dirty="0">
              <a:solidFill>
                <a:sysClr val="windowText" lastClr="000000"/>
              </a:solidFill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36819D84-4736-2F52-3C69-0FE8BACD84B1}"/>
              </a:ext>
            </a:extLst>
          </p:cNvPr>
          <p:cNvSpPr/>
          <p:nvPr/>
        </p:nvSpPr>
        <p:spPr>
          <a:xfrm>
            <a:off x="8668079" y="1735358"/>
            <a:ext cx="3200455" cy="578839"/>
          </a:xfrm>
          <a:prstGeom prst="rect">
            <a:avLst/>
          </a:prstGeom>
          <a:solidFill>
            <a:srgbClr val="CDACE6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 err="1">
                <a:solidFill>
                  <a:srgbClr val="7030A0"/>
                </a:solidFill>
              </a:rPr>
              <a:t>Nwell</a:t>
            </a:r>
            <a:endParaRPr lang="ko-KR" altLang="en-US" b="1" dirty="0">
              <a:solidFill>
                <a:srgbClr val="7030A0"/>
              </a:solidFill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C436930F-2C0F-FEEC-FD9A-75ADD1768CAE}"/>
              </a:ext>
            </a:extLst>
          </p:cNvPr>
          <p:cNvSpPr/>
          <p:nvPr/>
        </p:nvSpPr>
        <p:spPr>
          <a:xfrm>
            <a:off x="689179" y="5696977"/>
            <a:ext cx="3200453" cy="57883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OXIDE</a:t>
            </a:r>
            <a:endParaRPr lang="ko-KR" altLang="en-US" b="1" dirty="0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8A2EA6D5-012A-D4E9-4555-2F3543DE4882}"/>
              </a:ext>
            </a:extLst>
          </p:cNvPr>
          <p:cNvSpPr/>
          <p:nvPr/>
        </p:nvSpPr>
        <p:spPr>
          <a:xfrm>
            <a:off x="4627446" y="1735358"/>
            <a:ext cx="3200454" cy="57883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Substrate</a:t>
            </a:r>
            <a:endParaRPr lang="ko-KR" altLang="en-US" b="1" dirty="0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FB1EE465-0CEB-3A80-E1E2-8A132AECC513}"/>
              </a:ext>
            </a:extLst>
          </p:cNvPr>
          <p:cNvSpPr/>
          <p:nvPr/>
        </p:nvSpPr>
        <p:spPr>
          <a:xfrm>
            <a:off x="4627446" y="5696977"/>
            <a:ext cx="3200454" cy="57883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Thick OXIDE</a:t>
            </a:r>
            <a:endParaRPr lang="ko-KR" altLang="en-US" b="1" dirty="0"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C6A28ABD-9187-F121-6C77-6A50EE4995F2}"/>
              </a:ext>
            </a:extLst>
          </p:cNvPr>
          <p:cNvSpPr/>
          <p:nvPr/>
        </p:nvSpPr>
        <p:spPr>
          <a:xfrm>
            <a:off x="689178" y="3823144"/>
            <a:ext cx="3200454" cy="578839"/>
          </a:xfrm>
          <a:prstGeom prst="rect">
            <a:avLst/>
          </a:prstGeom>
          <a:pattFill prst="ltDnDiag">
            <a:fgClr>
              <a:srgbClr val="0070C0"/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IMD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7E2809CC-44DF-9567-4DB4-6446761C8B64}"/>
              </a:ext>
            </a:extLst>
          </p:cNvPr>
          <p:cNvSpPr/>
          <p:nvPr/>
        </p:nvSpPr>
        <p:spPr>
          <a:xfrm>
            <a:off x="8668079" y="2800469"/>
            <a:ext cx="3200453" cy="57793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VIA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3A515510-A23B-D6B1-3AE8-59BDC3B8522E}"/>
              </a:ext>
            </a:extLst>
          </p:cNvPr>
          <p:cNvSpPr/>
          <p:nvPr/>
        </p:nvSpPr>
        <p:spPr>
          <a:xfrm>
            <a:off x="4627446" y="3823144"/>
            <a:ext cx="3200454" cy="578839"/>
          </a:xfrm>
          <a:prstGeom prst="rect">
            <a:avLst/>
          </a:prstGeom>
          <a:pattFill prst="pct5">
            <a:fgClr>
              <a:srgbClr val="0070C0"/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ILD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27AF9B35-08F9-F05D-C144-B56E195F7516}"/>
              </a:ext>
            </a:extLst>
          </p:cNvPr>
          <p:cNvSpPr/>
          <p:nvPr/>
        </p:nvSpPr>
        <p:spPr>
          <a:xfrm>
            <a:off x="8684627" y="3817410"/>
            <a:ext cx="3200454" cy="578839"/>
          </a:xfrm>
          <a:prstGeom prst="rect">
            <a:avLst/>
          </a:prstGeom>
          <a:pattFill prst="wdDnDiag">
            <a:fgClr>
              <a:schemeClr val="accent3">
                <a:lumMod val="20000"/>
                <a:lumOff val="80000"/>
              </a:schemeClr>
            </a:fgClr>
            <a:bgClr>
              <a:schemeClr val="bg1"/>
            </a:bgClr>
          </a:patt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 err="1">
                <a:solidFill>
                  <a:schemeClr val="tx1"/>
                </a:solidFill>
              </a:rPr>
              <a:t>Sillicide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18" name="제목 1">
            <a:extLst>
              <a:ext uri="{FF2B5EF4-FFF2-40B4-BE49-F238E27FC236}">
                <a16:creationId xmlns:a16="http://schemas.microsoft.com/office/drawing/2014/main" id="{8930FC1A-11CE-410B-BB13-A490578547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9178" y="301917"/>
            <a:ext cx="7995449" cy="815438"/>
          </a:xfrm>
        </p:spPr>
        <p:txBody>
          <a:bodyPr>
            <a:normAutofit/>
          </a:bodyPr>
          <a:lstStyle/>
          <a:p>
            <a:pPr algn="l"/>
            <a:r>
              <a:rPr lang="en-US" altLang="ko-KR" sz="4800" dirty="0">
                <a:solidFill>
                  <a:schemeClr val="accent2">
                    <a:alpha val="56000"/>
                  </a:schemeClr>
                </a:solidFill>
              </a:rPr>
              <a:t>Layer colors</a:t>
            </a:r>
            <a:endParaRPr lang="ko-KR" altLang="en-US" sz="4800" dirty="0">
              <a:solidFill>
                <a:schemeClr val="accent2">
                  <a:alpha val="56000"/>
                </a:schemeClr>
              </a:solidFill>
            </a:endParaRPr>
          </a:p>
        </p:txBody>
      </p: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1982371C-A674-4A0D-956E-44900C060325}"/>
              </a:ext>
            </a:extLst>
          </p:cNvPr>
          <p:cNvCxnSpPr>
            <a:cxnSpLocks/>
          </p:cNvCxnSpPr>
          <p:nvPr/>
        </p:nvCxnSpPr>
        <p:spPr>
          <a:xfrm>
            <a:off x="609249" y="1161022"/>
            <a:ext cx="1087561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73372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08792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000" b="1" i="0">
                <a:solidFill>
                  <a:srgbClr val="1E2761"/>
                </a:solidFill>
                <a:latin typeface="맑은 고딕"/>
                <a:ea typeface="맑은 고딕"/>
              </a:rPr>
              <a:t>Design Rule 이면의 공통 배경 : 공정상의 한계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5294376" cy="1965960"/>
          </a:xfrm>
          <a:prstGeom prst="roundRect">
            <a:avLst>
              <a:gd name="adj" fmla="val 6000"/>
            </a:avLst>
          </a:prstGeom>
          <a:solidFill>
            <a:srgbClr val="F5F7FB"/>
          </a:solidFill>
          <a:ln w="12700">
            <a:solidFill>
              <a:srgbClr val="E3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96112" y="1655064"/>
            <a:ext cx="384048" cy="384048"/>
          </a:xfrm>
          <a:prstGeom prst="ellipse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19" y="1655064"/>
            <a:ext cx="4261104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00" b="1" i="0">
                <a:solidFill>
                  <a:srgbClr val="4472C4"/>
                </a:solidFill>
                <a:latin typeface="맑은 고딕"/>
                <a:ea typeface="맑은 고딕"/>
              </a:rPr>
              <a:t>LITHOGRAPHY 한계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185416"/>
            <a:ext cx="478231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700" b="1" i="0">
                <a:solidFill>
                  <a:srgbClr val="1E2761"/>
                </a:solidFill>
                <a:latin typeface="맑은 고딕"/>
                <a:ea typeface="맑은 고딕"/>
              </a:rPr>
              <a:t>노광 해상도의 한계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569464"/>
            <a:ext cx="4782312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50" b="0" i="0">
                <a:solidFill>
                  <a:srgbClr val="404040"/>
                </a:solidFill>
                <a:latin typeface="맑은 고딕"/>
                <a:ea typeface="맑은 고딕"/>
              </a:rPr>
              <a:t>너무 작은 패턴은 노광 과정에서 의도한 모양대로 만들어지지 않음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3090672"/>
            <a:ext cx="47823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0" i="1" dirty="0" err="1">
                <a:solidFill>
                  <a:srgbClr val="707070"/>
                </a:solidFill>
                <a:latin typeface="맑은 고딕"/>
                <a:ea typeface="맑은 고딕"/>
              </a:rPr>
              <a:t>관련</a:t>
            </a:r>
            <a:r>
              <a:rPr sz="1100" b="0" i="1" dirty="0">
                <a:solidFill>
                  <a:srgbClr val="707070"/>
                </a:solidFill>
                <a:latin typeface="맑은 고딕"/>
                <a:ea typeface="맑은 고딕"/>
              </a:rPr>
              <a:t>: </a:t>
            </a:r>
            <a:r>
              <a:rPr sz="1100" b="0" i="1" dirty="0" err="1">
                <a:solidFill>
                  <a:srgbClr val="707070"/>
                </a:solidFill>
                <a:latin typeface="맑은 고딕"/>
                <a:ea typeface="맑은 고딕"/>
              </a:rPr>
              <a:t>대부분의</a:t>
            </a:r>
            <a:r>
              <a:rPr sz="1100" b="0" i="1" dirty="0">
                <a:solidFill>
                  <a:srgbClr val="707070"/>
                </a:solidFill>
                <a:latin typeface="맑은 고딕"/>
                <a:ea typeface="맑은 고딕"/>
              </a:rPr>
              <a:t> </a:t>
            </a:r>
            <a:r>
              <a:rPr sz="1100" b="0" i="1" dirty="0" err="1">
                <a:solidFill>
                  <a:srgbClr val="707070"/>
                </a:solidFill>
                <a:latin typeface="맑은 고딕"/>
                <a:ea typeface="맑은 고딕"/>
              </a:rPr>
              <a:t>최소</a:t>
            </a:r>
            <a:r>
              <a:rPr sz="1100" b="0" i="1" dirty="0">
                <a:solidFill>
                  <a:srgbClr val="707070"/>
                </a:solidFill>
                <a:latin typeface="맑은 고딕"/>
                <a:ea typeface="맑은 고딕"/>
              </a:rPr>
              <a:t> Width / Length </a:t>
            </a:r>
            <a:r>
              <a:rPr sz="1100" b="0" i="1" dirty="0" err="1">
                <a:solidFill>
                  <a:srgbClr val="707070"/>
                </a:solidFill>
                <a:latin typeface="맑은 고딕"/>
                <a:ea typeface="맑은 고딕"/>
              </a:rPr>
              <a:t>규정</a:t>
            </a:r>
            <a:endParaRPr sz="1100" b="0" i="1" dirty="0">
              <a:solidFill>
                <a:srgbClr val="707070"/>
              </a:solidFill>
              <a:latin typeface="맑은 고딕"/>
              <a:ea typeface="맑은 고딕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254496" y="1417320"/>
            <a:ext cx="5294376" cy="1965960"/>
          </a:xfrm>
          <a:prstGeom prst="roundRect">
            <a:avLst>
              <a:gd name="adj" fmla="val 6000"/>
            </a:avLst>
          </a:prstGeom>
          <a:solidFill>
            <a:srgbClr val="F5F7FB"/>
          </a:solidFill>
          <a:ln w="12700">
            <a:solidFill>
              <a:srgbClr val="E3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6510528" y="1655064"/>
            <a:ext cx="384048" cy="384048"/>
          </a:xfrm>
          <a:prstGeom prst="ellips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31736" y="1655064"/>
            <a:ext cx="4261104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00" b="1" i="0">
                <a:solidFill>
                  <a:srgbClr val="ED7D31"/>
                </a:solidFill>
                <a:latin typeface="맑은 고딕"/>
                <a:ea typeface="맑은 고딕"/>
              </a:rPr>
              <a:t>ETCHING 한계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0528" y="2185416"/>
            <a:ext cx="478231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700" b="1" i="0">
                <a:solidFill>
                  <a:srgbClr val="1E2761"/>
                </a:solidFill>
                <a:latin typeface="맑은 고딕"/>
                <a:ea typeface="맑은 고딕"/>
              </a:rPr>
              <a:t>식각 공정의 한계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0528" y="2569464"/>
            <a:ext cx="4782312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50" b="0" i="0">
                <a:solidFill>
                  <a:srgbClr val="404040"/>
                </a:solidFill>
                <a:latin typeface="맑은 고딕"/>
                <a:ea typeface="맑은 고딕"/>
              </a:rPr>
              <a:t>좁고 깊은 Hole·Line은 식각이 끝까지 진행되지 않거나 형상이 변형됨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0528" y="3108960"/>
            <a:ext cx="47823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0" i="1" dirty="0" err="1">
                <a:solidFill>
                  <a:srgbClr val="707070"/>
                </a:solidFill>
                <a:latin typeface="맑은 고딕"/>
                <a:ea typeface="맑은 고딕"/>
              </a:rPr>
              <a:t>관련</a:t>
            </a:r>
            <a:r>
              <a:rPr sz="1100" b="0" i="1" dirty="0">
                <a:solidFill>
                  <a:srgbClr val="707070"/>
                </a:solidFill>
                <a:latin typeface="맑은 고딕"/>
                <a:ea typeface="맑은 고딕"/>
              </a:rPr>
              <a:t>: Width, Enclosure </a:t>
            </a:r>
            <a:r>
              <a:rPr sz="1100" b="0" i="1" dirty="0" err="1">
                <a:solidFill>
                  <a:srgbClr val="707070"/>
                </a:solidFill>
                <a:latin typeface="맑은 고딕"/>
                <a:ea typeface="맑은 고딕"/>
              </a:rPr>
              <a:t>규정</a:t>
            </a:r>
            <a:endParaRPr sz="1100" b="0" i="1" dirty="0">
              <a:solidFill>
                <a:srgbClr val="707070"/>
              </a:solidFill>
              <a:latin typeface="맑은 고딕"/>
              <a:ea typeface="맑은 고딕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40080" y="3611880"/>
            <a:ext cx="5294376" cy="1965960"/>
          </a:xfrm>
          <a:prstGeom prst="roundRect">
            <a:avLst>
              <a:gd name="adj" fmla="val 6000"/>
            </a:avLst>
          </a:prstGeom>
          <a:solidFill>
            <a:srgbClr val="F5F7FB"/>
          </a:solidFill>
          <a:ln w="12700">
            <a:solidFill>
              <a:srgbClr val="E3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96112" y="3849624"/>
            <a:ext cx="384048" cy="384048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19" y="3849624"/>
            <a:ext cx="4261104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00" b="1" i="0">
                <a:solidFill>
                  <a:srgbClr val="C00000"/>
                </a:solidFill>
                <a:latin typeface="맑은 고딕"/>
                <a:ea typeface="맑은 고딕"/>
              </a:rPr>
              <a:t>SHORT CIRCUIT 방지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" y="4379976"/>
            <a:ext cx="478231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700" b="1" i="0">
                <a:solidFill>
                  <a:srgbClr val="1E2761"/>
                </a:solidFill>
                <a:latin typeface="맑은 고딕"/>
                <a:ea typeface="맑은 고딕"/>
              </a:rPr>
              <a:t>인접 패턴 간 단락 방지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" y="4764024"/>
            <a:ext cx="4782312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50" b="0" i="0">
                <a:solidFill>
                  <a:srgbClr val="404040"/>
                </a:solidFill>
                <a:latin typeface="맑은 고딕"/>
                <a:ea typeface="맑은 고딕"/>
              </a:rPr>
              <a:t>공정 오차로 인접한 두 패턴이 붙어(Bridge) 전기적으로 단락되는 것을 방지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1" y="5303520"/>
            <a:ext cx="47823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0" i="1" dirty="0" err="1">
                <a:solidFill>
                  <a:srgbClr val="707070"/>
                </a:solidFill>
                <a:latin typeface="맑은 고딕"/>
                <a:ea typeface="맑은 고딕"/>
              </a:rPr>
              <a:t>관련</a:t>
            </a:r>
            <a:r>
              <a:rPr sz="1100" b="0" i="1" dirty="0">
                <a:solidFill>
                  <a:srgbClr val="707070"/>
                </a:solidFill>
                <a:latin typeface="맑은 고딕"/>
                <a:ea typeface="맑은 고딕"/>
              </a:rPr>
              <a:t>: </a:t>
            </a:r>
            <a:r>
              <a:rPr sz="1100" b="0" i="1" dirty="0" err="1">
                <a:solidFill>
                  <a:srgbClr val="707070"/>
                </a:solidFill>
                <a:latin typeface="맑은 고딕"/>
                <a:ea typeface="맑은 고딕"/>
              </a:rPr>
              <a:t>대부분의</a:t>
            </a:r>
            <a:r>
              <a:rPr sz="1100" b="0" i="1" dirty="0">
                <a:solidFill>
                  <a:srgbClr val="707070"/>
                </a:solidFill>
                <a:latin typeface="맑은 고딕"/>
                <a:ea typeface="맑은 고딕"/>
              </a:rPr>
              <a:t> Spacing </a:t>
            </a:r>
            <a:r>
              <a:rPr sz="1100" b="0" i="1" dirty="0" err="1">
                <a:solidFill>
                  <a:srgbClr val="707070"/>
                </a:solidFill>
                <a:latin typeface="맑은 고딕"/>
                <a:ea typeface="맑은 고딕"/>
              </a:rPr>
              <a:t>규정</a:t>
            </a:r>
            <a:endParaRPr sz="1100" b="0" i="1" dirty="0">
              <a:solidFill>
                <a:srgbClr val="707070"/>
              </a:solidFill>
              <a:latin typeface="맑은 고딕"/>
              <a:ea typeface="맑은 고딕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6254496" y="3611880"/>
            <a:ext cx="5294376" cy="1965960"/>
          </a:xfrm>
          <a:prstGeom prst="roundRect">
            <a:avLst>
              <a:gd name="adj" fmla="val 6000"/>
            </a:avLst>
          </a:prstGeom>
          <a:solidFill>
            <a:srgbClr val="F5F7FB"/>
          </a:solidFill>
          <a:ln w="12700">
            <a:solidFill>
              <a:srgbClr val="E3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6510528" y="3849624"/>
            <a:ext cx="384048" cy="384048"/>
          </a:xfrm>
          <a:prstGeom prst="ellipse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31736" y="3849624"/>
            <a:ext cx="4261104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00" b="1" i="0">
                <a:solidFill>
                  <a:srgbClr val="70AD47"/>
                </a:solidFill>
                <a:latin typeface="맑은 고딕"/>
                <a:ea typeface="맑은 고딕"/>
              </a:rPr>
              <a:t>OVERLAY 정렬 오차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0528" y="4379976"/>
            <a:ext cx="478231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700" b="1" i="0">
                <a:solidFill>
                  <a:srgbClr val="1E2761"/>
                </a:solidFill>
                <a:latin typeface="맑은 고딕"/>
                <a:ea typeface="맑은 고딕"/>
              </a:rPr>
              <a:t>마스크 정렬 오차 보정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0528" y="4764024"/>
            <a:ext cx="4782312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50" b="0" i="0">
                <a:solidFill>
                  <a:srgbClr val="404040"/>
                </a:solidFill>
                <a:latin typeface="맑은 고딕"/>
                <a:ea typeface="맑은 고딕"/>
              </a:rPr>
              <a:t>포토마스크 정렬 시 발생하는 오차를 흡수할 여유 마진 확보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10528" y="5303520"/>
            <a:ext cx="47823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0" i="1" dirty="0" err="1">
                <a:solidFill>
                  <a:srgbClr val="707070"/>
                </a:solidFill>
                <a:latin typeface="맑은 고딕"/>
                <a:ea typeface="맑은 고딕"/>
              </a:rPr>
              <a:t>관련</a:t>
            </a:r>
            <a:r>
              <a:rPr sz="1100" b="0" i="1" dirty="0">
                <a:solidFill>
                  <a:srgbClr val="707070"/>
                </a:solidFill>
                <a:latin typeface="맑은 고딕"/>
                <a:ea typeface="맑은 고딕"/>
              </a:rPr>
              <a:t>: </a:t>
            </a:r>
            <a:r>
              <a:rPr sz="1100" b="0" i="1" dirty="0" err="1">
                <a:solidFill>
                  <a:srgbClr val="707070"/>
                </a:solidFill>
                <a:latin typeface="맑은 고딕"/>
                <a:ea typeface="맑은 고딕"/>
              </a:rPr>
              <a:t>대부분의</a:t>
            </a:r>
            <a:r>
              <a:rPr sz="1100" b="0" i="1" dirty="0">
                <a:solidFill>
                  <a:srgbClr val="707070"/>
                </a:solidFill>
                <a:latin typeface="맑은 고딕"/>
                <a:ea typeface="맑은 고딕"/>
              </a:rPr>
              <a:t> Enclosure </a:t>
            </a:r>
            <a:r>
              <a:rPr sz="1100" b="0" i="1" dirty="0" err="1">
                <a:solidFill>
                  <a:srgbClr val="707070"/>
                </a:solidFill>
                <a:latin typeface="맑은 고딕"/>
                <a:ea typeface="맑은 고딕"/>
              </a:rPr>
              <a:t>규정</a:t>
            </a:r>
            <a:endParaRPr sz="1100" b="0" i="1" dirty="0">
              <a:solidFill>
                <a:srgbClr val="707070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B8B8AC-1434-42A9-AEF5-3F41D05377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Why</a:t>
            </a:r>
            <a:r>
              <a:rPr lang="ko-KR" altLang="en-US" dirty="0"/>
              <a:t> </a:t>
            </a:r>
            <a:r>
              <a:rPr lang="en-US" altLang="ko-KR" dirty="0"/>
              <a:t>METAL and</a:t>
            </a:r>
            <a:r>
              <a:rPr lang="ko-KR" altLang="en-US" dirty="0"/>
              <a:t> </a:t>
            </a:r>
            <a:r>
              <a:rPr lang="en-US" altLang="ko-KR" dirty="0"/>
              <a:t>CONTACT?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EC124CA-BBEE-468D-8227-168D625741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3159" y="1841484"/>
            <a:ext cx="5192413" cy="4351338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altLang="ko-KR" dirty="0"/>
              <a:t>Heterojunction : An interface formed between two dissimilar semiconductor materials with unequal band gaps.</a:t>
            </a:r>
          </a:p>
          <a:p>
            <a:pPr marL="0" indent="0">
              <a:buNone/>
            </a:pPr>
            <a:endParaRPr lang="en-US" altLang="ko-KR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altLang="ko-KR" dirty="0"/>
              <a:t>Interface physics — not bulk physics — is what makes heterojunctions interesting</a:t>
            </a:r>
          </a:p>
          <a:p>
            <a:pPr marL="0" indent="0">
              <a:buNone/>
            </a:pPr>
            <a:endParaRPr lang="ko-KR" altLang="en-US" dirty="0"/>
          </a:p>
        </p:txBody>
      </p:sp>
      <p:sp>
        <p:nvSpPr>
          <p:cNvPr id="4" name="Shape 3">
            <a:extLst>
              <a:ext uri="{FF2B5EF4-FFF2-40B4-BE49-F238E27FC236}">
                <a16:creationId xmlns:a16="http://schemas.microsoft.com/office/drawing/2014/main" id="{4B1CC6B4-FC78-439B-B953-3B3526325029}"/>
              </a:ext>
            </a:extLst>
          </p:cNvPr>
          <p:cNvSpPr/>
          <p:nvPr/>
        </p:nvSpPr>
        <p:spPr>
          <a:xfrm>
            <a:off x="6076333" y="1645920"/>
            <a:ext cx="5852160" cy="4617720"/>
          </a:xfrm>
          <a:prstGeom prst="roundRect">
            <a:avLst>
              <a:gd name="adj" fmla="val 1584"/>
            </a:avLst>
          </a:prstGeom>
          <a:solidFill>
            <a:srgbClr val="EAF2F6"/>
          </a:solidFill>
          <a:ln/>
        </p:spPr>
      </p:sp>
      <p:sp>
        <p:nvSpPr>
          <p:cNvPr id="5" name="Text 4">
            <a:extLst>
              <a:ext uri="{FF2B5EF4-FFF2-40B4-BE49-F238E27FC236}">
                <a16:creationId xmlns:a16="http://schemas.microsoft.com/office/drawing/2014/main" id="{9EE960C1-C290-4994-A236-E58D7476AC43}"/>
              </a:ext>
            </a:extLst>
          </p:cNvPr>
          <p:cNvSpPr/>
          <p:nvPr/>
        </p:nvSpPr>
        <p:spPr>
          <a:xfrm>
            <a:off x="6076333" y="1673352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Type-Ⅰ Heterojunction (schematic)</a:t>
            </a:r>
            <a:endParaRPr lang="en-US" sz="1150" dirty="0"/>
          </a:p>
        </p:txBody>
      </p:sp>
      <p:sp>
        <p:nvSpPr>
          <p:cNvPr id="6" name="Shape 5">
            <a:extLst>
              <a:ext uri="{FF2B5EF4-FFF2-40B4-BE49-F238E27FC236}">
                <a16:creationId xmlns:a16="http://schemas.microsoft.com/office/drawing/2014/main" id="{8B610262-F124-47F3-B821-26BE26DBE558}"/>
              </a:ext>
            </a:extLst>
          </p:cNvPr>
          <p:cNvSpPr/>
          <p:nvPr/>
        </p:nvSpPr>
        <p:spPr>
          <a:xfrm>
            <a:off x="6259213" y="2011680"/>
            <a:ext cx="0" cy="3200400"/>
          </a:xfrm>
          <a:prstGeom prst="line">
            <a:avLst/>
          </a:prstGeom>
          <a:noFill/>
          <a:ln w="15875">
            <a:solidFill>
              <a:srgbClr val="21295C"/>
            </a:solidFill>
            <a:prstDash val="solid"/>
            <a:tailEnd type="triangle"/>
          </a:ln>
        </p:spPr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81915D17-1A8A-4905-A69A-1AA5D07BE580}"/>
              </a:ext>
            </a:extLst>
          </p:cNvPr>
          <p:cNvSpPr/>
          <p:nvPr/>
        </p:nvSpPr>
        <p:spPr>
          <a:xfrm>
            <a:off x="5984893" y="1874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1300" dirty="0"/>
          </a:p>
        </p:txBody>
      </p:sp>
      <p:sp>
        <p:nvSpPr>
          <p:cNvPr id="8" name="Shape 7">
            <a:extLst>
              <a:ext uri="{FF2B5EF4-FFF2-40B4-BE49-F238E27FC236}">
                <a16:creationId xmlns:a16="http://schemas.microsoft.com/office/drawing/2014/main" id="{E626C42D-1A29-43DE-AE3D-A6B832C98FB3}"/>
              </a:ext>
            </a:extLst>
          </p:cNvPr>
          <p:cNvSpPr/>
          <p:nvPr/>
        </p:nvSpPr>
        <p:spPr>
          <a:xfrm>
            <a:off x="6442093" y="2103120"/>
            <a:ext cx="2253082" cy="2971800"/>
          </a:xfrm>
          <a:prstGeom prst="rect">
            <a:avLst/>
          </a:prstGeom>
          <a:solidFill>
            <a:srgbClr val="065A82">
              <a:alpha val="10000"/>
            </a:srgbClr>
          </a:solidFill>
          <a:ln/>
        </p:spPr>
      </p:sp>
      <p:sp>
        <p:nvSpPr>
          <p:cNvPr id="9" name="Shape 8">
            <a:extLst>
              <a:ext uri="{FF2B5EF4-FFF2-40B4-BE49-F238E27FC236}">
                <a16:creationId xmlns:a16="http://schemas.microsoft.com/office/drawing/2014/main" id="{F0D6E982-131E-477C-9A8D-C78A4C8FB2A2}"/>
              </a:ext>
            </a:extLst>
          </p:cNvPr>
          <p:cNvSpPr/>
          <p:nvPr/>
        </p:nvSpPr>
        <p:spPr>
          <a:xfrm>
            <a:off x="8878055" y="2103120"/>
            <a:ext cx="2684678" cy="2971800"/>
          </a:xfrm>
          <a:prstGeom prst="rect">
            <a:avLst/>
          </a:prstGeom>
          <a:solidFill>
            <a:srgbClr val="1C7293">
              <a:alpha val="12000"/>
            </a:srgbClr>
          </a:solidFill>
          <a:ln/>
        </p:spPr>
      </p:sp>
      <p:sp>
        <p:nvSpPr>
          <p:cNvPr id="10" name="Shape 9">
            <a:extLst>
              <a:ext uri="{FF2B5EF4-FFF2-40B4-BE49-F238E27FC236}">
                <a16:creationId xmlns:a16="http://schemas.microsoft.com/office/drawing/2014/main" id="{A2B4F099-6782-449F-A7F0-198C3E1244E5}"/>
              </a:ext>
            </a:extLst>
          </p:cNvPr>
          <p:cNvSpPr/>
          <p:nvPr/>
        </p:nvSpPr>
        <p:spPr>
          <a:xfrm>
            <a:off x="6442093" y="3017520"/>
            <a:ext cx="2253082" cy="0"/>
          </a:xfrm>
          <a:prstGeom prst="line">
            <a:avLst/>
          </a:prstGeom>
          <a:noFill/>
          <a:ln w="25400">
            <a:solidFill>
              <a:srgbClr val="21295C"/>
            </a:solidFill>
            <a:prstDash val="solid"/>
          </a:ln>
        </p:spPr>
      </p:sp>
      <p:sp>
        <p:nvSpPr>
          <p:cNvPr id="11" name="Shape 10">
            <a:extLst>
              <a:ext uri="{FF2B5EF4-FFF2-40B4-BE49-F238E27FC236}">
                <a16:creationId xmlns:a16="http://schemas.microsoft.com/office/drawing/2014/main" id="{714C0AEE-2B37-4466-8231-5F81C156BCD8}"/>
              </a:ext>
            </a:extLst>
          </p:cNvPr>
          <p:cNvSpPr/>
          <p:nvPr/>
        </p:nvSpPr>
        <p:spPr>
          <a:xfrm>
            <a:off x="8878055" y="2468880"/>
            <a:ext cx="2684678" cy="0"/>
          </a:xfrm>
          <a:prstGeom prst="line">
            <a:avLst/>
          </a:prstGeom>
          <a:noFill/>
          <a:ln w="25400">
            <a:solidFill>
              <a:srgbClr val="21295C"/>
            </a:solidFill>
            <a:prstDash val="solid"/>
          </a:ln>
        </p:spPr>
      </p:sp>
      <p:sp>
        <p:nvSpPr>
          <p:cNvPr id="12" name="Shape 11">
            <a:extLst>
              <a:ext uri="{FF2B5EF4-FFF2-40B4-BE49-F238E27FC236}">
                <a16:creationId xmlns:a16="http://schemas.microsoft.com/office/drawing/2014/main" id="{70AE3FE3-A534-4B0C-93F1-3CCB50423997}"/>
              </a:ext>
            </a:extLst>
          </p:cNvPr>
          <p:cNvSpPr/>
          <p:nvPr/>
        </p:nvSpPr>
        <p:spPr>
          <a:xfrm>
            <a:off x="8695175" y="2468880"/>
            <a:ext cx="182880" cy="0"/>
          </a:xfrm>
          <a:prstGeom prst="line">
            <a:avLst/>
          </a:prstGeom>
          <a:noFill/>
          <a:ln w="12700">
            <a:solidFill>
              <a:srgbClr val="21295C"/>
            </a:solidFill>
            <a:prstDash val="dash"/>
          </a:ln>
        </p:spPr>
      </p:sp>
      <p:sp>
        <p:nvSpPr>
          <p:cNvPr id="13" name="Shape 12">
            <a:extLst>
              <a:ext uri="{FF2B5EF4-FFF2-40B4-BE49-F238E27FC236}">
                <a16:creationId xmlns:a16="http://schemas.microsoft.com/office/drawing/2014/main" id="{07E4D490-F433-49F5-B07F-9C809B98FCAC}"/>
              </a:ext>
            </a:extLst>
          </p:cNvPr>
          <p:cNvSpPr/>
          <p:nvPr/>
        </p:nvSpPr>
        <p:spPr>
          <a:xfrm>
            <a:off x="8786615" y="2468880"/>
            <a:ext cx="0" cy="548640"/>
          </a:xfrm>
          <a:prstGeom prst="line">
            <a:avLst/>
          </a:prstGeom>
          <a:noFill/>
          <a:ln w="28575">
            <a:solidFill>
              <a:srgbClr val="E3A857"/>
            </a:solidFill>
            <a:prstDash val="solid"/>
          </a:ln>
        </p:spPr>
      </p:sp>
      <p:sp>
        <p:nvSpPr>
          <p:cNvPr id="14" name="Shape 13">
            <a:extLst>
              <a:ext uri="{FF2B5EF4-FFF2-40B4-BE49-F238E27FC236}">
                <a16:creationId xmlns:a16="http://schemas.microsoft.com/office/drawing/2014/main" id="{F78AC9D2-9DE6-44FB-9DB1-9E81E9F4FF77}"/>
              </a:ext>
            </a:extLst>
          </p:cNvPr>
          <p:cNvSpPr/>
          <p:nvPr/>
        </p:nvSpPr>
        <p:spPr>
          <a:xfrm>
            <a:off x="6442093" y="3977640"/>
            <a:ext cx="2253082" cy="0"/>
          </a:xfrm>
          <a:prstGeom prst="line">
            <a:avLst/>
          </a:prstGeom>
          <a:noFill/>
          <a:ln w="25400">
            <a:solidFill>
              <a:srgbClr val="21295C"/>
            </a:solidFill>
            <a:prstDash val="solid"/>
          </a:ln>
        </p:spPr>
      </p:sp>
      <p:sp>
        <p:nvSpPr>
          <p:cNvPr id="15" name="Shape 14">
            <a:extLst>
              <a:ext uri="{FF2B5EF4-FFF2-40B4-BE49-F238E27FC236}">
                <a16:creationId xmlns:a16="http://schemas.microsoft.com/office/drawing/2014/main" id="{07F71664-F6B0-4F7D-A9A1-A92C1179987B}"/>
              </a:ext>
            </a:extLst>
          </p:cNvPr>
          <p:cNvSpPr/>
          <p:nvPr/>
        </p:nvSpPr>
        <p:spPr>
          <a:xfrm>
            <a:off x="8878055" y="4343400"/>
            <a:ext cx="2684678" cy="0"/>
          </a:xfrm>
          <a:prstGeom prst="line">
            <a:avLst/>
          </a:prstGeom>
          <a:noFill/>
          <a:ln w="25400">
            <a:solidFill>
              <a:srgbClr val="21295C"/>
            </a:solidFill>
            <a:prstDash val="solid"/>
          </a:ln>
        </p:spPr>
      </p:sp>
      <p:sp>
        <p:nvSpPr>
          <p:cNvPr id="16" name="Shape 15">
            <a:extLst>
              <a:ext uri="{FF2B5EF4-FFF2-40B4-BE49-F238E27FC236}">
                <a16:creationId xmlns:a16="http://schemas.microsoft.com/office/drawing/2014/main" id="{F76520C4-7AD1-4003-9939-D69D1C687F45}"/>
              </a:ext>
            </a:extLst>
          </p:cNvPr>
          <p:cNvSpPr/>
          <p:nvPr/>
        </p:nvSpPr>
        <p:spPr>
          <a:xfrm>
            <a:off x="8695175" y="3977640"/>
            <a:ext cx="182880" cy="0"/>
          </a:xfrm>
          <a:prstGeom prst="line">
            <a:avLst/>
          </a:prstGeom>
          <a:noFill/>
          <a:ln w="12700">
            <a:solidFill>
              <a:srgbClr val="21295C"/>
            </a:solidFill>
            <a:prstDash val="dash"/>
          </a:ln>
        </p:spPr>
      </p:sp>
      <p:sp>
        <p:nvSpPr>
          <p:cNvPr id="17" name="Shape 16">
            <a:extLst>
              <a:ext uri="{FF2B5EF4-FFF2-40B4-BE49-F238E27FC236}">
                <a16:creationId xmlns:a16="http://schemas.microsoft.com/office/drawing/2014/main" id="{3227ABCF-71AE-4F46-BC5D-433F1B8F63BF}"/>
              </a:ext>
            </a:extLst>
          </p:cNvPr>
          <p:cNvSpPr/>
          <p:nvPr/>
        </p:nvSpPr>
        <p:spPr>
          <a:xfrm>
            <a:off x="8786615" y="3977640"/>
            <a:ext cx="0" cy="365760"/>
          </a:xfrm>
          <a:prstGeom prst="line">
            <a:avLst/>
          </a:prstGeom>
          <a:noFill/>
          <a:ln w="28575">
            <a:solidFill>
              <a:srgbClr val="E3A857"/>
            </a:solidFill>
            <a:prstDash val="solid"/>
          </a:ln>
        </p:spPr>
      </p:sp>
      <p:sp>
        <p:nvSpPr>
          <p:cNvPr id="18" name="Text 17">
            <a:extLst>
              <a:ext uri="{FF2B5EF4-FFF2-40B4-BE49-F238E27FC236}">
                <a16:creationId xmlns:a16="http://schemas.microsoft.com/office/drawing/2014/main" id="{C0A3C9D2-9566-4CF8-AC66-4DADA1375AAE}"/>
              </a:ext>
            </a:extLst>
          </p:cNvPr>
          <p:cNvSpPr/>
          <p:nvPr/>
        </p:nvSpPr>
        <p:spPr>
          <a:xfrm>
            <a:off x="6396373" y="2724912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</a:t>
            </a:r>
            <a:endParaRPr lang="en-US" sz="1200" dirty="0"/>
          </a:p>
        </p:txBody>
      </p:sp>
      <p:sp>
        <p:nvSpPr>
          <p:cNvPr id="19" name="Text 18">
            <a:extLst>
              <a:ext uri="{FF2B5EF4-FFF2-40B4-BE49-F238E27FC236}">
                <a16:creationId xmlns:a16="http://schemas.microsoft.com/office/drawing/2014/main" id="{3A304E72-FA04-44A9-9810-766FD9C8FDD6}"/>
              </a:ext>
            </a:extLst>
          </p:cNvPr>
          <p:cNvSpPr/>
          <p:nvPr/>
        </p:nvSpPr>
        <p:spPr>
          <a:xfrm>
            <a:off x="8923775" y="2176272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</a:t>
            </a:r>
            <a:endParaRPr lang="en-US" sz="1200" dirty="0"/>
          </a:p>
        </p:txBody>
      </p:sp>
      <p:sp>
        <p:nvSpPr>
          <p:cNvPr id="20" name="Text 19">
            <a:extLst>
              <a:ext uri="{FF2B5EF4-FFF2-40B4-BE49-F238E27FC236}">
                <a16:creationId xmlns:a16="http://schemas.microsoft.com/office/drawing/2014/main" id="{63F0ED0C-22FB-4C9C-8936-96909B70E649}"/>
              </a:ext>
            </a:extLst>
          </p:cNvPr>
          <p:cNvSpPr/>
          <p:nvPr/>
        </p:nvSpPr>
        <p:spPr>
          <a:xfrm>
            <a:off x="6396373" y="402336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</a:t>
            </a:r>
            <a:endParaRPr lang="en-US" sz="1200" dirty="0"/>
          </a:p>
        </p:txBody>
      </p:sp>
      <p:sp>
        <p:nvSpPr>
          <p:cNvPr id="21" name="Text 20">
            <a:extLst>
              <a:ext uri="{FF2B5EF4-FFF2-40B4-BE49-F238E27FC236}">
                <a16:creationId xmlns:a16="http://schemas.microsoft.com/office/drawing/2014/main" id="{ED5C55BD-8A53-49F1-8C4D-A221F6CF2724}"/>
              </a:ext>
            </a:extLst>
          </p:cNvPr>
          <p:cNvSpPr/>
          <p:nvPr/>
        </p:nvSpPr>
        <p:spPr>
          <a:xfrm>
            <a:off x="8923775" y="438912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</a:t>
            </a:r>
            <a:endParaRPr lang="en-US" sz="1200" dirty="0"/>
          </a:p>
        </p:txBody>
      </p:sp>
      <p:sp>
        <p:nvSpPr>
          <p:cNvPr id="22" name="Text 21">
            <a:extLst>
              <a:ext uri="{FF2B5EF4-FFF2-40B4-BE49-F238E27FC236}">
                <a16:creationId xmlns:a16="http://schemas.microsoft.com/office/drawing/2014/main" id="{A43E7684-BA00-4FB5-B267-7DD7666DB87E}"/>
              </a:ext>
            </a:extLst>
          </p:cNvPr>
          <p:cNvSpPr/>
          <p:nvPr/>
        </p:nvSpPr>
        <p:spPr>
          <a:xfrm>
            <a:off x="8009375" y="2596896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i="1" dirty="0">
                <a:solidFill>
                  <a:srgbClr val="E3A8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ΔEc</a:t>
            </a:r>
            <a:endParaRPr lang="en-US" sz="1200" dirty="0"/>
          </a:p>
        </p:txBody>
      </p:sp>
      <p:sp>
        <p:nvSpPr>
          <p:cNvPr id="23" name="Text 22">
            <a:extLst>
              <a:ext uri="{FF2B5EF4-FFF2-40B4-BE49-F238E27FC236}">
                <a16:creationId xmlns:a16="http://schemas.microsoft.com/office/drawing/2014/main" id="{D09EB2D6-EFF6-4A1F-81F6-5D64C408A17B}"/>
              </a:ext>
            </a:extLst>
          </p:cNvPr>
          <p:cNvSpPr/>
          <p:nvPr/>
        </p:nvSpPr>
        <p:spPr>
          <a:xfrm>
            <a:off x="8859767" y="4014216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i="1" dirty="0">
                <a:solidFill>
                  <a:srgbClr val="E3A8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ΔEv</a:t>
            </a:r>
            <a:endParaRPr lang="en-US" sz="1200" dirty="0"/>
          </a:p>
        </p:txBody>
      </p:sp>
      <p:sp>
        <p:nvSpPr>
          <p:cNvPr id="24" name="Text 23">
            <a:extLst>
              <a:ext uri="{FF2B5EF4-FFF2-40B4-BE49-F238E27FC236}">
                <a16:creationId xmlns:a16="http://schemas.microsoft.com/office/drawing/2014/main" id="{B85BAB26-62F0-40F7-8E4C-4DC11A0D48E8}"/>
              </a:ext>
            </a:extLst>
          </p:cNvPr>
          <p:cNvSpPr/>
          <p:nvPr/>
        </p:nvSpPr>
        <p:spPr>
          <a:xfrm>
            <a:off x="6442093" y="5056632"/>
            <a:ext cx="225308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Semiconductor A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(narrow gap)</a:t>
            </a:r>
            <a:endParaRPr lang="en-US" sz="1050" dirty="0"/>
          </a:p>
        </p:txBody>
      </p:sp>
      <p:sp>
        <p:nvSpPr>
          <p:cNvPr id="25" name="Text 24">
            <a:extLst>
              <a:ext uri="{FF2B5EF4-FFF2-40B4-BE49-F238E27FC236}">
                <a16:creationId xmlns:a16="http://schemas.microsoft.com/office/drawing/2014/main" id="{29E6EB84-AFDA-4A38-BACA-C7E32BD88105}"/>
              </a:ext>
            </a:extLst>
          </p:cNvPr>
          <p:cNvSpPr/>
          <p:nvPr/>
        </p:nvSpPr>
        <p:spPr>
          <a:xfrm>
            <a:off x="8878055" y="5056632"/>
            <a:ext cx="268467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Semiconductor B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(wide gap)</a:t>
            </a:r>
            <a:endParaRPr lang="en-US" sz="1050" dirty="0"/>
          </a:p>
        </p:txBody>
      </p:sp>
      <p:sp>
        <p:nvSpPr>
          <p:cNvPr id="26" name="Text 25">
            <a:extLst>
              <a:ext uri="{FF2B5EF4-FFF2-40B4-BE49-F238E27FC236}">
                <a16:creationId xmlns:a16="http://schemas.microsoft.com/office/drawing/2014/main" id="{3EF7EA55-8977-4FE6-A99C-B2D54C379EBE}"/>
              </a:ext>
            </a:extLst>
          </p:cNvPr>
          <p:cNvSpPr/>
          <p:nvPr/>
        </p:nvSpPr>
        <p:spPr>
          <a:xfrm>
            <a:off x="6076333" y="6007608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이상적인 straddling-gap (Type-Ⅰ) 배치를 나타낸 개념도</a:t>
            </a:r>
            <a:endParaRPr lang="en-US" sz="950" dirty="0"/>
          </a:p>
        </p:txBody>
      </p:sp>
    </p:spTree>
    <p:extLst>
      <p:ext uri="{BB962C8B-B14F-4D97-AF65-F5344CB8AC3E}">
        <p14:creationId xmlns:p14="http://schemas.microsoft.com/office/powerpoint/2010/main" val="2746494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21A7B2-95B2-421E-888A-33480EDB27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To Interface Physics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379453A-DB26-44A9-85BB-4F9B1FE27D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148724"/>
            <a:ext cx="10515600" cy="923543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altLang="ko-KR" dirty="0"/>
              <a:t>Heterogeneous interfaces host a range of fascinating physical phenomena that don't emerge in either bulk material alone. </a:t>
            </a:r>
            <a:endParaRPr lang="ko-KR" altLang="en-US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B3EEA477-52AF-481B-83B3-DE1052DFD65D}"/>
              </a:ext>
            </a:extLst>
          </p:cNvPr>
          <p:cNvSpPr/>
          <p:nvPr/>
        </p:nvSpPr>
        <p:spPr>
          <a:xfrm>
            <a:off x="548640" y="1588404"/>
            <a:ext cx="5074920" cy="2331720"/>
          </a:xfrm>
          <a:prstGeom prst="roundRect">
            <a:avLst>
              <a:gd name="adj" fmla="val 3137"/>
            </a:avLst>
          </a:prstGeom>
          <a:solidFill>
            <a:srgbClr val="EAF2F6"/>
          </a:solidFill>
          <a:ln/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6320AA9-85F9-4FB0-84D7-833876869771}"/>
              </a:ext>
            </a:extLst>
          </p:cNvPr>
          <p:cNvSpPr/>
          <p:nvPr/>
        </p:nvSpPr>
        <p:spPr>
          <a:xfrm>
            <a:off x="548640" y="1661556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Heterojunction</a:t>
            </a:r>
            <a:endParaRPr lang="en-US" sz="115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C361BF94-0A6B-4AD3-9ED6-4314978FE437}"/>
              </a:ext>
            </a:extLst>
          </p:cNvPr>
          <p:cNvSpPr/>
          <p:nvPr/>
        </p:nvSpPr>
        <p:spPr>
          <a:xfrm>
            <a:off x="868680" y="2731404"/>
            <a:ext cx="2171700" cy="0"/>
          </a:xfrm>
          <a:prstGeom prst="line">
            <a:avLst/>
          </a:prstGeom>
          <a:noFill/>
          <a:ln w="22225">
            <a:solidFill>
              <a:srgbClr val="21295C"/>
            </a:solidFill>
            <a:prstDash val="solid"/>
          </a:ln>
        </p:spPr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C49DC012-135F-455C-8E88-1BAF588E4347}"/>
              </a:ext>
            </a:extLst>
          </p:cNvPr>
          <p:cNvSpPr/>
          <p:nvPr/>
        </p:nvSpPr>
        <p:spPr>
          <a:xfrm>
            <a:off x="3131820" y="2319924"/>
            <a:ext cx="2171700" cy="0"/>
          </a:xfrm>
          <a:prstGeom prst="line">
            <a:avLst/>
          </a:prstGeom>
          <a:noFill/>
          <a:ln w="22225">
            <a:solidFill>
              <a:srgbClr val="21295C"/>
            </a:solidFill>
            <a:prstDash val="solid"/>
          </a:ln>
        </p:spPr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8DBEE261-956D-4CBC-829E-B627A520A237}"/>
              </a:ext>
            </a:extLst>
          </p:cNvPr>
          <p:cNvSpPr/>
          <p:nvPr/>
        </p:nvSpPr>
        <p:spPr>
          <a:xfrm>
            <a:off x="3086100" y="2319924"/>
            <a:ext cx="0" cy="411480"/>
          </a:xfrm>
          <a:prstGeom prst="line">
            <a:avLst/>
          </a:prstGeom>
          <a:noFill/>
          <a:ln w="25400">
            <a:solidFill>
              <a:srgbClr val="E3A857"/>
            </a:solidFill>
            <a:prstDash val="solid"/>
          </a:ln>
        </p:spPr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5ADBAA84-12D4-4D86-AC57-EEAF5A97EB72}"/>
              </a:ext>
            </a:extLst>
          </p:cNvPr>
          <p:cNvSpPr/>
          <p:nvPr/>
        </p:nvSpPr>
        <p:spPr>
          <a:xfrm>
            <a:off x="868680" y="3325764"/>
            <a:ext cx="2171700" cy="0"/>
          </a:xfrm>
          <a:prstGeom prst="line">
            <a:avLst/>
          </a:prstGeom>
          <a:noFill/>
          <a:ln w="22225">
            <a:solidFill>
              <a:srgbClr val="21295C"/>
            </a:solidFill>
            <a:prstDash val="solid"/>
          </a:ln>
        </p:spPr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9E756E81-A621-4E20-86E3-4170D5CCAA4F}"/>
              </a:ext>
            </a:extLst>
          </p:cNvPr>
          <p:cNvSpPr/>
          <p:nvPr/>
        </p:nvSpPr>
        <p:spPr>
          <a:xfrm>
            <a:off x="3131820" y="3462924"/>
            <a:ext cx="2171700" cy="0"/>
          </a:xfrm>
          <a:prstGeom prst="line">
            <a:avLst/>
          </a:prstGeom>
          <a:noFill/>
          <a:ln w="22225">
            <a:solidFill>
              <a:srgbClr val="21295C"/>
            </a:solidFill>
            <a:prstDash val="solid"/>
          </a:ln>
        </p:spPr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8DEFFEDB-92FB-4F1F-A1E1-169A32123311}"/>
              </a:ext>
            </a:extLst>
          </p:cNvPr>
          <p:cNvSpPr/>
          <p:nvPr/>
        </p:nvSpPr>
        <p:spPr>
          <a:xfrm>
            <a:off x="3086100" y="3325764"/>
            <a:ext cx="0" cy="137160"/>
          </a:xfrm>
          <a:prstGeom prst="line">
            <a:avLst/>
          </a:prstGeom>
          <a:noFill/>
          <a:ln w="25400">
            <a:solidFill>
              <a:srgbClr val="E3A857"/>
            </a:solidFill>
            <a:prstDash val="solid"/>
          </a:ln>
        </p:spPr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B2A9B254-1ED9-4A72-8285-CB07C47FAF65}"/>
              </a:ext>
            </a:extLst>
          </p:cNvPr>
          <p:cNvSpPr/>
          <p:nvPr/>
        </p:nvSpPr>
        <p:spPr>
          <a:xfrm>
            <a:off x="868680" y="3600084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1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AFE25F95-5F62-4A51-A4D1-1ADAFE825A6A}"/>
              </a:ext>
            </a:extLst>
          </p:cNvPr>
          <p:cNvSpPr/>
          <p:nvPr/>
        </p:nvSpPr>
        <p:spPr>
          <a:xfrm>
            <a:off x="4937760" y="3600084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1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C5909D2F-D979-44AD-A6D9-26F715A71357}"/>
              </a:ext>
            </a:extLst>
          </p:cNvPr>
          <p:cNvSpPr/>
          <p:nvPr/>
        </p:nvSpPr>
        <p:spPr>
          <a:xfrm>
            <a:off x="2583180" y="2685684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E3A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ΔEc, ΔEv</a:t>
            </a:r>
            <a:endParaRPr lang="en-US" sz="95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3899F32D-0671-4274-BC89-927ACE72B832}"/>
              </a:ext>
            </a:extLst>
          </p:cNvPr>
          <p:cNvSpPr/>
          <p:nvPr/>
        </p:nvSpPr>
        <p:spPr>
          <a:xfrm>
            <a:off x="640080" y="3536076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전자 친화도 / work function 차이 → band offset 결정</a:t>
            </a:r>
            <a:endParaRPr lang="en-US" sz="100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71CF2F99-D96E-47A0-A432-B8C49D434437}"/>
              </a:ext>
            </a:extLst>
          </p:cNvPr>
          <p:cNvSpPr/>
          <p:nvPr/>
        </p:nvSpPr>
        <p:spPr>
          <a:xfrm>
            <a:off x="6274613" y="1524396"/>
            <a:ext cx="5074920" cy="2331720"/>
          </a:xfrm>
          <a:prstGeom prst="roundRect">
            <a:avLst>
              <a:gd name="adj" fmla="val 3137"/>
            </a:avLst>
          </a:prstGeom>
          <a:solidFill>
            <a:srgbClr val="EAF2F6"/>
          </a:solidFill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16DFF77C-478A-41CC-AA6D-40791EF1BDF9}"/>
              </a:ext>
            </a:extLst>
          </p:cNvPr>
          <p:cNvSpPr/>
          <p:nvPr/>
        </p:nvSpPr>
        <p:spPr>
          <a:xfrm>
            <a:off x="6263640" y="1661556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Metal – Semiconductor Junction</a:t>
            </a:r>
            <a:endParaRPr lang="en-US" sz="1150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EDF4708C-EF99-44FF-BBC3-7D032E303173}"/>
              </a:ext>
            </a:extLst>
          </p:cNvPr>
          <p:cNvSpPr/>
          <p:nvPr/>
        </p:nvSpPr>
        <p:spPr>
          <a:xfrm>
            <a:off x="6583680" y="2228484"/>
            <a:ext cx="1816913" cy="1280160"/>
          </a:xfrm>
          <a:prstGeom prst="rect">
            <a:avLst/>
          </a:prstGeom>
          <a:solidFill>
            <a:srgbClr val="5B6570">
              <a:alpha val="18000"/>
            </a:srgbClr>
          </a:solidFill>
          <a:ln/>
        </p:spPr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3F2595B8-22F8-4FCB-B213-83FDE4B35136}"/>
              </a:ext>
            </a:extLst>
          </p:cNvPr>
          <p:cNvSpPr/>
          <p:nvPr/>
        </p:nvSpPr>
        <p:spPr>
          <a:xfrm>
            <a:off x="6583680" y="2594244"/>
            <a:ext cx="4434840" cy="0"/>
          </a:xfrm>
          <a:prstGeom prst="line">
            <a:avLst/>
          </a:prstGeom>
          <a:noFill/>
          <a:ln w="15875">
            <a:solidFill>
              <a:srgbClr val="21295C"/>
            </a:solidFill>
            <a:prstDash val="dash"/>
          </a:ln>
        </p:spPr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173EA699-7876-4B38-AD27-98696C2960C0}"/>
              </a:ext>
            </a:extLst>
          </p:cNvPr>
          <p:cNvSpPr/>
          <p:nvPr/>
        </p:nvSpPr>
        <p:spPr>
          <a:xfrm>
            <a:off x="6565392" y="2319924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</a:t>
            </a:r>
            <a:endParaRPr lang="en-US" sz="1050" dirty="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3C16AFED-9699-46CB-B4D6-74C1C10ACD2A}"/>
              </a:ext>
            </a:extLst>
          </p:cNvPr>
          <p:cNvSpPr/>
          <p:nvPr/>
        </p:nvSpPr>
        <p:spPr>
          <a:xfrm>
            <a:off x="8492033" y="2185614"/>
            <a:ext cx="884271" cy="164592"/>
          </a:xfrm>
          <a:prstGeom prst="line">
            <a:avLst/>
          </a:prstGeom>
          <a:noFill/>
          <a:ln w="22225">
            <a:solidFill>
              <a:srgbClr val="21295C"/>
            </a:solidFill>
            <a:prstDash val="solid"/>
          </a:ln>
        </p:spPr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D6C9BCDE-E952-44ED-94B8-1F7AC17B8213}"/>
              </a:ext>
            </a:extLst>
          </p:cNvPr>
          <p:cNvSpPr/>
          <p:nvPr/>
        </p:nvSpPr>
        <p:spPr>
          <a:xfrm>
            <a:off x="9376303" y="2350206"/>
            <a:ext cx="1010595" cy="109728"/>
          </a:xfrm>
          <a:prstGeom prst="line">
            <a:avLst/>
          </a:prstGeom>
          <a:noFill/>
          <a:ln w="22225">
            <a:solidFill>
              <a:srgbClr val="21295C"/>
            </a:solidFill>
            <a:prstDash val="solid"/>
          </a:ln>
        </p:spPr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00393C38-7023-43A3-A523-6F5904BF7029}"/>
              </a:ext>
            </a:extLst>
          </p:cNvPr>
          <p:cNvSpPr/>
          <p:nvPr/>
        </p:nvSpPr>
        <p:spPr>
          <a:xfrm>
            <a:off x="10386898" y="2459934"/>
            <a:ext cx="631622" cy="45720"/>
          </a:xfrm>
          <a:prstGeom prst="line">
            <a:avLst/>
          </a:prstGeom>
          <a:noFill/>
          <a:ln w="22225">
            <a:solidFill>
              <a:srgbClr val="21295C"/>
            </a:solidFill>
            <a:prstDash val="solid"/>
          </a:ln>
        </p:spPr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834C2BAC-2898-45FB-8D0F-EAF6CC17D2AD}"/>
              </a:ext>
            </a:extLst>
          </p:cNvPr>
          <p:cNvSpPr/>
          <p:nvPr/>
        </p:nvSpPr>
        <p:spPr>
          <a:xfrm>
            <a:off x="8492033" y="3237174"/>
            <a:ext cx="884271" cy="164592"/>
          </a:xfrm>
          <a:prstGeom prst="line">
            <a:avLst/>
          </a:prstGeom>
          <a:noFill/>
          <a:ln w="22225">
            <a:solidFill>
              <a:srgbClr val="21295C"/>
            </a:solidFill>
            <a:prstDash val="solid"/>
          </a:ln>
        </p:spPr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44024B9D-62BB-407E-869D-14CEED2B0F4D}"/>
              </a:ext>
            </a:extLst>
          </p:cNvPr>
          <p:cNvSpPr/>
          <p:nvPr/>
        </p:nvSpPr>
        <p:spPr>
          <a:xfrm>
            <a:off x="9376303" y="3401766"/>
            <a:ext cx="1010595" cy="109728"/>
          </a:xfrm>
          <a:prstGeom prst="line">
            <a:avLst/>
          </a:prstGeom>
          <a:noFill/>
          <a:ln w="22225">
            <a:solidFill>
              <a:srgbClr val="21295C"/>
            </a:solidFill>
            <a:prstDash val="solid"/>
          </a:ln>
        </p:spPr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AE9AE1F7-9D19-490E-83F8-E66304C1EB06}"/>
              </a:ext>
            </a:extLst>
          </p:cNvPr>
          <p:cNvSpPr/>
          <p:nvPr/>
        </p:nvSpPr>
        <p:spPr>
          <a:xfrm>
            <a:off x="10386898" y="3511494"/>
            <a:ext cx="631622" cy="45720"/>
          </a:xfrm>
          <a:prstGeom prst="line">
            <a:avLst/>
          </a:prstGeom>
          <a:noFill/>
          <a:ln w="22225">
            <a:solidFill>
              <a:srgbClr val="21295C"/>
            </a:solidFill>
            <a:prstDash val="solid"/>
          </a:ln>
        </p:spPr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2EE0BB54-61CB-46F2-BD2F-6E098D6ADC37}"/>
              </a:ext>
            </a:extLst>
          </p:cNvPr>
          <p:cNvSpPr/>
          <p:nvPr/>
        </p:nvSpPr>
        <p:spPr>
          <a:xfrm>
            <a:off x="8519465" y="2594244"/>
            <a:ext cx="0" cy="0"/>
          </a:xfrm>
          <a:prstGeom prst="line">
            <a:avLst/>
          </a:prstGeom>
          <a:noFill/>
          <a:ln w="25400">
            <a:solidFill>
              <a:srgbClr val="E3A857"/>
            </a:solidFill>
            <a:prstDash val="solid"/>
            <a:headEnd type="triangle"/>
            <a:tailEnd type="triangle"/>
          </a:ln>
        </p:spPr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D50C9E60-E703-4532-92C8-24735A854D8A}"/>
              </a:ext>
            </a:extLst>
          </p:cNvPr>
          <p:cNvSpPr/>
          <p:nvPr/>
        </p:nvSpPr>
        <p:spPr>
          <a:xfrm>
            <a:off x="8583473" y="23885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E3A8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φB</a:t>
            </a:r>
            <a:endParaRPr lang="en-US" sz="1100" dirty="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070932E5-4395-4A40-9385-5BC9189114FB}"/>
              </a:ext>
            </a:extLst>
          </p:cNvPr>
          <p:cNvSpPr/>
          <p:nvPr/>
        </p:nvSpPr>
        <p:spPr>
          <a:xfrm>
            <a:off x="7354976" y="2091324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65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lang="en-US" sz="1100" dirty="0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169221C2-D03A-4ECB-90EC-031E678D8600}"/>
              </a:ext>
            </a:extLst>
          </p:cNvPr>
          <p:cNvSpPr/>
          <p:nvPr/>
        </p:nvSpPr>
        <p:spPr>
          <a:xfrm>
            <a:off x="10698480" y="3938412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1100" dirty="0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95D9F526-46AF-43A2-9F92-254E7514E24D}"/>
              </a:ext>
            </a:extLst>
          </p:cNvPr>
          <p:cNvSpPr/>
          <p:nvPr/>
        </p:nvSpPr>
        <p:spPr>
          <a:xfrm>
            <a:off x="6355080" y="3536076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Metal / Semiconductor work function 차이 → Schottky barrier 결정 (Schottky–Mott rule)</a:t>
            </a:r>
            <a:endParaRPr lang="en-US" sz="1000" dirty="0"/>
          </a:p>
        </p:txBody>
      </p:sp>
      <p:sp>
        <p:nvSpPr>
          <p:cNvPr id="32" name="Shape 32">
            <a:extLst>
              <a:ext uri="{FF2B5EF4-FFF2-40B4-BE49-F238E27FC236}">
                <a16:creationId xmlns:a16="http://schemas.microsoft.com/office/drawing/2014/main" id="{1FAABA59-FDD9-4B0F-9B85-CD9C67D2C751}"/>
              </a:ext>
            </a:extLst>
          </p:cNvPr>
          <p:cNvSpPr/>
          <p:nvPr/>
        </p:nvSpPr>
        <p:spPr>
          <a:xfrm>
            <a:off x="548640" y="5198806"/>
            <a:ext cx="11091672" cy="1086436"/>
          </a:xfrm>
          <a:prstGeom prst="roundRect">
            <a:avLst>
              <a:gd name="adj" fmla="val 12903"/>
            </a:avLst>
          </a:prstGeom>
          <a:solidFill>
            <a:srgbClr val="21295C"/>
          </a:solidFill>
          <a:ln/>
        </p:spPr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36CCFC5-F201-4ABD-8971-1A323170AAB7}"/>
              </a:ext>
            </a:extLst>
          </p:cNvPr>
          <p:cNvSpPr txBox="1"/>
          <p:nvPr/>
        </p:nvSpPr>
        <p:spPr>
          <a:xfrm>
            <a:off x="640081" y="5427406"/>
            <a:ext cx="108636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Heterogeneous interfaces host physics found nowhere else — this is why I chose to explore how these effects shape </a:t>
            </a:r>
            <a:r>
              <a:rPr lang="en-US" altLang="ko-KR" b="1" dirty="0">
                <a:solidFill>
                  <a:srgbClr val="FFFF00"/>
                </a:solidFill>
              </a:rPr>
              <a:t>Contact / Metal1 Design Rule</a:t>
            </a:r>
            <a:r>
              <a:rPr lang="en-US" altLang="ko-KR" dirty="0">
                <a:solidFill>
                  <a:schemeClr val="bg1"/>
                </a:solidFill>
              </a:rPr>
              <a:t>.</a:t>
            </a:r>
            <a:endParaRPr lang="ko-KR" alt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02053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F8E2D9-1C19-41A7-8398-91C2C5BA70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4007" y="2301478"/>
            <a:ext cx="4903985" cy="2255044"/>
          </a:xfrm>
        </p:spPr>
        <p:txBody>
          <a:bodyPr>
            <a:noAutofit/>
          </a:bodyPr>
          <a:lstStyle/>
          <a:p>
            <a:r>
              <a:rPr lang="en-US" altLang="ko-KR" sz="9600" b="1" dirty="0">
                <a:solidFill>
                  <a:srgbClr val="222222"/>
                </a:solidFill>
              </a:rPr>
              <a:t>Contact</a:t>
            </a:r>
            <a:endParaRPr lang="ko-KR" altLang="en-US" sz="9600" b="1" dirty="0">
              <a:solidFill>
                <a:srgbClr val="22222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37240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그림 52">
            <a:extLst>
              <a:ext uri="{FF2B5EF4-FFF2-40B4-BE49-F238E27FC236}">
                <a16:creationId xmlns:a16="http://schemas.microsoft.com/office/drawing/2014/main" id="{E555A914-78B8-42A0-BBCF-FD8A306EB4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3386" y="1492652"/>
            <a:ext cx="3450754" cy="2245467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91C5C929-8669-440E-BF5C-9FB66113EA81}"/>
              </a:ext>
            </a:extLst>
          </p:cNvPr>
          <p:cNvSpPr txBox="1"/>
          <p:nvPr/>
        </p:nvSpPr>
        <p:spPr>
          <a:xfrm>
            <a:off x="6465506" y="1132170"/>
            <a:ext cx="48062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ko-KR" sz="1600" dirty="0"/>
              <a:t>Cadence Reproducing and vertical structure</a:t>
            </a:r>
            <a:endParaRPr lang="ko-KR" altLang="en-US" sz="1600" dirty="0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1B14A38D-D0A3-461C-81CA-512713BB8B47}"/>
              </a:ext>
            </a:extLst>
          </p:cNvPr>
          <p:cNvSpPr/>
          <p:nvPr/>
        </p:nvSpPr>
        <p:spPr>
          <a:xfrm>
            <a:off x="6584650" y="1466881"/>
            <a:ext cx="507247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/>
              <a:t>Cadence</a:t>
            </a:r>
            <a:endParaRPr lang="ko-KR" altLang="en-US" sz="1400" dirty="0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F449DACE-48BB-4606-AF0C-A4616B80C8C0}"/>
              </a:ext>
            </a:extLst>
          </p:cNvPr>
          <p:cNvSpPr/>
          <p:nvPr/>
        </p:nvSpPr>
        <p:spPr>
          <a:xfrm>
            <a:off x="551428" y="1132170"/>
            <a:ext cx="399340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ko-KR" dirty="0"/>
              <a:t>Schematic in Design Rule Manual</a:t>
            </a:r>
            <a:endParaRPr lang="ko-KR" altLang="en-US" dirty="0"/>
          </a:p>
        </p:txBody>
      </p: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238F5E85-37BE-4FD3-969B-986469085B45}"/>
              </a:ext>
            </a:extLst>
          </p:cNvPr>
          <p:cNvCxnSpPr>
            <a:cxnSpLocks/>
          </p:cNvCxnSpPr>
          <p:nvPr/>
        </p:nvCxnSpPr>
        <p:spPr>
          <a:xfrm>
            <a:off x="6161698" y="1189136"/>
            <a:ext cx="0" cy="5668864"/>
          </a:xfrm>
          <a:prstGeom prst="line">
            <a:avLst/>
          </a:prstGeom>
          <a:ln w="158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0" name="표 29">
            <a:extLst>
              <a:ext uri="{FF2B5EF4-FFF2-40B4-BE49-F238E27FC236}">
                <a16:creationId xmlns:a16="http://schemas.microsoft.com/office/drawing/2014/main" id="{A8CFD6FE-F4E6-4CE5-AA4B-CB69D831897E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515294" y="255775"/>
          <a:ext cx="10911267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4766">
                  <a:extLst>
                    <a:ext uri="{9D8B030D-6E8A-4147-A177-3AD203B41FA5}">
                      <a16:colId xmlns:a16="http://schemas.microsoft.com/office/drawing/2014/main" val="3874033937"/>
                    </a:ext>
                  </a:extLst>
                </a:gridCol>
                <a:gridCol w="1416289">
                  <a:extLst>
                    <a:ext uri="{9D8B030D-6E8A-4147-A177-3AD203B41FA5}">
                      <a16:colId xmlns:a16="http://schemas.microsoft.com/office/drawing/2014/main" val="1105405848"/>
                    </a:ext>
                  </a:extLst>
                </a:gridCol>
                <a:gridCol w="7810212">
                  <a:extLst>
                    <a:ext uri="{9D8B030D-6E8A-4147-A177-3AD203B41FA5}">
                      <a16:colId xmlns:a16="http://schemas.microsoft.com/office/drawing/2014/main" val="2992235816"/>
                    </a:ext>
                  </a:extLst>
                </a:gridCol>
              </a:tblGrid>
              <a:tr h="30762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Rule Name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Value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1766925"/>
                  </a:ext>
                </a:extLst>
              </a:tr>
              <a:tr h="32923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CONT.SE.1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0.10um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Minimum Contact on Active Area to gate spacing</a:t>
                      </a:r>
                      <a:endParaRPr lang="ko-KR" altLang="en-US" sz="1400" b="1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5480813"/>
                  </a:ext>
                </a:extLst>
              </a:tr>
            </a:tbl>
          </a:graphicData>
        </a:graphic>
      </p:graphicFrame>
      <p:sp>
        <p:nvSpPr>
          <p:cNvPr id="118" name="직사각형 117">
            <a:extLst>
              <a:ext uri="{FF2B5EF4-FFF2-40B4-BE49-F238E27FC236}">
                <a16:creationId xmlns:a16="http://schemas.microsoft.com/office/drawing/2014/main" id="{2BC5FF18-03D9-4927-B6F0-5010B08ABEC7}"/>
              </a:ext>
            </a:extLst>
          </p:cNvPr>
          <p:cNvSpPr/>
          <p:nvPr/>
        </p:nvSpPr>
        <p:spPr>
          <a:xfrm>
            <a:off x="6405833" y="2878479"/>
            <a:ext cx="41549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/>
              <a:t>✄</a:t>
            </a:r>
          </a:p>
        </p:txBody>
      </p:sp>
      <p:cxnSp>
        <p:nvCxnSpPr>
          <p:cNvPr id="120" name="직선 연결선 119">
            <a:extLst>
              <a:ext uri="{FF2B5EF4-FFF2-40B4-BE49-F238E27FC236}">
                <a16:creationId xmlns:a16="http://schemas.microsoft.com/office/drawing/2014/main" id="{C05F8622-862D-4587-8C37-E4280A87A302}"/>
              </a:ext>
            </a:extLst>
          </p:cNvPr>
          <p:cNvCxnSpPr>
            <a:cxnSpLocks/>
          </p:cNvCxnSpPr>
          <p:nvPr/>
        </p:nvCxnSpPr>
        <p:spPr>
          <a:xfrm>
            <a:off x="6806203" y="2944690"/>
            <a:ext cx="4740442" cy="0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직선 연결선 120">
            <a:extLst>
              <a:ext uri="{FF2B5EF4-FFF2-40B4-BE49-F238E27FC236}">
                <a16:creationId xmlns:a16="http://schemas.microsoft.com/office/drawing/2014/main" id="{1B8D628D-67AB-480F-9A3B-7C64AC9FBCEC}"/>
              </a:ext>
            </a:extLst>
          </p:cNvPr>
          <p:cNvCxnSpPr>
            <a:cxnSpLocks/>
          </p:cNvCxnSpPr>
          <p:nvPr/>
        </p:nvCxnSpPr>
        <p:spPr>
          <a:xfrm>
            <a:off x="7997415" y="2960883"/>
            <a:ext cx="0" cy="2065613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직선 연결선 121">
            <a:extLst>
              <a:ext uri="{FF2B5EF4-FFF2-40B4-BE49-F238E27FC236}">
                <a16:creationId xmlns:a16="http://schemas.microsoft.com/office/drawing/2014/main" id="{E031B4D0-9124-4F9D-8CBF-DDD783C4A543}"/>
              </a:ext>
            </a:extLst>
          </p:cNvPr>
          <p:cNvCxnSpPr>
            <a:cxnSpLocks/>
          </p:cNvCxnSpPr>
          <p:nvPr/>
        </p:nvCxnSpPr>
        <p:spPr>
          <a:xfrm flipH="1">
            <a:off x="9553235" y="2964853"/>
            <a:ext cx="7636" cy="2057675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직선 연결선 123">
            <a:extLst>
              <a:ext uri="{FF2B5EF4-FFF2-40B4-BE49-F238E27FC236}">
                <a16:creationId xmlns:a16="http://schemas.microsoft.com/office/drawing/2014/main" id="{29DBE220-62A2-4348-932B-59B22A0C3A43}"/>
              </a:ext>
            </a:extLst>
          </p:cNvPr>
          <p:cNvCxnSpPr>
            <a:cxnSpLocks/>
          </p:cNvCxnSpPr>
          <p:nvPr/>
        </p:nvCxnSpPr>
        <p:spPr>
          <a:xfrm>
            <a:off x="10808807" y="3085340"/>
            <a:ext cx="0" cy="2035628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그림 32">
            <a:extLst>
              <a:ext uri="{FF2B5EF4-FFF2-40B4-BE49-F238E27FC236}">
                <a16:creationId xmlns:a16="http://schemas.microsoft.com/office/drawing/2014/main" id="{E0EF42FD-0724-4E02-BDF5-A187AB1884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428" y="1562592"/>
            <a:ext cx="1742129" cy="1163889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BA8F3E7A-31D8-4D94-9582-82DDCC1C0A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573" y="3827875"/>
            <a:ext cx="4086438" cy="2659118"/>
          </a:xfrm>
          <a:prstGeom prst="rect">
            <a:avLst/>
          </a:prstGeom>
        </p:spPr>
      </p:pic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AFDAC87D-6BE9-4FF3-A1D5-38F67D0DDC7C}"/>
              </a:ext>
            </a:extLst>
          </p:cNvPr>
          <p:cNvCxnSpPr>
            <a:cxnSpLocks/>
          </p:cNvCxnSpPr>
          <p:nvPr/>
        </p:nvCxnSpPr>
        <p:spPr>
          <a:xfrm flipH="1" flipV="1">
            <a:off x="2629579" y="5270660"/>
            <a:ext cx="1606760" cy="20275"/>
          </a:xfrm>
          <a:prstGeom prst="line">
            <a:avLst/>
          </a:prstGeom>
          <a:ln w="31750">
            <a:solidFill>
              <a:srgbClr val="FF0000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CF6FDF11-958B-4AFA-AC93-0D083D736B62}"/>
              </a:ext>
            </a:extLst>
          </p:cNvPr>
          <p:cNvSpPr txBox="1"/>
          <p:nvPr/>
        </p:nvSpPr>
        <p:spPr>
          <a:xfrm>
            <a:off x="2947119" y="4788102"/>
            <a:ext cx="10432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rgbClr val="FF0000"/>
                </a:solidFill>
              </a:rPr>
              <a:t>0.10um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FDEA3BF-45AD-4275-B55A-F4AD960E5C8D}"/>
              </a:ext>
            </a:extLst>
          </p:cNvPr>
          <p:cNvSpPr txBox="1"/>
          <p:nvPr/>
        </p:nvSpPr>
        <p:spPr>
          <a:xfrm>
            <a:off x="9646611" y="3934459"/>
            <a:ext cx="1546816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1600" b="1" dirty="0"/>
              <a:t>0.10um</a:t>
            </a:r>
            <a:endParaRPr lang="ko-KR" altLang="en-US" sz="1600" b="1" dirty="0"/>
          </a:p>
        </p:txBody>
      </p: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8157D79A-09EF-4423-A56A-88C5B5C9E586}"/>
              </a:ext>
            </a:extLst>
          </p:cNvPr>
          <p:cNvCxnSpPr>
            <a:cxnSpLocks/>
          </p:cNvCxnSpPr>
          <p:nvPr/>
        </p:nvCxnSpPr>
        <p:spPr>
          <a:xfrm flipV="1">
            <a:off x="9606055" y="4413530"/>
            <a:ext cx="1195207" cy="1"/>
          </a:xfrm>
          <a:prstGeom prst="line">
            <a:avLst/>
          </a:prstGeom>
          <a:ln w="19050">
            <a:solidFill>
              <a:schemeClr val="tx1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1BC34217-3239-43A2-8BD4-65F7452F7CD7}"/>
              </a:ext>
            </a:extLst>
          </p:cNvPr>
          <p:cNvSpPr/>
          <p:nvPr/>
        </p:nvSpPr>
        <p:spPr>
          <a:xfrm>
            <a:off x="7681858" y="5361865"/>
            <a:ext cx="3574585" cy="1082358"/>
          </a:xfrm>
          <a:prstGeom prst="rect">
            <a:avLst/>
          </a:prstGeom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Substrate</a:t>
            </a:r>
            <a:endParaRPr lang="ko-KR" altLang="en-US" dirty="0"/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244CE193-A33D-4D42-8AF3-86E089222BFB}"/>
              </a:ext>
            </a:extLst>
          </p:cNvPr>
          <p:cNvSpPr/>
          <p:nvPr/>
        </p:nvSpPr>
        <p:spPr>
          <a:xfrm>
            <a:off x="7997413" y="5121971"/>
            <a:ext cx="1563364" cy="266617"/>
          </a:xfrm>
          <a:prstGeom prst="rect">
            <a:avLst/>
          </a:prstGeom>
          <a:pattFill prst="wdDnDiag">
            <a:fgClr>
              <a:schemeClr val="accent3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Silicide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4253D284-29A9-479D-AF09-9EA8AA48681F}"/>
              </a:ext>
            </a:extLst>
          </p:cNvPr>
          <p:cNvSpPr/>
          <p:nvPr/>
        </p:nvSpPr>
        <p:spPr>
          <a:xfrm>
            <a:off x="7685532" y="5117274"/>
            <a:ext cx="317818" cy="28283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A20292F4-B63D-4D5C-9E28-41A6E6BF2C67}"/>
              </a:ext>
            </a:extLst>
          </p:cNvPr>
          <p:cNvSpPr/>
          <p:nvPr/>
        </p:nvSpPr>
        <p:spPr>
          <a:xfrm>
            <a:off x="9562384" y="5089669"/>
            <a:ext cx="1703395" cy="30145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/>
              <a:t>OXIDE</a:t>
            </a:r>
            <a:endParaRPr lang="ko-KR" altLang="en-US" sz="800" dirty="0"/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F4DD5CF6-D7F0-43DE-BBD9-77556F307924}"/>
              </a:ext>
            </a:extLst>
          </p:cNvPr>
          <p:cNvSpPr/>
          <p:nvPr/>
        </p:nvSpPr>
        <p:spPr>
          <a:xfrm>
            <a:off x="8004957" y="4752863"/>
            <a:ext cx="1548181" cy="36810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err="1">
                <a:solidFill>
                  <a:sysClr val="windowText" lastClr="000000"/>
                </a:solidFill>
              </a:rPr>
              <a:t>CONTACT</a:t>
            </a:r>
            <a:r>
              <a:rPr lang="en-US" altLang="ko-KR" sz="1600" dirty="0" err="1"/>
              <a:t>t</a:t>
            </a:r>
            <a:endParaRPr lang="ko-KR" altLang="en-US" sz="1600" dirty="0"/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8FF40A79-97AC-48B3-844F-9B2D1EB69290}"/>
              </a:ext>
            </a:extLst>
          </p:cNvPr>
          <p:cNvSpPr/>
          <p:nvPr/>
        </p:nvSpPr>
        <p:spPr>
          <a:xfrm>
            <a:off x="7674005" y="4750333"/>
            <a:ext cx="329344" cy="368105"/>
          </a:xfrm>
          <a:prstGeom prst="rect">
            <a:avLst/>
          </a:prstGeom>
          <a:pattFill prst="pct5">
            <a:fgClr>
              <a:srgbClr val="0070C0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00D0BFBA-AB10-4AD3-96A5-538A2C21D315}"/>
              </a:ext>
            </a:extLst>
          </p:cNvPr>
          <p:cNvSpPr/>
          <p:nvPr/>
        </p:nvSpPr>
        <p:spPr>
          <a:xfrm>
            <a:off x="9568229" y="4750333"/>
            <a:ext cx="1240479" cy="353140"/>
          </a:xfrm>
          <a:prstGeom prst="rect">
            <a:avLst/>
          </a:prstGeom>
          <a:pattFill prst="pct5">
            <a:fgClr>
              <a:srgbClr val="0070C0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ILD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D1186EB9-01F8-43AD-AB59-5EF76B3D65E0}"/>
              </a:ext>
            </a:extLst>
          </p:cNvPr>
          <p:cNvSpPr/>
          <p:nvPr/>
        </p:nvSpPr>
        <p:spPr>
          <a:xfrm>
            <a:off x="8004960" y="4413527"/>
            <a:ext cx="1555817" cy="33086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METAL 1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BEA09642-D44F-4503-AB31-7CC1B9481FDA}"/>
              </a:ext>
            </a:extLst>
          </p:cNvPr>
          <p:cNvSpPr/>
          <p:nvPr/>
        </p:nvSpPr>
        <p:spPr>
          <a:xfrm>
            <a:off x="7964429" y="5391119"/>
            <a:ext cx="1641625" cy="261251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ysClr val="windowText" lastClr="000000"/>
                </a:solidFill>
              </a:rPr>
              <a:t>N+</a:t>
            </a:r>
            <a:endParaRPr lang="ko-KR" alt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F66566D4-54C2-434D-B834-D758497CB468}"/>
              </a:ext>
            </a:extLst>
          </p:cNvPr>
          <p:cNvSpPr/>
          <p:nvPr/>
        </p:nvSpPr>
        <p:spPr>
          <a:xfrm>
            <a:off x="10808708" y="4770853"/>
            <a:ext cx="447733" cy="33262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CFAB03B2-3A76-447E-9394-D4E9BF05D45B}"/>
              </a:ext>
            </a:extLst>
          </p:cNvPr>
          <p:cNvSpPr/>
          <p:nvPr/>
        </p:nvSpPr>
        <p:spPr>
          <a:xfrm>
            <a:off x="517589" y="2749199"/>
            <a:ext cx="413180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b="1" dirty="0"/>
              <a:t>Gate </a:t>
            </a:r>
            <a:r>
              <a:rPr lang="ko-KR" altLang="en-US" b="1" dirty="0"/>
              <a:t>손상</a:t>
            </a:r>
            <a:r>
              <a:rPr lang="en-US" altLang="ko-KR" b="1" dirty="0"/>
              <a:t>·Short </a:t>
            </a:r>
            <a:r>
              <a:rPr lang="ko-KR" altLang="en-US" b="1" dirty="0"/>
              <a:t>방지를 위한 최소 </a:t>
            </a:r>
            <a:r>
              <a:rPr lang="en-US" altLang="ko-KR" b="1" dirty="0"/>
              <a:t>Contact-Gate </a:t>
            </a:r>
            <a:r>
              <a:rPr lang="ko-KR" altLang="en-US" b="1" dirty="0"/>
              <a:t>간격</a:t>
            </a:r>
          </a:p>
        </p:txBody>
      </p:sp>
    </p:spTree>
    <p:extLst>
      <p:ext uri="{BB962C8B-B14F-4D97-AF65-F5344CB8AC3E}">
        <p14:creationId xmlns:p14="http://schemas.microsoft.com/office/powerpoint/2010/main" val="28871943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직사각형 65">
            <a:extLst>
              <a:ext uri="{FF2B5EF4-FFF2-40B4-BE49-F238E27FC236}">
                <a16:creationId xmlns:a16="http://schemas.microsoft.com/office/drawing/2014/main" id="{FFA40D83-FC56-4A58-BE7B-9E37B95CBB15}"/>
              </a:ext>
            </a:extLst>
          </p:cNvPr>
          <p:cNvSpPr/>
          <p:nvPr/>
        </p:nvSpPr>
        <p:spPr>
          <a:xfrm>
            <a:off x="7528299" y="4928709"/>
            <a:ext cx="3700812" cy="330868"/>
          </a:xfrm>
          <a:prstGeom prst="rect">
            <a:avLst/>
          </a:prstGeom>
          <a:pattFill prst="pct5">
            <a:fgClr>
              <a:srgbClr val="0070C0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ILD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1C5C929-8669-440E-BF5C-9FB66113EA81}"/>
              </a:ext>
            </a:extLst>
          </p:cNvPr>
          <p:cNvSpPr txBox="1"/>
          <p:nvPr/>
        </p:nvSpPr>
        <p:spPr>
          <a:xfrm>
            <a:off x="6465506" y="1132170"/>
            <a:ext cx="48062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ko-KR" sz="1600" dirty="0"/>
              <a:t>Cadence Reproducing and vertical structure</a:t>
            </a:r>
            <a:endParaRPr lang="ko-KR" altLang="en-US" sz="1600" dirty="0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1B14A38D-D0A3-461C-81CA-512713BB8B47}"/>
              </a:ext>
            </a:extLst>
          </p:cNvPr>
          <p:cNvSpPr/>
          <p:nvPr/>
        </p:nvSpPr>
        <p:spPr>
          <a:xfrm>
            <a:off x="6584650" y="1466881"/>
            <a:ext cx="507247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/>
              <a:t>Cadence</a:t>
            </a:r>
            <a:endParaRPr lang="ko-KR" altLang="en-US" sz="1400" dirty="0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F449DACE-48BB-4606-AF0C-A4616B80C8C0}"/>
              </a:ext>
            </a:extLst>
          </p:cNvPr>
          <p:cNvSpPr/>
          <p:nvPr/>
        </p:nvSpPr>
        <p:spPr>
          <a:xfrm>
            <a:off x="515294" y="1132170"/>
            <a:ext cx="399340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ko-KR" dirty="0"/>
              <a:t>Schematic in Design Rule Manual</a:t>
            </a:r>
            <a:endParaRPr lang="ko-KR" altLang="en-US" dirty="0"/>
          </a:p>
        </p:txBody>
      </p: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238F5E85-37BE-4FD3-969B-986469085B45}"/>
              </a:ext>
            </a:extLst>
          </p:cNvPr>
          <p:cNvCxnSpPr>
            <a:cxnSpLocks/>
          </p:cNvCxnSpPr>
          <p:nvPr/>
        </p:nvCxnSpPr>
        <p:spPr>
          <a:xfrm>
            <a:off x="6161698" y="1194679"/>
            <a:ext cx="0" cy="5668864"/>
          </a:xfrm>
          <a:prstGeom prst="line">
            <a:avLst/>
          </a:prstGeom>
          <a:ln w="158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0" name="표 29">
            <a:extLst>
              <a:ext uri="{FF2B5EF4-FFF2-40B4-BE49-F238E27FC236}">
                <a16:creationId xmlns:a16="http://schemas.microsoft.com/office/drawing/2014/main" id="{A8CFD6FE-F4E6-4CE5-AA4B-CB69D831897E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515294" y="255775"/>
          <a:ext cx="10911267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4766">
                  <a:extLst>
                    <a:ext uri="{9D8B030D-6E8A-4147-A177-3AD203B41FA5}">
                      <a16:colId xmlns:a16="http://schemas.microsoft.com/office/drawing/2014/main" val="3874033937"/>
                    </a:ext>
                  </a:extLst>
                </a:gridCol>
                <a:gridCol w="1416289">
                  <a:extLst>
                    <a:ext uri="{9D8B030D-6E8A-4147-A177-3AD203B41FA5}">
                      <a16:colId xmlns:a16="http://schemas.microsoft.com/office/drawing/2014/main" val="1105405848"/>
                    </a:ext>
                  </a:extLst>
                </a:gridCol>
                <a:gridCol w="7810212">
                  <a:extLst>
                    <a:ext uri="{9D8B030D-6E8A-4147-A177-3AD203B41FA5}">
                      <a16:colId xmlns:a16="http://schemas.microsoft.com/office/drawing/2014/main" val="2992235816"/>
                    </a:ext>
                  </a:extLst>
                </a:gridCol>
              </a:tblGrid>
              <a:tr h="30762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Rule Name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Value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1766925"/>
                  </a:ext>
                </a:extLst>
              </a:tr>
              <a:tr h="32923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CONT.SE.3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0.12um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Minimum gate Contact to Active Area spacing</a:t>
                      </a:r>
                      <a:endParaRPr lang="ko-KR" altLang="en-US" sz="1400" b="1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5480813"/>
                  </a:ext>
                </a:extLst>
              </a:tr>
            </a:tbl>
          </a:graphicData>
        </a:graphic>
      </p:graphicFrame>
      <p:pic>
        <p:nvPicPr>
          <p:cNvPr id="31" name="그림 30">
            <a:extLst>
              <a:ext uri="{FF2B5EF4-FFF2-40B4-BE49-F238E27FC236}">
                <a16:creationId xmlns:a16="http://schemas.microsoft.com/office/drawing/2014/main" id="{D9413250-E7C8-4008-8FCC-2F63C5F779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101" y="1556925"/>
            <a:ext cx="1816464" cy="1225744"/>
          </a:xfrm>
          <a:prstGeom prst="rect">
            <a:avLst/>
          </a:prstGeom>
        </p:spPr>
      </p:pic>
      <p:pic>
        <p:nvPicPr>
          <p:cNvPr id="36" name="그림 35">
            <a:extLst>
              <a:ext uri="{FF2B5EF4-FFF2-40B4-BE49-F238E27FC236}">
                <a16:creationId xmlns:a16="http://schemas.microsoft.com/office/drawing/2014/main" id="{11940091-5C2B-4CD2-824E-0DAAA17FF2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413" y="3672253"/>
            <a:ext cx="2834786" cy="2822901"/>
          </a:xfrm>
          <a:prstGeom prst="rect">
            <a:avLst/>
          </a:prstGeom>
        </p:spPr>
      </p:pic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AFDAC87D-6BE9-4FF3-A1D5-38F67D0DDC7C}"/>
              </a:ext>
            </a:extLst>
          </p:cNvPr>
          <p:cNvCxnSpPr>
            <a:cxnSpLocks/>
          </p:cNvCxnSpPr>
          <p:nvPr/>
        </p:nvCxnSpPr>
        <p:spPr>
          <a:xfrm flipV="1">
            <a:off x="1588286" y="3950513"/>
            <a:ext cx="0" cy="652632"/>
          </a:xfrm>
          <a:prstGeom prst="line">
            <a:avLst/>
          </a:prstGeom>
          <a:ln w="31750">
            <a:solidFill>
              <a:srgbClr val="FF0000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CF6FDF11-958B-4AFA-AC93-0D083D736B62}"/>
              </a:ext>
            </a:extLst>
          </p:cNvPr>
          <p:cNvSpPr txBox="1"/>
          <p:nvPr/>
        </p:nvSpPr>
        <p:spPr>
          <a:xfrm>
            <a:off x="1682981" y="4053266"/>
            <a:ext cx="10432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rgbClr val="FF0000"/>
                </a:solidFill>
              </a:rPr>
              <a:t>0.12um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BEF85DF1-B994-4D1D-A83E-E58DA90FFEA6}"/>
              </a:ext>
            </a:extLst>
          </p:cNvPr>
          <p:cNvCxnSpPr>
            <a:cxnSpLocks/>
          </p:cNvCxnSpPr>
          <p:nvPr/>
        </p:nvCxnSpPr>
        <p:spPr>
          <a:xfrm>
            <a:off x="9909962" y="4388264"/>
            <a:ext cx="1042042" cy="0"/>
          </a:xfrm>
          <a:prstGeom prst="line">
            <a:avLst/>
          </a:prstGeom>
          <a:ln w="19050">
            <a:solidFill>
              <a:schemeClr val="tx1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33648318-B523-4C9F-AE64-B96751628271}"/>
              </a:ext>
            </a:extLst>
          </p:cNvPr>
          <p:cNvSpPr txBox="1"/>
          <p:nvPr/>
        </p:nvSpPr>
        <p:spPr>
          <a:xfrm>
            <a:off x="9975427" y="3935859"/>
            <a:ext cx="114873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b="1" dirty="0"/>
              <a:t>0.12um</a:t>
            </a:r>
            <a:endParaRPr lang="ko-KR" altLang="en-US" b="1" dirty="0"/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6ADDB1CD-41BE-4206-9EB0-04894D8B0018}"/>
              </a:ext>
            </a:extLst>
          </p:cNvPr>
          <p:cNvSpPr/>
          <p:nvPr/>
        </p:nvSpPr>
        <p:spPr>
          <a:xfrm>
            <a:off x="8449308" y="5264784"/>
            <a:ext cx="1793803" cy="33086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AA9F761E-FDD0-463E-82FD-80A0580EAB74}"/>
              </a:ext>
            </a:extLst>
          </p:cNvPr>
          <p:cNvSpPr/>
          <p:nvPr/>
        </p:nvSpPr>
        <p:spPr>
          <a:xfrm>
            <a:off x="8792778" y="4920832"/>
            <a:ext cx="1100153" cy="3385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53" name="그림 52">
            <a:extLst>
              <a:ext uri="{FF2B5EF4-FFF2-40B4-BE49-F238E27FC236}">
                <a16:creationId xmlns:a16="http://schemas.microsoft.com/office/drawing/2014/main" id="{10BF45FB-58DF-4433-9C05-CD5D64E501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8397921" y="940537"/>
            <a:ext cx="1963774" cy="3693571"/>
          </a:xfrm>
          <a:prstGeom prst="rect">
            <a:avLst/>
          </a:prstGeom>
        </p:spPr>
      </p:pic>
      <p:sp>
        <p:nvSpPr>
          <p:cNvPr id="54" name="직사각형 53">
            <a:extLst>
              <a:ext uri="{FF2B5EF4-FFF2-40B4-BE49-F238E27FC236}">
                <a16:creationId xmlns:a16="http://schemas.microsoft.com/office/drawing/2014/main" id="{82AE723D-4376-4281-AF70-F9B2981CE4CA}"/>
              </a:ext>
            </a:extLst>
          </p:cNvPr>
          <p:cNvSpPr/>
          <p:nvPr/>
        </p:nvSpPr>
        <p:spPr>
          <a:xfrm>
            <a:off x="7733128" y="5592240"/>
            <a:ext cx="3200455" cy="33086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58" name="직선 연결선 57">
            <a:extLst>
              <a:ext uri="{FF2B5EF4-FFF2-40B4-BE49-F238E27FC236}">
                <a16:creationId xmlns:a16="http://schemas.microsoft.com/office/drawing/2014/main" id="{225992F5-CE87-4690-919A-3B475DEC5C2D}"/>
              </a:ext>
            </a:extLst>
          </p:cNvPr>
          <p:cNvCxnSpPr>
            <a:cxnSpLocks/>
          </p:cNvCxnSpPr>
          <p:nvPr/>
        </p:nvCxnSpPr>
        <p:spPr>
          <a:xfrm>
            <a:off x="6884738" y="3104543"/>
            <a:ext cx="4740442" cy="0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ADA39947-2837-4864-A895-0759E9D81337}"/>
              </a:ext>
            </a:extLst>
          </p:cNvPr>
          <p:cNvSpPr/>
          <p:nvPr/>
        </p:nvSpPr>
        <p:spPr>
          <a:xfrm>
            <a:off x="6451493" y="2909980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/>
              <a:t>✄</a:t>
            </a: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3BA47A99-E5F6-4FA8-8034-7887B79B21FD}"/>
              </a:ext>
            </a:extLst>
          </p:cNvPr>
          <p:cNvSpPr/>
          <p:nvPr/>
        </p:nvSpPr>
        <p:spPr>
          <a:xfrm>
            <a:off x="7528299" y="5613668"/>
            <a:ext cx="3699481" cy="1067752"/>
          </a:xfrm>
          <a:prstGeom prst="rect">
            <a:avLst/>
          </a:prstGeom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Substrate</a:t>
            </a:r>
            <a:endParaRPr lang="ko-KR" altLang="en-US" dirty="0"/>
          </a:p>
        </p:txBody>
      </p:sp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00739CA6-C8B8-462C-87EC-D0E7BB867123}"/>
              </a:ext>
            </a:extLst>
          </p:cNvPr>
          <p:cNvCxnSpPr>
            <a:cxnSpLocks/>
          </p:cNvCxnSpPr>
          <p:nvPr/>
        </p:nvCxnSpPr>
        <p:spPr>
          <a:xfrm>
            <a:off x="7726010" y="3156393"/>
            <a:ext cx="14093" cy="1764439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연결선 50">
            <a:extLst>
              <a:ext uri="{FF2B5EF4-FFF2-40B4-BE49-F238E27FC236}">
                <a16:creationId xmlns:a16="http://schemas.microsoft.com/office/drawing/2014/main" id="{978E0110-91EA-44D3-AACD-79136F561574}"/>
              </a:ext>
            </a:extLst>
          </p:cNvPr>
          <p:cNvCxnSpPr>
            <a:cxnSpLocks/>
          </p:cNvCxnSpPr>
          <p:nvPr/>
        </p:nvCxnSpPr>
        <p:spPr>
          <a:xfrm>
            <a:off x="10940700" y="3114096"/>
            <a:ext cx="0" cy="1764439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ACAAC9E0-7131-45E3-88EF-23068628421B}"/>
              </a:ext>
            </a:extLst>
          </p:cNvPr>
          <p:cNvCxnSpPr>
            <a:cxnSpLocks/>
          </p:cNvCxnSpPr>
          <p:nvPr/>
        </p:nvCxnSpPr>
        <p:spPr>
          <a:xfrm>
            <a:off x="9887670" y="3073095"/>
            <a:ext cx="911" cy="1795788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연결선 56">
            <a:extLst>
              <a:ext uri="{FF2B5EF4-FFF2-40B4-BE49-F238E27FC236}">
                <a16:creationId xmlns:a16="http://schemas.microsoft.com/office/drawing/2014/main" id="{2AEF58AD-DD0B-4FAD-BD5F-2CAE63BD6BE4}"/>
              </a:ext>
            </a:extLst>
          </p:cNvPr>
          <p:cNvCxnSpPr>
            <a:cxnSpLocks/>
          </p:cNvCxnSpPr>
          <p:nvPr/>
        </p:nvCxnSpPr>
        <p:spPr>
          <a:xfrm>
            <a:off x="8797826" y="3322036"/>
            <a:ext cx="6164" cy="1546847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F3C18482-6DC2-46A9-935A-8579C5C9514F}"/>
              </a:ext>
            </a:extLst>
          </p:cNvPr>
          <p:cNvSpPr/>
          <p:nvPr/>
        </p:nvSpPr>
        <p:spPr>
          <a:xfrm>
            <a:off x="7733127" y="5612276"/>
            <a:ext cx="3206913" cy="308348"/>
          </a:xfrm>
          <a:prstGeom prst="rect">
            <a:avLst/>
          </a:prstGeom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STI</a:t>
            </a:r>
            <a:endParaRPr lang="ko-KR" altLang="en-US" dirty="0"/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85B9F15B-5B98-4582-80F6-206DBBD54894}"/>
              </a:ext>
            </a:extLst>
          </p:cNvPr>
          <p:cNvSpPr/>
          <p:nvPr/>
        </p:nvSpPr>
        <p:spPr>
          <a:xfrm>
            <a:off x="7739965" y="5257840"/>
            <a:ext cx="3214935" cy="350564"/>
          </a:xfrm>
          <a:prstGeom prst="rect">
            <a:avLst/>
          </a:prstGeom>
          <a:pattFill prst="pct5">
            <a:fgClr>
              <a:srgbClr val="0070C0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ILD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140B6024-5991-4F05-8B92-21A86DC33387}"/>
              </a:ext>
            </a:extLst>
          </p:cNvPr>
          <p:cNvSpPr/>
          <p:nvPr/>
        </p:nvSpPr>
        <p:spPr>
          <a:xfrm>
            <a:off x="8455215" y="5267031"/>
            <a:ext cx="1789979" cy="34348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POLY / Gate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48361B91-98CF-430F-A230-77A772C3EA47}"/>
              </a:ext>
            </a:extLst>
          </p:cNvPr>
          <p:cNvSpPr/>
          <p:nvPr/>
        </p:nvSpPr>
        <p:spPr>
          <a:xfrm>
            <a:off x="8803990" y="4930378"/>
            <a:ext cx="1084591" cy="30017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dirty="0" err="1">
                <a:solidFill>
                  <a:sysClr val="windowText" lastClr="000000"/>
                </a:solidFill>
              </a:rPr>
              <a:t>CONTACT</a:t>
            </a:r>
            <a:r>
              <a:rPr lang="en-US" altLang="ko-KR" sz="1050" dirty="0" err="1"/>
              <a:t>t</a:t>
            </a:r>
            <a:endParaRPr lang="ko-KR" altLang="en-US" sz="1050" dirty="0"/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1D4DCC14-71AA-4175-890A-ECB9164C07C0}"/>
              </a:ext>
            </a:extLst>
          </p:cNvPr>
          <p:cNvSpPr/>
          <p:nvPr/>
        </p:nvSpPr>
        <p:spPr>
          <a:xfrm>
            <a:off x="7528825" y="4588491"/>
            <a:ext cx="219208" cy="33086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DDE4EF04-4125-4391-BC14-2E9246C7FB2C}"/>
              </a:ext>
            </a:extLst>
          </p:cNvPr>
          <p:cNvSpPr/>
          <p:nvPr/>
        </p:nvSpPr>
        <p:spPr>
          <a:xfrm>
            <a:off x="10954898" y="4594429"/>
            <a:ext cx="271694" cy="33086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B6B735D4-BDD7-4443-96D3-4A0315A21524}"/>
              </a:ext>
            </a:extLst>
          </p:cNvPr>
          <p:cNvSpPr/>
          <p:nvPr/>
        </p:nvSpPr>
        <p:spPr>
          <a:xfrm>
            <a:off x="7521842" y="5257840"/>
            <a:ext cx="227260" cy="35582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/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DF66C9A2-A547-4C90-8DA3-AAA73EADCCB8}"/>
              </a:ext>
            </a:extLst>
          </p:cNvPr>
          <p:cNvSpPr/>
          <p:nvPr/>
        </p:nvSpPr>
        <p:spPr>
          <a:xfrm>
            <a:off x="10961357" y="5256077"/>
            <a:ext cx="265237" cy="35582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2133384-DCF1-4C10-9322-30012B27F9C4}"/>
              </a:ext>
            </a:extLst>
          </p:cNvPr>
          <p:cNvSpPr/>
          <p:nvPr/>
        </p:nvSpPr>
        <p:spPr>
          <a:xfrm>
            <a:off x="515294" y="2782669"/>
            <a:ext cx="430839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b="1" dirty="0"/>
              <a:t>Gate-Active Short </a:t>
            </a:r>
            <a:r>
              <a:rPr lang="ko-KR" altLang="en-US" b="1" dirty="0"/>
              <a:t>방지를 위한 최소 </a:t>
            </a:r>
            <a:r>
              <a:rPr lang="en-US" altLang="ko-KR" b="1" dirty="0"/>
              <a:t>Gate Contact </a:t>
            </a:r>
            <a:r>
              <a:rPr lang="ko-KR" altLang="en-US" b="1" dirty="0"/>
              <a:t>간격</a:t>
            </a:r>
          </a:p>
        </p:txBody>
      </p:sp>
    </p:spTree>
    <p:extLst>
      <p:ext uri="{BB962C8B-B14F-4D97-AF65-F5344CB8AC3E}">
        <p14:creationId xmlns:p14="http://schemas.microsoft.com/office/powerpoint/2010/main" val="7715792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D24F2B-D53F-40DC-8AD5-E8DDEF8870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Why Contact-to-Gate Spacing Matters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0BC7695-D186-4F97-916E-2CF841BB7F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67232" y="1828800"/>
            <a:ext cx="5115233" cy="516195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altLang="ko-KR" dirty="0"/>
              <a:t>Hot Carrier Injection Reliability</a:t>
            </a:r>
            <a:endParaRPr lang="ko-KR" altLang="en-US" dirty="0"/>
          </a:p>
        </p:txBody>
      </p:sp>
      <p:sp>
        <p:nvSpPr>
          <p:cNvPr id="4" name="화살표: 오른쪽 3">
            <a:extLst>
              <a:ext uri="{FF2B5EF4-FFF2-40B4-BE49-F238E27FC236}">
                <a16:creationId xmlns:a16="http://schemas.microsoft.com/office/drawing/2014/main" id="{5977EF12-7495-4350-AF07-BA153E3F8A32}"/>
              </a:ext>
            </a:extLst>
          </p:cNvPr>
          <p:cNvSpPr/>
          <p:nvPr/>
        </p:nvSpPr>
        <p:spPr>
          <a:xfrm>
            <a:off x="1002890" y="1814053"/>
            <a:ext cx="899652" cy="516194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026" name="Picture 2" descr="기초 전자회로 이론] MOSFET에서 전압과 전류의 관계에 대해 알아보자.(2)">
            <a:extLst>
              <a:ext uri="{FF2B5EF4-FFF2-40B4-BE49-F238E27FC236}">
                <a16:creationId xmlns:a16="http://schemas.microsoft.com/office/drawing/2014/main" id="{9768B340-0611-4DD0-A814-95FD43D2BB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896826"/>
            <a:ext cx="6344266" cy="23329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105AE92-B68C-4540-B15F-7E4D55C2DC04}"/>
              </a:ext>
            </a:extLst>
          </p:cNvPr>
          <p:cNvSpPr txBox="1"/>
          <p:nvPr/>
        </p:nvSpPr>
        <p:spPr>
          <a:xfrm>
            <a:off x="3279673" y="5229802"/>
            <a:ext cx="14613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/>
              <a:t>Pinch-off</a:t>
            </a: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6383714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76E214-925C-4253-A533-FF075706D8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HCI(Hot</a:t>
            </a:r>
            <a:r>
              <a:rPr lang="ko-KR" altLang="en-US" dirty="0"/>
              <a:t> </a:t>
            </a:r>
            <a:r>
              <a:rPr lang="en-US" altLang="ko-KR" dirty="0"/>
              <a:t>Carrier Injection)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F889742-8CB2-4A43-8B3B-535F5BA03C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429000"/>
            <a:ext cx="4176252" cy="1325564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altLang="ko-KR" dirty="0"/>
              <a:t>Charge trap formation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ko-KR" dirty="0"/>
              <a:t>Device Degradation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내용 개체 틀 2">
                <a:extLst>
                  <a:ext uri="{FF2B5EF4-FFF2-40B4-BE49-F238E27FC236}">
                    <a16:creationId xmlns:a16="http://schemas.microsoft.com/office/drawing/2014/main" id="{52D141FC-CB34-48F0-99F2-D28099B453E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782348"/>
                <a:ext cx="10515600" cy="82984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1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altLang="ko-KR" dirty="0"/>
                  <a:t>Impact ionization rate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𝑖𝑖</m:t>
                        </m:r>
                      </m:sub>
                    </m:sSub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 ∙</m:t>
                    </m:r>
                    <m:func>
                      <m:funcPr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exp</m:t>
                        </m:r>
                      </m:fName>
                      <m:e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𝑏</m:t>
                                </m:r>
                              </m:num>
                              <m:den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𝐸</m:t>
                                </m:r>
                              </m:den>
                            </m:f>
                          </m:e>
                        </m:d>
                      </m:e>
                    </m:func>
                  </m:oMath>
                </a14:m>
                <a:endParaRPr lang="en-US" altLang="ko-KR" dirty="0"/>
              </a:p>
            </p:txBody>
          </p:sp>
        </mc:Choice>
        <mc:Fallback xmlns="">
          <p:sp>
            <p:nvSpPr>
              <p:cNvPr id="5" name="내용 개체 틀 2">
                <a:extLst>
                  <a:ext uri="{FF2B5EF4-FFF2-40B4-BE49-F238E27FC236}">
                    <a16:creationId xmlns:a16="http://schemas.microsoft.com/office/drawing/2014/main" id="{52D141FC-CB34-48F0-99F2-D28099B453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782348"/>
                <a:ext cx="10515600" cy="829843"/>
              </a:xfrm>
              <a:prstGeom prst="rect">
                <a:avLst/>
              </a:prstGeom>
              <a:blipFill>
                <a:blip r:embed="rId2"/>
                <a:stretch>
                  <a:fillRect l="-1217" t="-146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화살표: 오른쪽 5">
            <a:extLst>
              <a:ext uri="{FF2B5EF4-FFF2-40B4-BE49-F238E27FC236}">
                <a16:creationId xmlns:a16="http://schemas.microsoft.com/office/drawing/2014/main" id="{7DB3D3DF-313B-4EB3-8EC8-35DEB8EA775E}"/>
              </a:ext>
            </a:extLst>
          </p:cNvPr>
          <p:cNvSpPr/>
          <p:nvPr/>
        </p:nvSpPr>
        <p:spPr>
          <a:xfrm>
            <a:off x="5501148" y="3729616"/>
            <a:ext cx="899652" cy="516194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CA171C23-7E98-46E1-B580-5CC98641C31D}"/>
              </a:ext>
            </a:extLst>
          </p:cNvPr>
          <p:cNvSpPr txBox="1">
            <a:spLocks/>
          </p:cNvSpPr>
          <p:nvPr/>
        </p:nvSpPr>
        <p:spPr>
          <a:xfrm>
            <a:off x="7062019" y="3579308"/>
            <a:ext cx="4176252" cy="8168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4000" dirty="0"/>
              <a:t>Reliability Issue</a:t>
            </a:r>
            <a:endParaRPr lang="ko-KR" altLang="en-US" sz="4000" dirty="0"/>
          </a:p>
        </p:txBody>
      </p:sp>
    </p:spTree>
    <p:extLst>
      <p:ext uri="{BB962C8B-B14F-4D97-AF65-F5344CB8AC3E}">
        <p14:creationId xmlns:p14="http://schemas.microsoft.com/office/powerpoint/2010/main" val="31614040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직사각형 90">
            <a:extLst>
              <a:ext uri="{FF2B5EF4-FFF2-40B4-BE49-F238E27FC236}">
                <a16:creationId xmlns:a16="http://schemas.microsoft.com/office/drawing/2014/main" id="{9F1D53E1-2AC9-4FDB-9BC8-76361B959159}"/>
              </a:ext>
            </a:extLst>
          </p:cNvPr>
          <p:cNvSpPr/>
          <p:nvPr/>
        </p:nvSpPr>
        <p:spPr>
          <a:xfrm>
            <a:off x="7825536" y="5419985"/>
            <a:ext cx="1564289" cy="1080105"/>
          </a:xfrm>
          <a:prstGeom prst="rect">
            <a:avLst/>
          </a:prstGeom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Substrate</a:t>
            </a:r>
            <a:endParaRPr lang="ko-KR" altLang="en-US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1C5C929-8669-440E-BF5C-9FB66113EA81}"/>
              </a:ext>
            </a:extLst>
          </p:cNvPr>
          <p:cNvSpPr txBox="1"/>
          <p:nvPr/>
        </p:nvSpPr>
        <p:spPr>
          <a:xfrm>
            <a:off x="6465506" y="1132170"/>
            <a:ext cx="48062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ko-KR" sz="1600" dirty="0"/>
              <a:t>Cadence Reproducing and vertical structure</a:t>
            </a:r>
            <a:endParaRPr lang="ko-KR" altLang="en-US" sz="1600" dirty="0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1B14A38D-D0A3-461C-81CA-512713BB8B47}"/>
              </a:ext>
            </a:extLst>
          </p:cNvPr>
          <p:cNvSpPr/>
          <p:nvPr/>
        </p:nvSpPr>
        <p:spPr>
          <a:xfrm>
            <a:off x="6584650" y="1466881"/>
            <a:ext cx="507247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/>
              <a:t>Cadence</a:t>
            </a:r>
            <a:endParaRPr lang="ko-KR" altLang="en-US" sz="1400" dirty="0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F449DACE-48BB-4606-AF0C-A4616B80C8C0}"/>
              </a:ext>
            </a:extLst>
          </p:cNvPr>
          <p:cNvSpPr/>
          <p:nvPr/>
        </p:nvSpPr>
        <p:spPr>
          <a:xfrm>
            <a:off x="532058" y="1136821"/>
            <a:ext cx="399340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ko-KR" dirty="0"/>
              <a:t>Schematic in Design Rule Manual</a:t>
            </a:r>
            <a:endParaRPr lang="ko-KR" altLang="en-US" dirty="0"/>
          </a:p>
        </p:txBody>
      </p: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238F5E85-37BE-4FD3-969B-986469085B45}"/>
              </a:ext>
            </a:extLst>
          </p:cNvPr>
          <p:cNvCxnSpPr>
            <a:cxnSpLocks/>
          </p:cNvCxnSpPr>
          <p:nvPr/>
        </p:nvCxnSpPr>
        <p:spPr>
          <a:xfrm>
            <a:off x="6161698" y="1194679"/>
            <a:ext cx="0" cy="5668864"/>
          </a:xfrm>
          <a:prstGeom prst="line">
            <a:avLst/>
          </a:prstGeom>
          <a:ln w="158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0" name="표 29">
            <a:extLst>
              <a:ext uri="{FF2B5EF4-FFF2-40B4-BE49-F238E27FC236}">
                <a16:creationId xmlns:a16="http://schemas.microsoft.com/office/drawing/2014/main" id="{A8CFD6FE-F4E6-4CE5-AA4B-CB69D831897E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515294" y="255775"/>
          <a:ext cx="10911267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4766">
                  <a:extLst>
                    <a:ext uri="{9D8B030D-6E8A-4147-A177-3AD203B41FA5}">
                      <a16:colId xmlns:a16="http://schemas.microsoft.com/office/drawing/2014/main" val="3874033937"/>
                    </a:ext>
                  </a:extLst>
                </a:gridCol>
                <a:gridCol w="1416289">
                  <a:extLst>
                    <a:ext uri="{9D8B030D-6E8A-4147-A177-3AD203B41FA5}">
                      <a16:colId xmlns:a16="http://schemas.microsoft.com/office/drawing/2014/main" val="1105405848"/>
                    </a:ext>
                  </a:extLst>
                </a:gridCol>
                <a:gridCol w="7810212">
                  <a:extLst>
                    <a:ext uri="{9D8B030D-6E8A-4147-A177-3AD203B41FA5}">
                      <a16:colId xmlns:a16="http://schemas.microsoft.com/office/drawing/2014/main" val="2992235816"/>
                    </a:ext>
                  </a:extLst>
                </a:gridCol>
              </a:tblGrid>
              <a:tr h="30762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Rule Name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Value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1766925"/>
                  </a:ext>
                </a:extLst>
              </a:tr>
              <a:tr h="32923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CONT.E.4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0.06um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Minimum N+/P+ Implant on Active Area to Contact enclosure</a:t>
                      </a:r>
                      <a:endParaRPr lang="ko-KR" altLang="en-US" sz="1400" b="1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5480813"/>
                  </a:ext>
                </a:extLst>
              </a:tr>
            </a:tbl>
          </a:graphicData>
        </a:graphic>
      </p:graphicFrame>
      <p:pic>
        <p:nvPicPr>
          <p:cNvPr id="44" name="그림 43">
            <a:extLst>
              <a:ext uri="{FF2B5EF4-FFF2-40B4-BE49-F238E27FC236}">
                <a16:creationId xmlns:a16="http://schemas.microsoft.com/office/drawing/2014/main" id="{EB37A969-AEC9-4EDB-BB78-9C7C30A47A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714" y="1507353"/>
            <a:ext cx="4486749" cy="1473681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2EE66797-BC4A-4C0C-BC4A-CB88B2D22F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1695113" y="2692335"/>
            <a:ext cx="2730348" cy="5089432"/>
          </a:xfrm>
          <a:prstGeom prst="rect">
            <a:avLst/>
          </a:prstGeom>
        </p:spPr>
      </p:pic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AFDAC87D-6BE9-4FF3-A1D5-38F67D0DDC7C}"/>
              </a:ext>
            </a:extLst>
          </p:cNvPr>
          <p:cNvCxnSpPr>
            <a:cxnSpLocks/>
          </p:cNvCxnSpPr>
          <p:nvPr/>
        </p:nvCxnSpPr>
        <p:spPr>
          <a:xfrm flipV="1">
            <a:off x="4093541" y="4282532"/>
            <a:ext cx="0" cy="449637"/>
          </a:xfrm>
          <a:prstGeom prst="line">
            <a:avLst/>
          </a:prstGeom>
          <a:ln w="31750">
            <a:solidFill>
              <a:srgbClr val="FF0000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CF6FDF11-958B-4AFA-AC93-0D083D736B62}"/>
              </a:ext>
            </a:extLst>
          </p:cNvPr>
          <p:cNvSpPr txBox="1"/>
          <p:nvPr/>
        </p:nvSpPr>
        <p:spPr>
          <a:xfrm>
            <a:off x="4137582" y="4331212"/>
            <a:ext cx="10432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rgbClr val="FF0000"/>
                </a:solidFill>
              </a:rPr>
              <a:t>0.06um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37B2D7AE-B79C-4D08-A98A-E81CA9F83EE3}"/>
              </a:ext>
            </a:extLst>
          </p:cNvPr>
          <p:cNvCxnSpPr>
            <a:cxnSpLocks/>
          </p:cNvCxnSpPr>
          <p:nvPr/>
        </p:nvCxnSpPr>
        <p:spPr>
          <a:xfrm flipH="1" flipV="1">
            <a:off x="3286839" y="5098551"/>
            <a:ext cx="461819" cy="1"/>
          </a:xfrm>
          <a:prstGeom prst="line">
            <a:avLst/>
          </a:prstGeom>
          <a:ln w="31750">
            <a:solidFill>
              <a:srgbClr val="FF0000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98854BC3-1E9F-4B25-BE80-184BFAC8588F}"/>
              </a:ext>
            </a:extLst>
          </p:cNvPr>
          <p:cNvSpPr txBox="1"/>
          <p:nvPr/>
        </p:nvSpPr>
        <p:spPr>
          <a:xfrm>
            <a:off x="3157633" y="5211462"/>
            <a:ext cx="10432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rgbClr val="FF0000"/>
                </a:solidFill>
              </a:rPr>
              <a:t>0.06um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CEC60B73-5D57-41C7-BE84-1705AF3F189D}"/>
              </a:ext>
            </a:extLst>
          </p:cNvPr>
          <p:cNvCxnSpPr>
            <a:cxnSpLocks/>
          </p:cNvCxnSpPr>
          <p:nvPr/>
        </p:nvCxnSpPr>
        <p:spPr>
          <a:xfrm flipV="1">
            <a:off x="1760302" y="4280776"/>
            <a:ext cx="0" cy="449637"/>
          </a:xfrm>
          <a:prstGeom prst="line">
            <a:avLst/>
          </a:prstGeom>
          <a:ln w="31750">
            <a:solidFill>
              <a:srgbClr val="FF0000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7522E4AB-ED9E-4A72-8E92-CC772035E6FE}"/>
              </a:ext>
            </a:extLst>
          </p:cNvPr>
          <p:cNvCxnSpPr>
            <a:cxnSpLocks/>
          </p:cNvCxnSpPr>
          <p:nvPr/>
        </p:nvCxnSpPr>
        <p:spPr>
          <a:xfrm flipH="1" flipV="1">
            <a:off x="837487" y="5036942"/>
            <a:ext cx="532910" cy="1979"/>
          </a:xfrm>
          <a:prstGeom prst="line">
            <a:avLst/>
          </a:prstGeom>
          <a:ln w="31750">
            <a:solidFill>
              <a:srgbClr val="FF0000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77142493-DE37-4B8E-8F4F-8FBFFEB277DF}"/>
              </a:ext>
            </a:extLst>
          </p:cNvPr>
          <p:cNvSpPr txBox="1"/>
          <p:nvPr/>
        </p:nvSpPr>
        <p:spPr>
          <a:xfrm>
            <a:off x="1849104" y="4320928"/>
            <a:ext cx="10432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rgbClr val="FF0000"/>
                </a:solidFill>
              </a:rPr>
              <a:t>0.06um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967A436-D6B1-474B-812F-0B73CC53DABA}"/>
              </a:ext>
            </a:extLst>
          </p:cNvPr>
          <p:cNvSpPr txBox="1"/>
          <p:nvPr/>
        </p:nvSpPr>
        <p:spPr>
          <a:xfrm>
            <a:off x="680097" y="5162923"/>
            <a:ext cx="10432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rgbClr val="FF0000"/>
                </a:solidFill>
              </a:rPr>
              <a:t>0.06um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cxnSp>
        <p:nvCxnSpPr>
          <p:cNvPr id="72" name="직선 연결선 71">
            <a:extLst>
              <a:ext uri="{FF2B5EF4-FFF2-40B4-BE49-F238E27FC236}">
                <a16:creationId xmlns:a16="http://schemas.microsoft.com/office/drawing/2014/main" id="{E4333050-EEB8-4082-AAFD-BE937B30374A}"/>
              </a:ext>
            </a:extLst>
          </p:cNvPr>
          <p:cNvCxnSpPr>
            <a:cxnSpLocks/>
          </p:cNvCxnSpPr>
          <p:nvPr/>
        </p:nvCxnSpPr>
        <p:spPr>
          <a:xfrm>
            <a:off x="7818640" y="4814840"/>
            <a:ext cx="416094" cy="0"/>
          </a:xfrm>
          <a:prstGeom prst="line">
            <a:avLst/>
          </a:prstGeom>
          <a:ln w="19050">
            <a:solidFill>
              <a:schemeClr val="tx1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EAC1D3BD-9BA7-4F16-8150-5C1F394072DC}"/>
              </a:ext>
            </a:extLst>
          </p:cNvPr>
          <p:cNvSpPr/>
          <p:nvPr/>
        </p:nvSpPr>
        <p:spPr>
          <a:xfrm>
            <a:off x="6587603" y="2689790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/>
              <a:t>✄</a:t>
            </a:r>
          </a:p>
        </p:txBody>
      </p:sp>
      <p:pic>
        <p:nvPicPr>
          <p:cNvPr id="74" name="그림 73">
            <a:extLst>
              <a:ext uri="{FF2B5EF4-FFF2-40B4-BE49-F238E27FC236}">
                <a16:creationId xmlns:a16="http://schemas.microsoft.com/office/drawing/2014/main" id="{865706EE-C8AF-4D08-86A3-152C41C4BF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8421195" y="966055"/>
            <a:ext cx="1990572" cy="3710472"/>
          </a:xfrm>
          <a:prstGeom prst="rect">
            <a:avLst/>
          </a:prstGeom>
        </p:spPr>
      </p:pic>
      <p:cxnSp>
        <p:nvCxnSpPr>
          <p:cNvPr id="75" name="직선 연결선 74">
            <a:extLst>
              <a:ext uri="{FF2B5EF4-FFF2-40B4-BE49-F238E27FC236}">
                <a16:creationId xmlns:a16="http://schemas.microsoft.com/office/drawing/2014/main" id="{DFA06C04-C494-4FB0-91EA-8E0B9CE5A270}"/>
              </a:ext>
            </a:extLst>
          </p:cNvPr>
          <p:cNvCxnSpPr>
            <a:cxnSpLocks/>
          </p:cNvCxnSpPr>
          <p:nvPr/>
        </p:nvCxnSpPr>
        <p:spPr>
          <a:xfrm>
            <a:off x="6966971" y="2869033"/>
            <a:ext cx="4740442" cy="0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직사각형 93">
            <a:extLst>
              <a:ext uri="{FF2B5EF4-FFF2-40B4-BE49-F238E27FC236}">
                <a16:creationId xmlns:a16="http://schemas.microsoft.com/office/drawing/2014/main" id="{FDA08968-77B5-4DF5-8FE4-CA0D4F0738E9}"/>
              </a:ext>
            </a:extLst>
          </p:cNvPr>
          <p:cNvSpPr/>
          <p:nvPr/>
        </p:nvSpPr>
        <p:spPr>
          <a:xfrm>
            <a:off x="7818640" y="5408377"/>
            <a:ext cx="1577896" cy="44181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ysClr val="windowText" lastClr="000000"/>
                </a:solidFill>
              </a:rPr>
              <a:t>P+</a:t>
            </a:r>
            <a:endParaRPr lang="ko-KR" altLang="en-US" sz="1200" dirty="0">
              <a:solidFill>
                <a:sysClr val="windowText" lastClr="000000"/>
              </a:solidFill>
            </a:endParaRPr>
          </a:p>
        </p:txBody>
      </p:sp>
      <p:cxnSp>
        <p:nvCxnSpPr>
          <p:cNvPr id="77" name="직선 연결선 76">
            <a:extLst>
              <a:ext uri="{FF2B5EF4-FFF2-40B4-BE49-F238E27FC236}">
                <a16:creationId xmlns:a16="http://schemas.microsoft.com/office/drawing/2014/main" id="{7AF30FC5-5616-4863-8AF1-C3782896616E}"/>
              </a:ext>
            </a:extLst>
          </p:cNvPr>
          <p:cNvCxnSpPr>
            <a:cxnSpLocks/>
          </p:cNvCxnSpPr>
          <p:nvPr/>
        </p:nvCxnSpPr>
        <p:spPr>
          <a:xfrm>
            <a:off x="9389827" y="2869033"/>
            <a:ext cx="6714" cy="2221691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직선 연결선 85">
            <a:extLst>
              <a:ext uri="{FF2B5EF4-FFF2-40B4-BE49-F238E27FC236}">
                <a16:creationId xmlns:a16="http://schemas.microsoft.com/office/drawing/2014/main" id="{2111041E-1D6D-4EEE-98A7-E0C8D2AD246F}"/>
              </a:ext>
            </a:extLst>
          </p:cNvPr>
          <p:cNvCxnSpPr>
            <a:cxnSpLocks/>
          </p:cNvCxnSpPr>
          <p:nvPr/>
        </p:nvCxnSpPr>
        <p:spPr>
          <a:xfrm>
            <a:off x="7797938" y="2869033"/>
            <a:ext cx="20702" cy="2221691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직선 연결선 86">
            <a:extLst>
              <a:ext uri="{FF2B5EF4-FFF2-40B4-BE49-F238E27FC236}">
                <a16:creationId xmlns:a16="http://schemas.microsoft.com/office/drawing/2014/main" id="{3A68EB37-0641-4925-8E76-8BA62F5F7FD8}"/>
              </a:ext>
            </a:extLst>
          </p:cNvPr>
          <p:cNvCxnSpPr>
            <a:cxnSpLocks/>
          </p:cNvCxnSpPr>
          <p:nvPr/>
        </p:nvCxnSpPr>
        <p:spPr>
          <a:xfrm>
            <a:off x="8191500" y="2896586"/>
            <a:ext cx="21491" cy="2516372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직선 연결선 87">
            <a:extLst>
              <a:ext uri="{FF2B5EF4-FFF2-40B4-BE49-F238E27FC236}">
                <a16:creationId xmlns:a16="http://schemas.microsoft.com/office/drawing/2014/main" id="{7E64393B-99D5-4FF4-95B8-040FD2FDF840}"/>
              </a:ext>
            </a:extLst>
          </p:cNvPr>
          <p:cNvCxnSpPr>
            <a:cxnSpLocks/>
          </p:cNvCxnSpPr>
          <p:nvPr/>
        </p:nvCxnSpPr>
        <p:spPr>
          <a:xfrm>
            <a:off x="9011173" y="2896586"/>
            <a:ext cx="0" cy="2516372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직사각형 98">
            <a:extLst>
              <a:ext uri="{FF2B5EF4-FFF2-40B4-BE49-F238E27FC236}">
                <a16:creationId xmlns:a16="http://schemas.microsoft.com/office/drawing/2014/main" id="{18168D69-A6CC-4BA6-964F-3F4FCE4F1EED}"/>
              </a:ext>
            </a:extLst>
          </p:cNvPr>
          <p:cNvSpPr/>
          <p:nvPr/>
        </p:nvSpPr>
        <p:spPr>
          <a:xfrm>
            <a:off x="8212991" y="4840655"/>
            <a:ext cx="798181" cy="30647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ysClr val="windowText" lastClr="000000"/>
                </a:solidFill>
              </a:rPr>
              <a:t>CONTACT</a:t>
            </a:r>
            <a:endParaRPr lang="ko-KR" altLang="en-US" sz="1000" dirty="0"/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D6E9D7ED-23FD-4308-8EC5-ADB038679640}"/>
              </a:ext>
            </a:extLst>
          </p:cNvPr>
          <p:cNvSpPr/>
          <p:nvPr/>
        </p:nvSpPr>
        <p:spPr>
          <a:xfrm>
            <a:off x="8207421" y="5146341"/>
            <a:ext cx="824567" cy="266617"/>
          </a:xfrm>
          <a:prstGeom prst="rect">
            <a:avLst/>
          </a:prstGeom>
          <a:pattFill prst="wdDnDiag">
            <a:fgClr>
              <a:schemeClr val="accent3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err="1">
                <a:solidFill>
                  <a:schemeClr val="tx1"/>
                </a:solidFill>
              </a:rPr>
              <a:t>Sillicide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CB509056-9904-490E-AA80-081FC4CF7693}"/>
              </a:ext>
            </a:extLst>
          </p:cNvPr>
          <p:cNvSpPr/>
          <p:nvPr/>
        </p:nvSpPr>
        <p:spPr>
          <a:xfrm>
            <a:off x="7833662" y="5146341"/>
            <a:ext cx="367048" cy="26784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/>
              <a:t>OXIDE</a:t>
            </a:r>
            <a:endParaRPr lang="ko-KR" altLang="en-US" sz="800" dirty="0"/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7924E790-B23E-4D0D-9B99-A13604018F17}"/>
              </a:ext>
            </a:extLst>
          </p:cNvPr>
          <p:cNvSpPr/>
          <p:nvPr/>
        </p:nvSpPr>
        <p:spPr>
          <a:xfrm>
            <a:off x="9019238" y="5144973"/>
            <a:ext cx="367048" cy="26784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/>
              <a:t>OXIDE</a:t>
            </a:r>
            <a:endParaRPr lang="ko-KR" altLang="en-US" sz="800"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1D6A8306-62EE-43EC-9B9D-825AC9484A43}"/>
              </a:ext>
            </a:extLst>
          </p:cNvPr>
          <p:cNvSpPr txBox="1"/>
          <p:nvPr/>
        </p:nvSpPr>
        <p:spPr>
          <a:xfrm>
            <a:off x="7767543" y="4479147"/>
            <a:ext cx="990608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1200" b="1" dirty="0"/>
              <a:t>0.06um</a:t>
            </a:r>
            <a:endParaRPr lang="ko-KR" altLang="en-US" sz="1200" b="1" dirty="0"/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E21990F6-47A2-41B3-8AEF-C25D86ED352C}"/>
              </a:ext>
            </a:extLst>
          </p:cNvPr>
          <p:cNvSpPr/>
          <p:nvPr/>
        </p:nvSpPr>
        <p:spPr>
          <a:xfrm>
            <a:off x="9539543" y="5412066"/>
            <a:ext cx="1564289" cy="1080105"/>
          </a:xfrm>
          <a:prstGeom prst="rect">
            <a:avLst/>
          </a:prstGeom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Substrate</a:t>
            </a:r>
            <a:endParaRPr lang="ko-KR" altLang="en-US" dirty="0"/>
          </a:p>
        </p:txBody>
      </p:sp>
      <p:cxnSp>
        <p:nvCxnSpPr>
          <p:cNvPr id="61" name="직선 연결선 60">
            <a:extLst>
              <a:ext uri="{FF2B5EF4-FFF2-40B4-BE49-F238E27FC236}">
                <a16:creationId xmlns:a16="http://schemas.microsoft.com/office/drawing/2014/main" id="{F5802B61-26E4-43E1-B0F8-87DCEA8CE9AC}"/>
              </a:ext>
            </a:extLst>
          </p:cNvPr>
          <p:cNvCxnSpPr>
            <a:cxnSpLocks/>
          </p:cNvCxnSpPr>
          <p:nvPr/>
        </p:nvCxnSpPr>
        <p:spPr>
          <a:xfrm>
            <a:off x="10696434" y="4806921"/>
            <a:ext cx="416094" cy="0"/>
          </a:xfrm>
          <a:prstGeom prst="line">
            <a:avLst/>
          </a:prstGeom>
          <a:ln w="19050">
            <a:solidFill>
              <a:schemeClr val="tx1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0362B1AD-5B20-4B19-99E8-1F0875D86142}"/>
              </a:ext>
            </a:extLst>
          </p:cNvPr>
          <p:cNvCxnSpPr>
            <a:cxnSpLocks/>
          </p:cNvCxnSpPr>
          <p:nvPr/>
        </p:nvCxnSpPr>
        <p:spPr>
          <a:xfrm>
            <a:off x="11103834" y="2861114"/>
            <a:ext cx="6714" cy="2221691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연결선 63">
            <a:extLst>
              <a:ext uri="{FF2B5EF4-FFF2-40B4-BE49-F238E27FC236}">
                <a16:creationId xmlns:a16="http://schemas.microsoft.com/office/drawing/2014/main" id="{D281B99D-7EA7-4ADE-857A-45D5EC3A67BC}"/>
              </a:ext>
            </a:extLst>
          </p:cNvPr>
          <p:cNvCxnSpPr>
            <a:cxnSpLocks/>
          </p:cNvCxnSpPr>
          <p:nvPr/>
        </p:nvCxnSpPr>
        <p:spPr>
          <a:xfrm>
            <a:off x="9511945" y="2861114"/>
            <a:ext cx="20702" cy="2221691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연결선 64">
            <a:extLst>
              <a:ext uri="{FF2B5EF4-FFF2-40B4-BE49-F238E27FC236}">
                <a16:creationId xmlns:a16="http://schemas.microsoft.com/office/drawing/2014/main" id="{52BD8B81-7C47-4701-B5C3-8056086ACDE8}"/>
              </a:ext>
            </a:extLst>
          </p:cNvPr>
          <p:cNvCxnSpPr>
            <a:cxnSpLocks/>
          </p:cNvCxnSpPr>
          <p:nvPr/>
        </p:nvCxnSpPr>
        <p:spPr>
          <a:xfrm>
            <a:off x="9905507" y="2888667"/>
            <a:ext cx="21491" cy="2516372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22FC2A07-C810-40CD-A55A-EC89344CD3D4}"/>
              </a:ext>
            </a:extLst>
          </p:cNvPr>
          <p:cNvCxnSpPr>
            <a:cxnSpLocks/>
          </p:cNvCxnSpPr>
          <p:nvPr/>
        </p:nvCxnSpPr>
        <p:spPr>
          <a:xfrm>
            <a:off x="10725180" y="2888667"/>
            <a:ext cx="0" cy="2516372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718E4A88-1B0E-47BE-9509-A474F5718F18}"/>
              </a:ext>
            </a:extLst>
          </p:cNvPr>
          <p:cNvSpPr/>
          <p:nvPr/>
        </p:nvSpPr>
        <p:spPr>
          <a:xfrm>
            <a:off x="9926998" y="4832736"/>
            <a:ext cx="798181" cy="30647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ysClr val="windowText" lastClr="000000"/>
                </a:solidFill>
              </a:rPr>
              <a:t>CONTACT</a:t>
            </a:r>
            <a:endParaRPr lang="ko-KR" altLang="en-US" sz="1000" dirty="0"/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F4DDB09E-1247-40D8-A4E9-9C2BEA0BE730}"/>
              </a:ext>
            </a:extLst>
          </p:cNvPr>
          <p:cNvSpPr/>
          <p:nvPr/>
        </p:nvSpPr>
        <p:spPr>
          <a:xfrm>
            <a:off x="9904022" y="5144361"/>
            <a:ext cx="841974" cy="266617"/>
          </a:xfrm>
          <a:prstGeom prst="rect">
            <a:avLst/>
          </a:prstGeom>
          <a:pattFill prst="wdDnDiag">
            <a:fgClr>
              <a:schemeClr val="accent3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err="1">
                <a:solidFill>
                  <a:schemeClr val="tx1"/>
                </a:solidFill>
              </a:rPr>
              <a:t>Sillicide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92" name="직사각형 91">
            <a:extLst>
              <a:ext uri="{FF2B5EF4-FFF2-40B4-BE49-F238E27FC236}">
                <a16:creationId xmlns:a16="http://schemas.microsoft.com/office/drawing/2014/main" id="{D6C991BD-F2D2-44D3-BC7D-5D79E5E61099}"/>
              </a:ext>
            </a:extLst>
          </p:cNvPr>
          <p:cNvSpPr/>
          <p:nvPr/>
        </p:nvSpPr>
        <p:spPr>
          <a:xfrm>
            <a:off x="9547669" y="5138422"/>
            <a:ext cx="367048" cy="26784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/>
              <a:t>OXIDE</a:t>
            </a:r>
            <a:endParaRPr lang="ko-KR" altLang="en-US" sz="800" dirty="0"/>
          </a:p>
        </p:txBody>
      </p:sp>
      <p:sp>
        <p:nvSpPr>
          <p:cNvPr id="95" name="직사각형 94">
            <a:extLst>
              <a:ext uri="{FF2B5EF4-FFF2-40B4-BE49-F238E27FC236}">
                <a16:creationId xmlns:a16="http://schemas.microsoft.com/office/drawing/2014/main" id="{5B9E3364-94FB-4A67-94FB-76AE2444C27D}"/>
              </a:ext>
            </a:extLst>
          </p:cNvPr>
          <p:cNvSpPr/>
          <p:nvPr/>
        </p:nvSpPr>
        <p:spPr>
          <a:xfrm>
            <a:off x="10733245" y="5137054"/>
            <a:ext cx="367048" cy="26784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/>
              <a:t>OXIDE</a:t>
            </a:r>
            <a:endParaRPr lang="ko-KR" altLang="en-US" sz="800" dirty="0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92F297FE-6059-44F6-A7A4-D0F520D389ED}"/>
              </a:ext>
            </a:extLst>
          </p:cNvPr>
          <p:cNvSpPr txBox="1"/>
          <p:nvPr/>
        </p:nvSpPr>
        <p:spPr>
          <a:xfrm>
            <a:off x="10663149" y="4471228"/>
            <a:ext cx="990608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1200" b="1" dirty="0"/>
              <a:t>0.06um</a:t>
            </a:r>
            <a:endParaRPr lang="ko-KR" altLang="en-US" sz="1200" b="1" dirty="0"/>
          </a:p>
        </p:txBody>
      </p:sp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4605A809-6D7D-4633-BFC2-5C108C215432}"/>
              </a:ext>
            </a:extLst>
          </p:cNvPr>
          <p:cNvSpPr/>
          <p:nvPr/>
        </p:nvSpPr>
        <p:spPr>
          <a:xfrm>
            <a:off x="9546254" y="5416502"/>
            <a:ext cx="1564294" cy="425767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ysClr val="windowText" lastClr="000000"/>
                </a:solidFill>
              </a:rPr>
              <a:t>N+</a:t>
            </a:r>
            <a:endParaRPr lang="ko-KR" alt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4AC1CFA-7B08-453D-A874-AFED136106C1}"/>
              </a:ext>
            </a:extLst>
          </p:cNvPr>
          <p:cNvSpPr/>
          <p:nvPr/>
        </p:nvSpPr>
        <p:spPr>
          <a:xfrm>
            <a:off x="515294" y="3105952"/>
            <a:ext cx="547476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b="1" dirty="0"/>
              <a:t>안정적인 </a:t>
            </a:r>
            <a:r>
              <a:rPr lang="en-US" altLang="ko-KR" b="1" dirty="0"/>
              <a:t>Ohmic Contact </a:t>
            </a:r>
            <a:r>
              <a:rPr lang="ko-KR" altLang="en-US" b="1" dirty="0"/>
              <a:t>형성 및 </a:t>
            </a:r>
            <a:r>
              <a:rPr lang="en-US" altLang="ko-KR" b="1" dirty="0"/>
              <a:t>Contact </a:t>
            </a:r>
            <a:r>
              <a:rPr lang="ko-KR" altLang="en-US" b="1" dirty="0"/>
              <a:t>저항 감소를 위한 </a:t>
            </a:r>
            <a:r>
              <a:rPr lang="en-US" altLang="ko-KR" b="1" dirty="0"/>
              <a:t>Implant Enclosure </a:t>
            </a:r>
            <a:r>
              <a:rPr lang="ko-KR" altLang="en-US" b="1" dirty="0"/>
              <a:t>규정</a:t>
            </a:r>
          </a:p>
        </p:txBody>
      </p:sp>
    </p:spTree>
    <p:extLst>
      <p:ext uri="{BB962C8B-B14F-4D97-AF65-F5344CB8AC3E}">
        <p14:creationId xmlns:p14="http://schemas.microsoft.com/office/powerpoint/2010/main" val="35560893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84AC1CFA-7B08-453D-A874-AFED136106C1}"/>
              </a:ext>
            </a:extLst>
          </p:cNvPr>
          <p:cNvSpPr/>
          <p:nvPr/>
        </p:nvSpPr>
        <p:spPr>
          <a:xfrm>
            <a:off x="3821811" y="5995830"/>
            <a:ext cx="679276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ko-KR" altLang="en-US" sz="1400" dirty="0"/>
              <a:t>이상적인 경우</a:t>
            </a:r>
            <a:r>
              <a:rPr lang="en-US" altLang="ko-KR" sz="1400" dirty="0"/>
              <a:t>, </a:t>
            </a:r>
            <a:r>
              <a:rPr lang="ko-KR" altLang="en-US" sz="1400" dirty="0"/>
              <a:t>형성되는 </a:t>
            </a:r>
            <a:r>
              <a:rPr lang="en-US" altLang="ko-KR" sz="1400" dirty="0"/>
              <a:t>barrier height</a:t>
            </a:r>
            <a:r>
              <a:rPr lang="ko-KR" altLang="en-US" sz="1400" dirty="0"/>
              <a:t>는 </a:t>
            </a:r>
            <a:r>
              <a:rPr lang="en-US" altLang="ko-KR" sz="1400" dirty="0"/>
              <a:t>Schottky-Mott Rule</a:t>
            </a:r>
            <a:r>
              <a:rPr lang="ko-KR" altLang="en-US" sz="1400" dirty="0"/>
              <a:t>에 의해 금속의 </a:t>
            </a:r>
            <a:r>
              <a:rPr lang="en-US" altLang="ko-KR" sz="1400" dirty="0"/>
              <a:t>Work Function</a:t>
            </a:r>
            <a:r>
              <a:rPr lang="ko-KR" altLang="en-US" sz="1400" dirty="0"/>
              <a:t>과 반도체의 </a:t>
            </a:r>
            <a:r>
              <a:rPr lang="en-US" altLang="ko-KR" sz="1400" dirty="0"/>
              <a:t>Electron Affinity</a:t>
            </a:r>
            <a:r>
              <a:rPr lang="ko-KR" altLang="en-US" sz="1400" dirty="0"/>
              <a:t>로 결정</a:t>
            </a:r>
          </a:p>
        </p:txBody>
      </p:sp>
      <p:pic>
        <p:nvPicPr>
          <p:cNvPr id="1028" name="Picture 4" descr="Figure 1 from Evaluation of Work Functions of Organic Semiconductors by ...">
            <a:extLst>
              <a:ext uri="{FF2B5EF4-FFF2-40B4-BE49-F238E27FC236}">
                <a16:creationId xmlns:a16="http://schemas.microsoft.com/office/drawing/2014/main" id="{7C04F79B-54BA-4E82-8CC0-D7EEE0EF1D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346" y="971400"/>
            <a:ext cx="5193443" cy="30556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ttps://blog.kakaocdn.net/dna/Dl534/btsLFhbK46s/AAAAAAAAAAAAAAAAAAAAAGebQOgv9f16Rdcl-TFg4iWwKWLLLz5zfyzgPNlv_42V/img.png?credential=yqXZFxpELC7KVnFOS48ylbz2pIh7yKj8&amp;expires=1785509999&amp;allow_ip=&amp;allow_referer=&amp;signature=GUKbuhn8Ofd0U8Ve0JBLoyygYm8%3D">
            <a:extLst>
              <a:ext uri="{FF2B5EF4-FFF2-40B4-BE49-F238E27FC236}">
                <a16:creationId xmlns:a16="http://schemas.microsoft.com/office/drawing/2014/main" id="{43242EFF-157A-454F-9410-816252784D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4397" y="1139957"/>
            <a:ext cx="5999701" cy="22890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2" name="직사각형 51">
            <a:extLst>
              <a:ext uri="{FF2B5EF4-FFF2-40B4-BE49-F238E27FC236}">
                <a16:creationId xmlns:a16="http://schemas.microsoft.com/office/drawing/2014/main" id="{6960D1B6-1097-4C7C-B85C-84BC09CE2F7E}"/>
              </a:ext>
            </a:extLst>
          </p:cNvPr>
          <p:cNvSpPr/>
          <p:nvPr/>
        </p:nvSpPr>
        <p:spPr>
          <a:xfrm>
            <a:off x="4267678" y="324151"/>
            <a:ext cx="547476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000" b="1" dirty="0"/>
              <a:t>Schottky contact (p, n</a:t>
            </a:r>
            <a:r>
              <a:rPr lang="ko-KR" altLang="en-US" sz="2000" b="1" dirty="0"/>
              <a:t> </a:t>
            </a:r>
            <a:r>
              <a:rPr lang="en-US" altLang="ko-KR" sz="2000" b="1" dirty="0"/>
              <a:t>type)</a:t>
            </a:r>
            <a:endParaRPr lang="ko-KR" altLang="en-US" sz="2000" b="1" dirty="0"/>
          </a:p>
        </p:txBody>
      </p:sp>
      <p:cxnSp>
        <p:nvCxnSpPr>
          <p:cNvPr id="53" name="직선 연결선 52">
            <a:extLst>
              <a:ext uri="{FF2B5EF4-FFF2-40B4-BE49-F238E27FC236}">
                <a16:creationId xmlns:a16="http://schemas.microsoft.com/office/drawing/2014/main" id="{9C27C1D3-5096-4D89-B5DB-5F60F932A9DA}"/>
              </a:ext>
            </a:extLst>
          </p:cNvPr>
          <p:cNvCxnSpPr>
            <a:cxnSpLocks/>
          </p:cNvCxnSpPr>
          <p:nvPr/>
        </p:nvCxnSpPr>
        <p:spPr>
          <a:xfrm>
            <a:off x="5952073" y="862170"/>
            <a:ext cx="0" cy="3234817"/>
          </a:xfrm>
          <a:prstGeom prst="line">
            <a:avLst/>
          </a:prstGeom>
          <a:ln w="158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53216DE7-0EA0-4541-BBC0-4CA2099D8A8A}"/>
              </a:ext>
            </a:extLst>
          </p:cNvPr>
          <p:cNvSpPr/>
          <p:nvPr/>
        </p:nvSpPr>
        <p:spPr>
          <a:xfrm>
            <a:off x="3821812" y="4277359"/>
            <a:ext cx="705598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/>
              <a:t>Metal</a:t>
            </a:r>
            <a:r>
              <a:rPr lang="ko-KR" altLang="en-US" sz="1400" dirty="0"/>
              <a:t>과</a:t>
            </a:r>
            <a:r>
              <a:rPr lang="en-US" altLang="ko-KR" sz="1400" dirty="0"/>
              <a:t> semiconductor</a:t>
            </a:r>
            <a:r>
              <a:rPr lang="ko-KR" altLang="en-US" sz="1400" dirty="0"/>
              <a:t>는 각각 다른 </a:t>
            </a:r>
            <a:r>
              <a:rPr lang="en-US" altLang="ko-KR" sz="1400" dirty="0"/>
              <a:t>work function</a:t>
            </a:r>
            <a:r>
              <a:rPr lang="ko-KR" altLang="en-US" sz="1400" dirty="0"/>
              <a:t>을</a:t>
            </a:r>
            <a:r>
              <a:rPr lang="en-US" altLang="ko-KR" sz="1400" dirty="0"/>
              <a:t> </a:t>
            </a:r>
            <a:r>
              <a:rPr lang="ko-KR" altLang="en-US" sz="1400" dirty="0"/>
              <a:t>가짐</a:t>
            </a:r>
            <a:r>
              <a:rPr lang="en-US" altLang="ko-KR" sz="1400" dirty="0"/>
              <a:t>.</a:t>
            </a:r>
            <a:r>
              <a:rPr lang="ko-KR" altLang="en-US" sz="1400" b="1" dirty="0"/>
              <a:t> </a:t>
            </a:r>
            <a:r>
              <a:rPr lang="en-US" altLang="ko-KR" sz="1400" dirty="0"/>
              <a:t>(</a:t>
            </a:r>
            <a:r>
              <a:rPr lang="ko-KR" altLang="en-US" sz="1400" dirty="0"/>
              <a:t>서로 다른 </a:t>
            </a:r>
            <a:r>
              <a:rPr lang="en-US" altLang="ko-KR" sz="1400" dirty="0"/>
              <a:t>Fermi level)</a:t>
            </a: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A159B227-5D08-4985-9BD8-276906FF155A}"/>
              </a:ext>
            </a:extLst>
          </p:cNvPr>
          <p:cNvSpPr/>
          <p:nvPr/>
        </p:nvSpPr>
        <p:spPr>
          <a:xfrm>
            <a:off x="3821811" y="4965439"/>
            <a:ext cx="683629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ko-KR" altLang="en-US" sz="1400" dirty="0"/>
              <a:t>접촉 후 </a:t>
            </a:r>
            <a:r>
              <a:rPr lang="en-US" altLang="ko-KR" sz="1400" dirty="0"/>
              <a:t>Fermi level</a:t>
            </a:r>
            <a:r>
              <a:rPr lang="ko-KR" altLang="en-US" sz="1400" dirty="0"/>
              <a:t>을</a:t>
            </a:r>
            <a:r>
              <a:rPr lang="en-US" altLang="ko-KR" sz="1400" dirty="0"/>
              <a:t> </a:t>
            </a:r>
            <a:r>
              <a:rPr lang="ko-KR" altLang="en-US" sz="1400" dirty="0"/>
              <a:t>일치시키기 위해 전자가 이동</a:t>
            </a:r>
            <a:r>
              <a:rPr lang="en-US" altLang="ko-KR" sz="1400" dirty="0"/>
              <a:t>, semiconductor</a:t>
            </a:r>
            <a:r>
              <a:rPr lang="ko-KR" altLang="en-US" sz="1400" dirty="0"/>
              <a:t>의 </a:t>
            </a:r>
            <a:r>
              <a:rPr lang="en-US" altLang="ko-KR" sz="1400" dirty="0"/>
              <a:t>Band</a:t>
            </a:r>
            <a:r>
              <a:rPr lang="ko-KR" altLang="en-US" sz="1400" dirty="0"/>
              <a:t>가 휘어지며</a:t>
            </a:r>
            <a:r>
              <a:rPr lang="en-US" altLang="ko-KR" sz="1400" dirty="0"/>
              <a:t>(Band Bending) Schottky Barrier</a:t>
            </a:r>
            <a:r>
              <a:rPr lang="ko-KR" altLang="en-US" sz="1400" dirty="0"/>
              <a:t>가 형성</a:t>
            </a:r>
            <a:r>
              <a:rPr lang="en-US" altLang="ko-KR" sz="1400" dirty="0"/>
              <a:t>. </a:t>
            </a:r>
            <a:endParaRPr lang="ko-KR" altLang="en-US" sz="1400" b="1" dirty="0"/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59A61612-61BE-4223-8807-07EB0E0214A5}"/>
              </a:ext>
            </a:extLst>
          </p:cNvPr>
          <p:cNvCxnSpPr>
            <a:cxnSpLocks/>
          </p:cNvCxnSpPr>
          <p:nvPr/>
        </p:nvCxnSpPr>
        <p:spPr>
          <a:xfrm>
            <a:off x="7451766" y="4585136"/>
            <a:ext cx="0" cy="3803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화살표 연결선 61">
            <a:extLst>
              <a:ext uri="{FF2B5EF4-FFF2-40B4-BE49-F238E27FC236}">
                <a16:creationId xmlns:a16="http://schemas.microsoft.com/office/drawing/2014/main" id="{B1989D0D-E1DE-4957-9BD3-C9BA1BE8FF14}"/>
              </a:ext>
            </a:extLst>
          </p:cNvPr>
          <p:cNvCxnSpPr>
            <a:cxnSpLocks/>
          </p:cNvCxnSpPr>
          <p:nvPr/>
        </p:nvCxnSpPr>
        <p:spPr>
          <a:xfrm>
            <a:off x="7443850" y="5546150"/>
            <a:ext cx="0" cy="3404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그림 11">
            <a:extLst>
              <a:ext uri="{FF2B5EF4-FFF2-40B4-BE49-F238E27FC236}">
                <a16:creationId xmlns:a16="http://schemas.microsoft.com/office/drawing/2014/main" id="{B6486D34-C995-45C3-873D-F4B5D206A4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154" y="4208827"/>
            <a:ext cx="2584101" cy="871936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D4B9B87B-5A1D-472C-9405-706284A6F5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989" y="5280395"/>
            <a:ext cx="2838429" cy="871936"/>
          </a:xfrm>
          <a:prstGeom prst="rect">
            <a:avLst/>
          </a:prstGeom>
        </p:spPr>
      </p:pic>
      <p:sp>
        <p:nvSpPr>
          <p:cNvPr id="68" name="직사각형 67">
            <a:extLst>
              <a:ext uri="{FF2B5EF4-FFF2-40B4-BE49-F238E27FC236}">
                <a16:creationId xmlns:a16="http://schemas.microsoft.com/office/drawing/2014/main" id="{81AC487D-886A-413A-9251-357D0BFDBFEE}"/>
              </a:ext>
            </a:extLst>
          </p:cNvPr>
          <p:cNvSpPr/>
          <p:nvPr/>
        </p:nvSpPr>
        <p:spPr>
          <a:xfrm>
            <a:off x="1183509" y="6103551"/>
            <a:ext cx="1227181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/>
              <a:t>(NMOS)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4871497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직사각형 33">
            <a:extLst>
              <a:ext uri="{FF2B5EF4-FFF2-40B4-BE49-F238E27FC236}">
                <a16:creationId xmlns:a16="http://schemas.microsoft.com/office/drawing/2014/main" id="{1B14A38D-D0A3-461C-81CA-512713BB8B47}"/>
              </a:ext>
            </a:extLst>
          </p:cNvPr>
          <p:cNvSpPr/>
          <p:nvPr/>
        </p:nvSpPr>
        <p:spPr>
          <a:xfrm>
            <a:off x="7354471" y="4817370"/>
            <a:ext cx="4212096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en-US" sz="1400" dirty="0"/>
              <a:t>실제 </a:t>
            </a:r>
            <a:r>
              <a:rPr lang="en-US" altLang="ko-KR" sz="1400" dirty="0"/>
              <a:t>CMOS</a:t>
            </a:r>
            <a:r>
              <a:rPr lang="ko-KR" altLang="en-US" sz="1400" dirty="0"/>
              <a:t>에서는 </a:t>
            </a:r>
            <a:r>
              <a:rPr lang="en-US" altLang="ko-KR" sz="1400" dirty="0"/>
              <a:t>Bardeen model</a:t>
            </a:r>
            <a:r>
              <a:rPr lang="ko-KR" altLang="en-US" sz="1400" dirty="0"/>
              <a:t>에 의해 </a:t>
            </a:r>
            <a:r>
              <a:rPr lang="en-US" altLang="ko-KR" sz="1400" dirty="0"/>
              <a:t>Fermi level</a:t>
            </a:r>
            <a:r>
              <a:rPr lang="ko-KR" altLang="en-US" sz="1400" dirty="0"/>
              <a:t>이 </a:t>
            </a:r>
            <a:r>
              <a:rPr lang="en-US" altLang="ko-KR" sz="1400" dirty="0"/>
              <a:t>pinning</a:t>
            </a:r>
            <a:r>
              <a:rPr lang="ko-KR" altLang="en-US" sz="1400" dirty="0"/>
              <a:t>되어 </a:t>
            </a:r>
            <a:r>
              <a:rPr lang="en-US" altLang="ko-KR" sz="1400" dirty="0"/>
              <a:t>work function </a:t>
            </a:r>
            <a:r>
              <a:rPr lang="ko-KR" altLang="en-US" sz="1400" dirty="0"/>
              <a:t>조합만으로 </a:t>
            </a:r>
            <a:r>
              <a:rPr lang="en-US" altLang="ko-KR" sz="1400" dirty="0"/>
              <a:t>contact </a:t>
            </a:r>
            <a:r>
              <a:rPr lang="ko-KR" altLang="en-US" sz="1400" dirty="0"/>
              <a:t>특성이 결정되지 않음</a:t>
            </a:r>
            <a:r>
              <a:rPr lang="en-US" altLang="ko-KR" sz="1400" dirty="0"/>
              <a:t>.</a:t>
            </a:r>
            <a:endParaRPr lang="ko-KR" altLang="en-US" sz="1400" dirty="0"/>
          </a:p>
        </p:txBody>
      </p: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238F5E85-37BE-4FD3-969B-986469085B45}"/>
              </a:ext>
            </a:extLst>
          </p:cNvPr>
          <p:cNvCxnSpPr>
            <a:cxnSpLocks/>
          </p:cNvCxnSpPr>
          <p:nvPr/>
        </p:nvCxnSpPr>
        <p:spPr>
          <a:xfrm>
            <a:off x="6137948" y="60585"/>
            <a:ext cx="0" cy="3686080"/>
          </a:xfrm>
          <a:prstGeom prst="line">
            <a:avLst/>
          </a:prstGeom>
          <a:ln w="158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2" descr="Schottky barriers and Organic semiconductors Hubert Nguyen Physics">
            <a:extLst>
              <a:ext uri="{FF2B5EF4-FFF2-40B4-BE49-F238E27FC236}">
                <a16:creationId xmlns:a16="http://schemas.microsoft.com/office/drawing/2014/main" id="{16B7E534-5080-4A23-85BC-C210DE8B01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381" y="163626"/>
            <a:ext cx="4847388" cy="3635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Fermi level pinning at the semiconductor interface under different ...">
            <a:extLst>
              <a:ext uri="{FF2B5EF4-FFF2-40B4-BE49-F238E27FC236}">
                <a16:creationId xmlns:a16="http://schemas.microsoft.com/office/drawing/2014/main" id="{1ADAF946-B922-4B9A-B8E1-45692D92CD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1742" y="566824"/>
            <a:ext cx="5819528" cy="26975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CF5E980D-EF78-4195-8CC4-A5E5DF6FCF37}"/>
              </a:ext>
            </a:extLst>
          </p:cNvPr>
          <p:cNvSpPr/>
          <p:nvPr/>
        </p:nvSpPr>
        <p:spPr>
          <a:xfrm>
            <a:off x="2664510" y="163626"/>
            <a:ext cx="88621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000" b="1" dirty="0"/>
              <a:t>Ideal</a:t>
            </a:r>
            <a:endParaRPr lang="ko-KR" altLang="en-US" sz="2000" b="1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0C6009D-5867-414C-96F0-DBA01449E864}"/>
              </a:ext>
            </a:extLst>
          </p:cNvPr>
          <p:cNvSpPr/>
          <p:nvPr/>
        </p:nvSpPr>
        <p:spPr>
          <a:xfrm>
            <a:off x="8686799" y="153080"/>
            <a:ext cx="100940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000" b="1" dirty="0"/>
              <a:t>Reality</a:t>
            </a:r>
            <a:endParaRPr lang="ko-KR" altLang="en-US" sz="2000" b="1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F591845-F022-4A4E-A974-971D9E06A1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311" y="3593654"/>
            <a:ext cx="6228608" cy="3019807"/>
          </a:xfrm>
          <a:prstGeom prst="rect">
            <a:avLst/>
          </a:prstGeom>
        </p:spPr>
      </p:pic>
      <p:sp>
        <p:nvSpPr>
          <p:cNvPr id="6" name="화살표: 오른쪽 5">
            <a:extLst>
              <a:ext uri="{FF2B5EF4-FFF2-40B4-BE49-F238E27FC236}">
                <a16:creationId xmlns:a16="http://schemas.microsoft.com/office/drawing/2014/main" id="{87B93F79-84B6-410A-A731-C992F1877FF7}"/>
              </a:ext>
            </a:extLst>
          </p:cNvPr>
          <p:cNvSpPr/>
          <p:nvPr/>
        </p:nvSpPr>
        <p:spPr>
          <a:xfrm>
            <a:off x="6780810" y="4886696"/>
            <a:ext cx="433450" cy="58782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58979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01FBC3F3-2E83-466B-9762-C63518EF83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2198" y="367970"/>
            <a:ext cx="9183090" cy="6122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72744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CDC7173E-22F5-40CE-833B-47F3E571CC4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955470"/>
                <a:ext cx="10515600" cy="3351059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altLang="ko-KR" dirty="0"/>
                  <a:t>Schrödinger Equation :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ℏ</m:t>
                            </m:r>
                          </m:e>
                          <m:sup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∇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l-GR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Ψ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m:rPr>
                        <m:sty m:val="p"/>
                      </m:rPr>
                      <a:rPr lang="el-GR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Ψ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ℏ</m:t>
                    </m:r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m:rPr>
                            <m:sty m:val="p"/>
                          </m:rPr>
                          <a:rPr lang="el-GR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Ψ</m:t>
                        </m:r>
                      </m:num>
                      <m:den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endParaRPr lang="en-US" altLang="ko-KR" dirty="0"/>
              </a:p>
              <a:p>
                <a:pPr marL="0" indent="0">
                  <a:buNone/>
                </a:pPr>
                <a:r>
                  <a:rPr lang="en-US" altLang="ko-KR" dirty="0"/>
                  <a:t>Time independent and 1D :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ℏ</m:t>
                            </m:r>
                          </m:e>
                          <m:sup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  <m:f>
                      <m:f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𝜕</m:t>
                            </m:r>
                          </m:e>
                          <m:sup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ko-KR" altLang="en-US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</m:num>
                      <m:den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altLang="ko-KR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𝑉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𝜓</m:t>
                    </m:r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𝜓</m:t>
                    </m:r>
                  </m:oMath>
                </a14:m>
                <a:endParaRPr lang="en-US" altLang="ko-KR" dirty="0"/>
              </a:p>
              <a:p>
                <a:pPr marL="0" indent="0">
                  <a:buNone/>
                </a:pPr>
                <a:endParaRPr lang="en-US" altLang="ko-KR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ko-KR" b="0" i="0" smtClean="0">
                        <a:latin typeface="Cambria Math" panose="02040503050406030204" pitchFamily="18" charset="0"/>
                      </a:rPr>
                      <m:t>exp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⁡[−2</m:t>
                    </m:r>
                    <m:nary>
                      <m:naryPr>
                        <m:ctrlPr>
                          <a:rPr lang="en-US" altLang="ko-KR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en-US" altLang="ko-KR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brk m:alnAt="23"/>
                              </m:rPr>
                              <a:rPr lang="en-US" altLang="ko-KR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m:rPr>
                                <m:brk m:alnAt="23"/>
                              </m:rPr>
                              <a:rPr lang="en-US" altLang="ko-KR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  <m:sup>
                        <m:sSub>
                          <m:sSubPr>
                            <m:ctrlPr>
                              <a:rPr lang="en-US" altLang="ko-KR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p>
                      <m:e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f>
                          <m:fPr>
                            <m:ctrlPr>
                              <a:rPr lang="en-US" altLang="ko-KR" b="0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sSup>
                              <m:sSupPr>
                                <m:ctrlPr>
                                  <a:rPr lang="en-US" altLang="ko-KR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b="0" i="1" dirty="0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p>
                                <m:r>
                                  <a:rPr lang="en-US" altLang="ko-KR" b="0" i="1" dirty="0" smtClean="0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</m:num>
                          <m:den>
                            <m:sSup>
                              <m:sSupPr>
                                <m:ctrlPr>
                                  <a:rPr lang="en-US" altLang="ko-KR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b="0" i="1" dirty="0" smtClean="0">
                                    <a:latin typeface="Cambria Math" panose="02040503050406030204" pitchFamily="18" charset="0"/>
                                  </a:rPr>
                                  <m:t>ℏ</m:t>
                                </m:r>
                              </m:e>
                              <m:sup>
                                <m:r>
                                  <a:rPr lang="en-US" altLang="ko-KR" b="0" i="1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sSup>
                          <m:sSupPr>
                            <m:ctrlPr>
                              <a:rPr lang="en-US" altLang="ko-KR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ko-KR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b="0" i="1" dirty="0" smtClean="0">
                                    <a:latin typeface="Cambria Math" panose="02040503050406030204" pitchFamily="18" charset="0"/>
                                  </a:rPr>
                                  <m:t>𝑈</m:t>
                                </m:r>
                                <m:d>
                                  <m:dPr>
                                    <m:ctrlPr>
                                      <a:rPr lang="en-US" altLang="ko-KR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b="0" i="1" dirty="0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  <m:r>
                                  <a:rPr lang="en-US" altLang="ko-KR" b="0" i="1" dirty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ko-KR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dirty="0" smtClean="0">
                                        <a:latin typeface="Cambria Math" panose="02040503050406030204" pitchFamily="18" charset="0"/>
                                      </a:rPr>
                                      <m:t>𝐸</m:t>
                                    </m:r>
                                  </m:e>
                                  <m:sub>
                                    <m:r>
                                      <a:rPr lang="en-US" altLang="ko-KR" b="0" i="1" dirty="0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  <m:r>
                                  <a:rPr lang="en-US" altLang="ko-KR" b="0" i="1" dirty="0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d>
                          </m:e>
                          <m:sup>
                            <m:f>
                              <m:fPr>
                                <m:ctrlPr>
                                  <a:rPr lang="en-US" altLang="ko-KR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ko-KR" b="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altLang="ko-KR" b="0" i="1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sup>
                        </m:sSup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ko-KR" dirty="0"/>
                  <a:t>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≈</m:t>
                    </m:r>
                    <m:func>
                      <m:func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exp</m:t>
                        </m:r>
                      </m:fName>
                      <m:e>
                        <m:d>
                          <m:d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−2</m:t>
                            </m:r>
                            <m:sSub>
                              <m:sSub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ko-KR" alt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𝜅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𝑊</m:t>
                            </m:r>
                          </m:e>
                        </m:d>
                      </m:e>
                    </m:func>
                  </m:oMath>
                </a14:m>
                <a:r>
                  <a:rPr lang="en-US" altLang="ko-KR" dirty="0"/>
                  <a:t> 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𝜅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=1.94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endParaRPr lang="en-US" altLang="ko-KR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CDC7173E-22F5-40CE-833B-47F3E571CC4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955470"/>
                <a:ext cx="10515600" cy="3351059"/>
              </a:xfrm>
              <a:blipFill>
                <a:blip r:embed="rId2"/>
                <a:stretch>
                  <a:fillRect l="-1217" b="-72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표 5">
                <a:extLst>
                  <a:ext uri="{FF2B5EF4-FFF2-40B4-BE49-F238E27FC236}">
                    <a16:creationId xmlns:a16="http://schemas.microsoft.com/office/drawing/2014/main" id="{36CDDCAE-59F5-4877-A359-CA0E27EE8BB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28035199"/>
                  </p:ext>
                </p:extLst>
              </p:nvPr>
            </p:nvGraphicFramePr>
            <p:xfrm>
              <a:off x="838200" y="4306529"/>
              <a:ext cx="11078497" cy="2141728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4869427">
                      <a:extLst>
                        <a:ext uri="{9D8B030D-6E8A-4147-A177-3AD203B41FA5}">
                          <a16:colId xmlns:a16="http://schemas.microsoft.com/office/drawing/2014/main" val="700928737"/>
                        </a:ext>
                      </a:extLst>
                    </a:gridCol>
                    <a:gridCol w="3104535">
                      <a:extLst>
                        <a:ext uri="{9D8B030D-6E8A-4147-A177-3AD203B41FA5}">
                          <a16:colId xmlns:a16="http://schemas.microsoft.com/office/drawing/2014/main" val="2400152095"/>
                        </a:ext>
                      </a:extLst>
                    </a:gridCol>
                    <a:gridCol w="3104535">
                      <a:extLst>
                        <a:ext uri="{9D8B030D-6E8A-4147-A177-3AD203B41FA5}">
                          <a16:colId xmlns:a16="http://schemas.microsoft.com/office/drawing/2014/main" val="3692265234"/>
                        </a:ext>
                      </a:extLst>
                    </a:gridCol>
                  </a:tblGrid>
                  <a:tr h="19173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Doping(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b="1" i="1" smtClean="0"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  <m:sSup>
                                <m:sSupPr>
                                  <m:ctrlPr>
                                    <a:rPr lang="en-US" altLang="ko-KR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b="1" i="1" smtClean="0">
                                      <a:latin typeface="Cambria Math" panose="02040503050406030204" pitchFamily="18" charset="0"/>
                                    </a:rPr>
                                    <m:t>𝒎</m:t>
                                  </m:r>
                                </m:e>
                                <m:sup>
                                  <m:r>
                                    <a:rPr lang="en-US" altLang="ko-KR" b="1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ko-KR" b="1" i="1" smtClean="0"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altLang="ko-KR" dirty="0"/>
                            <a:t>)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W(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b="1" i="1" smtClean="0">
                                  <a:latin typeface="Cambria Math" panose="02040503050406030204" pitchFamily="18" charset="0"/>
                                </a:rPr>
                                <m:t>𝒏𝒎</m:t>
                              </m:r>
                            </m:oMath>
                          </a14:m>
                          <a:r>
                            <a:rPr lang="en-US" altLang="ko-KR" dirty="0"/>
                            <a:t>)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T</a:t>
                          </a:r>
                          <a:endParaRPr lang="ko-KR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49927607"/>
                      </a:ext>
                    </a:extLst>
                  </a:tr>
                  <a:tr h="589936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sSup>
                                  <m:sSup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18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26.6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~1.6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sSup>
                                  <m:sSup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−45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ko-KR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58611387"/>
                      </a:ext>
                    </a:extLst>
                  </a:tr>
                  <a:tr h="589936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5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sSup>
                                  <m:sSup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20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1.19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9.8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sSup>
                                  <m:sSup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−3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ko-KR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75926857"/>
                      </a:ext>
                    </a:extLst>
                  </a:tr>
                  <a:tr h="589936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sSup>
                                  <m:sSup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21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0.84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3.8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sSup>
                                  <m:sSup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ko-KR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5089421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표 5">
                <a:extLst>
                  <a:ext uri="{FF2B5EF4-FFF2-40B4-BE49-F238E27FC236}">
                    <a16:creationId xmlns:a16="http://schemas.microsoft.com/office/drawing/2014/main" id="{36CDDCAE-59F5-4877-A359-CA0E27EE8BB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28035199"/>
                  </p:ext>
                </p:extLst>
              </p:nvPr>
            </p:nvGraphicFramePr>
            <p:xfrm>
              <a:off x="838200" y="4306529"/>
              <a:ext cx="11078497" cy="2141728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4869427">
                      <a:extLst>
                        <a:ext uri="{9D8B030D-6E8A-4147-A177-3AD203B41FA5}">
                          <a16:colId xmlns:a16="http://schemas.microsoft.com/office/drawing/2014/main" val="700928737"/>
                        </a:ext>
                      </a:extLst>
                    </a:gridCol>
                    <a:gridCol w="3104535">
                      <a:extLst>
                        <a:ext uri="{9D8B030D-6E8A-4147-A177-3AD203B41FA5}">
                          <a16:colId xmlns:a16="http://schemas.microsoft.com/office/drawing/2014/main" val="2400152095"/>
                        </a:ext>
                      </a:extLst>
                    </a:gridCol>
                    <a:gridCol w="3104535">
                      <a:extLst>
                        <a:ext uri="{9D8B030D-6E8A-4147-A177-3AD203B41FA5}">
                          <a16:colId xmlns:a16="http://schemas.microsoft.com/office/drawing/2014/main" val="3692265234"/>
                        </a:ext>
                      </a:extLst>
                    </a:gridCol>
                  </a:tblGrid>
                  <a:tr h="37192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l="-125" t="-8197" r="-128160" b="-48032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l="-156863" t="-8197" r="-100784" b="-48032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T</a:t>
                          </a:r>
                          <a:endParaRPr lang="ko-KR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49927607"/>
                      </a:ext>
                    </a:extLst>
                  </a:tr>
                  <a:tr h="589936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l="-125" t="-68041" r="-128160" b="-2020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26.6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l="-257367" t="-68041" r="-982" b="-20206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58611387"/>
                      </a:ext>
                    </a:extLst>
                  </a:tr>
                  <a:tr h="589936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l="-125" t="-168041" r="-128160" b="-1020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1.19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l="-257367" t="-168041" r="-982" b="-10206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75926857"/>
                      </a:ext>
                    </a:extLst>
                  </a:tr>
                  <a:tr h="589936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l="-125" t="-268041" r="-128160" b="-20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0.84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l="-257367" t="-268041" r="-982" b="-206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5089421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8126639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Box 31">
            <a:extLst>
              <a:ext uri="{FF2B5EF4-FFF2-40B4-BE49-F238E27FC236}">
                <a16:creationId xmlns:a16="http://schemas.microsoft.com/office/drawing/2014/main" id="{91C5C929-8669-440E-BF5C-9FB66113EA81}"/>
              </a:ext>
            </a:extLst>
          </p:cNvPr>
          <p:cNvSpPr txBox="1"/>
          <p:nvPr/>
        </p:nvSpPr>
        <p:spPr>
          <a:xfrm>
            <a:off x="6465506" y="1132170"/>
            <a:ext cx="48062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ko-KR" sz="1600" dirty="0"/>
              <a:t>Cadence Reproducing and vertical structure</a:t>
            </a:r>
            <a:endParaRPr lang="ko-KR" altLang="en-US" sz="1600" dirty="0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1B14A38D-D0A3-461C-81CA-512713BB8B47}"/>
              </a:ext>
            </a:extLst>
          </p:cNvPr>
          <p:cNvSpPr/>
          <p:nvPr/>
        </p:nvSpPr>
        <p:spPr>
          <a:xfrm>
            <a:off x="6584650" y="1466881"/>
            <a:ext cx="507247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/>
              <a:t>Cadence</a:t>
            </a:r>
            <a:endParaRPr lang="ko-KR" altLang="en-US" sz="1400" dirty="0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F449DACE-48BB-4606-AF0C-A4616B80C8C0}"/>
              </a:ext>
            </a:extLst>
          </p:cNvPr>
          <p:cNvSpPr/>
          <p:nvPr/>
        </p:nvSpPr>
        <p:spPr>
          <a:xfrm>
            <a:off x="515294" y="1132170"/>
            <a:ext cx="399340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ko-KR" dirty="0"/>
              <a:t>Schematic in Design Rule Manual</a:t>
            </a:r>
            <a:endParaRPr lang="ko-KR" altLang="en-US" dirty="0"/>
          </a:p>
        </p:txBody>
      </p: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238F5E85-37BE-4FD3-969B-986469085B45}"/>
              </a:ext>
            </a:extLst>
          </p:cNvPr>
          <p:cNvCxnSpPr>
            <a:cxnSpLocks/>
          </p:cNvCxnSpPr>
          <p:nvPr/>
        </p:nvCxnSpPr>
        <p:spPr>
          <a:xfrm>
            <a:off x="6161698" y="1194679"/>
            <a:ext cx="0" cy="5668864"/>
          </a:xfrm>
          <a:prstGeom prst="line">
            <a:avLst/>
          </a:prstGeom>
          <a:ln w="158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0" name="표 29">
            <a:extLst>
              <a:ext uri="{FF2B5EF4-FFF2-40B4-BE49-F238E27FC236}">
                <a16:creationId xmlns:a16="http://schemas.microsoft.com/office/drawing/2014/main" id="{A8CFD6FE-F4E6-4CE5-AA4B-CB69D831897E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515294" y="255775"/>
          <a:ext cx="10911267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4766">
                  <a:extLst>
                    <a:ext uri="{9D8B030D-6E8A-4147-A177-3AD203B41FA5}">
                      <a16:colId xmlns:a16="http://schemas.microsoft.com/office/drawing/2014/main" val="3874033937"/>
                    </a:ext>
                  </a:extLst>
                </a:gridCol>
                <a:gridCol w="1416289">
                  <a:extLst>
                    <a:ext uri="{9D8B030D-6E8A-4147-A177-3AD203B41FA5}">
                      <a16:colId xmlns:a16="http://schemas.microsoft.com/office/drawing/2014/main" val="1105405848"/>
                    </a:ext>
                  </a:extLst>
                </a:gridCol>
                <a:gridCol w="7810212">
                  <a:extLst>
                    <a:ext uri="{9D8B030D-6E8A-4147-A177-3AD203B41FA5}">
                      <a16:colId xmlns:a16="http://schemas.microsoft.com/office/drawing/2014/main" val="2992235816"/>
                    </a:ext>
                  </a:extLst>
                </a:gridCol>
              </a:tblGrid>
              <a:tr h="30762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Rule Name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Value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1766925"/>
                  </a:ext>
                </a:extLst>
              </a:tr>
              <a:tr h="32923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CONT.SE.5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0.24um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Minimum Poly Contact to non-</a:t>
                      </a:r>
                      <a:r>
                        <a:rPr lang="en-US" altLang="ko-KR" sz="1100" dirty="0" err="1"/>
                        <a:t>salacided</a:t>
                      </a:r>
                      <a:r>
                        <a:rPr lang="en-US" altLang="ko-KR" sz="1100" dirty="0"/>
                        <a:t> Poly resistor or Active Contact to non-</a:t>
                      </a:r>
                      <a:r>
                        <a:rPr lang="en-US" altLang="ko-KR" sz="1100" dirty="0" err="1"/>
                        <a:t>salacided</a:t>
                      </a:r>
                      <a:r>
                        <a:rPr lang="en-US" altLang="ko-KR" sz="1100" dirty="0"/>
                        <a:t> Active resistor spacing</a:t>
                      </a:r>
                      <a:endParaRPr lang="ko-KR" altLang="en-US" sz="1100" b="1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5480813"/>
                  </a:ext>
                </a:extLst>
              </a:tr>
            </a:tbl>
          </a:graphicData>
        </a:graphic>
      </p:graphicFrame>
      <p:pic>
        <p:nvPicPr>
          <p:cNvPr id="47" name="그림 46">
            <a:extLst>
              <a:ext uri="{FF2B5EF4-FFF2-40B4-BE49-F238E27FC236}">
                <a16:creationId xmlns:a16="http://schemas.microsoft.com/office/drawing/2014/main" id="{F0D52CC5-2C94-4891-B2C8-8908DCB605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149" y="3184320"/>
            <a:ext cx="4720579" cy="3105876"/>
          </a:xfrm>
          <a:prstGeom prst="rect">
            <a:avLst/>
          </a:prstGeom>
        </p:spPr>
      </p:pic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37B2D7AE-B79C-4D08-A98A-E81CA9F83EE3}"/>
              </a:ext>
            </a:extLst>
          </p:cNvPr>
          <p:cNvCxnSpPr>
            <a:cxnSpLocks/>
          </p:cNvCxnSpPr>
          <p:nvPr/>
        </p:nvCxnSpPr>
        <p:spPr>
          <a:xfrm flipH="1">
            <a:off x="1352371" y="4343325"/>
            <a:ext cx="2278685" cy="1"/>
          </a:xfrm>
          <a:prstGeom prst="line">
            <a:avLst/>
          </a:prstGeom>
          <a:ln w="31750">
            <a:solidFill>
              <a:srgbClr val="FF0000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98854BC3-1E9F-4B25-BE80-184BFAC8588F}"/>
              </a:ext>
            </a:extLst>
          </p:cNvPr>
          <p:cNvSpPr txBox="1"/>
          <p:nvPr/>
        </p:nvSpPr>
        <p:spPr>
          <a:xfrm>
            <a:off x="1970080" y="3893659"/>
            <a:ext cx="10432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rgbClr val="FF0000"/>
                </a:solidFill>
              </a:rPr>
              <a:t>0.24um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56F7C0D-60E8-4AC4-8A1E-10249DC9A482}"/>
              </a:ext>
            </a:extLst>
          </p:cNvPr>
          <p:cNvSpPr txBox="1"/>
          <p:nvPr/>
        </p:nvSpPr>
        <p:spPr>
          <a:xfrm>
            <a:off x="8690190" y="4326068"/>
            <a:ext cx="1184027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1600" b="1" dirty="0"/>
              <a:t>0.24um</a:t>
            </a:r>
            <a:endParaRPr lang="ko-KR" altLang="en-US" sz="1600" b="1" dirty="0"/>
          </a:p>
        </p:txBody>
      </p:sp>
      <p:cxnSp>
        <p:nvCxnSpPr>
          <p:cNvPr id="54" name="직선 연결선 53">
            <a:extLst>
              <a:ext uri="{FF2B5EF4-FFF2-40B4-BE49-F238E27FC236}">
                <a16:creationId xmlns:a16="http://schemas.microsoft.com/office/drawing/2014/main" id="{EF954F9B-D2F7-44A6-B766-E52239414E6D}"/>
              </a:ext>
            </a:extLst>
          </p:cNvPr>
          <p:cNvCxnSpPr>
            <a:cxnSpLocks/>
          </p:cNvCxnSpPr>
          <p:nvPr/>
        </p:nvCxnSpPr>
        <p:spPr>
          <a:xfrm>
            <a:off x="8203543" y="4705781"/>
            <a:ext cx="1770391" cy="0"/>
          </a:xfrm>
          <a:prstGeom prst="line">
            <a:avLst/>
          </a:prstGeom>
          <a:ln w="19050">
            <a:solidFill>
              <a:schemeClr val="tx1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67187ED4-CFED-469F-AEAA-CD875B4E70D6}"/>
              </a:ext>
            </a:extLst>
          </p:cNvPr>
          <p:cNvSpPr/>
          <p:nvPr/>
        </p:nvSpPr>
        <p:spPr>
          <a:xfrm>
            <a:off x="6570575" y="2867294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/>
              <a:t>✄</a:t>
            </a: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6B06D9D8-9557-41D4-B5BF-F72D457F0BDB}"/>
              </a:ext>
            </a:extLst>
          </p:cNvPr>
          <p:cNvSpPr/>
          <p:nvPr/>
        </p:nvSpPr>
        <p:spPr>
          <a:xfrm>
            <a:off x="10038054" y="4930555"/>
            <a:ext cx="984346" cy="33086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58" name="직선 연결선 57">
            <a:extLst>
              <a:ext uri="{FF2B5EF4-FFF2-40B4-BE49-F238E27FC236}">
                <a16:creationId xmlns:a16="http://schemas.microsoft.com/office/drawing/2014/main" id="{1DE3B143-0D3D-46DA-9EE6-AE27957F2BA3}"/>
              </a:ext>
            </a:extLst>
          </p:cNvPr>
          <p:cNvCxnSpPr>
            <a:cxnSpLocks/>
          </p:cNvCxnSpPr>
          <p:nvPr/>
        </p:nvCxnSpPr>
        <p:spPr>
          <a:xfrm>
            <a:off x="8183020" y="3341065"/>
            <a:ext cx="7383" cy="1920358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9" name="그림 58">
            <a:extLst>
              <a:ext uri="{FF2B5EF4-FFF2-40B4-BE49-F238E27FC236}">
                <a16:creationId xmlns:a16="http://schemas.microsoft.com/office/drawing/2014/main" id="{81A53FBE-C286-4BEF-B438-7479DA1FD7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3866" y="1818600"/>
            <a:ext cx="3695511" cy="2132055"/>
          </a:xfrm>
          <a:prstGeom prst="rect">
            <a:avLst/>
          </a:prstGeom>
        </p:spPr>
      </p:pic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4D6491BB-BF8C-46DA-B945-F63EA89195BA}"/>
              </a:ext>
            </a:extLst>
          </p:cNvPr>
          <p:cNvCxnSpPr>
            <a:cxnSpLocks/>
          </p:cNvCxnSpPr>
          <p:nvPr/>
        </p:nvCxnSpPr>
        <p:spPr>
          <a:xfrm>
            <a:off x="6959358" y="3051960"/>
            <a:ext cx="4740442" cy="0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4F854FB1-8D5A-4793-9A08-8DD82D595B35}"/>
              </a:ext>
            </a:extLst>
          </p:cNvPr>
          <p:cNvSpPr/>
          <p:nvPr/>
        </p:nvSpPr>
        <p:spPr>
          <a:xfrm>
            <a:off x="7553240" y="5654470"/>
            <a:ext cx="3712659" cy="1094371"/>
          </a:xfrm>
          <a:prstGeom prst="rect">
            <a:avLst/>
          </a:prstGeom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Substrate</a:t>
            </a:r>
            <a:endParaRPr lang="ko-KR" altLang="en-US" dirty="0"/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3133AAA7-FF8F-4FA1-ACED-2B77DEC21545}"/>
              </a:ext>
            </a:extLst>
          </p:cNvPr>
          <p:cNvSpPr/>
          <p:nvPr/>
        </p:nvSpPr>
        <p:spPr>
          <a:xfrm>
            <a:off x="7553866" y="5660405"/>
            <a:ext cx="3712028" cy="330868"/>
          </a:xfrm>
          <a:prstGeom prst="rect">
            <a:avLst/>
          </a:prstGeom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STI</a:t>
            </a:r>
            <a:endParaRPr lang="ko-KR" altLang="en-US" dirty="0"/>
          </a:p>
        </p:txBody>
      </p:sp>
      <p:cxnSp>
        <p:nvCxnSpPr>
          <p:cNvPr id="61" name="직선 연결선 60">
            <a:extLst>
              <a:ext uri="{FF2B5EF4-FFF2-40B4-BE49-F238E27FC236}">
                <a16:creationId xmlns:a16="http://schemas.microsoft.com/office/drawing/2014/main" id="{81F0166C-730C-48CA-8298-39C6AA4574BF}"/>
              </a:ext>
            </a:extLst>
          </p:cNvPr>
          <p:cNvCxnSpPr>
            <a:cxnSpLocks/>
          </p:cNvCxnSpPr>
          <p:nvPr/>
        </p:nvCxnSpPr>
        <p:spPr>
          <a:xfrm>
            <a:off x="10031487" y="2802506"/>
            <a:ext cx="0" cy="2458916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직사각형 91">
            <a:extLst>
              <a:ext uri="{FF2B5EF4-FFF2-40B4-BE49-F238E27FC236}">
                <a16:creationId xmlns:a16="http://schemas.microsoft.com/office/drawing/2014/main" id="{DA834C56-751C-4131-A6E1-2E1604A6E554}"/>
              </a:ext>
            </a:extLst>
          </p:cNvPr>
          <p:cNvSpPr/>
          <p:nvPr/>
        </p:nvSpPr>
        <p:spPr>
          <a:xfrm>
            <a:off x="10031487" y="4737258"/>
            <a:ext cx="970168" cy="3160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err="1">
                <a:solidFill>
                  <a:sysClr val="windowText" lastClr="000000"/>
                </a:solidFill>
              </a:rPr>
              <a:t>CONTACT</a:t>
            </a:r>
            <a:r>
              <a:rPr lang="en-US" altLang="ko-KR" sz="1200" dirty="0" err="1"/>
              <a:t>t</a:t>
            </a:r>
            <a:endParaRPr lang="ko-KR" altLang="en-US" sz="1200" dirty="0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188CAA41-DC05-4566-BA27-E88EC0E35F89}"/>
              </a:ext>
            </a:extLst>
          </p:cNvPr>
          <p:cNvSpPr/>
          <p:nvPr/>
        </p:nvSpPr>
        <p:spPr>
          <a:xfrm>
            <a:off x="7553233" y="5329317"/>
            <a:ext cx="3712659" cy="33086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POLY / Gate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E8DBD313-D0F0-4F51-ABEA-04F9627DF370}"/>
              </a:ext>
            </a:extLst>
          </p:cNvPr>
          <p:cNvSpPr/>
          <p:nvPr/>
        </p:nvSpPr>
        <p:spPr>
          <a:xfrm>
            <a:off x="8158092" y="5057819"/>
            <a:ext cx="3107789" cy="266617"/>
          </a:xfrm>
          <a:prstGeom prst="rect">
            <a:avLst/>
          </a:prstGeom>
          <a:pattFill prst="wdDnDiag">
            <a:fgClr>
              <a:schemeClr val="accent3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Silicide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2F3F9C3-DF5B-46D9-8060-561075ED2859}"/>
              </a:ext>
            </a:extLst>
          </p:cNvPr>
          <p:cNvSpPr/>
          <p:nvPr/>
        </p:nvSpPr>
        <p:spPr>
          <a:xfrm>
            <a:off x="515294" y="1635321"/>
            <a:ext cx="516618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b="1" dirty="0"/>
              <a:t>저항 특성 유지 및 </a:t>
            </a:r>
            <a:r>
              <a:rPr lang="en-US" altLang="ko-KR" b="1" dirty="0" err="1"/>
              <a:t>Salicide</a:t>
            </a:r>
            <a:r>
              <a:rPr lang="en-US" altLang="ko-KR" b="1" dirty="0"/>
              <a:t> </a:t>
            </a:r>
            <a:r>
              <a:rPr lang="ko-KR" altLang="en-US" b="1" dirty="0"/>
              <a:t>침범 방지를 위한 최소 </a:t>
            </a:r>
            <a:r>
              <a:rPr lang="en-US" altLang="ko-KR" b="1" dirty="0"/>
              <a:t>Contact-Resistor </a:t>
            </a:r>
            <a:r>
              <a:rPr lang="ko-KR" altLang="en-US" b="1" dirty="0"/>
              <a:t>간격 규정</a:t>
            </a:r>
          </a:p>
        </p:txBody>
      </p:sp>
    </p:spTree>
    <p:extLst>
      <p:ext uri="{BB962C8B-B14F-4D97-AF65-F5344CB8AC3E}">
        <p14:creationId xmlns:p14="http://schemas.microsoft.com/office/powerpoint/2010/main" val="5638751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DD73E2-CA11-42E2-B489-E53BBE2844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Why Non-</a:t>
            </a:r>
            <a:r>
              <a:rPr lang="en-US" altLang="ko-KR" dirty="0" err="1"/>
              <a:t>salicided</a:t>
            </a:r>
            <a:r>
              <a:rPr lang="en-US" altLang="ko-KR" dirty="0"/>
              <a:t> Resistor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60887252-03BC-45CE-84A9-D1BCD677AD9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57982" y="1869869"/>
                <a:ext cx="5580296" cy="3808260"/>
              </a:xfrm>
            </p:spPr>
            <p:txBody>
              <a:bodyPr>
                <a:normAutofit/>
              </a:bodyPr>
              <a:lstStyle/>
              <a:p>
                <a:pPr>
                  <a:buFont typeface="Wingdings" panose="05000000000000000000" pitchFamily="2" charset="2"/>
                  <a:buChar char="§"/>
                </a:pPr>
                <a:r>
                  <a:rPr lang="en-US" altLang="ko-KR" dirty="0"/>
                  <a:t>Salicide : ultra-thin film-&gt;sheet resistance highly sensitive to thickness -&gt; poor reproducibility</a:t>
                </a:r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US" altLang="ko-KR" dirty="0"/>
                  <a:t>Non-</a:t>
                </a:r>
                <a:r>
                  <a:rPr lang="en-US" altLang="ko-KR" dirty="0" err="1"/>
                  <a:t>salicided</a:t>
                </a:r>
                <a:r>
                  <a:rPr lang="en-US" altLang="ko-KR" dirty="0"/>
                  <a:t>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𝑠h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ko-KR" altLang="en-US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𝑁𝑡</m:t>
                        </m:r>
                      </m:den>
                    </m:f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-&gt; determined mainly by implant dose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60887252-03BC-45CE-84A9-D1BCD677AD9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57982" y="1869869"/>
                <a:ext cx="5580296" cy="3808260"/>
              </a:xfrm>
              <a:blipFill>
                <a:blip r:embed="rId2"/>
                <a:stretch>
                  <a:fillRect l="-1967" t="-2885" r="-185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hape 2">
            <a:extLst>
              <a:ext uri="{FF2B5EF4-FFF2-40B4-BE49-F238E27FC236}">
                <a16:creationId xmlns:a16="http://schemas.microsoft.com/office/drawing/2014/main" id="{737E0AA7-9E18-4301-9F7D-27A66D833DB9}"/>
              </a:ext>
            </a:extLst>
          </p:cNvPr>
          <p:cNvSpPr/>
          <p:nvPr/>
        </p:nvSpPr>
        <p:spPr>
          <a:xfrm>
            <a:off x="6229718" y="3221043"/>
            <a:ext cx="5394960" cy="914400"/>
          </a:xfrm>
          <a:prstGeom prst="roundRect">
            <a:avLst>
              <a:gd name="adj" fmla="val 6000"/>
            </a:avLst>
          </a:prstGeom>
          <a:solidFill>
            <a:srgbClr val="EDEBE3"/>
          </a:solidFill>
          <a:ln w="12700">
            <a:solidFill>
              <a:srgbClr val="5F5E5A"/>
            </a:solidFill>
            <a:prstDash val="solid"/>
          </a:ln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5B2A26F-BF04-4F4D-8475-8422B5246AF8}"/>
              </a:ext>
            </a:extLst>
          </p:cNvPr>
          <p:cNvSpPr/>
          <p:nvPr/>
        </p:nvSpPr>
        <p:spPr>
          <a:xfrm>
            <a:off x="6229718" y="3221043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Poly / active (implant)</a:t>
            </a:r>
            <a:endParaRPr lang="en-US" sz="12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B002EBA5-C4FD-4A6B-8A6A-5830C708ECE8}"/>
              </a:ext>
            </a:extLst>
          </p:cNvPr>
          <p:cNvSpPr/>
          <p:nvPr/>
        </p:nvSpPr>
        <p:spPr>
          <a:xfrm>
            <a:off x="6229718" y="3019875"/>
            <a:ext cx="1645920" cy="201168"/>
          </a:xfrm>
          <a:prstGeom prst="rect">
            <a:avLst/>
          </a:prstGeom>
          <a:solidFill>
            <a:srgbClr val="F5D9CC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0B3AB790-6FD7-4EB6-B4F6-F3E27D3F9ED9}"/>
              </a:ext>
            </a:extLst>
          </p:cNvPr>
          <p:cNvSpPr/>
          <p:nvPr/>
        </p:nvSpPr>
        <p:spPr>
          <a:xfrm>
            <a:off x="9978758" y="3019875"/>
            <a:ext cx="1645920" cy="201168"/>
          </a:xfrm>
          <a:prstGeom prst="rect">
            <a:avLst/>
          </a:prstGeom>
          <a:solidFill>
            <a:srgbClr val="F5D9CC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08EECC89-929E-48DA-98AC-865A95DFB0D6}"/>
              </a:ext>
            </a:extLst>
          </p:cNvPr>
          <p:cNvSpPr/>
          <p:nvPr/>
        </p:nvSpPr>
        <p:spPr>
          <a:xfrm>
            <a:off x="7967078" y="2809563"/>
            <a:ext cx="1920240" cy="256032"/>
          </a:xfrm>
          <a:prstGeom prst="roundRect">
            <a:avLst>
              <a:gd name="adj" fmla="val 14286"/>
            </a:avLst>
          </a:prstGeom>
          <a:solidFill>
            <a:srgbClr val="CDEEE0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80131CF7-C0E1-4623-8C1D-351D4A911704}"/>
              </a:ext>
            </a:extLst>
          </p:cNvPr>
          <p:cNvSpPr/>
          <p:nvPr/>
        </p:nvSpPr>
        <p:spPr>
          <a:xfrm>
            <a:off x="7967078" y="2809563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Salicide block mask</a:t>
            </a:r>
            <a:endParaRPr lang="en-US" sz="10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3C8E1CAD-6E77-4F90-BF35-C1F3722ECDA5}"/>
              </a:ext>
            </a:extLst>
          </p:cNvPr>
          <p:cNvSpPr/>
          <p:nvPr/>
        </p:nvSpPr>
        <p:spPr>
          <a:xfrm>
            <a:off x="6138278" y="1849443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993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Salicide (junction)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993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thin, sensitive → low reproducibility</a:t>
            </a:r>
            <a:endParaRPr lang="en-US" sz="105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F94272BE-70E5-4670-B8AC-C5549BDF547F}"/>
              </a:ext>
            </a:extLst>
          </p:cNvPr>
          <p:cNvSpPr/>
          <p:nvPr/>
        </p:nvSpPr>
        <p:spPr>
          <a:xfrm>
            <a:off x="9704438" y="1849443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993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Salicide (junction)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993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thin, sensitive → low reproducibility</a:t>
            </a:r>
            <a:endParaRPr lang="en-US" sz="105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2076CC08-0ECD-4A68-9DEB-E35B2460E793}"/>
              </a:ext>
            </a:extLst>
          </p:cNvPr>
          <p:cNvSpPr/>
          <p:nvPr/>
        </p:nvSpPr>
        <p:spPr>
          <a:xfrm>
            <a:off x="7052678" y="4272603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Non-salicided resistor body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R_sh set by implant dose → precise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33098673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F78CBC-CE47-46BC-BEBD-235FDE2B8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Non-</a:t>
            </a:r>
            <a:r>
              <a:rPr lang="en-US" altLang="ko-KR" dirty="0" err="1"/>
              <a:t>salicide</a:t>
            </a:r>
            <a:r>
              <a:rPr lang="en-US" altLang="ko-KR" dirty="0"/>
              <a:t> Boundary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936F99E4-8DD2-4344-8C51-296090B7895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altLang="ko-KR" dirty="0"/>
                  <a:t>Transfer length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b="0" i="1" smtClean="0">
                                <a:latin typeface="Cambria Math" panose="02040503050406030204" pitchFamily="18" charset="0"/>
                              </a:rPr>
                              <m:t>𝜌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/</m:t>
                        </m:r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𝑠h</m:t>
                            </m:r>
                          </m:sub>
                        </m:sSub>
                      </m:e>
                    </m:rad>
                  </m:oMath>
                </a14:m>
                <a:endParaRPr lang="en-US" altLang="ko-KR" dirty="0"/>
              </a:p>
              <a:p>
                <a:pPr marL="0" indent="0">
                  <a:buNone/>
                </a:pPr>
                <a:r>
                  <a:rPr lang="ko-KR" altLang="en-US" dirty="0"/>
                  <a:t>즉</a:t>
                </a:r>
                <a:r>
                  <a:rPr lang="en-US" altLang="ko-KR" dirty="0"/>
                  <a:t>, Contact</a:t>
                </a:r>
                <a:r>
                  <a:rPr lang="ko-KR" altLang="en-US" dirty="0"/>
                  <a:t>이 너무 가까우면 유효 폭 확보가 불가해 길이가 왜곡된다</a:t>
                </a:r>
                <a:r>
                  <a:rPr lang="en-US" altLang="ko-KR" dirty="0"/>
                  <a:t>.</a:t>
                </a:r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936F99E4-8DD2-4344-8C51-296090B7895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1261" r="-52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hape 2">
            <a:extLst>
              <a:ext uri="{FF2B5EF4-FFF2-40B4-BE49-F238E27FC236}">
                <a16:creationId xmlns:a16="http://schemas.microsoft.com/office/drawing/2014/main" id="{C3E2A4DF-41A9-4642-8F08-D5BDFCB4DF7F}"/>
              </a:ext>
            </a:extLst>
          </p:cNvPr>
          <p:cNvSpPr/>
          <p:nvPr/>
        </p:nvSpPr>
        <p:spPr>
          <a:xfrm>
            <a:off x="1064833" y="3886200"/>
            <a:ext cx="2377440" cy="1005840"/>
          </a:xfrm>
          <a:prstGeom prst="rect">
            <a:avLst/>
          </a:prstGeom>
          <a:solidFill>
            <a:srgbClr val="F5D9CC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90DBC48-05CF-43BA-8ED8-63652CD24719}"/>
              </a:ext>
            </a:extLst>
          </p:cNvPr>
          <p:cNvSpPr/>
          <p:nvPr/>
        </p:nvSpPr>
        <p:spPr>
          <a:xfrm>
            <a:off x="1064833" y="388620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93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Salicide (low R)</a:t>
            </a:r>
            <a:endParaRPr lang="en-US" sz="11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4A1FAE1B-F711-4F16-A0C2-ECD65330429A}"/>
              </a:ext>
            </a:extLst>
          </p:cNvPr>
          <p:cNvSpPr/>
          <p:nvPr/>
        </p:nvSpPr>
        <p:spPr>
          <a:xfrm>
            <a:off x="3442273" y="3886200"/>
            <a:ext cx="3108960" cy="1005840"/>
          </a:xfrm>
          <a:prstGeom prst="rect">
            <a:avLst/>
          </a:prstGeom>
          <a:solidFill>
            <a:srgbClr val="CDEEE0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CD3CC7E6-0E7F-4A6A-A536-4A988D9D00C2}"/>
              </a:ext>
            </a:extLst>
          </p:cNvPr>
          <p:cNvSpPr/>
          <p:nvPr/>
        </p:nvSpPr>
        <p:spPr>
          <a:xfrm>
            <a:off x="3442273" y="388620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Non-salicide resistor (high R)</a:t>
            </a:r>
            <a:endParaRPr lang="en-US" sz="11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A566EBF4-D6C9-424A-98F9-C51399642E83}"/>
              </a:ext>
            </a:extLst>
          </p:cNvPr>
          <p:cNvSpPr/>
          <p:nvPr/>
        </p:nvSpPr>
        <p:spPr>
          <a:xfrm>
            <a:off x="1796353" y="3429000"/>
            <a:ext cx="822960" cy="365760"/>
          </a:xfrm>
          <a:prstGeom prst="roundRect">
            <a:avLst>
              <a:gd name="adj" fmla="val 12500"/>
            </a:avLst>
          </a:prstGeom>
          <a:solidFill>
            <a:srgbClr val="EDEBE3"/>
          </a:solidFill>
          <a:ln w="12700">
            <a:solidFill>
              <a:srgbClr val="5F5E5A"/>
            </a:solidFill>
            <a:prstDash val="solid"/>
          </a:ln>
        </p:spPr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CE0BF1A6-BCAA-4277-B1AD-12FC2F60F91A}"/>
              </a:ext>
            </a:extLst>
          </p:cNvPr>
          <p:cNvSpPr/>
          <p:nvPr/>
        </p:nvSpPr>
        <p:spPr>
          <a:xfrm>
            <a:off x="1796353" y="342900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</a:t>
            </a:r>
            <a:endParaRPr lang="en-US" sz="10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E5EBA0AE-9D02-45BA-9C7E-6534FB300F7E}"/>
              </a:ext>
            </a:extLst>
          </p:cNvPr>
          <p:cNvSpPr/>
          <p:nvPr/>
        </p:nvSpPr>
        <p:spPr>
          <a:xfrm>
            <a:off x="2207833" y="3886200"/>
            <a:ext cx="1234440" cy="137160"/>
          </a:xfrm>
          <a:prstGeom prst="line">
            <a:avLst/>
          </a:prstGeom>
          <a:noFill/>
          <a:ln w="31750">
            <a:solidFill>
              <a:srgbClr val="D85A30"/>
            </a:solidFill>
            <a:prstDash val="solid"/>
            <a:tailEnd type="triangle"/>
          </a:ln>
        </p:spPr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6185422D-0824-413F-A5C6-1D65D1580948}"/>
              </a:ext>
            </a:extLst>
          </p:cNvPr>
          <p:cNvSpPr/>
          <p:nvPr/>
        </p:nvSpPr>
        <p:spPr>
          <a:xfrm>
            <a:off x="2207833" y="3886200"/>
            <a:ext cx="1234440" cy="411480"/>
          </a:xfrm>
          <a:prstGeom prst="line">
            <a:avLst/>
          </a:prstGeom>
          <a:noFill/>
          <a:ln w="19050">
            <a:solidFill>
              <a:srgbClr val="D85A30"/>
            </a:solidFill>
            <a:prstDash val="solid"/>
            <a:tailEnd type="triangle"/>
          </a:ln>
        </p:spPr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DE85B4F2-F1B8-4258-B7F0-759D6E0154F9}"/>
              </a:ext>
            </a:extLst>
          </p:cNvPr>
          <p:cNvSpPr/>
          <p:nvPr/>
        </p:nvSpPr>
        <p:spPr>
          <a:xfrm>
            <a:off x="2207833" y="3886200"/>
            <a:ext cx="1234440" cy="685800"/>
          </a:xfrm>
          <a:prstGeom prst="line">
            <a:avLst/>
          </a:prstGeom>
          <a:noFill/>
          <a:ln w="9525">
            <a:solidFill>
              <a:srgbClr val="D85A30"/>
            </a:solidFill>
            <a:prstDash val="solid"/>
            <a:tailEnd type="triangle"/>
          </a:ln>
        </p:spPr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D327D5BD-ADF7-4962-AFF4-5C1A5A68EF19}"/>
              </a:ext>
            </a:extLst>
          </p:cNvPr>
          <p:cNvSpPr/>
          <p:nvPr/>
        </p:nvSpPr>
        <p:spPr>
          <a:xfrm>
            <a:off x="3442273" y="3886200"/>
            <a:ext cx="0" cy="1005840"/>
          </a:xfrm>
          <a:prstGeom prst="line">
            <a:avLst/>
          </a:prstGeom>
          <a:noFill/>
          <a:ln w="12700">
            <a:solidFill>
              <a:srgbClr val="5F5E5A"/>
            </a:solidFill>
            <a:prstDash val="solid"/>
          </a:ln>
        </p:spPr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1FB0A1B0-A5FB-495F-868E-4F4E91187213}"/>
              </a:ext>
            </a:extLst>
          </p:cNvPr>
          <p:cNvSpPr/>
          <p:nvPr/>
        </p:nvSpPr>
        <p:spPr>
          <a:xfrm>
            <a:off x="3442273" y="5212080"/>
            <a:ext cx="914400" cy="0"/>
          </a:xfrm>
          <a:prstGeom prst="line">
            <a:avLst/>
          </a:prstGeom>
          <a:noFill/>
          <a:ln w="12700">
            <a:solidFill>
              <a:srgbClr val="5F5E5A"/>
            </a:solidFill>
            <a:prstDash val="solid"/>
          </a:ln>
        </p:spPr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691D50C4-09D2-4C0E-BD40-CA57A5FD272B}"/>
              </a:ext>
            </a:extLst>
          </p:cNvPr>
          <p:cNvSpPr/>
          <p:nvPr/>
        </p:nvSpPr>
        <p:spPr>
          <a:xfrm>
            <a:off x="3442273" y="5138928"/>
            <a:ext cx="0" cy="146304"/>
          </a:xfrm>
          <a:prstGeom prst="line">
            <a:avLst/>
          </a:prstGeom>
          <a:noFill/>
          <a:ln w="12700">
            <a:solidFill>
              <a:srgbClr val="5F5E5A"/>
            </a:solidFill>
            <a:prstDash val="solid"/>
          </a:ln>
        </p:spPr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EDA0829B-D17C-475D-8732-55E024F4000D}"/>
              </a:ext>
            </a:extLst>
          </p:cNvPr>
          <p:cNvSpPr/>
          <p:nvPr/>
        </p:nvSpPr>
        <p:spPr>
          <a:xfrm>
            <a:off x="4356673" y="5138928"/>
            <a:ext cx="0" cy="146304"/>
          </a:xfrm>
          <a:prstGeom prst="line">
            <a:avLst/>
          </a:prstGeom>
          <a:noFill/>
          <a:ln w="12700">
            <a:solidFill>
              <a:srgbClr val="5F5E5A"/>
            </a:solidFill>
            <a:prstDash val="solid"/>
          </a:ln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 15">
                <a:extLst>
                  <a:ext uri="{FF2B5EF4-FFF2-40B4-BE49-F238E27FC236}">
                    <a16:creationId xmlns:a16="http://schemas.microsoft.com/office/drawing/2014/main" id="{51FC1BA9-F10C-45F3-8976-098F274A4686}"/>
                  </a:ext>
                </a:extLst>
              </p:cNvPr>
              <p:cNvSpPr/>
              <p:nvPr/>
            </p:nvSpPr>
            <p:spPr>
              <a:xfrm>
                <a:off x="3076513" y="5321808"/>
                <a:ext cx="1645920" cy="54864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17" name="Text 15">
                <a:extLst>
                  <a:ext uri="{FF2B5EF4-FFF2-40B4-BE49-F238E27FC236}">
                    <a16:creationId xmlns:a16="http://schemas.microsoft.com/office/drawing/2014/main" id="{51FC1BA9-F10C-45F3-8976-098F274A468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6513" y="5321808"/>
                <a:ext cx="1645920" cy="54864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074841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9D53CC-AB81-4CDF-B1E7-0B4A040C5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Salicide</a:t>
            </a:r>
            <a:r>
              <a:rPr lang="en-US" altLang="ko-KR" dirty="0"/>
              <a:t> encroachment risk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BAC4A84-4559-4556-BA2A-22F89C3A78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altLang="ko-KR" dirty="0" err="1"/>
              <a:t>Salicide</a:t>
            </a:r>
            <a:r>
              <a:rPr lang="en-US" altLang="ko-KR" dirty="0"/>
              <a:t> block mask overlay error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ko-KR" dirty="0"/>
              <a:t>Effective non-silicide resistor length becomes shorter than designed</a:t>
            </a:r>
            <a:endParaRPr lang="ko-KR" altLang="en-US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0D0CE169-2D3E-41B4-9512-CE89BBFF8195}"/>
              </a:ext>
            </a:extLst>
          </p:cNvPr>
          <p:cNvSpPr/>
          <p:nvPr/>
        </p:nvSpPr>
        <p:spPr>
          <a:xfrm>
            <a:off x="838200" y="3794760"/>
            <a:ext cx="1952244" cy="1005840"/>
          </a:xfrm>
          <a:prstGeom prst="rect">
            <a:avLst/>
          </a:prstGeom>
          <a:solidFill>
            <a:srgbClr val="F5D9CC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C5F5E7C7-8380-4765-A9A4-F1F443CAB5DE}"/>
              </a:ext>
            </a:extLst>
          </p:cNvPr>
          <p:cNvSpPr/>
          <p:nvPr/>
        </p:nvSpPr>
        <p:spPr>
          <a:xfrm>
            <a:off x="2790444" y="3794760"/>
            <a:ext cx="1673352" cy="1005840"/>
          </a:xfrm>
          <a:prstGeom prst="rect">
            <a:avLst/>
          </a:prstGeom>
          <a:solidFill>
            <a:srgbClr val="CDEEE0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0B16B570-83CF-4539-98BA-AD604ADDE9FC}"/>
              </a:ext>
            </a:extLst>
          </p:cNvPr>
          <p:cNvSpPr/>
          <p:nvPr/>
        </p:nvSpPr>
        <p:spPr>
          <a:xfrm>
            <a:off x="4463796" y="3794760"/>
            <a:ext cx="1952244" cy="1005840"/>
          </a:xfrm>
          <a:prstGeom prst="rect">
            <a:avLst/>
          </a:prstGeom>
          <a:solidFill>
            <a:srgbClr val="F5D9CC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1A9481F3-9C0B-4876-B198-E03331413354}"/>
              </a:ext>
            </a:extLst>
          </p:cNvPr>
          <p:cNvSpPr/>
          <p:nvPr/>
        </p:nvSpPr>
        <p:spPr>
          <a:xfrm>
            <a:off x="2790444" y="3794760"/>
            <a:ext cx="446227" cy="1005840"/>
          </a:xfrm>
          <a:prstGeom prst="rect">
            <a:avLst/>
          </a:prstGeom>
          <a:solidFill>
            <a:srgbClr val="F5D9CC">
              <a:alpha val="60000"/>
            </a:srgbClr>
          </a:solidFill>
          <a:ln w="12700">
            <a:solidFill>
              <a:srgbClr val="D85A30"/>
            </a:solidFill>
            <a:prstDash val="dash"/>
          </a:ln>
        </p:spPr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AB9DF9D7-D00C-498C-AE4A-E3AB472914A1}"/>
              </a:ext>
            </a:extLst>
          </p:cNvPr>
          <p:cNvSpPr/>
          <p:nvPr/>
        </p:nvSpPr>
        <p:spPr>
          <a:xfrm>
            <a:off x="2790444" y="3429000"/>
            <a:ext cx="16733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Designed non-salicide length</a:t>
            </a:r>
            <a:endParaRPr lang="en-US" sz="95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E5B8B98E-A227-44BE-9F03-B8C94FAFC811}"/>
              </a:ext>
            </a:extLst>
          </p:cNvPr>
          <p:cNvSpPr/>
          <p:nvPr/>
        </p:nvSpPr>
        <p:spPr>
          <a:xfrm>
            <a:off x="2607564" y="4873752"/>
            <a:ext cx="133868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93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Encroachment</a:t>
            </a:r>
            <a:endParaRPr lang="en-US" sz="950" dirty="0"/>
          </a:p>
        </p:txBody>
      </p:sp>
    </p:spTree>
    <p:extLst>
      <p:ext uri="{BB962C8B-B14F-4D97-AF65-F5344CB8AC3E}">
        <p14:creationId xmlns:p14="http://schemas.microsoft.com/office/powerpoint/2010/main" val="29084063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그림 47">
            <a:extLst>
              <a:ext uri="{FF2B5EF4-FFF2-40B4-BE49-F238E27FC236}">
                <a16:creationId xmlns:a16="http://schemas.microsoft.com/office/drawing/2014/main" id="{FD4B4DAA-63C8-4438-95BA-94A1FD41F3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0272" y="1795877"/>
            <a:ext cx="3715604" cy="2637044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91C5C929-8669-440E-BF5C-9FB66113EA81}"/>
              </a:ext>
            </a:extLst>
          </p:cNvPr>
          <p:cNvSpPr txBox="1"/>
          <p:nvPr/>
        </p:nvSpPr>
        <p:spPr>
          <a:xfrm>
            <a:off x="6465506" y="1132170"/>
            <a:ext cx="48062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ko-KR" sz="1600" dirty="0"/>
              <a:t>Cadence Reproducing and vertical structure</a:t>
            </a:r>
            <a:endParaRPr lang="ko-KR" altLang="en-US" sz="1600" dirty="0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1B14A38D-D0A3-461C-81CA-512713BB8B47}"/>
              </a:ext>
            </a:extLst>
          </p:cNvPr>
          <p:cNvSpPr/>
          <p:nvPr/>
        </p:nvSpPr>
        <p:spPr>
          <a:xfrm>
            <a:off x="6584650" y="1466881"/>
            <a:ext cx="507247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/>
              <a:t>Cadence</a:t>
            </a:r>
            <a:endParaRPr lang="ko-KR" altLang="en-US" sz="1400" dirty="0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F449DACE-48BB-4606-AF0C-A4616B80C8C0}"/>
              </a:ext>
            </a:extLst>
          </p:cNvPr>
          <p:cNvSpPr/>
          <p:nvPr/>
        </p:nvSpPr>
        <p:spPr>
          <a:xfrm>
            <a:off x="515294" y="1090938"/>
            <a:ext cx="399340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ko-KR" dirty="0"/>
              <a:t>Schematic in Design Rule Manual</a:t>
            </a:r>
            <a:endParaRPr lang="ko-KR" altLang="en-US" dirty="0"/>
          </a:p>
        </p:txBody>
      </p: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238F5E85-37BE-4FD3-969B-986469085B45}"/>
              </a:ext>
            </a:extLst>
          </p:cNvPr>
          <p:cNvCxnSpPr>
            <a:cxnSpLocks/>
          </p:cNvCxnSpPr>
          <p:nvPr/>
        </p:nvCxnSpPr>
        <p:spPr>
          <a:xfrm>
            <a:off x="6161698" y="1194679"/>
            <a:ext cx="0" cy="5668864"/>
          </a:xfrm>
          <a:prstGeom prst="line">
            <a:avLst/>
          </a:prstGeom>
          <a:ln w="158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0" name="표 29">
            <a:extLst>
              <a:ext uri="{FF2B5EF4-FFF2-40B4-BE49-F238E27FC236}">
                <a16:creationId xmlns:a16="http://schemas.microsoft.com/office/drawing/2014/main" id="{A8CFD6FE-F4E6-4CE5-AA4B-CB69D831897E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515294" y="255775"/>
          <a:ext cx="10911267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4766">
                  <a:extLst>
                    <a:ext uri="{9D8B030D-6E8A-4147-A177-3AD203B41FA5}">
                      <a16:colId xmlns:a16="http://schemas.microsoft.com/office/drawing/2014/main" val="3874033937"/>
                    </a:ext>
                  </a:extLst>
                </a:gridCol>
                <a:gridCol w="1416289">
                  <a:extLst>
                    <a:ext uri="{9D8B030D-6E8A-4147-A177-3AD203B41FA5}">
                      <a16:colId xmlns:a16="http://schemas.microsoft.com/office/drawing/2014/main" val="1105405848"/>
                    </a:ext>
                  </a:extLst>
                </a:gridCol>
                <a:gridCol w="7810212">
                  <a:extLst>
                    <a:ext uri="{9D8B030D-6E8A-4147-A177-3AD203B41FA5}">
                      <a16:colId xmlns:a16="http://schemas.microsoft.com/office/drawing/2014/main" val="2992235816"/>
                    </a:ext>
                  </a:extLst>
                </a:gridCol>
              </a:tblGrid>
              <a:tr h="30762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Rule Name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Value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1766925"/>
                  </a:ext>
                </a:extLst>
              </a:tr>
              <a:tr h="32923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CONT.X.1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/>
                        <a:t>Contact on gate is NOT allowed</a:t>
                      </a:r>
                      <a:endParaRPr lang="ko-KR" altLang="en-US" sz="1800" b="1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5480813"/>
                  </a:ext>
                </a:extLst>
              </a:tr>
            </a:tbl>
          </a:graphicData>
        </a:graphic>
      </p:graphicFrame>
      <p:sp>
        <p:nvSpPr>
          <p:cNvPr id="55" name="직사각형 54">
            <a:extLst>
              <a:ext uri="{FF2B5EF4-FFF2-40B4-BE49-F238E27FC236}">
                <a16:creationId xmlns:a16="http://schemas.microsoft.com/office/drawing/2014/main" id="{67187ED4-CFED-469F-AEAA-CD875B4E70D6}"/>
              </a:ext>
            </a:extLst>
          </p:cNvPr>
          <p:cNvSpPr/>
          <p:nvPr/>
        </p:nvSpPr>
        <p:spPr>
          <a:xfrm>
            <a:off x="6570575" y="2867294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/>
              <a:t>✄</a:t>
            </a: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6B06D9D8-9557-41D4-B5BF-F72D457F0BDB}"/>
              </a:ext>
            </a:extLst>
          </p:cNvPr>
          <p:cNvSpPr/>
          <p:nvPr/>
        </p:nvSpPr>
        <p:spPr>
          <a:xfrm>
            <a:off x="10019204" y="4930555"/>
            <a:ext cx="984346" cy="33086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4D6491BB-BF8C-46DA-B945-F63EA89195BA}"/>
              </a:ext>
            </a:extLst>
          </p:cNvPr>
          <p:cNvCxnSpPr>
            <a:cxnSpLocks/>
          </p:cNvCxnSpPr>
          <p:nvPr/>
        </p:nvCxnSpPr>
        <p:spPr>
          <a:xfrm>
            <a:off x="6959358" y="3051960"/>
            <a:ext cx="4740442" cy="0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4F854FB1-8D5A-4793-9A08-8DD82D595B35}"/>
              </a:ext>
            </a:extLst>
          </p:cNvPr>
          <p:cNvSpPr/>
          <p:nvPr/>
        </p:nvSpPr>
        <p:spPr>
          <a:xfrm>
            <a:off x="7553240" y="5654470"/>
            <a:ext cx="3712659" cy="1094371"/>
          </a:xfrm>
          <a:prstGeom prst="rect">
            <a:avLst/>
          </a:prstGeom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Substrate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F0461A1-52B1-408D-B3F7-A969FF6C02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736" y="2841734"/>
            <a:ext cx="4086446" cy="314032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31A39CA-F8F1-462E-8294-D637BADE7293}"/>
              </a:ext>
            </a:extLst>
          </p:cNvPr>
          <p:cNvSpPr txBox="1"/>
          <p:nvPr/>
        </p:nvSpPr>
        <p:spPr>
          <a:xfrm>
            <a:off x="732929" y="1531167"/>
            <a:ext cx="45417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b="1" dirty="0"/>
              <a:t>Active </a:t>
            </a:r>
            <a:r>
              <a:rPr lang="ko-KR" altLang="en-US" b="1" dirty="0"/>
              <a:t>위에 있는 </a:t>
            </a:r>
            <a:r>
              <a:rPr lang="en-US" altLang="ko-KR" b="1" dirty="0"/>
              <a:t>Gate Poly(</a:t>
            </a:r>
            <a:r>
              <a:rPr lang="ko-KR" altLang="en-US" b="1" dirty="0"/>
              <a:t>채널 영역</a:t>
            </a:r>
            <a:r>
              <a:rPr lang="en-US" altLang="ko-KR" b="1" dirty="0"/>
              <a:t>) </a:t>
            </a:r>
            <a:r>
              <a:rPr lang="ko-KR" altLang="en-US" b="1" dirty="0"/>
              <a:t>위에는 </a:t>
            </a:r>
            <a:r>
              <a:rPr lang="en-US" altLang="ko-KR" b="1" dirty="0"/>
              <a:t>Contact</a:t>
            </a:r>
            <a:r>
              <a:rPr lang="ko-KR" altLang="en-US" b="1" dirty="0"/>
              <a:t>를 놓으면 안 된다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8854BC3-1E9F-4B25-BE80-184BFAC8588F}"/>
              </a:ext>
            </a:extLst>
          </p:cNvPr>
          <p:cNvSpPr txBox="1"/>
          <p:nvPr/>
        </p:nvSpPr>
        <p:spPr>
          <a:xfrm>
            <a:off x="2429730" y="3072513"/>
            <a:ext cx="15620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rgbClr val="FF0000"/>
                </a:solidFill>
              </a:rPr>
              <a:t>Active area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1BE40075-F82B-4C52-9E39-03E8F159A636}"/>
              </a:ext>
            </a:extLst>
          </p:cNvPr>
          <p:cNvCxnSpPr>
            <a:cxnSpLocks/>
          </p:cNvCxnSpPr>
          <p:nvPr/>
        </p:nvCxnSpPr>
        <p:spPr>
          <a:xfrm>
            <a:off x="732929" y="2545690"/>
            <a:ext cx="4748971" cy="3655965"/>
          </a:xfrm>
          <a:prstGeom prst="line">
            <a:avLst/>
          </a:prstGeom>
          <a:ln w="793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5694E5AF-1186-459A-A03A-C0D62D5938DE}"/>
              </a:ext>
            </a:extLst>
          </p:cNvPr>
          <p:cNvCxnSpPr>
            <a:cxnSpLocks/>
          </p:cNvCxnSpPr>
          <p:nvPr/>
        </p:nvCxnSpPr>
        <p:spPr>
          <a:xfrm flipV="1">
            <a:off x="654717" y="2545690"/>
            <a:ext cx="4851158" cy="3655965"/>
          </a:xfrm>
          <a:prstGeom prst="line">
            <a:avLst/>
          </a:prstGeom>
          <a:ln w="793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37B2D7AE-B79C-4D08-A98A-E81CA9F83EE3}"/>
              </a:ext>
            </a:extLst>
          </p:cNvPr>
          <p:cNvCxnSpPr>
            <a:cxnSpLocks/>
          </p:cNvCxnSpPr>
          <p:nvPr/>
        </p:nvCxnSpPr>
        <p:spPr>
          <a:xfrm flipH="1">
            <a:off x="1682187" y="3545488"/>
            <a:ext cx="2681543" cy="0"/>
          </a:xfrm>
          <a:prstGeom prst="line">
            <a:avLst/>
          </a:prstGeom>
          <a:ln w="31750">
            <a:solidFill>
              <a:srgbClr val="FF0000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FA47FE70-91BC-43C1-8A3F-5EB987A9102D}"/>
              </a:ext>
            </a:extLst>
          </p:cNvPr>
          <p:cNvSpPr/>
          <p:nvPr/>
        </p:nvSpPr>
        <p:spPr>
          <a:xfrm>
            <a:off x="7742637" y="5666424"/>
            <a:ext cx="3424543" cy="45446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ysClr val="windowText" lastClr="000000"/>
                </a:solidFill>
              </a:rPr>
              <a:t>P+</a:t>
            </a:r>
            <a:endParaRPr lang="ko-KR" altLang="en-US" b="1" dirty="0">
              <a:solidFill>
                <a:sysClr val="windowText" lastClr="000000"/>
              </a:solidFill>
            </a:endParaRPr>
          </a:p>
        </p:txBody>
      </p:sp>
      <p:cxnSp>
        <p:nvCxnSpPr>
          <p:cNvPr id="51" name="직선 연결선 50">
            <a:extLst>
              <a:ext uri="{FF2B5EF4-FFF2-40B4-BE49-F238E27FC236}">
                <a16:creationId xmlns:a16="http://schemas.microsoft.com/office/drawing/2014/main" id="{249CFF71-D6FA-4E17-9EDC-C43EFF9AE472}"/>
              </a:ext>
            </a:extLst>
          </p:cNvPr>
          <p:cNvCxnSpPr>
            <a:cxnSpLocks/>
          </p:cNvCxnSpPr>
          <p:nvPr/>
        </p:nvCxnSpPr>
        <p:spPr>
          <a:xfrm flipH="1">
            <a:off x="7742638" y="3060616"/>
            <a:ext cx="1613" cy="3037411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3133AAA7-FF8F-4FA1-ACED-2B77DEC21545}"/>
              </a:ext>
            </a:extLst>
          </p:cNvPr>
          <p:cNvSpPr/>
          <p:nvPr/>
        </p:nvSpPr>
        <p:spPr>
          <a:xfrm>
            <a:off x="7553866" y="5660405"/>
            <a:ext cx="769610" cy="330868"/>
          </a:xfrm>
          <a:prstGeom prst="rect">
            <a:avLst/>
          </a:prstGeom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STI</a:t>
            </a:r>
            <a:endParaRPr lang="ko-KR" altLang="en-US" dirty="0"/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A320AC0E-9463-468F-92A3-7609AF0E7CA8}"/>
              </a:ext>
            </a:extLst>
          </p:cNvPr>
          <p:cNvSpPr/>
          <p:nvPr/>
        </p:nvSpPr>
        <p:spPr>
          <a:xfrm>
            <a:off x="7550272" y="4999654"/>
            <a:ext cx="3712658" cy="657631"/>
          </a:xfrm>
          <a:prstGeom prst="rect">
            <a:avLst/>
          </a:prstGeom>
          <a:pattFill prst="pct5">
            <a:fgClr>
              <a:srgbClr val="0070C0"/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>
              <a:solidFill>
                <a:schemeClr val="tx1"/>
              </a:solidFill>
            </a:endParaRPr>
          </a:p>
        </p:txBody>
      </p: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0791351A-8223-4E8C-8B3F-5DC4406B43D1}"/>
              </a:ext>
            </a:extLst>
          </p:cNvPr>
          <p:cNvCxnSpPr>
            <a:cxnSpLocks/>
          </p:cNvCxnSpPr>
          <p:nvPr/>
        </p:nvCxnSpPr>
        <p:spPr>
          <a:xfrm flipH="1">
            <a:off x="11170416" y="3041782"/>
            <a:ext cx="1613" cy="3037411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188CAA41-DC05-4566-BA27-E88EC0E35F89}"/>
              </a:ext>
            </a:extLst>
          </p:cNvPr>
          <p:cNvSpPr/>
          <p:nvPr/>
        </p:nvSpPr>
        <p:spPr>
          <a:xfrm>
            <a:off x="8888079" y="5329317"/>
            <a:ext cx="1122986" cy="33086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POLY / Gate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92" name="직사각형 91">
            <a:extLst>
              <a:ext uri="{FF2B5EF4-FFF2-40B4-BE49-F238E27FC236}">
                <a16:creationId xmlns:a16="http://schemas.microsoft.com/office/drawing/2014/main" id="{DA834C56-751C-4131-A6E1-2E1604A6E554}"/>
              </a:ext>
            </a:extLst>
          </p:cNvPr>
          <p:cNvSpPr/>
          <p:nvPr/>
        </p:nvSpPr>
        <p:spPr>
          <a:xfrm>
            <a:off x="9366958" y="4999654"/>
            <a:ext cx="230317" cy="3160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" dirty="0"/>
          </a:p>
        </p:txBody>
      </p:sp>
      <p:cxnSp>
        <p:nvCxnSpPr>
          <p:cNvPr id="61" name="직선 연결선 60">
            <a:extLst>
              <a:ext uri="{FF2B5EF4-FFF2-40B4-BE49-F238E27FC236}">
                <a16:creationId xmlns:a16="http://schemas.microsoft.com/office/drawing/2014/main" id="{81F0166C-730C-48CA-8298-39C6AA4574BF}"/>
              </a:ext>
            </a:extLst>
          </p:cNvPr>
          <p:cNvCxnSpPr>
            <a:cxnSpLocks/>
          </p:cNvCxnSpPr>
          <p:nvPr/>
        </p:nvCxnSpPr>
        <p:spPr>
          <a:xfrm>
            <a:off x="10019204" y="3051960"/>
            <a:ext cx="0" cy="2458916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직선 연결선 57">
            <a:extLst>
              <a:ext uri="{FF2B5EF4-FFF2-40B4-BE49-F238E27FC236}">
                <a16:creationId xmlns:a16="http://schemas.microsoft.com/office/drawing/2014/main" id="{1DE3B143-0D3D-46DA-9EE6-AE27957F2BA3}"/>
              </a:ext>
            </a:extLst>
          </p:cNvPr>
          <p:cNvCxnSpPr>
            <a:cxnSpLocks/>
          </p:cNvCxnSpPr>
          <p:nvPr/>
        </p:nvCxnSpPr>
        <p:spPr>
          <a:xfrm>
            <a:off x="8888079" y="3072438"/>
            <a:ext cx="7382" cy="2593986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E1887D54-4911-4E66-BA77-C72F9B1C2B52}"/>
              </a:ext>
            </a:extLst>
          </p:cNvPr>
          <p:cNvCxnSpPr>
            <a:cxnSpLocks/>
          </p:cNvCxnSpPr>
          <p:nvPr/>
        </p:nvCxnSpPr>
        <p:spPr>
          <a:xfrm>
            <a:off x="9589210" y="3051960"/>
            <a:ext cx="0" cy="2277357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7A391A2D-08CC-483E-B90A-110F54CDCDD9}"/>
              </a:ext>
            </a:extLst>
          </p:cNvPr>
          <p:cNvCxnSpPr>
            <a:cxnSpLocks/>
          </p:cNvCxnSpPr>
          <p:nvPr/>
        </p:nvCxnSpPr>
        <p:spPr>
          <a:xfrm>
            <a:off x="9366960" y="3060616"/>
            <a:ext cx="0" cy="2255069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11136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0BA0B3-A04B-4754-A4BB-7C5DECA76D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000" dirty="0"/>
              <a:t>Contact causes field crowding at the edge</a:t>
            </a:r>
            <a:endParaRPr lang="ko-KR" altLang="en-US" sz="40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4065E1B-5012-46F7-A33C-2525C07F82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569071" cy="399998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altLang="ko-KR" dirty="0"/>
              <a:t>Contact behaves as an equipotential body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altLang="ko-KR" dirty="0">
                <a:solidFill>
                  <a:srgbClr val="3D3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 close to / overlapping the gate edge → vertical E-field locally enhanced at that point</a:t>
            </a:r>
            <a:endParaRPr lang="en-US" altLang="ko-KR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AA7F959C-F68B-4335-A5E4-EBA5D18FEEFF}"/>
              </a:ext>
            </a:extLst>
          </p:cNvPr>
          <p:cNvSpPr/>
          <p:nvPr/>
        </p:nvSpPr>
        <p:spPr>
          <a:xfrm>
            <a:off x="7431411" y="2103120"/>
            <a:ext cx="3584448" cy="457200"/>
          </a:xfrm>
          <a:prstGeom prst="roundRect">
            <a:avLst>
              <a:gd name="adj" fmla="val 10000"/>
            </a:avLst>
          </a:prstGeom>
          <a:solidFill>
            <a:srgbClr val="EDEBE3"/>
          </a:solidFill>
          <a:ln w="15875">
            <a:solidFill>
              <a:srgbClr val="5F5E5A"/>
            </a:solidFill>
            <a:prstDash val="solid"/>
          </a:ln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A89384E-91BE-416D-BDA8-C35B9344CCDB}"/>
              </a:ext>
            </a:extLst>
          </p:cNvPr>
          <p:cNvSpPr/>
          <p:nvPr/>
        </p:nvSpPr>
        <p:spPr>
          <a:xfrm>
            <a:off x="7431411" y="2103120"/>
            <a:ext cx="3584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 (equipotential)</a:t>
            </a:r>
            <a:endParaRPr lang="en-US" sz="11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6D655E00-0ECF-43E0-9D2A-D0742217F378}"/>
              </a:ext>
            </a:extLst>
          </p:cNvPr>
          <p:cNvSpPr/>
          <p:nvPr/>
        </p:nvSpPr>
        <p:spPr>
          <a:xfrm>
            <a:off x="6663315" y="4096512"/>
            <a:ext cx="5120640" cy="109728"/>
          </a:xfrm>
          <a:prstGeom prst="rect">
            <a:avLst/>
          </a:prstGeom>
          <a:solidFill>
            <a:srgbClr val="FBE7C4"/>
          </a:solidFill>
          <a:ln w="9525">
            <a:solidFill>
              <a:srgbClr val="BA7517"/>
            </a:solidFill>
            <a:prstDash val="solid"/>
          </a:ln>
        </p:spPr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B48D0719-1B87-4A4F-AF6B-4152C23A2718}"/>
              </a:ext>
            </a:extLst>
          </p:cNvPr>
          <p:cNvSpPr/>
          <p:nvPr/>
        </p:nvSpPr>
        <p:spPr>
          <a:xfrm>
            <a:off x="6663315" y="4206240"/>
            <a:ext cx="2816352" cy="502920"/>
          </a:xfrm>
          <a:prstGeom prst="rect">
            <a:avLst/>
          </a:prstGeom>
          <a:solidFill>
            <a:srgbClr val="CDEEE0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A93DA841-EA06-48FD-B7F4-03C0570550B0}"/>
              </a:ext>
            </a:extLst>
          </p:cNvPr>
          <p:cNvSpPr/>
          <p:nvPr/>
        </p:nvSpPr>
        <p:spPr>
          <a:xfrm>
            <a:off x="6663315" y="4206240"/>
            <a:ext cx="2816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</a:t>
            </a:r>
            <a:endParaRPr lang="en-US" sz="11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669023A8-EB82-4524-B8EF-E2CDA41B1357}"/>
              </a:ext>
            </a:extLst>
          </p:cNvPr>
          <p:cNvSpPr/>
          <p:nvPr/>
        </p:nvSpPr>
        <p:spPr>
          <a:xfrm>
            <a:off x="9479667" y="4206240"/>
            <a:ext cx="2304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area</a:t>
            </a:r>
            <a:endParaRPr lang="en-US" sz="10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CBB117BB-4201-495B-B71D-97AD5F909920}"/>
              </a:ext>
            </a:extLst>
          </p:cNvPr>
          <p:cNvSpPr/>
          <p:nvPr/>
        </p:nvSpPr>
        <p:spPr>
          <a:xfrm>
            <a:off x="9479667" y="4096512"/>
            <a:ext cx="0" cy="612648"/>
          </a:xfrm>
          <a:prstGeom prst="line">
            <a:avLst/>
          </a:prstGeom>
          <a:noFill/>
          <a:ln w="19050">
            <a:solidFill>
              <a:srgbClr val="D85A30"/>
            </a:solidFill>
            <a:prstDash val="dash"/>
          </a:ln>
        </p:spPr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DC4F544C-7CF5-4029-8AC3-8FE897761BC5}"/>
              </a:ext>
            </a:extLst>
          </p:cNvPr>
          <p:cNvSpPr/>
          <p:nvPr/>
        </p:nvSpPr>
        <p:spPr>
          <a:xfrm>
            <a:off x="8931027" y="4764024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93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 edge</a:t>
            </a:r>
            <a:endParaRPr lang="en-US" sz="95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C6BEAF2B-0C75-408A-A4D5-AEC695CF8966}"/>
              </a:ext>
            </a:extLst>
          </p:cNvPr>
          <p:cNvSpPr/>
          <p:nvPr/>
        </p:nvSpPr>
        <p:spPr>
          <a:xfrm>
            <a:off x="7943475" y="2560320"/>
            <a:ext cx="1536192" cy="1536192"/>
          </a:xfrm>
          <a:prstGeom prst="line">
            <a:avLst/>
          </a:prstGeom>
          <a:noFill/>
          <a:ln w="6350">
            <a:solidFill>
              <a:srgbClr val="D85A30"/>
            </a:solidFill>
            <a:prstDash val="solid"/>
            <a:tailEnd type="triangle"/>
          </a:ln>
        </p:spPr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E7E21E47-CD22-4E58-99C1-C1EF268B00B0}"/>
              </a:ext>
            </a:extLst>
          </p:cNvPr>
          <p:cNvSpPr/>
          <p:nvPr/>
        </p:nvSpPr>
        <p:spPr>
          <a:xfrm>
            <a:off x="8711571" y="2560320"/>
            <a:ext cx="768096" cy="1536192"/>
          </a:xfrm>
          <a:prstGeom prst="line">
            <a:avLst/>
          </a:prstGeom>
          <a:noFill/>
          <a:ln w="9525">
            <a:solidFill>
              <a:srgbClr val="D85A30"/>
            </a:solidFill>
            <a:prstDash val="solid"/>
            <a:tailEnd type="triangle"/>
          </a:ln>
        </p:spPr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BB5F3394-9B89-421B-B8F5-931B5B297BF2}"/>
              </a:ext>
            </a:extLst>
          </p:cNvPr>
          <p:cNvSpPr/>
          <p:nvPr/>
        </p:nvSpPr>
        <p:spPr>
          <a:xfrm>
            <a:off x="9479667" y="2560320"/>
            <a:ext cx="0" cy="1536192"/>
          </a:xfrm>
          <a:prstGeom prst="line">
            <a:avLst/>
          </a:prstGeom>
          <a:noFill/>
          <a:ln w="19050">
            <a:solidFill>
              <a:srgbClr val="D85A30"/>
            </a:solidFill>
            <a:prstDash val="solid"/>
            <a:tailEnd type="triangle"/>
          </a:ln>
        </p:spPr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AA08A536-FA71-4F98-A190-D032A92299D4}"/>
              </a:ext>
            </a:extLst>
          </p:cNvPr>
          <p:cNvSpPr/>
          <p:nvPr/>
        </p:nvSpPr>
        <p:spPr>
          <a:xfrm flipH="1">
            <a:off x="9479667" y="2560320"/>
            <a:ext cx="768096" cy="1536192"/>
          </a:xfrm>
          <a:prstGeom prst="line">
            <a:avLst/>
          </a:prstGeom>
          <a:noFill/>
          <a:ln w="9525">
            <a:solidFill>
              <a:srgbClr val="D85A30"/>
            </a:solidFill>
            <a:prstDash val="solid"/>
            <a:tailEnd type="triangle"/>
          </a:ln>
        </p:spPr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CFA09AE3-A75E-474C-B6AB-BDEC941D30B3}"/>
              </a:ext>
            </a:extLst>
          </p:cNvPr>
          <p:cNvSpPr/>
          <p:nvPr/>
        </p:nvSpPr>
        <p:spPr>
          <a:xfrm flipH="1">
            <a:off x="9479667" y="2560320"/>
            <a:ext cx="1536192" cy="1536192"/>
          </a:xfrm>
          <a:prstGeom prst="line">
            <a:avLst/>
          </a:prstGeom>
          <a:noFill/>
          <a:ln w="6350">
            <a:solidFill>
              <a:srgbClr val="D85A30"/>
            </a:solidFill>
            <a:prstDash val="solid"/>
            <a:tailEnd type="triangle"/>
          </a:ln>
        </p:spPr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B7535D63-6EBB-4543-BB47-093A7FC086C8}"/>
              </a:ext>
            </a:extLst>
          </p:cNvPr>
          <p:cNvSpPr/>
          <p:nvPr/>
        </p:nvSpPr>
        <p:spPr>
          <a:xfrm>
            <a:off x="6663315" y="48920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3D3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 lines crowd toward the gate edge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108231485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34A514-7632-4288-A685-1D828052C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Reliability risk ① : TDDB acceleration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C339EB6B-80D5-463F-843D-B88726CFFE3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5869365" cy="4351338"/>
              </a:xfrm>
            </p:spPr>
            <p:txBody>
              <a:bodyPr/>
              <a:lstStyle/>
              <a:p>
                <a:pPr marL="342900" indent="-342900">
                  <a:lnSpc>
                    <a:spcPct val="115000"/>
                  </a:lnSpc>
                  <a:spcAft>
                    <a:spcPts val="1000"/>
                  </a:spcAft>
                  <a:buSzPct val="100000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dirty="0" smtClean="0">
                            <a:solidFill>
                              <a:srgbClr val="3D3D3A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</m:ctrlPr>
                      </m:sSubPr>
                      <m:e>
                        <m:r>
                          <a:rPr lang="en-US" altLang="ko-KR" i="1" dirty="0" smtClean="0">
                            <a:solidFill>
                              <a:srgbClr val="3D3D3A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𝑡</m:t>
                        </m:r>
                      </m:e>
                      <m:sub>
                        <m:r>
                          <a:rPr lang="en-US" altLang="ko-KR" i="1" dirty="0" smtClean="0">
                            <a:solidFill>
                              <a:srgbClr val="3D3D3A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𝐵𝐷</m:t>
                        </m:r>
                      </m:sub>
                    </m:sSub>
                    <m:r>
                      <a:rPr lang="en-US" altLang="ko-KR" i="1" dirty="0">
                        <a:solidFill>
                          <a:srgbClr val="3D3D3A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∝</m:t>
                    </m:r>
                    <m:func>
                      <m:funcPr>
                        <m:ctrlPr>
                          <a:rPr lang="en-US" altLang="ko-KR" i="1" dirty="0">
                            <a:solidFill>
                              <a:srgbClr val="3D3D3A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i="0" dirty="0">
                            <a:solidFill>
                              <a:srgbClr val="3D3D3A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exp</m:t>
                        </m:r>
                      </m:fName>
                      <m:e>
                        <m:d>
                          <m:dPr>
                            <m:ctrlPr>
                              <a:rPr lang="en-US" altLang="ko-KR" i="1" dirty="0">
                                <a:solidFill>
                                  <a:srgbClr val="3D3D3A"/>
                                </a:solidFill>
                                <a:latin typeface="Cambria Math" panose="02040503050406030204" pitchFamily="18" charset="0"/>
                                <a:ea typeface="Arial" pitchFamily="34" charset="-122"/>
                                <a:cs typeface="Arial" pitchFamily="34" charset="-120"/>
                              </a:rPr>
                            </m:ctrlPr>
                          </m:dPr>
                          <m:e>
                            <m:r>
                              <a:rPr lang="en-US" altLang="ko-KR" i="1" dirty="0">
                                <a:solidFill>
                                  <a:srgbClr val="3D3D3A"/>
                                </a:solidFill>
                                <a:latin typeface="Cambria Math" panose="02040503050406030204" pitchFamily="18" charset="0"/>
                                <a:ea typeface="Arial" pitchFamily="34" charset="-122"/>
                                <a:cs typeface="Arial" pitchFamily="34" charset="-120"/>
                              </a:rPr>
                              <m:t>−</m:t>
                            </m:r>
                            <m:r>
                              <a:rPr lang="en-US" altLang="ko-KR" i="1" dirty="0" err="1">
                                <a:solidFill>
                                  <a:srgbClr val="3D3D3A"/>
                                </a:solidFill>
                                <a:latin typeface="Cambria Math" panose="02040503050406030204" pitchFamily="18" charset="0"/>
                                <a:ea typeface="Arial" pitchFamily="34" charset="-122"/>
                                <a:cs typeface="Arial" pitchFamily="34" charset="-120"/>
                              </a:rPr>
                              <m:t>𝛾</m:t>
                            </m:r>
                            <m:r>
                              <a:rPr lang="en-US" altLang="ko-KR" i="1" dirty="0" err="1">
                                <a:solidFill>
                                  <a:srgbClr val="3D3D3A"/>
                                </a:solidFill>
                                <a:latin typeface="Cambria Math" panose="02040503050406030204" pitchFamily="18" charset="0"/>
                                <a:ea typeface="Arial" pitchFamily="34" charset="-122"/>
                                <a:cs typeface="Arial" pitchFamily="34" charset="-120"/>
                              </a:rPr>
                              <m:t>·</m:t>
                            </m:r>
                            <m:sSub>
                              <m:sSubPr>
                                <m:ctrlPr>
                                  <a:rPr lang="en-US" altLang="ko-KR" i="1" dirty="0" err="1">
                                    <a:solidFill>
                                      <a:srgbClr val="3D3D3A"/>
                                    </a:solidFill>
                                    <a:latin typeface="Cambria Math" panose="02040503050406030204" pitchFamily="18" charset="0"/>
                                    <a:ea typeface="Arial" pitchFamily="34" charset="-122"/>
                                    <a:cs typeface="Arial" pitchFamily="34" charset="-120"/>
                                  </a:rPr>
                                </m:ctrlPr>
                              </m:sSubPr>
                              <m:e>
                                <m:r>
                                  <a:rPr lang="en-US" altLang="ko-KR" i="1" dirty="0" err="1">
                                    <a:solidFill>
                                      <a:srgbClr val="3D3D3A"/>
                                    </a:solidFill>
                                    <a:latin typeface="Cambria Math" panose="02040503050406030204" pitchFamily="18" charset="0"/>
                                    <a:ea typeface="Arial" pitchFamily="34" charset="-122"/>
                                    <a:cs typeface="Arial" pitchFamily="34" charset="-120"/>
                                  </a:rPr>
                                  <m:t>𝐸</m:t>
                                </m:r>
                              </m:e>
                              <m:sub>
                                <m:r>
                                  <a:rPr lang="en-US" altLang="ko-KR" i="1" dirty="0" err="1">
                                    <a:solidFill>
                                      <a:srgbClr val="3D3D3A"/>
                                    </a:solidFill>
                                    <a:latin typeface="Cambria Math" panose="02040503050406030204" pitchFamily="18" charset="0"/>
                                    <a:ea typeface="Arial" pitchFamily="34" charset="-122"/>
                                    <a:cs typeface="Arial" pitchFamily="34" charset="-120"/>
                                  </a:rPr>
                                  <m:t>𝑜𝑥</m:t>
                                </m:r>
                              </m:sub>
                            </m:sSub>
                          </m:e>
                        </m:d>
                      </m:e>
                    </m:func>
                    <m:r>
                      <a:rPr lang="en-US" altLang="ko-KR" i="1" dirty="0">
                        <a:solidFill>
                          <a:srgbClr val="3D3D3A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 </m:t>
                    </m:r>
                  </m:oMath>
                </a14:m>
                <a:r>
                  <a:rPr lang="en-US" altLang="ko-KR" dirty="0">
                    <a:solidFill>
                      <a:srgbClr val="3D3D3A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(γ = field acceleration factor)</a:t>
                </a:r>
                <a:endParaRPr lang="en-US" altLang="ko-KR" dirty="0"/>
              </a:p>
              <a:p>
                <a:pPr marL="342900" indent="-342900">
                  <a:lnSpc>
                    <a:spcPct val="115000"/>
                  </a:lnSpc>
                  <a:spcAft>
                    <a:spcPts val="1000"/>
                  </a:spcAft>
                  <a:buSzPct val="100000"/>
                </a:pPr>
                <a:r>
                  <a:rPr lang="en-US" altLang="ko-KR" dirty="0">
                    <a:solidFill>
                      <a:srgbClr val="3D3D3A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Field crowding → locally higher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dirty="0" smtClean="0">
                            <a:solidFill>
                              <a:srgbClr val="3D3D3A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</m:ctrlPr>
                      </m:sSubPr>
                      <m:e>
                        <m:r>
                          <a:rPr lang="en-US" altLang="ko-KR" i="1" dirty="0" smtClean="0">
                            <a:solidFill>
                              <a:srgbClr val="3D3D3A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𝐸</m:t>
                        </m:r>
                      </m:e>
                      <m:sub>
                        <m:r>
                          <a:rPr lang="en-US" altLang="ko-KR" i="1" dirty="0" smtClean="0">
                            <a:solidFill>
                              <a:srgbClr val="3D3D3A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𝑜𝑥</m:t>
                        </m:r>
                      </m:sub>
                    </m:sSub>
                  </m:oMath>
                </a14:m>
                <a:r>
                  <a:rPr lang="en-US" altLang="ko-KR" dirty="0">
                    <a:solidFill>
                      <a:srgbClr val="3D3D3A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at the gate edge →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dirty="0" smtClean="0">
                            <a:solidFill>
                              <a:srgbClr val="3D3D3A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</m:ctrlPr>
                      </m:sSubPr>
                      <m:e>
                        <m:r>
                          <a:rPr lang="en-US" altLang="ko-KR" i="1" dirty="0" smtClean="0">
                            <a:solidFill>
                              <a:srgbClr val="3D3D3A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𝑡</m:t>
                        </m:r>
                      </m:e>
                      <m:sub>
                        <m:r>
                          <a:rPr lang="en-US" altLang="ko-KR" i="1" dirty="0" smtClean="0">
                            <a:solidFill>
                              <a:srgbClr val="3D3D3A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𝐵𝐷</m:t>
                        </m:r>
                      </m:sub>
                    </m:sSub>
                  </m:oMath>
                </a14:m>
                <a:r>
                  <a:rPr lang="en-US" altLang="ko-KR" dirty="0">
                    <a:solidFill>
                      <a:srgbClr val="3D3D3A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drops sharply there → early breakdown risk</a:t>
                </a:r>
                <a:endParaRPr lang="en-US" altLang="ko-KR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C339EB6B-80D5-463F-843D-B88726CFFE3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5869365" cy="4351338"/>
              </a:xfrm>
              <a:blipFill>
                <a:blip r:embed="rId2"/>
                <a:stretch>
                  <a:fillRect l="-1871" t="-980" r="-249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Chart 0">
            <a:extLst>
              <a:ext uri="{FF2B5EF4-FFF2-40B4-BE49-F238E27FC236}">
                <a16:creationId xmlns:a16="http://schemas.microsoft.com/office/drawing/2014/main" id="{12CD4E6A-6420-4AA7-85FC-9EFB97F7809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71410779"/>
              </p:ext>
            </p:extLst>
          </p:nvPr>
        </p:nvGraphicFramePr>
        <p:xfrm>
          <a:off x="6707565" y="2153269"/>
          <a:ext cx="512064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>
            <a:extLst>
              <a:ext uri="{FF2B5EF4-FFF2-40B4-BE49-F238E27FC236}">
                <a16:creationId xmlns:a16="http://schemas.microsoft.com/office/drawing/2014/main" id="{6EDA1CC5-BB7B-4EC1-9271-6C4C9B882E29}"/>
              </a:ext>
            </a:extLst>
          </p:cNvPr>
          <p:cNvSpPr/>
          <p:nvPr/>
        </p:nvSpPr>
        <p:spPr>
          <a:xfrm>
            <a:off x="6707565" y="4942189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93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hotspot under contact → shifted to high-E_ox, low-t_BD region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7257971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A4E682-678F-4BCE-901B-F845FA3CCD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600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Reliability risk ② : direct tunneling leakage</a:t>
            </a:r>
            <a:endParaRPr lang="ko-KR" altLang="en-US" sz="36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5F56BAF-2758-4082-A739-BC65371588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6078794" cy="4351338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altLang="ko-KR" dirty="0">
                <a:solidFill>
                  <a:srgbClr val="3D3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 gate oxide (≲ 3 nm): electrons tunnel through the full barrier thickness (direct tunneling)</a:t>
            </a:r>
            <a:endParaRPr lang="en-US" altLang="ko-KR" dirty="0"/>
          </a:p>
          <a:p>
            <a:pPr>
              <a:buFont typeface="Wingdings" panose="05000000000000000000" pitchFamily="2" charset="2"/>
              <a:buChar char="§"/>
            </a:pPr>
            <a:endParaRPr lang="en-US" altLang="ko-KR" dirty="0"/>
          </a:p>
          <a:p>
            <a:pPr>
              <a:buFont typeface="Wingdings" panose="05000000000000000000" pitchFamily="2" charset="2"/>
              <a:buChar char="§"/>
            </a:pPr>
            <a:endParaRPr lang="en-US" altLang="ko-KR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altLang="ko-KR" dirty="0">
                <a:solidFill>
                  <a:srgbClr val="3D3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field enhancement → tunneling probability spikes → excess gate leakage at that spot</a:t>
            </a:r>
            <a:endParaRPr lang="en-US" altLang="ko-KR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EA300027-DAE1-484C-8569-63EB780EC7C4}"/>
              </a:ext>
            </a:extLst>
          </p:cNvPr>
          <p:cNvSpPr/>
          <p:nvPr/>
        </p:nvSpPr>
        <p:spPr>
          <a:xfrm>
            <a:off x="7071360" y="3749040"/>
            <a:ext cx="5120640" cy="1737360"/>
          </a:xfrm>
          <a:prstGeom prst="rect">
            <a:avLst/>
          </a:prstGeom>
          <a:solidFill>
            <a:srgbClr val="F7F5EE"/>
          </a:solidFill>
          <a:ln w="12700">
            <a:solidFill>
              <a:srgbClr val="5F5E5A"/>
            </a:solidFill>
            <a:prstDash val="solid"/>
          </a:ln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6B1737F-89A6-4D96-802B-A8661256FB34}"/>
              </a:ext>
            </a:extLst>
          </p:cNvPr>
          <p:cNvSpPr/>
          <p:nvPr/>
        </p:nvSpPr>
        <p:spPr>
          <a:xfrm>
            <a:off x="7071360" y="34290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338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Barrier (gate oxide)</a:t>
            </a:r>
            <a:endParaRPr lang="en-US" sz="11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AA252EC2-6594-44F0-B212-48A564C6BC6E}"/>
              </a:ext>
            </a:extLst>
          </p:cNvPr>
          <p:cNvSpPr/>
          <p:nvPr/>
        </p:nvSpPr>
        <p:spPr>
          <a:xfrm>
            <a:off x="7071360" y="3886200"/>
            <a:ext cx="2048256" cy="694944"/>
          </a:xfrm>
          <a:prstGeom prst="rect">
            <a:avLst/>
          </a:prstGeom>
          <a:solidFill>
            <a:srgbClr val="FBE7C4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FD9AB99F-3236-4903-B95B-6CD6240B908B}"/>
              </a:ext>
            </a:extLst>
          </p:cNvPr>
          <p:cNvSpPr/>
          <p:nvPr/>
        </p:nvSpPr>
        <p:spPr>
          <a:xfrm>
            <a:off x="10143744" y="3886200"/>
            <a:ext cx="2048256" cy="694944"/>
          </a:xfrm>
          <a:prstGeom prst="rect">
            <a:avLst/>
          </a:prstGeom>
          <a:solidFill>
            <a:srgbClr val="FBE7C4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9A961FC2-9CCA-4BAE-A4F7-6F478C64618A}"/>
              </a:ext>
            </a:extLst>
          </p:cNvPr>
          <p:cNvSpPr/>
          <p:nvPr/>
        </p:nvSpPr>
        <p:spPr>
          <a:xfrm>
            <a:off x="9119616" y="4268419"/>
            <a:ext cx="1024128" cy="312725"/>
          </a:xfrm>
          <a:prstGeom prst="rect">
            <a:avLst/>
          </a:prstGeom>
          <a:solidFill>
            <a:srgbClr val="F5D9CC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3EA71547-908E-4EB6-98E3-1AB2D7D451BA}"/>
              </a:ext>
            </a:extLst>
          </p:cNvPr>
          <p:cNvSpPr/>
          <p:nvPr/>
        </p:nvSpPr>
        <p:spPr>
          <a:xfrm>
            <a:off x="7071360" y="4718304"/>
            <a:ext cx="5120640" cy="722376"/>
          </a:xfrm>
          <a:prstGeom prst="rect">
            <a:avLst/>
          </a:prstGeom>
          <a:solidFill>
            <a:srgbClr val="EDEBE3"/>
          </a:solidFill>
          <a:ln w="9525">
            <a:solidFill>
              <a:srgbClr val="5F5E5A"/>
            </a:solidFill>
            <a:prstDash val="solid"/>
          </a:ln>
        </p:spPr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820DBA35-317F-440C-BE66-6C9A24D01EAE}"/>
              </a:ext>
            </a:extLst>
          </p:cNvPr>
          <p:cNvSpPr/>
          <p:nvPr/>
        </p:nvSpPr>
        <p:spPr>
          <a:xfrm>
            <a:off x="7071360" y="4718304"/>
            <a:ext cx="512064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substrate</a:t>
            </a:r>
            <a:endParaRPr lang="en-US" sz="105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1A8F0086-CFC3-4315-9DCD-D71655D168B0}"/>
              </a:ext>
            </a:extLst>
          </p:cNvPr>
          <p:cNvSpPr/>
          <p:nvPr/>
        </p:nvSpPr>
        <p:spPr>
          <a:xfrm>
            <a:off x="7071360" y="56235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993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Locally thinner barrier under the gate edge → tunneling probability T ↑ sharply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18207449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F8E2D9-1C19-41A7-8398-91C2C5BA70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3245" y="2301478"/>
            <a:ext cx="3625510" cy="2255044"/>
          </a:xfrm>
        </p:spPr>
        <p:txBody>
          <a:bodyPr>
            <a:noAutofit/>
          </a:bodyPr>
          <a:lstStyle/>
          <a:p>
            <a:r>
              <a:rPr lang="en-US" altLang="ko-KR" sz="9600" b="1" dirty="0"/>
              <a:t>Metal</a:t>
            </a:r>
            <a:endParaRPr lang="ko-KR" altLang="en-US" sz="9600" b="1" dirty="0"/>
          </a:p>
        </p:txBody>
      </p:sp>
    </p:spTree>
    <p:extLst>
      <p:ext uri="{BB962C8B-B14F-4D97-AF65-F5344CB8AC3E}">
        <p14:creationId xmlns:p14="http://schemas.microsoft.com/office/powerpoint/2010/main" val="121985413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Box 31">
            <a:extLst>
              <a:ext uri="{FF2B5EF4-FFF2-40B4-BE49-F238E27FC236}">
                <a16:creationId xmlns:a16="http://schemas.microsoft.com/office/drawing/2014/main" id="{91C5C929-8669-440E-BF5C-9FB66113EA81}"/>
              </a:ext>
            </a:extLst>
          </p:cNvPr>
          <p:cNvSpPr txBox="1"/>
          <p:nvPr/>
        </p:nvSpPr>
        <p:spPr>
          <a:xfrm>
            <a:off x="6465506" y="1132170"/>
            <a:ext cx="48062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ko-KR" sz="1600" dirty="0"/>
              <a:t>Cadence Reproducing and vertical structure</a:t>
            </a:r>
            <a:endParaRPr lang="ko-KR" altLang="en-US" sz="1600" dirty="0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1B14A38D-D0A3-461C-81CA-512713BB8B47}"/>
              </a:ext>
            </a:extLst>
          </p:cNvPr>
          <p:cNvSpPr/>
          <p:nvPr/>
        </p:nvSpPr>
        <p:spPr>
          <a:xfrm>
            <a:off x="6584650" y="1466881"/>
            <a:ext cx="507247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/>
              <a:t>Cadence</a:t>
            </a:r>
            <a:endParaRPr lang="ko-KR" altLang="en-US" sz="1400" dirty="0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F449DACE-48BB-4606-AF0C-A4616B80C8C0}"/>
              </a:ext>
            </a:extLst>
          </p:cNvPr>
          <p:cNvSpPr/>
          <p:nvPr/>
        </p:nvSpPr>
        <p:spPr>
          <a:xfrm>
            <a:off x="417548" y="1132170"/>
            <a:ext cx="399340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ko-KR" dirty="0"/>
              <a:t>Schematic in Design Rule Manual</a:t>
            </a:r>
            <a:endParaRPr lang="ko-KR" altLang="en-US" dirty="0"/>
          </a:p>
        </p:txBody>
      </p: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238F5E85-37BE-4FD3-969B-986469085B45}"/>
              </a:ext>
            </a:extLst>
          </p:cNvPr>
          <p:cNvCxnSpPr>
            <a:cxnSpLocks/>
          </p:cNvCxnSpPr>
          <p:nvPr/>
        </p:nvCxnSpPr>
        <p:spPr>
          <a:xfrm>
            <a:off x="6161698" y="1194679"/>
            <a:ext cx="0" cy="5668864"/>
          </a:xfrm>
          <a:prstGeom prst="line">
            <a:avLst/>
          </a:prstGeom>
          <a:ln w="158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0" name="표 29">
            <a:extLst>
              <a:ext uri="{FF2B5EF4-FFF2-40B4-BE49-F238E27FC236}">
                <a16:creationId xmlns:a16="http://schemas.microsoft.com/office/drawing/2014/main" id="{A8CFD6FE-F4E6-4CE5-AA4B-CB69D831897E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515294" y="255775"/>
          <a:ext cx="10911267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4766">
                  <a:extLst>
                    <a:ext uri="{9D8B030D-6E8A-4147-A177-3AD203B41FA5}">
                      <a16:colId xmlns:a16="http://schemas.microsoft.com/office/drawing/2014/main" val="3874033937"/>
                    </a:ext>
                  </a:extLst>
                </a:gridCol>
                <a:gridCol w="1416289">
                  <a:extLst>
                    <a:ext uri="{9D8B030D-6E8A-4147-A177-3AD203B41FA5}">
                      <a16:colId xmlns:a16="http://schemas.microsoft.com/office/drawing/2014/main" val="1105405848"/>
                    </a:ext>
                  </a:extLst>
                </a:gridCol>
                <a:gridCol w="7810212">
                  <a:extLst>
                    <a:ext uri="{9D8B030D-6E8A-4147-A177-3AD203B41FA5}">
                      <a16:colId xmlns:a16="http://schemas.microsoft.com/office/drawing/2014/main" val="2992235816"/>
                    </a:ext>
                  </a:extLst>
                </a:gridCol>
              </a:tblGrid>
              <a:tr h="30762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Rule Name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Value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1766925"/>
                  </a:ext>
                </a:extLst>
              </a:tr>
              <a:tr h="32923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METAL1.W.1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0.12um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/>
                        <a:t>Minimum Metal 1 width</a:t>
                      </a:r>
                      <a:endParaRPr lang="ko-KR" altLang="en-US" sz="14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5480813"/>
                  </a:ext>
                </a:extLst>
              </a:tr>
            </a:tbl>
          </a:graphicData>
        </a:graphic>
      </p:graphicFrame>
      <p:pic>
        <p:nvPicPr>
          <p:cNvPr id="50" name="그림 49">
            <a:extLst>
              <a:ext uri="{FF2B5EF4-FFF2-40B4-BE49-F238E27FC236}">
                <a16:creationId xmlns:a16="http://schemas.microsoft.com/office/drawing/2014/main" id="{6D20A40E-E8FF-4938-9DCF-08CF6B98D7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294" y="3336277"/>
            <a:ext cx="4463064" cy="2967065"/>
          </a:xfrm>
          <a:prstGeom prst="rect">
            <a:avLst/>
          </a:prstGeom>
        </p:spPr>
      </p:pic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CEC60B73-5D57-41C7-BE84-1705AF3F189D}"/>
              </a:ext>
            </a:extLst>
          </p:cNvPr>
          <p:cNvCxnSpPr>
            <a:cxnSpLocks/>
          </p:cNvCxnSpPr>
          <p:nvPr/>
        </p:nvCxnSpPr>
        <p:spPr>
          <a:xfrm flipH="1">
            <a:off x="1552329" y="3483007"/>
            <a:ext cx="1711543" cy="0"/>
          </a:xfrm>
          <a:prstGeom prst="line">
            <a:avLst/>
          </a:prstGeom>
          <a:ln w="31750">
            <a:solidFill>
              <a:srgbClr val="FF0000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98854BC3-1E9F-4B25-BE80-184BFAC8588F}"/>
              </a:ext>
            </a:extLst>
          </p:cNvPr>
          <p:cNvSpPr txBox="1"/>
          <p:nvPr/>
        </p:nvSpPr>
        <p:spPr>
          <a:xfrm>
            <a:off x="1886467" y="2986335"/>
            <a:ext cx="10432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rgbClr val="FF0000"/>
                </a:solidFill>
              </a:rPr>
              <a:t>0.12um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A4187478-A07E-425C-A8D3-5CC01DB82452}"/>
              </a:ext>
            </a:extLst>
          </p:cNvPr>
          <p:cNvSpPr/>
          <p:nvPr/>
        </p:nvSpPr>
        <p:spPr>
          <a:xfrm>
            <a:off x="6515972" y="2845632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/>
              <a:t>✄</a:t>
            </a:r>
          </a:p>
        </p:txBody>
      </p:sp>
      <p:pic>
        <p:nvPicPr>
          <p:cNvPr id="63" name="그림 62">
            <a:extLst>
              <a:ext uri="{FF2B5EF4-FFF2-40B4-BE49-F238E27FC236}">
                <a16:creationId xmlns:a16="http://schemas.microsoft.com/office/drawing/2014/main" id="{1C9D1CD5-8B6D-4F85-A42E-06421BF1F42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531" r="10453"/>
          <a:stretch/>
        </p:blipFill>
        <p:spPr>
          <a:xfrm>
            <a:off x="7772400" y="1805435"/>
            <a:ext cx="3046022" cy="2164661"/>
          </a:xfrm>
          <a:prstGeom prst="rect">
            <a:avLst/>
          </a:prstGeom>
        </p:spPr>
      </p:pic>
      <p:cxnSp>
        <p:nvCxnSpPr>
          <p:cNvPr id="64" name="직선 연결선 63">
            <a:extLst>
              <a:ext uri="{FF2B5EF4-FFF2-40B4-BE49-F238E27FC236}">
                <a16:creationId xmlns:a16="http://schemas.microsoft.com/office/drawing/2014/main" id="{D244681A-7AC5-4B8A-983B-9F42EADDF058}"/>
              </a:ext>
            </a:extLst>
          </p:cNvPr>
          <p:cNvCxnSpPr>
            <a:cxnSpLocks/>
          </p:cNvCxnSpPr>
          <p:nvPr/>
        </p:nvCxnSpPr>
        <p:spPr>
          <a:xfrm>
            <a:off x="6875726" y="3030298"/>
            <a:ext cx="4740442" cy="0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연결선 61">
            <a:extLst>
              <a:ext uri="{FF2B5EF4-FFF2-40B4-BE49-F238E27FC236}">
                <a16:creationId xmlns:a16="http://schemas.microsoft.com/office/drawing/2014/main" id="{FFEAE0F9-14F1-4658-A079-995F3A7FEB68}"/>
              </a:ext>
            </a:extLst>
          </p:cNvPr>
          <p:cNvCxnSpPr>
            <a:cxnSpLocks/>
          </p:cNvCxnSpPr>
          <p:nvPr/>
        </p:nvCxnSpPr>
        <p:spPr>
          <a:xfrm>
            <a:off x="8336882" y="3059536"/>
            <a:ext cx="7382" cy="2164661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연결선 64">
            <a:extLst>
              <a:ext uri="{FF2B5EF4-FFF2-40B4-BE49-F238E27FC236}">
                <a16:creationId xmlns:a16="http://schemas.microsoft.com/office/drawing/2014/main" id="{63AEC652-0107-4DFE-9501-B465CEEAF8F9}"/>
              </a:ext>
            </a:extLst>
          </p:cNvPr>
          <p:cNvCxnSpPr>
            <a:cxnSpLocks/>
          </p:cNvCxnSpPr>
          <p:nvPr/>
        </p:nvCxnSpPr>
        <p:spPr>
          <a:xfrm>
            <a:off x="9780467" y="3040526"/>
            <a:ext cx="0" cy="2183671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70C76DF0-7405-4134-8C2F-BF2BA570CB67}"/>
              </a:ext>
            </a:extLst>
          </p:cNvPr>
          <p:cNvSpPr txBox="1"/>
          <p:nvPr/>
        </p:nvSpPr>
        <p:spPr>
          <a:xfrm>
            <a:off x="8546681" y="3988817"/>
            <a:ext cx="1546816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1600" b="1" dirty="0"/>
              <a:t>0.12um</a:t>
            </a:r>
            <a:endParaRPr lang="ko-KR" altLang="en-US" sz="1600" b="1" dirty="0"/>
          </a:p>
        </p:txBody>
      </p: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DBF72FF4-E41A-45D9-9800-24CF512D7D64}"/>
              </a:ext>
            </a:extLst>
          </p:cNvPr>
          <p:cNvCxnSpPr>
            <a:cxnSpLocks/>
          </p:cNvCxnSpPr>
          <p:nvPr/>
        </p:nvCxnSpPr>
        <p:spPr>
          <a:xfrm flipV="1">
            <a:off x="8336882" y="4297816"/>
            <a:ext cx="1428148" cy="1199"/>
          </a:xfrm>
          <a:prstGeom prst="line">
            <a:avLst/>
          </a:prstGeom>
          <a:ln w="19050">
            <a:solidFill>
              <a:schemeClr val="tx1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CE279EBD-DBA1-46EC-8C82-47415C5D5C9D}"/>
              </a:ext>
            </a:extLst>
          </p:cNvPr>
          <p:cNvSpPr/>
          <p:nvPr/>
        </p:nvSpPr>
        <p:spPr>
          <a:xfrm>
            <a:off x="7681858" y="5361865"/>
            <a:ext cx="3574585" cy="1082358"/>
          </a:xfrm>
          <a:prstGeom prst="rect">
            <a:avLst/>
          </a:prstGeom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Substrate</a:t>
            </a:r>
            <a:endParaRPr lang="ko-KR" altLang="en-US" dirty="0"/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713D8C01-399F-4015-A840-B875AD0B925F}"/>
              </a:ext>
            </a:extLst>
          </p:cNvPr>
          <p:cNvSpPr/>
          <p:nvPr/>
        </p:nvSpPr>
        <p:spPr>
          <a:xfrm>
            <a:off x="8359265" y="5121971"/>
            <a:ext cx="1421036" cy="266617"/>
          </a:xfrm>
          <a:prstGeom prst="rect">
            <a:avLst/>
          </a:prstGeom>
          <a:pattFill prst="wdDnDiag">
            <a:fgClr>
              <a:schemeClr val="accent3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Silicide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9A0EF91E-C737-4E13-BBDC-9C9C8E0C9E82}"/>
              </a:ext>
            </a:extLst>
          </p:cNvPr>
          <p:cNvSpPr/>
          <p:nvPr/>
        </p:nvSpPr>
        <p:spPr>
          <a:xfrm>
            <a:off x="7679594" y="5117274"/>
            <a:ext cx="672126" cy="28283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762F3373-1389-4ECD-8A8D-D05677557660}"/>
              </a:ext>
            </a:extLst>
          </p:cNvPr>
          <p:cNvSpPr/>
          <p:nvPr/>
        </p:nvSpPr>
        <p:spPr>
          <a:xfrm>
            <a:off x="9780304" y="5089669"/>
            <a:ext cx="1491413" cy="30145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/>
              <a:t>OXIDE</a:t>
            </a:r>
            <a:endParaRPr lang="ko-KR" altLang="en-US" sz="800" dirty="0"/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2514A35A-3805-416B-A85D-B2D55C4912E6}"/>
              </a:ext>
            </a:extLst>
          </p:cNvPr>
          <p:cNvSpPr/>
          <p:nvPr/>
        </p:nvSpPr>
        <p:spPr>
          <a:xfrm>
            <a:off x="8374539" y="4752863"/>
            <a:ext cx="1413471" cy="36810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err="1">
                <a:solidFill>
                  <a:sysClr val="windowText" lastClr="000000"/>
                </a:solidFill>
              </a:rPr>
              <a:t>CONTACT</a:t>
            </a:r>
            <a:r>
              <a:rPr lang="en-US" altLang="ko-KR" sz="1600" dirty="0" err="1"/>
              <a:t>t</a:t>
            </a:r>
            <a:endParaRPr lang="ko-KR" altLang="en-US" sz="1600" dirty="0"/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6C54CC22-7904-4F16-A63A-0F93CFC87CD2}"/>
              </a:ext>
            </a:extLst>
          </p:cNvPr>
          <p:cNvSpPr/>
          <p:nvPr/>
        </p:nvSpPr>
        <p:spPr>
          <a:xfrm>
            <a:off x="7679591" y="4744395"/>
            <a:ext cx="672218" cy="368105"/>
          </a:xfrm>
          <a:prstGeom prst="rect">
            <a:avLst/>
          </a:prstGeom>
          <a:pattFill prst="pct5">
            <a:fgClr>
              <a:srgbClr val="0070C0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A0ED03C4-2547-41D0-8C46-8B119025297D}"/>
              </a:ext>
            </a:extLst>
          </p:cNvPr>
          <p:cNvSpPr/>
          <p:nvPr/>
        </p:nvSpPr>
        <p:spPr>
          <a:xfrm>
            <a:off x="9795576" y="4750333"/>
            <a:ext cx="1468666" cy="353140"/>
          </a:xfrm>
          <a:prstGeom prst="rect">
            <a:avLst/>
          </a:prstGeom>
          <a:pattFill prst="pct5">
            <a:fgClr>
              <a:srgbClr val="0070C0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ILD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4E99AAD8-7034-4C38-B70D-5A75422DCAAF}"/>
              </a:ext>
            </a:extLst>
          </p:cNvPr>
          <p:cNvSpPr/>
          <p:nvPr/>
        </p:nvSpPr>
        <p:spPr>
          <a:xfrm>
            <a:off x="8367158" y="4413527"/>
            <a:ext cx="1413144" cy="33086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METAL 1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6213CBEE-11B4-4080-8B68-3A8F97BF9534}"/>
              </a:ext>
            </a:extLst>
          </p:cNvPr>
          <p:cNvSpPr/>
          <p:nvPr/>
        </p:nvSpPr>
        <p:spPr>
          <a:xfrm>
            <a:off x="8273617" y="5391119"/>
            <a:ext cx="1595998" cy="261251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ysClr val="windowText" lastClr="000000"/>
                </a:solidFill>
              </a:rPr>
              <a:t>N+</a:t>
            </a:r>
            <a:endParaRPr lang="ko-KR" alt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CB26338C-2BC5-4E70-8A3C-C8071C7FC4D6}"/>
              </a:ext>
            </a:extLst>
          </p:cNvPr>
          <p:cNvSpPr/>
          <p:nvPr/>
        </p:nvSpPr>
        <p:spPr>
          <a:xfrm>
            <a:off x="534871" y="1651770"/>
            <a:ext cx="482907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b="1" dirty="0"/>
              <a:t>공정 안정성 및 배선 신뢰성 확보를 위한 최소 </a:t>
            </a:r>
            <a:r>
              <a:rPr lang="en-US" altLang="ko-KR" b="1" dirty="0"/>
              <a:t>Metal1 </a:t>
            </a:r>
            <a:r>
              <a:rPr lang="ko-KR" altLang="en-US" b="1" dirty="0"/>
              <a:t>폭 규정</a:t>
            </a:r>
          </a:p>
        </p:txBody>
      </p:sp>
    </p:spTree>
    <p:extLst>
      <p:ext uri="{BB962C8B-B14F-4D97-AF65-F5344CB8AC3E}">
        <p14:creationId xmlns:p14="http://schemas.microsoft.com/office/powerpoint/2010/main" val="59680361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Box 31">
            <a:extLst>
              <a:ext uri="{FF2B5EF4-FFF2-40B4-BE49-F238E27FC236}">
                <a16:creationId xmlns:a16="http://schemas.microsoft.com/office/drawing/2014/main" id="{91C5C929-8669-440E-BF5C-9FB66113EA81}"/>
              </a:ext>
            </a:extLst>
          </p:cNvPr>
          <p:cNvSpPr txBox="1"/>
          <p:nvPr/>
        </p:nvSpPr>
        <p:spPr>
          <a:xfrm>
            <a:off x="6465506" y="1132170"/>
            <a:ext cx="48062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ko-KR" sz="1600" dirty="0"/>
              <a:t>Cadence Reproducing and vertical structure</a:t>
            </a:r>
            <a:endParaRPr lang="ko-KR" altLang="en-US" sz="1600" dirty="0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1B14A38D-D0A3-461C-81CA-512713BB8B47}"/>
              </a:ext>
            </a:extLst>
          </p:cNvPr>
          <p:cNvSpPr/>
          <p:nvPr/>
        </p:nvSpPr>
        <p:spPr>
          <a:xfrm>
            <a:off x="6584650" y="1466881"/>
            <a:ext cx="507247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/>
              <a:t>Cadence</a:t>
            </a:r>
            <a:endParaRPr lang="ko-KR" altLang="en-US" sz="1400" dirty="0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F449DACE-48BB-4606-AF0C-A4616B80C8C0}"/>
              </a:ext>
            </a:extLst>
          </p:cNvPr>
          <p:cNvSpPr/>
          <p:nvPr/>
        </p:nvSpPr>
        <p:spPr>
          <a:xfrm>
            <a:off x="534977" y="1132170"/>
            <a:ext cx="399340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ko-KR" dirty="0"/>
              <a:t>Schematic in Design Rule Manual</a:t>
            </a:r>
            <a:endParaRPr lang="ko-KR" altLang="en-US" dirty="0"/>
          </a:p>
        </p:txBody>
      </p: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238F5E85-37BE-4FD3-969B-986469085B45}"/>
              </a:ext>
            </a:extLst>
          </p:cNvPr>
          <p:cNvCxnSpPr>
            <a:cxnSpLocks/>
          </p:cNvCxnSpPr>
          <p:nvPr/>
        </p:nvCxnSpPr>
        <p:spPr>
          <a:xfrm>
            <a:off x="6161698" y="1194679"/>
            <a:ext cx="0" cy="5668864"/>
          </a:xfrm>
          <a:prstGeom prst="line">
            <a:avLst/>
          </a:prstGeom>
          <a:ln w="158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0" name="표 29">
                <a:extLst>
                  <a:ext uri="{FF2B5EF4-FFF2-40B4-BE49-F238E27FC236}">
                    <a16:creationId xmlns:a16="http://schemas.microsoft.com/office/drawing/2014/main" id="{A8CFD6FE-F4E6-4CE5-AA4B-CB69D831897E}"/>
                  </a:ext>
                </a:extLst>
              </p:cNvPr>
              <p:cNvGraphicFramePr>
                <a:graphicFrameLocks noGrp="1"/>
              </p:cNvGraphicFramePr>
              <p:nvPr>
                <p:extLst/>
              </p:nvPr>
            </p:nvGraphicFramePr>
            <p:xfrm>
              <a:off x="515294" y="255775"/>
              <a:ext cx="10911267" cy="731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84766">
                      <a:extLst>
                        <a:ext uri="{9D8B030D-6E8A-4147-A177-3AD203B41FA5}">
                          <a16:colId xmlns:a16="http://schemas.microsoft.com/office/drawing/2014/main" val="3874033937"/>
                        </a:ext>
                      </a:extLst>
                    </a:gridCol>
                    <a:gridCol w="1416289">
                      <a:extLst>
                        <a:ext uri="{9D8B030D-6E8A-4147-A177-3AD203B41FA5}">
                          <a16:colId xmlns:a16="http://schemas.microsoft.com/office/drawing/2014/main" val="1105405848"/>
                        </a:ext>
                      </a:extLst>
                    </a:gridCol>
                    <a:gridCol w="7810212">
                      <a:extLst>
                        <a:ext uri="{9D8B030D-6E8A-4147-A177-3AD203B41FA5}">
                          <a16:colId xmlns:a16="http://schemas.microsoft.com/office/drawing/2014/main" val="2992235816"/>
                        </a:ext>
                      </a:extLst>
                    </a:gridCol>
                  </a:tblGrid>
                  <a:tr h="307622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</a:rPr>
                            <a:t>Rule Name</a:t>
                          </a:r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</a:rPr>
                            <a:t>Value</a:t>
                          </a:r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800" dirty="0">
                              <a:solidFill>
                                <a:schemeClr val="tx1"/>
                              </a:solidFill>
                            </a:rPr>
                            <a:t>Description</a:t>
                          </a:r>
                          <a:endParaRPr lang="ko-KR" altLang="en-US" sz="1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61766925"/>
                      </a:ext>
                    </a:extLst>
                  </a:tr>
                  <a:tr h="329233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</a:rPr>
                            <a:t>METAL1.A.1</a:t>
                          </a:r>
                          <a:endParaRPr lang="ko-KR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</a:rPr>
                            <a:t>0.07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sSup>
                                <m:sSupPr>
                                  <m:ctrlPr>
                                    <a:rPr lang="en-US" altLang="ko-KR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p>
                                  <m:r>
                                    <a:rPr lang="en-US" altLang="ko-KR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endParaRPr lang="ko-KR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b="0" dirty="0" err="1">
                              <a:solidFill>
                                <a:schemeClr val="tx1"/>
                              </a:solidFill>
                            </a:rPr>
                            <a:t>Minimun</a:t>
                          </a:r>
                          <a:r>
                            <a:rPr lang="en-US" altLang="ko-KR" sz="1400" b="0" dirty="0">
                              <a:solidFill>
                                <a:schemeClr val="tx1"/>
                              </a:solidFill>
                            </a:rPr>
                            <a:t> bent Metal1 area</a:t>
                          </a:r>
                          <a:endParaRPr lang="ko-KR" altLang="en-US" sz="14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0548081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0" name="표 29">
                <a:extLst>
                  <a:ext uri="{FF2B5EF4-FFF2-40B4-BE49-F238E27FC236}">
                    <a16:creationId xmlns:a16="http://schemas.microsoft.com/office/drawing/2014/main" id="{A8CFD6FE-F4E6-4CE5-AA4B-CB69D831897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24245640"/>
                  </p:ext>
                </p:extLst>
              </p:nvPr>
            </p:nvGraphicFramePr>
            <p:xfrm>
              <a:off x="515294" y="255775"/>
              <a:ext cx="10911267" cy="731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84766">
                      <a:extLst>
                        <a:ext uri="{9D8B030D-6E8A-4147-A177-3AD203B41FA5}">
                          <a16:colId xmlns:a16="http://schemas.microsoft.com/office/drawing/2014/main" val="3874033937"/>
                        </a:ext>
                      </a:extLst>
                    </a:gridCol>
                    <a:gridCol w="1416289">
                      <a:extLst>
                        <a:ext uri="{9D8B030D-6E8A-4147-A177-3AD203B41FA5}">
                          <a16:colId xmlns:a16="http://schemas.microsoft.com/office/drawing/2014/main" val="1105405848"/>
                        </a:ext>
                      </a:extLst>
                    </a:gridCol>
                    <a:gridCol w="7810212">
                      <a:extLst>
                        <a:ext uri="{9D8B030D-6E8A-4147-A177-3AD203B41FA5}">
                          <a16:colId xmlns:a16="http://schemas.microsoft.com/office/drawing/2014/main" val="2992235816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</a:rPr>
                            <a:t>Rule Name</a:t>
                          </a:r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</a:rPr>
                            <a:t>Value</a:t>
                          </a:r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800" dirty="0">
                              <a:solidFill>
                                <a:schemeClr val="tx1"/>
                              </a:solidFill>
                            </a:rPr>
                            <a:t>Description</a:t>
                          </a:r>
                          <a:endParaRPr lang="ko-KR" altLang="en-US" sz="1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61766925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</a:rPr>
                            <a:t>METAL1.A.1</a:t>
                          </a:r>
                          <a:endParaRPr lang="ko-KR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19828" t="-110000" r="-553448" b="-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b="0" dirty="0" err="1">
                              <a:solidFill>
                                <a:schemeClr val="tx1"/>
                              </a:solidFill>
                            </a:rPr>
                            <a:t>Minimun</a:t>
                          </a:r>
                          <a:r>
                            <a:rPr lang="en-US" altLang="ko-KR" sz="1400" b="0" dirty="0">
                              <a:solidFill>
                                <a:schemeClr val="tx1"/>
                              </a:solidFill>
                            </a:rPr>
                            <a:t> bent Metal1 area</a:t>
                          </a:r>
                          <a:endParaRPr lang="ko-KR" altLang="en-US" sz="14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0548081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804647EF-6D6B-497C-A43B-51004C862AF6}"/>
                  </a:ext>
                </a:extLst>
              </p:cNvPr>
              <p:cNvSpPr txBox="1"/>
              <p:nvPr/>
            </p:nvSpPr>
            <p:spPr>
              <a:xfrm>
                <a:off x="3021890" y="3618554"/>
                <a:ext cx="1352230" cy="3755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b="1" dirty="0">
                    <a:solidFill>
                      <a:srgbClr val="FF0000"/>
                    </a:solidFill>
                  </a:rPr>
                  <a:t>0.07</a:t>
                </a:r>
                <a14:m>
                  <m:oMath xmlns:m="http://schemas.openxmlformats.org/officeDocument/2006/math">
                    <m:r>
                      <a:rPr lang="en-US" altLang="ko-KR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𝒖</m:t>
                    </m:r>
                    <m:sSup>
                      <m:sSupPr>
                        <m:ctrlPr>
                          <a:rPr lang="en-US" altLang="ko-KR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  <m:sup>
                        <m:r>
                          <a:rPr lang="en-US" altLang="ko-KR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endParaRPr lang="ko-KR" alt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804647EF-6D6B-497C-A43B-51004C862A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1890" y="3618554"/>
                <a:ext cx="1352230" cy="375552"/>
              </a:xfrm>
              <a:prstGeom prst="rect">
                <a:avLst/>
              </a:prstGeom>
              <a:blipFill>
                <a:blip r:embed="rId3"/>
                <a:stretch>
                  <a:fillRect l="-4054" t="-8197" b="-2623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2" name="그림 21">
            <a:extLst>
              <a:ext uri="{FF2B5EF4-FFF2-40B4-BE49-F238E27FC236}">
                <a16:creationId xmlns:a16="http://schemas.microsoft.com/office/drawing/2014/main" id="{6690F2CA-6A08-4780-8089-E9006687D5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977" y="2704172"/>
            <a:ext cx="1401285" cy="3740050"/>
          </a:xfrm>
          <a:prstGeom prst="rect">
            <a:avLst/>
          </a:prstGeom>
        </p:spPr>
      </p:pic>
      <p:cxnSp>
        <p:nvCxnSpPr>
          <p:cNvPr id="8" name="연결선: 구부러짐 7">
            <a:extLst>
              <a:ext uri="{FF2B5EF4-FFF2-40B4-BE49-F238E27FC236}">
                <a16:creationId xmlns:a16="http://schemas.microsoft.com/office/drawing/2014/main" id="{1ACA0A2F-12E9-45CE-820B-97E9A0D3AF0A}"/>
              </a:ext>
            </a:extLst>
          </p:cNvPr>
          <p:cNvCxnSpPr>
            <a:cxnSpLocks/>
          </p:cNvCxnSpPr>
          <p:nvPr/>
        </p:nvCxnSpPr>
        <p:spPr>
          <a:xfrm flipV="1">
            <a:off x="1366031" y="3805364"/>
            <a:ext cx="1586654" cy="969453"/>
          </a:xfrm>
          <a:prstGeom prst="curvedConnector3">
            <a:avLst>
              <a:gd name="adj1" fmla="val 50000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4C12E2D4-7AEC-4B0B-BE44-461ABE083456}"/>
              </a:ext>
            </a:extLst>
          </p:cNvPr>
          <p:cNvSpPr/>
          <p:nvPr/>
        </p:nvSpPr>
        <p:spPr>
          <a:xfrm>
            <a:off x="6689719" y="2607953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/>
              <a:t>✄</a:t>
            </a:r>
          </a:p>
        </p:txBody>
      </p:sp>
      <p:pic>
        <p:nvPicPr>
          <p:cNvPr id="38" name="그림 37">
            <a:extLst>
              <a:ext uri="{FF2B5EF4-FFF2-40B4-BE49-F238E27FC236}">
                <a16:creationId xmlns:a16="http://schemas.microsoft.com/office/drawing/2014/main" id="{1640975C-EF73-4568-B399-FA0BD801AB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94610" y="1519819"/>
            <a:ext cx="912148" cy="2434536"/>
          </a:xfrm>
          <a:prstGeom prst="rect">
            <a:avLst/>
          </a:prstGeom>
        </p:spPr>
      </p:pic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259DF561-C3A9-4578-96C3-E1CBA0D8FF5C}"/>
              </a:ext>
            </a:extLst>
          </p:cNvPr>
          <p:cNvCxnSpPr>
            <a:cxnSpLocks/>
          </p:cNvCxnSpPr>
          <p:nvPr/>
        </p:nvCxnSpPr>
        <p:spPr>
          <a:xfrm>
            <a:off x="7105217" y="2814749"/>
            <a:ext cx="4740442" cy="0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1D48F53D-87D2-453E-BB99-2A60F44F51D5}"/>
              </a:ext>
            </a:extLst>
          </p:cNvPr>
          <p:cNvCxnSpPr>
            <a:cxnSpLocks/>
          </p:cNvCxnSpPr>
          <p:nvPr/>
        </p:nvCxnSpPr>
        <p:spPr>
          <a:xfrm>
            <a:off x="8959555" y="2814749"/>
            <a:ext cx="0" cy="1816041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연결선 42">
            <a:extLst>
              <a:ext uri="{FF2B5EF4-FFF2-40B4-BE49-F238E27FC236}">
                <a16:creationId xmlns:a16="http://schemas.microsoft.com/office/drawing/2014/main" id="{84CC9BFA-F267-4B37-ADA1-5D007080EE6E}"/>
              </a:ext>
            </a:extLst>
          </p:cNvPr>
          <p:cNvCxnSpPr>
            <a:cxnSpLocks/>
          </p:cNvCxnSpPr>
          <p:nvPr/>
        </p:nvCxnSpPr>
        <p:spPr>
          <a:xfrm>
            <a:off x="9409336" y="2827503"/>
            <a:ext cx="0" cy="1803287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7EE2DE27-958F-4A65-AF73-BEDFEB58B5C4}"/>
              </a:ext>
            </a:extLst>
          </p:cNvPr>
          <p:cNvCxnSpPr>
            <a:cxnSpLocks/>
          </p:cNvCxnSpPr>
          <p:nvPr/>
        </p:nvCxnSpPr>
        <p:spPr>
          <a:xfrm>
            <a:off x="8959555" y="4506862"/>
            <a:ext cx="442247" cy="0"/>
          </a:xfrm>
          <a:prstGeom prst="line">
            <a:avLst/>
          </a:prstGeom>
          <a:ln w="19050">
            <a:solidFill>
              <a:schemeClr val="tx1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77E15DBE-669E-4629-B52A-09CB1EA2B842}"/>
              </a:ext>
            </a:extLst>
          </p:cNvPr>
          <p:cNvSpPr/>
          <p:nvPr/>
        </p:nvSpPr>
        <p:spPr>
          <a:xfrm>
            <a:off x="8237725" y="5655791"/>
            <a:ext cx="3143616" cy="788431"/>
          </a:xfrm>
          <a:prstGeom prst="rect">
            <a:avLst/>
          </a:prstGeom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Substrate</a:t>
            </a:r>
            <a:endParaRPr lang="ko-KR" altLang="en-US" dirty="0"/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5C92DF31-E673-4300-8CCF-409F7BD075D1}"/>
              </a:ext>
            </a:extLst>
          </p:cNvPr>
          <p:cNvSpPr/>
          <p:nvPr/>
        </p:nvSpPr>
        <p:spPr>
          <a:xfrm>
            <a:off x="8237725" y="4978859"/>
            <a:ext cx="3143616" cy="353140"/>
          </a:xfrm>
          <a:prstGeom prst="rect">
            <a:avLst/>
          </a:prstGeom>
          <a:pattFill prst="pct5">
            <a:fgClr>
              <a:srgbClr val="0070C0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ILD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90AEB6D7-E489-4E8F-9E6D-7421D13C1D01}"/>
              </a:ext>
            </a:extLst>
          </p:cNvPr>
          <p:cNvSpPr/>
          <p:nvPr/>
        </p:nvSpPr>
        <p:spPr>
          <a:xfrm>
            <a:off x="8959555" y="4642898"/>
            <a:ext cx="442247" cy="33086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dirty="0">
              <a:solidFill>
                <a:schemeClr val="tx1"/>
              </a:solidFill>
            </a:endParaRP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4C11842A-874E-49BE-B5D3-DC10A22A1A91}"/>
              </a:ext>
            </a:extLst>
          </p:cNvPr>
          <p:cNvSpPr/>
          <p:nvPr/>
        </p:nvSpPr>
        <p:spPr>
          <a:xfrm>
            <a:off x="8236269" y="5330931"/>
            <a:ext cx="3152605" cy="328268"/>
          </a:xfrm>
          <a:prstGeom prst="rect">
            <a:avLst/>
          </a:prstGeom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600" dirty="0"/>
              <a:t>STI</a:t>
            </a:r>
            <a:endParaRPr lang="ko-KR" altLang="en-US" sz="1600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C0E567D1-9FD4-4236-9C90-A89D09C98E72}"/>
              </a:ext>
            </a:extLst>
          </p:cNvPr>
          <p:cNvSpPr/>
          <p:nvPr/>
        </p:nvSpPr>
        <p:spPr>
          <a:xfrm>
            <a:off x="515294" y="1544974"/>
            <a:ext cx="522344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b="1" dirty="0"/>
              <a:t>공정 안정성 및 배선 신뢰성 확보를 위한 최소 </a:t>
            </a:r>
            <a:r>
              <a:rPr lang="en-US" altLang="ko-KR" b="1" dirty="0"/>
              <a:t>Metal1 </a:t>
            </a:r>
            <a:r>
              <a:rPr lang="ko-KR" altLang="en-US" b="1" dirty="0"/>
              <a:t>면적 규정</a:t>
            </a:r>
          </a:p>
        </p:txBody>
      </p: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7A9193C5-57E9-4930-8D1E-0926B6041729}"/>
              </a:ext>
            </a:extLst>
          </p:cNvPr>
          <p:cNvCxnSpPr>
            <a:cxnSpLocks/>
          </p:cNvCxnSpPr>
          <p:nvPr/>
        </p:nvCxnSpPr>
        <p:spPr>
          <a:xfrm flipV="1">
            <a:off x="9532632" y="4656435"/>
            <a:ext cx="280859" cy="307540"/>
          </a:xfrm>
          <a:prstGeom prst="line">
            <a:avLst/>
          </a:prstGeom>
          <a:ln w="19050">
            <a:solidFill>
              <a:schemeClr val="tx1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99A6C74A-43E7-4248-9B10-B52C6628C2B1}"/>
              </a:ext>
            </a:extLst>
          </p:cNvPr>
          <p:cNvCxnSpPr>
            <a:cxnSpLocks/>
          </p:cNvCxnSpPr>
          <p:nvPr/>
        </p:nvCxnSpPr>
        <p:spPr>
          <a:xfrm flipV="1">
            <a:off x="9401802" y="4278147"/>
            <a:ext cx="337158" cy="371811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BD00BF59-F4BB-4692-B886-C8FBA245DEA8}"/>
              </a:ext>
            </a:extLst>
          </p:cNvPr>
          <p:cNvSpPr/>
          <p:nvPr/>
        </p:nvSpPr>
        <p:spPr>
          <a:xfrm>
            <a:off x="9746492" y="4656435"/>
            <a:ext cx="9989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b="1" dirty="0"/>
              <a:t>0.59um</a:t>
            </a:r>
            <a:endParaRPr lang="ko-KR" altLang="en-US" b="1" dirty="0"/>
          </a:p>
        </p:txBody>
      </p: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553EB801-18AC-4CFA-821A-FDF55FEE4A46}"/>
              </a:ext>
            </a:extLst>
          </p:cNvPr>
          <p:cNvCxnSpPr>
            <a:cxnSpLocks/>
          </p:cNvCxnSpPr>
          <p:nvPr/>
        </p:nvCxnSpPr>
        <p:spPr>
          <a:xfrm flipV="1">
            <a:off x="8959554" y="4265994"/>
            <a:ext cx="337158" cy="371811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id="{16694EBD-7AFA-42F3-9266-1E5C5B74612C}"/>
              </a:ext>
            </a:extLst>
          </p:cNvPr>
          <p:cNvCxnSpPr>
            <a:cxnSpLocks/>
          </p:cNvCxnSpPr>
          <p:nvPr/>
        </p:nvCxnSpPr>
        <p:spPr>
          <a:xfrm flipV="1">
            <a:off x="9409336" y="4615457"/>
            <a:ext cx="337158" cy="371811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BC62B4CE-6189-4E6E-8087-0A42A90B5F56}"/>
              </a:ext>
            </a:extLst>
          </p:cNvPr>
          <p:cNvCxnSpPr>
            <a:cxnSpLocks/>
          </p:cNvCxnSpPr>
          <p:nvPr/>
        </p:nvCxnSpPr>
        <p:spPr>
          <a:xfrm flipV="1">
            <a:off x="9746492" y="4267656"/>
            <a:ext cx="0" cy="347801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008F57C4-BAD8-4CBF-8BCF-810F13BEB617}"/>
              </a:ext>
            </a:extLst>
          </p:cNvPr>
          <p:cNvCxnSpPr>
            <a:cxnSpLocks/>
          </p:cNvCxnSpPr>
          <p:nvPr/>
        </p:nvCxnSpPr>
        <p:spPr>
          <a:xfrm flipH="1">
            <a:off x="9295789" y="4278147"/>
            <a:ext cx="450703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5D4BC254-6C23-4AFC-A673-45B530A3AA82}"/>
              </a:ext>
            </a:extLst>
          </p:cNvPr>
          <p:cNvSpPr txBox="1"/>
          <p:nvPr/>
        </p:nvSpPr>
        <p:spPr>
          <a:xfrm>
            <a:off x="8528912" y="4098379"/>
            <a:ext cx="971219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1600" b="1" dirty="0"/>
              <a:t>0.12um</a:t>
            </a:r>
            <a:endParaRPr lang="ko-KR" alt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268861956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1735FC-E001-40BF-A089-623C2C31BC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Electromigration</a:t>
            </a:r>
            <a:endParaRPr lang="ko-KR" altLang="en-US" dirty="0"/>
          </a:p>
        </p:txBody>
      </p:sp>
      <p:pic>
        <p:nvPicPr>
          <p:cNvPr id="2052" name="Picture 4" descr="금속 배선 공정(Metalization) : 네이버 블로그">
            <a:extLst>
              <a:ext uri="{FF2B5EF4-FFF2-40B4-BE49-F238E27FC236}">
                <a16:creationId xmlns:a16="http://schemas.microsoft.com/office/drawing/2014/main" id="{76036EEF-F55B-47C4-A335-4534EA01D0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103642"/>
            <a:ext cx="10070341" cy="30730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9426111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75537F-38C3-4078-88C7-28CAECBE26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Quantifying Lifetime 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3C9AFF08-BE77-49CD-A718-A14F4E653A5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5853634" cy="441551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altLang="ko-KR" dirty="0"/>
                  <a:t>Mean Time To Failure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𝑀𝑇𝑇𝐹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𝐽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  <m:func>
                      <m:func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exp</m:t>
                        </m:r>
                      </m:fName>
                      <m:e>
                        <m:d>
                          <m:d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𝐸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𝑎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𝑘𝑇</m:t>
                                </m:r>
                              </m:den>
                            </m:f>
                          </m:e>
                        </m:d>
                      </m:e>
                    </m:func>
                  </m:oMath>
                </a14:m>
                <a:r>
                  <a:rPr lang="en-US" altLang="ko-KR" dirty="0"/>
                  <a:t> </a:t>
                </a:r>
              </a:p>
              <a:p>
                <a:pPr marL="0" indent="0">
                  <a:buNone/>
                </a:pPr>
                <a:endParaRPr lang="en-US" altLang="ko-KR" dirty="0"/>
              </a:p>
              <a:p>
                <a:pPr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en-US" altLang="ko-KR" dirty="0"/>
                  <a:t> : activation energy</a:t>
                </a:r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US" altLang="ko-KR" dirty="0"/>
                  <a:t>n : current density exponent</a:t>
                </a:r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US" altLang="ko-KR" dirty="0"/>
                  <a:t>J</a:t>
                </a:r>
                <a14:m>
                  <m:oMath xmlns:m="http://schemas.openxmlformats.org/officeDocument/2006/math">
                    <m:r>
                      <a:rPr lang="en-US" altLang="ko-K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↑</m:t>
                    </m:r>
                  </m:oMath>
                </a14:m>
                <a:r>
                  <a:rPr lang="en-US" altLang="ko-KR" dirty="0"/>
                  <a:t> : MTTF decreases</a:t>
                </a:r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US" altLang="ko-KR" dirty="0"/>
                  <a:t>T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↑</m:t>
                    </m:r>
                  </m:oMath>
                </a14:m>
                <a:r>
                  <a:rPr lang="en-US" altLang="ko-KR" dirty="0"/>
                  <a:t> : MTTF also decreases</a:t>
                </a:r>
              </a:p>
              <a:p>
                <a:pPr>
                  <a:buFont typeface="Wingdings" panose="05000000000000000000" pitchFamily="2" charset="2"/>
                  <a:buChar char="§"/>
                </a:pPr>
                <a:endParaRPr lang="en-US" altLang="ko-KR" dirty="0"/>
              </a:p>
              <a:p>
                <a:pPr marL="0" indent="0">
                  <a:buNone/>
                </a:pPr>
                <a:endParaRPr lang="ko-KR" altLang="en-US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3C9AFF08-BE77-49CD-A718-A14F4E653A5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5853634" cy="4415518"/>
              </a:xfrm>
              <a:blipFill>
                <a:blip r:embed="rId2"/>
                <a:stretch>
                  <a:fillRect l="-2188" t="-234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Chart 0">
            <a:extLst>
              <a:ext uri="{FF2B5EF4-FFF2-40B4-BE49-F238E27FC236}">
                <a16:creationId xmlns:a16="http://schemas.microsoft.com/office/drawing/2014/main" id="{6B507797-84E5-46A3-A57F-874BD019DB1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59806723"/>
              </p:ext>
            </p:extLst>
          </p:nvPr>
        </p:nvGraphicFramePr>
        <p:xfrm>
          <a:off x="6691834" y="1690688"/>
          <a:ext cx="512064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>
            <a:extLst>
              <a:ext uri="{FF2B5EF4-FFF2-40B4-BE49-F238E27FC236}">
                <a16:creationId xmlns:a16="http://schemas.microsoft.com/office/drawing/2014/main" id="{5C854C7A-DEC6-436C-85BD-50A88017FCF3}"/>
              </a:ext>
            </a:extLst>
          </p:cNvPr>
          <p:cNvSpPr/>
          <p:nvPr/>
        </p:nvSpPr>
        <p:spPr>
          <a:xfrm>
            <a:off x="6691834" y="4479608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i="1" dirty="0">
                <a:solidFill>
                  <a:srgbClr val="993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Narrower Metal1 → higher J → shifted to the low-MTTF region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48692322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F9CC1AE7-46A4-4012-AF1B-7E86861BB6AF}"/>
              </a:ext>
            </a:extLst>
          </p:cNvPr>
          <p:cNvSpPr/>
          <p:nvPr/>
        </p:nvSpPr>
        <p:spPr>
          <a:xfrm>
            <a:off x="4272424" y="2967335"/>
            <a:ext cx="364715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ko-KR" altLang="en-US" sz="54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감사합니다</a:t>
            </a:r>
            <a:endParaRPr lang="en-US" altLang="ko-KR" sz="54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9039114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446</TotalTime>
  <Words>1239</Words>
  <Application>Microsoft Office PowerPoint</Application>
  <PresentationFormat>와이드스크린</PresentationFormat>
  <Paragraphs>317</Paragraphs>
  <Slides>30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30</vt:i4>
      </vt:variant>
    </vt:vector>
  </HeadingPairs>
  <TitlesOfParts>
    <vt:vector size="37" baseType="lpstr">
      <vt:lpstr>맑은 고딕</vt:lpstr>
      <vt:lpstr>Arial</vt:lpstr>
      <vt:lpstr>Calibri</vt:lpstr>
      <vt:lpstr>Cambria</vt:lpstr>
      <vt:lpstr>Cambria Math</vt:lpstr>
      <vt:lpstr>Wingdings</vt:lpstr>
      <vt:lpstr>Office 테마</vt:lpstr>
      <vt:lpstr>3조</vt:lpstr>
      <vt:lpstr>Definition</vt:lpstr>
      <vt:lpstr>Layer colors</vt:lpstr>
      <vt:lpstr>PowerPoint 프레젠테이션</vt:lpstr>
      <vt:lpstr>Why METAL and CONTACT?</vt:lpstr>
      <vt:lpstr>To Interface Physics</vt:lpstr>
      <vt:lpstr>Contact</vt:lpstr>
      <vt:lpstr>PowerPoint 프레젠테이션</vt:lpstr>
      <vt:lpstr>PowerPoint 프레젠테이션</vt:lpstr>
      <vt:lpstr>Why Contact-to-Gate Spacing Matters</vt:lpstr>
      <vt:lpstr>HCI(Hot Carrier Injection)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Why Non-salicided Resistor</vt:lpstr>
      <vt:lpstr>Non-salicide Boundary</vt:lpstr>
      <vt:lpstr>Salicide encroachment risk</vt:lpstr>
      <vt:lpstr>PowerPoint 프레젠테이션</vt:lpstr>
      <vt:lpstr>Contact causes field crowding at the edge</vt:lpstr>
      <vt:lpstr>Reliability risk ① : TDDB acceleration</vt:lpstr>
      <vt:lpstr>Reliability risk ② : direct tunneling leakage</vt:lpstr>
      <vt:lpstr>Metal</vt:lpstr>
      <vt:lpstr>PowerPoint 프레젠테이션</vt:lpstr>
      <vt:lpstr>PowerPoint 프레젠테이션</vt:lpstr>
      <vt:lpstr>Electromigration</vt:lpstr>
      <vt:lpstr>Quantifying Lifetime 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Definition</dc:title>
  <dc:creator>fl25</dc:creator>
  <cp:lastModifiedBy>fl27</cp:lastModifiedBy>
  <cp:revision>40</cp:revision>
  <dcterms:created xsi:type="dcterms:W3CDTF">2026-07-27T07:49:31Z</dcterms:created>
  <dcterms:modified xsi:type="dcterms:W3CDTF">2026-07-28T07:03:41Z</dcterms:modified>
</cp:coreProperties>
</file>