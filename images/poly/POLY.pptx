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0" r:id="rId3"/>
    <p:sldId id="282" r:id="rId4"/>
    <p:sldId id="283" r:id="rId5"/>
    <p:sldId id="284" r:id="rId6"/>
    <p:sldId id="285" r:id="rId7"/>
    <p:sldId id="286" r:id="rId8"/>
    <p:sldId id="288" r:id="rId9"/>
    <p:sldId id="287" r:id="rId10"/>
    <p:sldId id="289" r:id="rId11"/>
    <p:sldId id="290" r:id="rId12"/>
    <p:sldId id="291" r:id="rId13"/>
    <p:sldId id="292" r:id="rId14"/>
    <p:sldId id="293" r:id="rId15"/>
    <p:sldId id="297" r:id="rId16"/>
    <p:sldId id="298" r:id="rId17"/>
    <p:sldId id="294" r:id="rId18"/>
    <p:sldId id="295" r:id="rId19"/>
    <p:sldId id="296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C273AB-B5D1-428F-9AEB-5CA853313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4633DF1-7654-4505-9083-59CCE7CFD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EFB234-5E24-4FAD-BD81-EDD8B47ED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FB144-C9EE-4156-8734-354FA4A84FF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3547AB-DE35-48F7-AD98-0D76DBE1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B03FCF-65A9-4E14-9843-4519A026D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9E03B-50F0-4493-98ED-A4DC613E57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53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DDF71-C781-48DC-9242-7D5B52B32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04D671-2B0B-4744-90B7-BABE5E44F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EAA80A-22F8-412F-9C9F-D1AD7B804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FB144-C9EE-4156-8734-354FA4A84FF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BF7317-3EEF-4772-B9F2-47B3D5591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D7EAC2-2369-495A-804A-CF255B7AD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9E03B-50F0-4493-98ED-A4DC613E57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884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96C11-8FDA-4BEE-BBFC-0A5A99BF3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A35405-DA62-4812-8704-E52223885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D297C4-763C-4085-BC8D-DD89B848F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FB144-C9EE-4156-8734-354FA4A84FF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7C5D2C-5098-4169-863A-F66DF3949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7413D8-43D6-4624-90AF-8A1865E43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9E03B-50F0-4493-98ED-A4DC613E57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527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ABED7-DA7E-4E40-9189-EA6E0F81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8EFB32-9CB5-4E93-B882-5F5F7C259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3CE6A7-BB67-4AF1-9486-FAAC5B80A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01F04F-7124-4EE2-AABF-F4255382E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FB144-C9EE-4156-8734-354FA4A84FF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11AF83-EDD3-4DD2-A8DD-E207653A7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EF02F7-1A70-4843-ABC1-89BDE5AED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9E03B-50F0-4493-98ED-A4DC613E57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26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5FD3F-B560-4F6F-B162-504404F18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CC9BEF-4C1A-4521-87C0-0D2EF3B18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4E2507-DDBA-49AB-9E09-BAB0E5094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8BABA3-8C9A-4955-BD1A-CC9FE0290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F36329-0AC3-4758-8181-8AFB8DCB0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3A4BFB-0C90-4C39-87FF-F356F35BC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FB144-C9EE-4156-8734-354FA4A84FF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BCE817-11B1-4D3B-992F-FB02E1C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6B06064-ED2E-4DAF-9B26-ED62CD9C5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9E03B-50F0-4493-98ED-A4DC613E57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51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68624-16FC-4949-9111-D1FF63A7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A4D802-8D9E-4AC9-A95D-82BDB6355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FB144-C9EE-4156-8734-354FA4A84FF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DA56DE-B6F8-40DC-965E-6885FF898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57F4D3-C5CC-4461-94ED-1586144EB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9E03B-50F0-4493-98ED-A4DC613E57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5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4796513-0D75-4CD8-9E93-E8DF3B9D8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FB144-C9EE-4156-8734-354FA4A84FF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886C3C-E35D-4A01-9176-702013FC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7A1150-B54F-4E21-B7D8-9A6AFBC4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9E03B-50F0-4493-98ED-A4DC613E57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278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FC37C-1722-4A19-B3D7-2B46714C8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4360A3-4786-4DAF-88F5-5593ECD26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B9DDA3-CE81-4CD3-A02D-9C8D74E79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E50AF0-3DD0-443B-AE28-B8F6438F3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FB144-C9EE-4156-8734-354FA4A84FF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0B7779-A303-408F-A506-F3A61F5E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EEF4AA-EFFD-4342-AB30-E12E578C1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9E03B-50F0-4493-98ED-A4DC613E57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767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16CBB-1054-48E1-B037-B5A6F391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2F3D6B-B88F-4201-808D-7FD05D8F6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99C4CF-6344-443E-A154-C9C9A013C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40BF7B-FC0D-41A8-BD01-BCEDAEF0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FB144-C9EE-4156-8734-354FA4A84FF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4A717E-B6E4-490F-8DCB-830C6BDD1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D07CC1-C307-4A22-87A6-EBD380B93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9E03B-50F0-4493-98ED-A4DC613E57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47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CF853-9F94-4C99-9BDB-0C9B1153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DD35D0-6220-4E7A-9FE4-0F78C5839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CCBD29-E3A5-43FE-8407-0F4FD2A8E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FB144-C9EE-4156-8734-354FA4A84FF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ABB640-B6E0-4CAF-B4AB-FA883FD3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8A7102-0B48-4F49-8F93-4B573DDF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9E03B-50F0-4493-98ED-A4DC613E57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453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E06911-E744-461C-ADC7-77C1814F5D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EAB0E4-0292-4E05-996A-3B76FCACC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162ACE-7581-487E-91E6-623AA4F56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FB144-C9EE-4156-8734-354FA4A84FF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B0C9EF-4C8B-4019-B259-D0E0345B4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E7F3D3-2B91-4351-84D3-4F251C85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9E03B-50F0-4493-98ED-A4DC613E57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293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842DC33-DDB3-408B-B331-EE3687864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44C7C9-F20E-4314-B977-F131FE5BA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DE4EB5-4133-4661-8E75-F8455D8C0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FB144-C9EE-4156-8734-354FA4A84FF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1C438-2C9C-4400-8C58-EC2E4D1DA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A1D2F8-A42E-45AC-B510-70CA81734D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9E03B-50F0-4493-98ED-A4DC613E57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01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4E63E01D-6A3E-456F-BA40-9082233BF4F7}"/>
              </a:ext>
            </a:extLst>
          </p:cNvPr>
          <p:cNvSpPr/>
          <p:nvPr/>
        </p:nvSpPr>
        <p:spPr>
          <a:xfrm>
            <a:off x="7673005" y="5291103"/>
            <a:ext cx="370975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D29A9520-B0D6-482A-8227-C2F1623DF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970" y="1433212"/>
            <a:ext cx="2990755" cy="2265057"/>
          </a:xfrm>
          <a:prstGeom prst="rect">
            <a:avLst/>
          </a:prstGeom>
        </p:spPr>
      </p:pic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238970"/>
              </p:ext>
            </p:extLst>
          </p:nvPr>
        </p:nvGraphicFramePr>
        <p:xfrm>
          <a:off x="432201" y="165139"/>
          <a:ext cx="1132759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1315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189747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706536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POLY.W.1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0.1um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Minimum 1.2V N-channel gate length..</a:t>
                      </a:r>
                      <a:endParaRPr lang="ko-KR" altLang="en-US" sz="10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51820" y="882704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484358" y="869191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 flipV="1">
            <a:off x="9324557" y="4268369"/>
            <a:ext cx="261444" cy="1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CB7140-3CBF-452E-8DC5-1D49B32798EA}"/>
              </a:ext>
            </a:extLst>
          </p:cNvPr>
          <p:cNvSpPr/>
          <p:nvPr/>
        </p:nvSpPr>
        <p:spPr>
          <a:xfrm>
            <a:off x="6689719" y="260795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A0C275A-7E7C-4DA1-9DD6-EFBB505040C1}"/>
              </a:ext>
            </a:extLst>
          </p:cNvPr>
          <p:cNvCxnSpPr>
            <a:cxnSpLocks/>
          </p:cNvCxnSpPr>
          <p:nvPr/>
        </p:nvCxnSpPr>
        <p:spPr>
          <a:xfrm>
            <a:off x="8744398" y="2900880"/>
            <a:ext cx="8964" cy="2408415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2727F8E-18C8-4EDC-B932-99F40899E204}"/>
              </a:ext>
            </a:extLst>
          </p:cNvPr>
          <p:cNvCxnSpPr>
            <a:cxnSpLocks/>
          </p:cNvCxnSpPr>
          <p:nvPr/>
        </p:nvCxnSpPr>
        <p:spPr>
          <a:xfrm flipH="1">
            <a:off x="9324557" y="3659055"/>
            <a:ext cx="6606" cy="150146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48B14DF-B479-416F-88E3-87784B5768BC}"/>
              </a:ext>
            </a:extLst>
          </p:cNvPr>
          <p:cNvCxnSpPr>
            <a:cxnSpLocks/>
          </p:cNvCxnSpPr>
          <p:nvPr/>
        </p:nvCxnSpPr>
        <p:spPr>
          <a:xfrm>
            <a:off x="10157198" y="2856219"/>
            <a:ext cx="8964" cy="242868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05B40D6-6A81-4795-B378-A30330CAE05B}"/>
              </a:ext>
            </a:extLst>
          </p:cNvPr>
          <p:cNvCxnSpPr>
            <a:cxnSpLocks/>
          </p:cNvCxnSpPr>
          <p:nvPr/>
        </p:nvCxnSpPr>
        <p:spPr>
          <a:xfrm>
            <a:off x="7078502" y="2792619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DD26C956-C9CF-4E81-9642-D542850EA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50" y="1217091"/>
            <a:ext cx="2590933" cy="173998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48B130A-2DFD-42E4-BEE3-014B724A6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606" y="3429000"/>
            <a:ext cx="3928281" cy="2975095"/>
          </a:xfrm>
          <a:prstGeom prst="rect">
            <a:avLst/>
          </a:prstGeom>
        </p:spPr>
      </p:pic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7141C55-5C45-4047-8BAA-D906A7AC678E}"/>
              </a:ext>
            </a:extLst>
          </p:cNvPr>
          <p:cNvCxnSpPr>
            <a:cxnSpLocks/>
          </p:cNvCxnSpPr>
          <p:nvPr/>
        </p:nvCxnSpPr>
        <p:spPr>
          <a:xfrm>
            <a:off x="9576696" y="3659054"/>
            <a:ext cx="9306" cy="150146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9043440" y="3887664"/>
            <a:ext cx="837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0.1um</a:t>
            </a:r>
            <a:endParaRPr lang="ko-KR" altLang="en-US" sz="1600" b="1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C303C0E-5302-4367-A569-D74FF9B04CA2}"/>
              </a:ext>
            </a:extLst>
          </p:cNvPr>
          <p:cNvSpPr/>
          <p:nvPr/>
        </p:nvSpPr>
        <p:spPr>
          <a:xfrm>
            <a:off x="9316688" y="4998768"/>
            <a:ext cx="269313" cy="1788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8094BA1-66CF-4014-A642-340FDF7B6E4A}"/>
              </a:ext>
            </a:extLst>
          </p:cNvPr>
          <p:cNvSpPr/>
          <p:nvPr/>
        </p:nvSpPr>
        <p:spPr>
          <a:xfrm>
            <a:off x="8753361" y="5185201"/>
            <a:ext cx="1403837" cy="10590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OXIDE</a:t>
            </a:r>
            <a:endParaRPr lang="ko-KR" altLang="en-US" sz="8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C086384-4A50-4F61-896B-D21A8A7149D3}"/>
              </a:ext>
            </a:extLst>
          </p:cNvPr>
          <p:cNvSpPr/>
          <p:nvPr/>
        </p:nvSpPr>
        <p:spPr>
          <a:xfrm>
            <a:off x="7673005" y="5280966"/>
            <a:ext cx="1071393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12D253A-C1F5-41F9-885E-641E67C105E8}"/>
              </a:ext>
            </a:extLst>
          </p:cNvPr>
          <p:cNvSpPr/>
          <p:nvPr/>
        </p:nvSpPr>
        <p:spPr>
          <a:xfrm>
            <a:off x="8761853" y="5307577"/>
            <a:ext cx="563174" cy="1172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N+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06BC7A2-ADFB-4C34-9B9C-87C8B91925BA}"/>
              </a:ext>
            </a:extLst>
          </p:cNvPr>
          <p:cNvSpPr/>
          <p:nvPr/>
        </p:nvSpPr>
        <p:spPr>
          <a:xfrm>
            <a:off x="10166162" y="5282293"/>
            <a:ext cx="1216602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953F558-EFAB-4251-8A98-280447654623}"/>
              </a:ext>
            </a:extLst>
          </p:cNvPr>
          <p:cNvSpPr/>
          <p:nvPr/>
        </p:nvSpPr>
        <p:spPr>
          <a:xfrm>
            <a:off x="9590879" y="5303237"/>
            <a:ext cx="580161" cy="11282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N+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6C0333-8084-4E3E-9C36-05FFFBDCDD10}"/>
              </a:ext>
            </a:extLst>
          </p:cNvPr>
          <p:cNvSpPr/>
          <p:nvPr/>
        </p:nvSpPr>
        <p:spPr>
          <a:xfrm>
            <a:off x="238350" y="2992306"/>
            <a:ext cx="603562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/>
              <a:t>“Short Channel Effect</a:t>
            </a:r>
            <a:r>
              <a:rPr lang="ko-KR" altLang="en-US" sz="1100" dirty="0"/>
              <a:t>와 누설전류 증가를 방지하기 위해 </a:t>
            </a:r>
            <a:r>
              <a:rPr lang="en-US" altLang="ko-KR" sz="1100" dirty="0"/>
              <a:t>NMOS</a:t>
            </a:r>
            <a:r>
              <a:rPr lang="ko-KR" altLang="en-US" sz="1100" dirty="0"/>
              <a:t>의 최소 </a:t>
            </a:r>
            <a:r>
              <a:rPr lang="en-US" altLang="ko-KR" sz="1100" dirty="0"/>
              <a:t>Gate Length</a:t>
            </a:r>
            <a:r>
              <a:rPr lang="ko-KR" altLang="en-US" sz="1100" dirty="0"/>
              <a:t>를 제한</a:t>
            </a:r>
            <a:r>
              <a:rPr lang="en-US" altLang="ko-KR" sz="1100" dirty="0"/>
              <a:t>”</a:t>
            </a:r>
            <a:endParaRPr lang="ko-KR" altLang="en-US" sz="1100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ABA8EE4-9835-4371-9F27-8B31F4B2D598}"/>
              </a:ext>
            </a:extLst>
          </p:cNvPr>
          <p:cNvCxnSpPr>
            <a:cxnSpLocks/>
          </p:cNvCxnSpPr>
          <p:nvPr/>
        </p:nvCxnSpPr>
        <p:spPr>
          <a:xfrm>
            <a:off x="3095965" y="5532397"/>
            <a:ext cx="230767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E13B26F-4080-4D3D-8867-77A22129AEEB}"/>
              </a:ext>
            </a:extLst>
          </p:cNvPr>
          <p:cNvSpPr txBox="1"/>
          <p:nvPr/>
        </p:nvSpPr>
        <p:spPr>
          <a:xfrm>
            <a:off x="2812202" y="5538205"/>
            <a:ext cx="837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0.1um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557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5E25D2C2-0BC4-4E7C-8546-9EF271C5AFBD}"/>
              </a:ext>
            </a:extLst>
          </p:cNvPr>
          <p:cNvSpPr/>
          <p:nvPr/>
        </p:nvSpPr>
        <p:spPr>
          <a:xfrm>
            <a:off x="7645339" y="5122400"/>
            <a:ext cx="392006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D0B5E50-4796-43CD-B5F4-D1C2DFD15CE8}"/>
              </a:ext>
            </a:extLst>
          </p:cNvPr>
          <p:cNvSpPr/>
          <p:nvPr/>
        </p:nvSpPr>
        <p:spPr>
          <a:xfrm>
            <a:off x="8141930" y="5121072"/>
            <a:ext cx="2720764" cy="461245"/>
          </a:xfrm>
          <a:prstGeom prst="rect">
            <a:avLst/>
          </a:prstGeom>
          <a:solidFill>
            <a:srgbClr val="CDACE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rgbClr val="7030A0"/>
                </a:solidFill>
              </a:rPr>
              <a:t>Nwell</a:t>
            </a:r>
            <a:endParaRPr lang="ko-KR" altLang="en-US" dirty="0">
              <a:solidFill>
                <a:srgbClr val="7030A0"/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DC67BA5E-57F9-4742-A899-D66649043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557" y="1296308"/>
            <a:ext cx="3291263" cy="2444691"/>
          </a:xfrm>
          <a:prstGeom prst="rect">
            <a:avLst/>
          </a:prstGeom>
        </p:spPr>
      </p:pic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802132"/>
              </p:ext>
            </p:extLst>
          </p:nvPr>
        </p:nvGraphicFramePr>
        <p:xfrm>
          <a:off x="582249" y="134638"/>
          <a:ext cx="1128264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630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129589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733430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POLY.W.2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0.1um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1.2V P-channel gate length.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9182056" y="3903014"/>
            <a:ext cx="796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0.1um</a:t>
            </a:r>
            <a:endParaRPr lang="ko-KR" altLang="en-US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63852" y="822886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627191" y="807497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 flipV="1">
            <a:off x="9534280" y="4268369"/>
            <a:ext cx="207877" cy="1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CB7140-3CBF-452E-8DC5-1D49B32798EA}"/>
              </a:ext>
            </a:extLst>
          </p:cNvPr>
          <p:cNvSpPr/>
          <p:nvPr/>
        </p:nvSpPr>
        <p:spPr>
          <a:xfrm>
            <a:off x="6648782" y="234128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A0C275A-7E7C-4DA1-9DD6-EFBB505040C1}"/>
              </a:ext>
            </a:extLst>
          </p:cNvPr>
          <p:cNvCxnSpPr>
            <a:cxnSpLocks/>
          </p:cNvCxnSpPr>
          <p:nvPr/>
        </p:nvCxnSpPr>
        <p:spPr>
          <a:xfrm>
            <a:off x="9103331" y="2772558"/>
            <a:ext cx="17008" cy="2209136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2727F8E-18C8-4EDC-B932-99F40899E204}"/>
              </a:ext>
            </a:extLst>
          </p:cNvPr>
          <p:cNvCxnSpPr>
            <a:cxnSpLocks/>
          </p:cNvCxnSpPr>
          <p:nvPr/>
        </p:nvCxnSpPr>
        <p:spPr>
          <a:xfrm>
            <a:off x="10840123" y="3514515"/>
            <a:ext cx="22570" cy="1818435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48B14DF-B479-416F-88E3-87784B5768BC}"/>
              </a:ext>
            </a:extLst>
          </p:cNvPr>
          <p:cNvCxnSpPr>
            <a:cxnSpLocks/>
          </p:cNvCxnSpPr>
          <p:nvPr/>
        </p:nvCxnSpPr>
        <p:spPr>
          <a:xfrm flipH="1">
            <a:off x="10150621" y="2792619"/>
            <a:ext cx="6580" cy="2189075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05B40D6-6A81-4795-B378-A30330CAE05B}"/>
              </a:ext>
            </a:extLst>
          </p:cNvPr>
          <p:cNvCxnSpPr>
            <a:cxnSpLocks/>
          </p:cNvCxnSpPr>
          <p:nvPr/>
        </p:nvCxnSpPr>
        <p:spPr>
          <a:xfrm>
            <a:off x="7040219" y="2518653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CE67C827-C5BA-4152-9EB9-27D407098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" y="3353151"/>
            <a:ext cx="4314873" cy="320501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D101308-5CDA-48E4-B5C7-EE78EE254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184" y="1176829"/>
            <a:ext cx="2528099" cy="1814055"/>
          </a:xfrm>
          <a:prstGeom prst="rect">
            <a:avLst/>
          </a:prstGeom>
        </p:spPr>
      </p:pic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82B4F8A-A39B-4476-AF88-C17E604BE244}"/>
              </a:ext>
            </a:extLst>
          </p:cNvPr>
          <p:cNvCxnSpPr>
            <a:cxnSpLocks/>
          </p:cNvCxnSpPr>
          <p:nvPr/>
        </p:nvCxnSpPr>
        <p:spPr>
          <a:xfrm>
            <a:off x="8142709" y="3514515"/>
            <a:ext cx="1" cy="159018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0DF052F6-F5B6-402D-9386-0265DBEEA7F8}"/>
              </a:ext>
            </a:extLst>
          </p:cNvPr>
          <p:cNvCxnSpPr>
            <a:cxnSpLocks/>
          </p:cNvCxnSpPr>
          <p:nvPr/>
        </p:nvCxnSpPr>
        <p:spPr>
          <a:xfrm>
            <a:off x="9534280" y="3353152"/>
            <a:ext cx="11285" cy="152353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7E071CC-479D-4434-B3DD-977C4A6F649C}"/>
              </a:ext>
            </a:extLst>
          </p:cNvPr>
          <p:cNvCxnSpPr>
            <a:cxnSpLocks/>
          </p:cNvCxnSpPr>
          <p:nvPr/>
        </p:nvCxnSpPr>
        <p:spPr>
          <a:xfrm>
            <a:off x="9710529" y="3353151"/>
            <a:ext cx="11285" cy="152353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046A6E1-4997-4EE5-BEE2-BA84E43486DD}"/>
              </a:ext>
            </a:extLst>
          </p:cNvPr>
          <p:cNvSpPr/>
          <p:nvPr/>
        </p:nvSpPr>
        <p:spPr>
          <a:xfrm>
            <a:off x="9510617" y="4822506"/>
            <a:ext cx="269313" cy="1788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702F41C-6220-4C3B-B7FC-FCDB2D64B69A}"/>
              </a:ext>
            </a:extLst>
          </p:cNvPr>
          <p:cNvSpPr/>
          <p:nvPr/>
        </p:nvSpPr>
        <p:spPr>
          <a:xfrm>
            <a:off x="9120339" y="5008938"/>
            <a:ext cx="1049531" cy="11213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OXIDE</a:t>
            </a:r>
            <a:endParaRPr lang="ko-KR" altLang="en-US" sz="8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72A2004-C090-4506-96B8-D61ECE9232EB}"/>
              </a:ext>
            </a:extLst>
          </p:cNvPr>
          <p:cNvSpPr/>
          <p:nvPr/>
        </p:nvSpPr>
        <p:spPr>
          <a:xfrm>
            <a:off x="7634054" y="5104704"/>
            <a:ext cx="1486280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A951A4F-5919-4D60-83FB-436E5060BEF2}"/>
              </a:ext>
            </a:extLst>
          </p:cNvPr>
          <p:cNvSpPr/>
          <p:nvPr/>
        </p:nvSpPr>
        <p:spPr>
          <a:xfrm>
            <a:off x="10169870" y="5106031"/>
            <a:ext cx="1406823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AE22847-8D63-44FA-B51F-1A95C13070EF}"/>
              </a:ext>
            </a:extLst>
          </p:cNvPr>
          <p:cNvSpPr/>
          <p:nvPr/>
        </p:nvSpPr>
        <p:spPr>
          <a:xfrm>
            <a:off x="9126314" y="5122354"/>
            <a:ext cx="384304" cy="121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P+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29B76DF-53A4-420F-978B-D5AEAD13E5BE}"/>
              </a:ext>
            </a:extLst>
          </p:cNvPr>
          <p:cNvSpPr/>
          <p:nvPr/>
        </p:nvSpPr>
        <p:spPr>
          <a:xfrm>
            <a:off x="9779586" y="5113514"/>
            <a:ext cx="384642" cy="142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P+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6CE3716-6002-41EA-8263-E7811C5A0746}"/>
              </a:ext>
            </a:extLst>
          </p:cNvPr>
          <p:cNvSpPr/>
          <p:nvPr/>
        </p:nvSpPr>
        <p:spPr>
          <a:xfrm>
            <a:off x="660548" y="2993834"/>
            <a:ext cx="4972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/>
              <a:t>“PMOS</a:t>
            </a:r>
            <a:r>
              <a:rPr lang="ko-KR" altLang="en-US" sz="1100" dirty="0"/>
              <a:t>의 전기적 특성과 신뢰성을 유지하기 위해 최소 </a:t>
            </a:r>
            <a:r>
              <a:rPr lang="en-US" altLang="ko-KR" sz="1100" dirty="0"/>
              <a:t>Gate Length</a:t>
            </a:r>
            <a:r>
              <a:rPr lang="ko-KR" altLang="en-US" sz="1100" dirty="0"/>
              <a:t>를 제한</a:t>
            </a:r>
            <a:r>
              <a:rPr lang="en-US" altLang="ko-KR" sz="1100" dirty="0"/>
              <a:t>”</a:t>
            </a:r>
            <a:endParaRPr lang="ko-KR" altLang="en-US" sz="1100" dirty="0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72E9649-82C3-49FA-8E8F-D7D6099CE62B}"/>
              </a:ext>
            </a:extLst>
          </p:cNvPr>
          <p:cNvCxnSpPr>
            <a:cxnSpLocks/>
          </p:cNvCxnSpPr>
          <p:nvPr/>
        </p:nvCxnSpPr>
        <p:spPr>
          <a:xfrm>
            <a:off x="3186202" y="5675363"/>
            <a:ext cx="230767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40C037F-269F-411E-8710-305D2C9DFA52}"/>
              </a:ext>
            </a:extLst>
          </p:cNvPr>
          <p:cNvSpPr txBox="1"/>
          <p:nvPr/>
        </p:nvSpPr>
        <p:spPr>
          <a:xfrm>
            <a:off x="2902439" y="5681171"/>
            <a:ext cx="837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0.1um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60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35605" y="781361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12B141FA-7553-41A2-A7AA-4A2FC9AB6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632" y="1656049"/>
            <a:ext cx="3277748" cy="2299711"/>
          </a:xfrm>
          <a:prstGeom prst="rect">
            <a:avLst/>
          </a:prstGeom>
        </p:spPr>
      </p:pic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473822"/>
              </p:ext>
            </p:extLst>
          </p:nvPr>
        </p:nvGraphicFramePr>
        <p:xfrm>
          <a:off x="538164" y="204027"/>
          <a:ext cx="111156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8547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1720515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7376598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POLY.W.3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0.28um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2.5V N-channel gate length.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9302940" y="3912965"/>
            <a:ext cx="1184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0.28um</a:t>
            </a:r>
            <a:endParaRPr lang="ko-KR" altLang="en-US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57836" y="918752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627196" y="903363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>
            <a:off x="9520357" y="4268370"/>
            <a:ext cx="484546" cy="4851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CB7140-3CBF-452E-8DC5-1D49B32798EA}"/>
              </a:ext>
            </a:extLst>
          </p:cNvPr>
          <p:cNvSpPr/>
          <p:nvPr/>
        </p:nvSpPr>
        <p:spPr>
          <a:xfrm>
            <a:off x="6737259" y="279261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2727F8E-18C8-4EDC-B932-99F40899E204}"/>
              </a:ext>
            </a:extLst>
          </p:cNvPr>
          <p:cNvCxnSpPr>
            <a:cxnSpLocks/>
          </p:cNvCxnSpPr>
          <p:nvPr/>
        </p:nvCxnSpPr>
        <p:spPr>
          <a:xfrm>
            <a:off x="10408323" y="3138324"/>
            <a:ext cx="0" cy="1863757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48B14DF-B479-416F-88E3-87784B5768BC}"/>
              </a:ext>
            </a:extLst>
          </p:cNvPr>
          <p:cNvCxnSpPr>
            <a:cxnSpLocks/>
            <a:endCxn id="28" idx="3"/>
          </p:cNvCxnSpPr>
          <p:nvPr/>
        </p:nvCxnSpPr>
        <p:spPr>
          <a:xfrm>
            <a:off x="10004903" y="3824524"/>
            <a:ext cx="1" cy="107015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05B40D6-6A81-4795-B378-A30330CAE05B}"/>
              </a:ext>
            </a:extLst>
          </p:cNvPr>
          <p:cNvCxnSpPr>
            <a:cxnSpLocks/>
          </p:cNvCxnSpPr>
          <p:nvPr/>
        </p:nvCxnSpPr>
        <p:spPr>
          <a:xfrm>
            <a:off x="7087894" y="2977285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2F99B3CB-8B5A-4E99-8357-EB978585D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353" y="1272695"/>
            <a:ext cx="2780566" cy="19869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13ACCEB-37DF-400A-8282-61C99400F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990" y="3686693"/>
            <a:ext cx="4233385" cy="2970197"/>
          </a:xfrm>
          <a:prstGeom prst="rect">
            <a:avLst/>
          </a:prstGeom>
        </p:spPr>
      </p:pic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EE96A19-7CCC-43EC-95EA-73EC17D9C05F}"/>
              </a:ext>
            </a:extLst>
          </p:cNvPr>
          <p:cNvCxnSpPr>
            <a:cxnSpLocks/>
          </p:cNvCxnSpPr>
          <p:nvPr/>
        </p:nvCxnSpPr>
        <p:spPr>
          <a:xfrm>
            <a:off x="9512975" y="3815206"/>
            <a:ext cx="0" cy="971304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BF1F0E4-F4E5-4507-9428-F8F1F6F70D28}"/>
              </a:ext>
            </a:extLst>
          </p:cNvPr>
          <p:cNvCxnSpPr>
            <a:cxnSpLocks/>
          </p:cNvCxnSpPr>
          <p:nvPr/>
        </p:nvCxnSpPr>
        <p:spPr>
          <a:xfrm>
            <a:off x="9158643" y="3138324"/>
            <a:ext cx="0" cy="1863757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D6E164F-C089-4C85-BAA2-01B5C68BFA09}"/>
              </a:ext>
            </a:extLst>
          </p:cNvPr>
          <p:cNvSpPr/>
          <p:nvPr/>
        </p:nvSpPr>
        <p:spPr>
          <a:xfrm>
            <a:off x="7944065" y="5099840"/>
            <a:ext cx="370975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AC8CE4-48C8-4C9F-B43B-90625EAF7E17}"/>
              </a:ext>
            </a:extLst>
          </p:cNvPr>
          <p:cNvSpPr/>
          <p:nvPr/>
        </p:nvSpPr>
        <p:spPr>
          <a:xfrm>
            <a:off x="7944065" y="5089703"/>
            <a:ext cx="1205609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C764EB6-6B24-4567-9E3B-BDDD6C0C04D1}"/>
              </a:ext>
            </a:extLst>
          </p:cNvPr>
          <p:cNvSpPr/>
          <p:nvPr/>
        </p:nvSpPr>
        <p:spPr>
          <a:xfrm>
            <a:off x="9158643" y="5116314"/>
            <a:ext cx="437444" cy="11282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N+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F6D5C51-6F84-42DD-A376-8FBFDEE26A35}"/>
              </a:ext>
            </a:extLst>
          </p:cNvPr>
          <p:cNvSpPr/>
          <p:nvPr/>
        </p:nvSpPr>
        <p:spPr>
          <a:xfrm>
            <a:off x="10437222" y="5091030"/>
            <a:ext cx="1216602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04A01F7-2812-4398-AFF0-D283E855D3E2}"/>
              </a:ext>
            </a:extLst>
          </p:cNvPr>
          <p:cNvSpPr/>
          <p:nvPr/>
        </p:nvSpPr>
        <p:spPr>
          <a:xfrm>
            <a:off x="9990809" y="5111974"/>
            <a:ext cx="451291" cy="11963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N+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5FBBC7C-BCBB-4090-93D3-DD43E4CE1F4E}"/>
              </a:ext>
            </a:extLst>
          </p:cNvPr>
          <p:cNvSpPr/>
          <p:nvPr/>
        </p:nvSpPr>
        <p:spPr>
          <a:xfrm>
            <a:off x="9156636" y="4968069"/>
            <a:ext cx="1280585" cy="1317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Thick OXIDE</a:t>
            </a:r>
            <a:endParaRPr lang="ko-KR" altLang="en-US" sz="8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2176670-B756-4A10-A16A-312A81988AFB}"/>
              </a:ext>
            </a:extLst>
          </p:cNvPr>
          <p:cNvSpPr/>
          <p:nvPr/>
        </p:nvSpPr>
        <p:spPr>
          <a:xfrm>
            <a:off x="9520358" y="4802984"/>
            <a:ext cx="484546" cy="1833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CA09EE-EF03-4E02-BEE8-DD891CA42B78}"/>
              </a:ext>
            </a:extLst>
          </p:cNvPr>
          <p:cNvSpPr/>
          <p:nvPr/>
        </p:nvSpPr>
        <p:spPr>
          <a:xfrm>
            <a:off x="1363784" y="3213556"/>
            <a:ext cx="397256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고전압 동작 시 </a:t>
            </a:r>
            <a:r>
              <a:rPr lang="en-US" altLang="ko-KR" sz="1100" dirty="0"/>
              <a:t>Hot Carrier Injection</a:t>
            </a:r>
            <a:r>
              <a:rPr lang="ko-KR" altLang="en-US" sz="1100" dirty="0"/>
              <a:t>과 </a:t>
            </a:r>
            <a:r>
              <a:rPr lang="en-US" altLang="ko-KR" sz="1100" dirty="0"/>
              <a:t>Gate Oxide </a:t>
            </a:r>
            <a:r>
              <a:rPr lang="ko-KR" altLang="en-US" sz="1100" dirty="0"/>
              <a:t>열화를 </a:t>
            </a:r>
            <a:endParaRPr lang="en-US" altLang="ko-KR" sz="1100" dirty="0"/>
          </a:p>
          <a:p>
            <a:pPr algn="ctr"/>
            <a:r>
              <a:rPr lang="ko-KR" altLang="en-US" sz="1100" dirty="0"/>
              <a:t>방지하기 위해 최소 </a:t>
            </a:r>
            <a:r>
              <a:rPr lang="en-US" altLang="ko-KR" sz="1100" dirty="0"/>
              <a:t>Gate Length</a:t>
            </a:r>
            <a:r>
              <a:rPr lang="ko-KR" altLang="en-US" sz="1100" dirty="0"/>
              <a:t>를 제한</a:t>
            </a:r>
            <a:r>
              <a:rPr lang="en-US" altLang="ko-KR" sz="1100" dirty="0"/>
              <a:t>”</a:t>
            </a:r>
            <a:endParaRPr lang="ko-KR" altLang="en-US" sz="1100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D0F586A-A115-45EA-9369-9C3B636B4F90}"/>
              </a:ext>
            </a:extLst>
          </p:cNvPr>
          <p:cNvCxnSpPr>
            <a:cxnSpLocks/>
          </p:cNvCxnSpPr>
          <p:nvPr/>
        </p:nvCxnSpPr>
        <p:spPr>
          <a:xfrm>
            <a:off x="3200400" y="5655093"/>
            <a:ext cx="547437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E2997AF-9258-4493-94F0-53966428BE4B}"/>
              </a:ext>
            </a:extLst>
          </p:cNvPr>
          <p:cNvSpPr txBox="1"/>
          <p:nvPr/>
        </p:nvSpPr>
        <p:spPr>
          <a:xfrm>
            <a:off x="3052833" y="5655093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0.28um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34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ED2707B1-3CB4-446C-A639-F82D60A85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361" y="1404474"/>
            <a:ext cx="3379762" cy="2580631"/>
          </a:xfrm>
          <a:prstGeom prst="rect">
            <a:avLst/>
          </a:prstGeom>
        </p:spPr>
      </p:pic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227029"/>
              </p:ext>
            </p:extLst>
          </p:nvPr>
        </p:nvGraphicFramePr>
        <p:xfrm>
          <a:off x="515293" y="232338"/>
          <a:ext cx="1102103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386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111542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880106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POLY.W.4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0.28um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2.5V P-channel gate length.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58049" y="930644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611546" y="915255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 flipV="1">
            <a:off x="9250083" y="4268369"/>
            <a:ext cx="279400" cy="1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CB7140-3CBF-452E-8DC5-1D49B32798EA}"/>
              </a:ext>
            </a:extLst>
          </p:cNvPr>
          <p:cNvSpPr/>
          <p:nvPr/>
        </p:nvSpPr>
        <p:spPr>
          <a:xfrm>
            <a:off x="6689719" y="260795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2727F8E-18C8-4EDC-B932-99F40899E204}"/>
              </a:ext>
            </a:extLst>
          </p:cNvPr>
          <p:cNvCxnSpPr>
            <a:cxnSpLocks/>
          </p:cNvCxnSpPr>
          <p:nvPr/>
        </p:nvCxnSpPr>
        <p:spPr>
          <a:xfrm>
            <a:off x="10774083" y="3835374"/>
            <a:ext cx="0" cy="1244626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48B14DF-B479-416F-88E3-87784B5768BC}"/>
              </a:ext>
            </a:extLst>
          </p:cNvPr>
          <p:cNvCxnSpPr>
            <a:cxnSpLocks/>
          </p:cNvCxnSpPr>
          <p:nvPr/>
        </p:nvCxnSpPr>
        <p:spPr>
          <a:xfrm>
            <a:off x="10150621" y="3127339"/>
            <a:ext cx="0" cy="195266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05B40D6-6A81-4795-B378-A30330CAE05B}"/>
              </a:ext>
            </a:extLst>
          </p:cNvPr>
          <p:cNvCxnSpPr>
            <a:cxnSpLocks/>
          </p:cNvCxnSpPr>
          <p:nvPr/>
        </p:nvCxnSpPr>
        <p:spPr>
          <a:xfrm>
            <a:off x="7078502" y="2792619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B6CF51A8-74E6-496D-8CC0-A6B981FC3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932" y="1284587"/>
            <a:ext cx="2888345" cy="200803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493BE92-A6D1-4794-90E2-29400B7F2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751" y="3670243"/>
            <a:ext cx="3968015" cy="3029794"/>
          </a:xfrm>
          <a:prstGeom prst="rect">
            <a:avLst/>
          </a:prstGeom>
        </p:spPr>
      </p:pic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987FE1C-43C1-4073-B979-AD1C33C99029}"/>
              </a:ext>
            </a:extLst>
          </p:cNvPr>
          <p:cNvCxnSpPr>
            <a:cxnSpLocks/>
          </p:cNvCxnSpPr>
          <p:nvPr/>
        </p:nvCxnSpPr>
        <p:spPr>
          <a:xfrm flipH="1">
            <a:off x="8677420" y="3147626"/>
            <a:ext cx="1" cy="194741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C94F4D6-29A1-4CCE-9C83-161579E5AD2F}"/>
              </a:ext>
            </a:extLst>
          </p:cNvPr>
          <p:cNvCxnSpPr>
            <a:cxnSpLocks/>
          </p:cNvCxnSpPr>
          <p:nvPr/>
        </p:nvCxnSpPr>
        <p:spPr>
          <a:xfrm>
            <a:off x="7914043" y="3870901"/>
            <a:ext cx="0" cy="120909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BD82F5F-36AB-416D-A21A-0D160DA24E09}"/>
              </a:ext>
            </a:extLst>
          </p:cNvPr>
          <p:cNvCxnSpPr>
            <a:cxnSpLocks/>
            <a:endCxn id="51" idx="1"/>
          </p:cNvCxnSpPr>
          <p:nvPr/>
        </p:nvCxnSpPr>
        <p:spPr>
          <a:xfrm flipH="1">
            <a:off x="9248089" y="3276724"/>
            <a:ext cx="1994" cy="156838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5F7FD9A5-8B75-4A89-9A13-1FAAAA967EE4}"/>
              </a:ext>
            </a:extLst>
          </p:cNvPr>
          <p:cNvCxnSpPr>
            <a:cxnSpLocks/>
          </p:cNvCxnSpPr>
          <p:nvPr/>
        </p:nvCxnSpPr>
        <p:spPr>
          <a:xfrm>
            <a:off x="9529483" y="3280775"/>
            <a:ext cx="0" cy="146546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8936246" y="3951161"/>
            <a:ext cx="903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0.28um</a:t>
            </a:r>
            <a:endParaRPr lang="ko-KR" altLang="en-US" sz="1600" b="1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C13EFF6-0D99-4136-A370-3398D83CBACB}"/>
              </a:ext>
            </a:extLst>
          </p:cNvPr>
          <p:cNvSpPr/>
          <p:nvPr/>
        </p:nvSpPr>
        <p:spPr>
          <a:xfrm>
            <a:off x="7188871" y="5112736"/>
            <a:ext cx="4347452" cy="124462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26681B7-0EF7-421F-B70E-0D80D808DEB6}"/>
              </a:ext>
            </a:extLst>
          </p:cNvPr>
          <p:cNvSpPr/>
          <p:nvPr/>
        </p:nvSpPr>
        <p:spPr>
          <a:xfrm>
            <a:off x="7914043" y="5111408"/>
            <a:ext cx="2860031" cy="509887"/>
          </a:xfrm>
          <a:prstGeom prst="rect">
            <a:avLst/>
          </a:prstGeom>
          <a:solidFill>
            <a:srgbClr val="CDACE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rgbClr val="7030A0"/>
                </a:solidFill>
              </a:rPr>
              <a:t>Nwell</a:t>
            </a:r>
            <a:endParaRPr lang="ko-KR" altLang="en-US" dirty="0">
              <a:solidFill>
                <a:srgbClr val="7030A0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1C731E2-FCE5-4603-9286-11B4554A4C3F}"/>
              </a:ext>
            </a:extLst>
          </p:cNvPr>
          <p:cNvSpPr/>
          <p:nvPr/>
        </p:nvSpPr>
        <p:spPr>
          <a:xfrm>
            <a:off x="7188868" y="5095039"/>
            <a:ext cx="1488552" cy="365761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0FD9A8A-B9F6-4A6A-969B-484AE94D1341}"/>
              </a:ext>
            </a:extLst>
          </p:cNvPr>
          <p:cNvSpPr/>
          <p:nvPr/>
        </p:nvSpPr>
        <p:spPr>
          <a:xfrm>
            <a:off x="10150620" y="5096366"/>
            <a:ext cx="1385699" cy="365761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9CA2A8C-3BD9-40EB-8C4C-6631F0913583}"/>
              </a:ext>
            </a:extLst>
          </p:cNvPr>
          <p:cNvSpPr/>
          <p:nvPr/>
        </p:nvSpPr>
        <p:spPr>
          <a:xfrm>
            <a:off x="8677421" y="5112689"/>
            <a:ext cx="607878" cy="1625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P+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D6A6805-7C3E-41AC-AFC7-BD82B86F8450}"/>
              </a:ext>
            </a:extLst>
          </p:cNvPr>
          <p:cNvSpPr/>
          <p:nvPr/>
        </p:nvSpPr>
        <p:spPr>
          <a:xfrm>
            <a:off x="9512349" y="5103850"/>
            <a:ext cx="638265" cy="1625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P+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7BF27F9-9F8C-4260-8A5B-0BDFB890951E}"/>
              </a:ext>
            </a:extLst>
          </p:cNvPr>
          <p:cNvSpPr/>
          <p:nvPr/>
        </p:nvSpPr>
        <p:spPr>
          <a:xfrm>
            <a:off x="8672254" y="4946440"/>
            <a:ext cx="1478359" cy="1800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Thick OXIDE</a:t>
            </a:r>
            <a:endParaRPr lang="ko-KR" altLang="en-US" sz="8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741884D-D4F4-4BDE-B9CE-5F2B956923E0}"/>
              </a:ext>
            </a:extLst>
          </p:cNvPr>
          <p:cNvSpPr/>
          <p:nvPr/>
        </p:nvSpPr>
        <p:spPr>
          <a:xfrm>
            <a:off x="9248089" y="4746235"/>
            <a:ext cx="298675" cy="1977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2785A91-E05D-4DD3-92CF-53DCE11D51E3}"/>
              </a:ext>
            </a:extLst>
          </p:cNvPr>
          <p:cNvSpPr/>
          <p:nvPr/>
        </p:nvSpPr>
        <p:spPr>
          <a:xfrm>
            <a:off x="1363784" y="3213556"/>
            <a:ext cx="397256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고전압 동작 시 </a:t>
            </a:r>
            <a:r>
              <a:rPr lang="en-US" altLang="ko-KR" sz="1100" dirty="0"/>
              <a:t>Hot Carrier Injection</a:t>
            </a:r>
            <a:r>
              <a:rPr lang="ko-KR" altLang="en-US" sz="1100" dirty="0"/>
              <a:t>과 </a:t>
            </a:r>
            <a:r>
              <a:rPr lang="en-US" altLang="ko-KR" sz="1100" dirty="0"/>
              <a:t>Gate Oxide </a:t>
            </a:r>
            <a:r>
              <a:rPr lang="ko-KR" altLang="en-US" sz="1100" dirty="0"/>
              <a:t>열화를 </a:t>
            </a:r>
            <a:endParaRPr lang="en-US" altLang="ko-KR" sz="1100" dirty="0"/>
          </a:p>
          <a:p>
            <a:pPr algn="ctr"/>
            <a:r>
              <a:rPr lang="ko-KR" altLang="en-US" sz="1100" dirty="0"/>
              <a:t>방지하기 위해 최소 </a:t>
            </a:r>
            <a:r>
              <a:rPr lang="en-US" altLang="ko-KR" sz="1100" dirty="0"/>
              <a:t>Gate Length</a:t>
            </a:r>
            <a:r>
              <a:rPr lang="ko-KR" altLang="en-US" sz="1100" dirty="0"/>
              <a:t>를 제한</a:t>
            </a:r>
            <a:r>
              <a:rPr lang="en-US" altLang="ko-KR" sz="1100" dirty="0"/>
              <a:t>”</a:t>
            </a:r>
            <a:endParaRPr lang="ko-KR" altLang="en-US" sz="1100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362349D-2318-4A1B-B8ED-C7FE40A614A6}"/>
              </a:ext>
            </a:extLst>
          </p:cNvPr>
          <p:cNvCxnSpPr>
            <a:cxnSpLocks/>
          </p:cNvCxnSpPr>
          <p:nvPr/>
        </p:nvCxnSpPr>
        <p:spPr>
          <a:xfrm>
            <a:off x="3218447" y="5604191"/>
            <a:ext cx="348916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0AA9974-41A4-46EA-B0F8-0C4B3E0238C8}"/>
              </a:ext>
            </a:extLst>
          </p:cNvPr>
          <p:cNvSpPr txBox="1"/>
          <p:nvPr/>
        </p:nvSpPr>
        <p:spPr>
          <a:xfrm>
            <a:off x="2986659" y="5604191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0.28um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531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4F0296-AE3E-4703-88F4-47B1BDFDEF99}"/>
              </a:ext>
            </a:extLst>
          </p:cNvPr>
          <p:cNvSpPr/>
          <p:nvPr/>
        </p:nvSpPr>
        <p:spPr>
          <a:xfrm>
            <a:off x="7908778" y="4653865"/>
            <a:ext cx="2365826" cy="1313543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130929"/>
              </p:ext>
            </p:extLst>
          </p:nvPr>
        </p:nvGraphicFramePr>
        <p:xfrm>
          <a:off x="638964" y="272230"/>
          <a:ext cx="1119408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8378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213811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821897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POLY.W.5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0.1um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Poly interconnect width.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23422" y="1171068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808939" y="1155679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738DA0-B9A1-46F9-AE5D-6B13659C8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203" y="1509622"/>
            <a:ext cx="2525912" cy="16066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759C3E7-3C2D-49FA-9794-B24B4A614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07817" y="2711460"/>
            <a:ext cx="3082006" cy="451708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D32F67B-E125-4E53-ABB3-F15BF8D748A7}"/>
              </a:ext>
            </a:extLst>
          </p:cNvPr>
          <p:cNvSpPr/>
          <p:nvPr/>
        </p:nvSpPr>
        <p:spPr>
          <a:xfrm>
            <a:off x="7204581" y="1547362"/>
            <a:ext cx="3774223" cy="1989924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solidFill>
              <a:srgbClr val="7030A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67ADC3D-1D4D-4F3D-AE71-F457D24EAA39}"/>
              </a:ext>
            </a:extLst>
          </p:cNvPr>
          <p:cNvSpPr/>
          <p:nvPr/>
        </p:nvSpPr>
        <p:spPr>
          <a:xfrm>
            <a:off x="7804313" y="1898634"/>
            <a:ext cx="2574758" cy="128737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A661A7-C22D-4011-8E5E-122491374B1A}"/>
              </a:ext>
            </a:extLst>
          </p:cNvPr>
          <p:cNvSpPr/>
          <p:nvPr/>
        </p:nvSpPr>
        <p:spPr>
          <a:xfrm>
            <a:off x="8387844" y="2259104"/>
            <a:ext cx="1407695" cy="56643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FB26EFB-D935-4DB1-9057-380694D35D49}"/>
              </a:ext>
            </a:extLst>
          </p:cNvPr>
          <p:cNvSpPr/>
          <p:nvPr/>
        </p:nvSpPr>
        <p:spPr>
          <a:xfrm>
            <a:off x="8783053" y="1720516"/>
            <a:ext cx="571496" cy="1660358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BF7F3D-2ED1-45ED-974C-A60BC99889DE}"/>
              </a:ext>
            </a:extLst>
          </p:cNvPr>
          <p:cNvSpPr/>
          <p:nvPr/>
        </p:nvSpPr>
        <p:spPr>
          <a:xfrm>
            <a:off x="8783053" y="3380874"/>
            <a:ext cx="571496" cy="1118555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7CF5E9-07DC-42A0-B1A3-233137662459}"/>
              </a:ext>
            </a:extLst>
          </p:cNvPr>
          <p:cNvSpPr/>
          <p:nvPr/>
        </p:nvSpPr>
        <p:spPr>
          <a:xfrm>
            <a:off x="8387844" y="5027419"/>
            <a:ext cx="1407695" cy="56643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FB3FCD-01B7-4918-9A1A-6F79F708ED04}"/>
              </a:ext>
            </a:extLst>
          </p:cNvPr>
          <p:cNvSpPr/>
          <p:nvPr/>
        </p:nvSpPr>
        <p:spPr>
          <a:xfrm>
            <a:off x="8783053" y="4499429"/>
            <a:ext cx="571496" cy="1828800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BE2E999-A17C-456E-9F56-37F7D39EE9A2}"/>
              </a:ext>
            </a:extLst>
          </p:cNvPr>
          <p:cNvCxnSpPr>
            <a:cxnSpLocks/>
          </p:cNvCxnSpPr>
          <p:nvPr/>
        </p:nvCxnSpPr>
        <p:spPr>
          <a:xfrm>
            <a:off x="8826528" y="4011081"/>
            <a:ext cx="484546" cy="4851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0117CB6-CB50-46D8-8D7E-43F7676EC5DC}"/>
              </a:ext>
            </a:extLst>
          </p:cNvPr>
          <p:cNvSpPr txBox="1"/>
          <p:nvPr/>
        </p:nvSpPr>
        <p:spPr>
          <a:xfrm>
            <a:off x="8683162" y="3659808"/>
            <a:ext cx="903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0.1um</a:t>
            </a:r>
            <a:endParaRPr lang="ko-KR" altLang="en-US" sz="16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1F5F53F-FC87-45E2-A660-AD839DF65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285343"/>
              </p:ext>
            </p:extLst>
          </p:nvPr>
        </p:nvGraphicFramePr>
        <p:xfrm>
          <a:off x="838200" y="3052480"/>
          <a:ext cx="4629330" cy="259080"/>
        </p:xfrm>
        <a:graphic>
          <a:graphicData uri="http://schemas.openxmlformats.org/drawingml/2006/table">
            <a:tbl>
              <a:tblPr/>
              <a:tblGrid>
                <a:gridCol w="4629330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100" b="0" dirty="0"/>
                        <a:t>“Poly </a:t>
                      </a:r>
                      <a:r>
                        <a:rPr lang="ko-KR" altLang="en-US" sz="1100" b="0" dirty="0"/>
                        <a:t>배선의 단선과 저항 증가를 방지하기 위해 최소 </a:t>
                      </a:r>
                      <a:r>
                        <a:rPr lang="en-US" altLang="ko-KR" sz="1100" b="0" dirty="0"/>
                        <a:t>Poly </a:t>
                      </a:r>
                      <a:r>
                        <a:rPr lang="ko-KR" altLang="en-US" sz="1100" b="0" dirty="0"/>
                        <a:t>폭을 규정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CC7BC33-8C6B-421F-980A-435021724536}"/>
              </a:ext>
            </a:extLst>
          </p:cNvPr>
          <p:cNvCxnSpPr>
            <a:cxnSpLocks/>
          </p:cNvCxnSpPr>
          <p:nvPr/>
        </p:nvCxnSpPr>
        <p:spPr>
          <a:xfrm flipV="1">
            <a:off x="3489158" y="5027419"/>
            <a:ext cx="0" cy="242413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AFBA9D-B03E-4F6A-B07C-4ED18613BDF9}"/>
              </a:ext>
            </a:extLst>
          </p:cNvPr>
          <p:cNvSpPr txBox="1"/>
          <p:nvPr/>
        </p:nvSpPr>
        <p:spPr>
          <a:xfrm>
            <a:off x="3027356" y="5269832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0.1um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006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78A68B2D-A78A-4B40-BB58-556B5C773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268" y="1327399"/>
            <a:ext cx="3475132" cy="1455897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181653"/>
              </p:ext>
            </p:extLst>
          </p:nvPr>
        </p:nvGraphicFramePr>
        <p:xfrm>
          <a:off x="779988" y="256289"/>
          <a:ext cx="1078235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5875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376237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190242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POLY.SP.1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0.6um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Poly resistor space.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51820" y="958026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671660" y="1111914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163656-7262-4421-AAE6-53A4B491B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206" y="3122886"/>
            <a:ext cx="3977257" cy="34211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1E52B1B-A3CD-45A0-A70D-5A42C7C35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360" y="1437679"/>
            <a:ext cx="2540775" cy="304256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5592918-EC9B-48A5-8B1D-59881F237BCC}"/>
              </a:ext>
            </a:extLst>
          </p:cNvPr>
          <p:cNvSpPr txBox="1"/>
          <p:nvPr/>
        </p:nvSpPr>
        <p:spPr>
          <a:xfrm>
            <a:off x="8734480" y="4664167"/>
            <a:ext cx="946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0.6um</a:t>
            </a:r>
            <a:endParaRPr lang="ko-KR" altLang="en-US" sz="1600" b="1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5392868-6D37-48DE-927A-A4AC426BBD46}"/>
              </a:ext>
            </a:extLst>
          </p:cNvPr>
          <p:cNvCxnSpPr>
            <a:cxnSpLocks/>
          </p:cNvCxnSpPr>
          <p:nvPr/>
        </p:nvCxnSpPr>
        <p:spPr>
          <a:xfrm>
            <a:off x="8712404" y="5060793"/>
            <a:ext cx="756449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4FD404E-79A0-4EA2-BE4D-47A1B1A5883A}"/>
              </a:ext>
            </a:extLst>
          </p:cNvPr>
          <p:cNvSpPr/>
          <p:nvPr/>
        </p:nvSpPr>
        <p:spPr>
          <a:xfrm>
            <a:off x="7329571" y="5234085"/>
            <a:ext cx="370975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0A23395-D562-49C8-A0F8-F0AFEDE16387}"/>
              </a:ext>
            </a:extLst>
          </p:cNvPr>
          <p:cNvSpPr/>
          <p:nvPr/>
        </p:nvSpPr>
        <p:spPr>
          <a:xfrm>
            <a:off x="7329571" y="5223948"/>
            <a:ext cx="3709758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581AE8A-7759-4222-BD6D-1B146E4D8842}"/>
              </a:ext>
            </a:extLst>
          </p:cNvPr>
          <p:cNvCxnSpPr>
            <a:cxnSpLocks/>
          </p:cNvCxnSpPr>
          <p:nvPr/>
        </p:nvCxnSpPr>
        <p:spPr>
          <a:xfrm flipH="1">
            <a:off x="8387958" y="3991012"/>
            <a:ext cx="2" cy="123949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9E8BFDE-8B25-4DC2-B2E1-E4EB8B5DE5D5}"/>
              </a:ext>
            </a:extLst>
          </p:cNvPr>
          <p:cNvCxnSpPr>
            <a:cxnSpLocks/>
          </p:cNvCxnSpPr>
          <p:nvPr/>
        </p:nvCxnSpPr>
        <p:spPr>
          <a:xfrm flipH="1">
            <a:off x="8668753" y="4011428"/>
            <a:ext cx="2" cy="123949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BFE2D6C-8C03-4835-BAA9-2B817606596C}"/>
              </a:ext>
            </a:extLst>
          </p:cNvPr>
          <p:cNvCxnSpPr>
            <a:cxnSpLocks/>
          </p:cNvCxnSpPr>
          <p:nvPr/>
        </p:nvCxnSpPr>
        <p:spPr>
          <a:xfrm flipH="1">
            <a:off x="9528568" y="4006997"/>
            <a:ext cx="2" cy="123949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5304DE43-8BDB-4050-B363-C8EE8EF360A5}"/>
              </a:ext>
            </a:extLst>
          </p:cNvPr>
          <p:cNvCxnSpPr>
            <a:cxnSpLocks/>
          </p:cNvCxnSpPr>
          <p:nvPr/>
        </p:nvCxnSpPr>
        <p:spPr>
          <a:xfrm flipH="1">
            <a:off x="9809361" y="4006997"/>
            <a:ext cx="2" cy="123949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20E2781-204A-4F18-89AC-1944C848E3B5}"/>
              </a:ext>
            </a:extLst>
          </p:cNvPr>
          <p:cNvSpPr/>
          <p:nvPr/>
        </p:nvSpPr>
        <p:spPr>
          <a:xfrm>
            <a:off x="9528568" y="4930285"/>
            <a:ext cx="280791" cy="2887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A209B62-B00C-42E5-91A2-E89719BFFA6D}"/>
              </a:ext>
            </a:extLst>
          </p:cNvPr>
          <p:cNvSpPr/>
          <p:nvPr/>
        </p:nvSpPr>
        <p:spPr>
          <a:xfrm>
            <a:off x="8387955" y="4941749"/>
            <a:ext cx="280794" cy="2887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9FA706BA-2498-4DA5-AE5C-19BB9606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844945"/>
              </p:ext>
            </p:extLst>
          </p:nvPr>
        </p:nvGraphicFramePr>
        <p:xfrm>
          <a:off x="946657" y="2795618"/>
          <a:ext cx="4629330" cy="259080"/>
        </p:xfrm>
        <a:graphic>
          <a:graphicData uri="http://schemas.openxmlformats.org/drawingml/2006/table">
            <a:tbl>
              <a:tblPr/>
              <a:tblGrid>
                <a:gridCol w="4629330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100" b="0" dirty="0"/>
                        <a:t>“</a:t>
                      </a:r>
                      <a:r>
                        <a:rPr lang="en-US" altLang="ko-KR" sz="1100" dirty="0"/>
                        <a:t>Poly </a:t>
                      </a:r>
                      <a:r>
                        <a:rPr lang="ko-KR" altLang="en-US" sz="1100" dirty="0"/>
                        <a:t>저항의 </a:t>
                      </a:r>
                      <a:r>
                        <a:rPr lang="ko-KR" altLang="en-US" sz="1100" dirty="0" err="1"/>
                        <a:t>저항값</a:t>
                      </a:r>
                      <a:r>
                        <a:rPr lang="ko-KR" altLang="en-US" sz="1100" dirty="0"/>
                        <a:t> 오차와 공정 간섭을 줄이기 위해 최소 간격을 확보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0747988-DA09-431C-AE72-27CA9AFB89FF}"/>
              </a:ext>
            </a:extLst>
          </p:cNvPr>
          <p:cNvCxnSpPr>
            <a:cxnSpLocks/>
          </p:cNvCxnSpPr>
          <p:nvPr/>
        </p:nvCxnSpPr>
        <p:spPr>
          <a:xfrm>
            <a:off x="3435016" y="4833444"/>
            <a:ext cx="812131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42326EB-ACCF-4E41-A382-C1DAA8991A0B}"/>
              </a:ext>
            </a:extLst>
          </p:cNvPr>
          <p:cNvSpPr txBox="1"/>
          <p:nvPr/>
        </p:nvSpPr>
        <p:spPr>
          <a:xfrm>
            <a:off x="3457489" y="4971877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0.6um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366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3F66F9F-3ECE-4BDB-8F58-882D8D4E7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54" y="1221886"/>
            <a:ext cx="3503120" cy="1693726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C795DB14-FBF0-4DA6-9DFF-26633E38C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66" y="1221885"/>
            <a:ext cx="3187401" cy="2677152"/>
          </a:xfrm>
          <a:prstGeom prst="rect">
            <a:avLst/>
          </a:prstGeom>
        </p:spPr>
      </p:pic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963734"/>
              </p:ext>
            </p:extLst>
          </p:nvPr>
        </p:nvGraphicFramePr>
        <p:xfrm>
          <a:off x="515293" y="169834"/>
          <a:ext cx="1107111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891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099511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749711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POLY.SP.2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0.12um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gate space.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501885" y="876407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515293" y="1030295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>
            <a:off x="9414575" y="4268369"/>
            <a:ext cx="278855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CB7140-3CBF-452E-8DC5-1D49B32798EA}"/>
              </a:ext>
            </a:extLst>
          </p:cNvPr>
          <p:cNvSpPr/>
          <p:nvPr/>
        </p:nvSpPr>
        <p:spPr>
          <a:xfrm>
            <a:off x="6689719" y="260795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48B14DF-B479-416F-88E3-87784B5768BC}"/>
              </a:ext>
            </a:extLst>
          </p:cNvPr>
          <p:cNvCxnSpPr>
            <a:cxnSpLocks/>
          </p:cNvCxnSpPr>
          <p:nvPr/>
        </p:nvCxnSpPr>
        <p:spPr>
          <a:xfrm>
            <a:off x="10369132" y="3286513"/>
            <a:ext cx="7701" cy="190569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05B40D6-6A81-4795-B378-A30330CAE05B}"/>
              </a:ext>
            </a:extLst>
          </p:cNvPr>
          <p:cNvCxnSpPr>
            <a:cxnSpLocks/>
          </p:cNvCxnSpPr>
          <p:nvPr/>
        </p:nvCxnSpPr>
        <p:spPr>
          <a:xfrm>
            <a:off x="7078502" y="2792619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E753DC50-56BA-40D8-A5C2-6F6E4D66F6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569" y="3190669"/>
            <a:ext cx="4142193" cy="3523097"/>
          </a:xfrm>
          <a:prstGeom prst="rect">
            <a:avLst/>
          </a:prstGeom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BE1C7D7-03FA-4A5D-9CD0-88D65E775B66}"/>
              </a:ext>
            </a:extLst>
          </p:cNvPr>
          <p:cNvCxnSpPr>
            <a:cxnSpLocks/>
          </p:cNvCxnSpPr>
          <p:nvPr/>
        </p:nvCxnSpPr>
        <p:spPr>
          <a:xfrm>
            <a:off x="8711297" y="3286513"/>
            <a:ext cx="0" cy="189112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9DF6A03-A1BF-46AF-AB52-F8DA055656E6}"/>
              </a:ext>
            </a:extLst>
          </p:cNvPr>
          <p:cNvCxnSpPr>
            <a:cxnSpLocks/>
            <a:endCxn id="59" idx="3"/>
          </p:cNvCxnSpPr>
          <p:nvPr/>
        </p:nvCxnSpPr>
        <p:spPr>
          <a:xfrm>
            <a:off x="9905097" y="3835374"/>
            <a:ext cx="14568" cy="1265132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C85A5D9-44E1-46B1-B8F2-BB91492EE9A3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9693430" y="3835374"/>
            <a:ext cx="3001" cy="1265132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25ED451-1C6A-41D4-82DB-67C52BDD575D}"/>
              </a:ext>
            </a:extLst>
          </p:cNvPr>
          <p:cNvCxnSpPr>
            <a:cxnSpLocks/>
            <a:endCxn id="57" idx="3"/>
          </p:cNvCxnSpPr>
          <p:nvPr/>
        </p:nvCxnSpPr>
        <p:spPr>
          <a:xfrm>
            <a:off x="9400273" y="3861008"/>
            <a:ext cx="19541" cy="123949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A224CBC-2DA6-47E2-A2BB-844E450087FB}"/>
              </a:ext>
            </a:extLst>
          </p:cNvPr>
          <p:cNvCxnSpPr>
            <a:cxnSpLocks/>
            <a:endCxn id="57" idx="1"/>
          </p:cNvCxnSpPr>
          <p:nvPr/>
        </p:nvCxnSpPr>
        <p:spPr>
          <a:xfrm flipH="1">
            <a:off x="9196580" y="3861008"/>
            <a:ext cx="2" cy="123949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9112492" y="3939844"/>
            <a:ext cx="927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0.12um</a:t>
            </a:r>
            <a:endParaRPr lang="ko-KR" altLang="en-US" sz="1600" b="1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B9F7543-E94A-479A-8D8F-D6816E48E2F8}"/>
              </a:ext>
            </a:extLst>
          </p:cNvPr>
          <p:cNvSpPr/>
          <p:nvPr/>
        </p:nvSpPr>
        <p:spPr>
          <a:xfrm>
            <a:off x="7763591" y="5311985"/>
            <a:ext cx="370975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DB45A93-2FC6-4E39-B2EA-9E48A18F54BA}"/>
              </a:ext>
            </a:extLst>
          </p:cNvPr>
          <p:cNvSpPr/>
          <p:nvPr/>
        </p:nvSpPr>
        <p:spPr>
          <a:xfrm>
            <a:off x="7763592" y="5293039"/>
            <a:ext cx="947706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5F41F15-A7D8-4613-ACDC-2D207AAC2FFB}"/>
              </a:ext>
            </a:extLst>
          </p:cNvPr>
          <p:cNvSpPr/>
          <p:nvPr/>
        </p:nvSpPr>
        <p:spPr>
          <a:xfrm>
            <a:off x="8711297" y="5311984"/>
            <a:ext cx="485283" cy="1278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ysClr val="windowText" lastClr="000000"/>
                </a:solidFill>
              </a:rPr>
              <a:t>N+</a:t>
            </a:r>
            <a:endParaRPr lang="ko-KR" alt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D7069DC-73E7-4134-B677-90A638BD9D1F}"/>
              </a:ext>
            </a:extLst>
          </p:cNvPr>
          <p:cNvSpPr/>
          <p:nvPr/>
        </p:nvSpPr>
        <p:spPr>
          <a:xfrm>
            <a:off x="10256748" y="5294366"/>
            <a:ext cx="1216602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498AA32-8285-4416-80BB-EFEFC7878E96}"/>
              </a:ext>
            </a:extLst>
          </p:cNvPr>
          <p:cNvSpPr/>
          <p:nvPr/>
        </p:nvSpPr>
        <p:spPr>
          <a:xfrm>
            <a:off x="9905097" y="5295098"/>
            <a:ext cx="339674" cy="15213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</a:rPr>
              <a:t>N+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4D04D86-BFFE-4D19-AF83-FCE299324FD7}"/>
              </a:ext>
            </a:extLst>
          </p:cNvPr>
          <p:cNvSpPr/>
          <p:nvPr/>
        </p:nvSpPr>
        <p:spPr>
          <a:xfrm>
            <a:off x="8711297" y="5192204"/>
            <a:ext cx="1679341" cy="1109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OXIDE</a:t>
            </a:r>
            <a:endParaRPr lang="ko-KR" altLang="en-US" sz="8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B9ADAF8-4B9E-4542-BF74-06ABDF150C2F}"/>
              </a:ext>
            </a:extLst>
          </p:cNvPr>
          <p:cNvSpPr/>
          <p:nvPr/>
        </p:nvSpPr>
        <p:spPr>
          <a:xfrm>
            <a:off x="9696431" y="5008808"/>
            <a:ext cx="223234" cy="1833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7404606-8F5C-4FCD-9BDB-64EB8028A0CA}"/>
              </a:ext>
            </a:extLst>
          </p:cNvPr>
          <p:cNvSpPr/>
          <p:nvPr/>
        </p:nvSpPr>
        <p:spPr>
          <a:xfrm>
            <a:off x="9196580" y="5008808"/>
            <a:ext cx="223234" cy="1833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613C6FD-A9D3-4985-9513-20F10E00BA81}"/>
              </a:ext>
            </a:extLst>
          </p:cNvPr>
          <p:cNvSpPr/>
          <p:nvPr/>
        </p:nvSpPr>
        <p:spPr>
          <a:xfrm>
            <a:off x="9419814" y="5307130"/>
            <a:ext cx="273616" cy="14010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F8BC771A-841A-4DDF-918D-227BE8A08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538311"/>
              </p:ext>
            </p:extLst>
          </p:nvPr>
        </p:nvGraphicFramePr>
        <p:xfrm>
          <a:off x="345545" y="2747145"/>
          <a:ext cx="5862061" cy="426769"/>
        </p:xfrm>
        <a:graphic>
          <a:graphicData uri="http://schemas.openxmlformats.org/drawingml/2006/table">
            <a:tbl>
              <a:tblPr/>
              <a:tblGrid>
                <a:gridCol w="5862061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426769">
                <a:tc>
                  <a:txBody>
                    <a:bodyPr/>
                    <a:lstStyle/>
                    <a:p>
                      <a:r>
                        <a:rPr lang="en-US" altLang="ko-KR" sz="1100" b="0" dirty="0"/>
                        <a:t>“</a:t>
                      </a:r>
                      <a:r>
                        <a:rPr lang="ko-KR" altLang="en-US" sz="1100" dirty="0"/>
                        <a:t>인접한 </a:t>
                      </a:r>
                      <a:r>
                        <a:rPr lang="en-US" altLang="ko-KR" sz="1100" dirty="0"/>
                        <a:t>Gate</a:t>
                      </a:r>
                      <a:r>
                        <a:rPr lang="ko-KR" altLang="en-US" sz="1100" dirty="0"/>
                        <a:t>의 </a:t>
                      </a:r>
                      <a:r>
                        <a:rPr lang="ko-KR" altLang="en-US" sz="1100" dirty="0" err="1"/>
                        <a:t>브리징과</a:t>
                      </a:r>
                      <a:r>
                        <a:rPr lang="ko-KR" altLang="en-US" sz="1100" dirty="0"/>
                        <a:t> 기생 </a:t>
                      </a:r>
                      <a:r>
                        <a:rPr lang="en-US" altLang="ko-KR" sz="1100" dirty="0"/>
                        <a:t>capacitor</a:t>
                      </a:r>
                      <a:r>
                        <a:rPr lang="ko-KR" altLang="en-US" sz="1100" dirty="0"/>
                        <a:t> 증가를 방지하기 위해 최소 </a:t>
                      </a:r>
                      <a:r>
                        <a:rPr lang="en-US" altLang="ko-KR" sz="1100" dirty="0"/>
                        <a:t>Gate </a:t>
                      </a:r>
                      <a:r>
                        <a:rPr lang="ko-KR" altLang="en-US" sz="1100" dirty="0"/>
                        <a:t>간격을 유지</a:t>
                      </a:r>
                      <a:r>
                        <a:rPr lang="en-US" altLang="ko-KR" sz="1100" dirty="0"/>
                        <a:t>.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7BF276A-6379-42B8-8223-760454597C04}"/>
              </a:ext>
            </a:extLst>
          </p:cNvPr>
          <p:cNvCxnSpPr>
            <a:cxnSpLocks/>
          </p:cNvCxnSpPr>
          <p:nvPr/>
        </p:nvCxnSpPr>
        <p:spPr>
          <a:xfrm>
            <a:off x="3068053" y="4044445"/>
            <a:ext cx="276726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BA32774-9D8B-424F-8D51-B154A9A93352}"/>
              </a:ext>
            </a:extLst>
          </p:cNvPr>
          <p:cNvSpPr txBox="1"/>
          <p:nvPr/>
        </p:nvSpPr>
        <p:spPr>
          <a:xfrm>
            <a:off x="2812248" y="4182878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0.12um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743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785A927-16B9-43CA-85EC-4D1F63F5A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116" y="1413625"/>
            <a:ext cx="2913896" cy="1298655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3432E314-8416-4BE7-8572-D08D49E402DC}"/>
              </a:ext>
            </a:extLst>
          </p:cNvPr>
          <p:cNvSpPr/>
          <p:nvPr/>
        </p:nvSpPr>
        <p:spPr>
          <a:xfrm>
            <a:off x="7680777" y="4580839"/>
            <a:ext cx="3707303" cy="19856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890932"/>
              </p:ext>
            </p:extLst>
          </p:nvPr>
        </p:nvGraphicFramePr>
        <p:xfrm>
          <a:off x="583664" y="205928"/>
          <a:ext cx="1093656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247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237873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268449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POLY.SP.3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0.12um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Poly interconnect space.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9051287" y="2716967"/>
            <a:ext cx="944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0.12um</a:t>
            </a:r>
            <a:endParaRPr lang="ko-KR" altLang="en-US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505425" y="1148773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880364" y="1140270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>
            <a:off x="8908531" y="3102436"/>
            <a:ext cx="1164014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048E2CB-8D80-479C-8471-CAA1F95AFCC3}"/>
              </a:ext>
            </a:extLst>
          </p:cNvPr>
          <p:cNvSpPr/>
          <p:nvPr/>
        </p:nvSpPr>
        <p:spPr>
          <a:xfrm>
            <a:off x="8520210" y="4383480"/>
            <a:ext cx="330857" cy="2038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40EC5F3-6C35-463D-96BD-AE6903FEF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72" y="3252852"/>
            <a:ext cx="4294781" cy="3313645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6D0F55-4D07-464F-8C4A-220FF96A9479}"/>
              </a:ext>
            </a:extLst>
          </p:cNvPr>
          <p:cNvSpPr/>
          <p:nvPr/>
        </p:nvSpPr>
        <p:spPr>
          <a:xfrm rot="16200000">
            <a:off x="7568599" y="2732426"/>
            <a:ext cx="2239146" cy="3308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23D9066-5249-4DDD-89B3-86F4A39BBA4B}"/>
              </a:ext>
            </a:extLst>
          </p:cNvPr>
          <p:cNvSpPr/>
          <p:nvPr/>
        </p:nvSpPr>
        <p:spPr>
          <a:xfrm rot="16200000">
            <a:off x="9151553" y="2726255"/>
            <a:ext cx="2239147" cy="3308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ED0BD351-AD0E-49F9-8242-FDBD70491C01}"/>
              </a:ext>
            </a:extLst>
          </p:cNvPr>
          <p:cNvCxnSpPr>
            <a:cxnSpLocks/>
          </p:cNvCxnSpPr>
          <p:nvPr/>
        </p:nvCxnSpPr>
        <p:spPr>
          <a:xfrm>
            <a:off x="10436561" y="4042561"/>
            <a:ext cx="0" cy="68183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539996E-ABDA-4EEE-B7F1-9E1F23BB36C3}"/>
              </a:ext>
            </a:extLst>
          </p:cNvPr>
          <p:cNvCxnSpPr>
            <a:cxnSpLocks/>
          </p:cNvCxnSpPr>
          <p:nvPr/>
        </p:nvCxnSpPr>
        <p:spPr>
          <a:xfrm>
            <a:off x="10105692" y="4042561"/>
            <a:ext cx="0" cy="68183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14466093-C890-4A48-B6C6-34CD83D0DF3F}"/>
              </a:ext>
            </a:extLst>
          </p:cNvPr>
          <p:cNvCxnSpPr>
            <a:cxnSpLocks/>
          </p:cNvCxnSpPr>
          <p:nvPr/>
        </p:nvCxnSpPr>
        <p:spPr>
          <a:xfrm>
            <a:off x="8851079" y="4042561"/>
            <a:ext cx="0" cy="68183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39EC2C6-54A1-4A5D-8BA8-16658AB52BCF}"/>
              </a:ext>
            </a:extLst>
          </p:cNvPr>
          <p:cNvCxnSpPr>
            <a:cxnSpLocks/>
          </p:cNvCxnSpPr>
          <p:nvPr/>
        </p:nvCxnSpPr>
        <p:spPr>
          <a:xfrm>
            <a:off x="8522738" y="4042561"/>
            <a:ext cx="0" cy="68183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20FF64A-303D-4452-8377-79A7A5D00774}"/>
              </a:ext>
            </a:extLst>
          </p:cNvPr>
          <p:cNvSpPr/>
          <p:nvPr/>
        </p:nvSpPr>
        <p:spPr>
          <a:xfrm>
            <a:off x="10105704" y="4370859"/>
            <a:ext cx="330857" cy="2038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CF9B5A-E370-47DE-9146-CCC0EACD0188}"/>
              </a:ext>
            </a:extLst>
          </p:cNvPr>
          <p:cNvSpPr/>
          <p:nvPr/>
        </p:nvSpPr>
        <p:spPr>
          <a:xfrm>
            <a:off x="7680777" y="4570913"/>
            <a:ext cx="3707295" cy="369763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A5F1A18-0107-488E-B430-042692CFE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728648"/>
              </p:ext>
            </p:extLst>
          </p:nvPr>
        </p:nvGraphicFramePr>
        <p:xfrm>
          <a:off x="719289" y="2675667"/>
          <a:ext cx="5249138" cy="426769"/>
        </p:xfrm>
        <a:graphic>
          <a:graphicData uri="http://schemas.openxmlformats.org/drawingml/2006/table">
            <a:tbl>
              <a:tblPr/>
              <a:tblGrid>
                <a:gridCol w="5249138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426769">
                <a:tc>
                  <a:txBody>
                    <a:bodyPr/>
                    <a:lstStyle/>
                    <a:p>
                      <a:r>
                        <a:rPr lang="en-US" altLang="ko-KR" sz="1100" b="0" dirty="0"/>
                        <a:t>“</a:t>
                      </a:r>
                      <a:r>
                        <a:rPr lang="en-US" altLang="ko-KR" sz="1100" dirty="0"/>
                        <a:t>Poly </a:t>
                      </a:r>
                      <a:r>
                        <a:rPr lang="ko-KR" altLang="en-US" sz="1100" dirty="0"/>
                        <a:t>배선 간 </a:t>
                      </a:r>
                      <a:r>
                        <a:rPr lang="ko-KR" altLang="en-US" sz="1100" dirty="0" err="1"/>
                        <a:t>브리징과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signal</a:t>
                      </a:r>
                      <a:r>
                        <a:rPr lang="ko-KR" altLang="en-US" sz="1100" dirty="0"/>
                        <a:t> 간섭을 방지하기 위해 최소 배선 간격을 유지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82D3A8D-766A-4BE7-AF27-00927391FC05}"/>
              </a:ext>
            </a:extLst>
          </p:cNvPr>
          <p:cNvCxnSpPr>
            <a:cxnSpLocks/>
          </p:cNvCxnSpPr>
          <p:nvPr/>
        </p:nvCxnSpPr>
        <p:spPr>
          <a:xfrm>
            <a:off x="3140242" y="3973512"/>
            <a:ext cx="300790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913560A-1DFE-40C1-A758-8ADEAFA6ABFA}"/>
              </a:ext>
            </a:extLst>
          </p:cNvPr>
          <p:cNvSpPr txBox="1"/>
          <p:nvPr/>
        </p:nvSpPr>
        <p:spPr>
          <a:xfrm>
            <a:off x="2892004" y="4111945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0.12um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123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E91A854-C8F2-4BB5-B925-9DDBD8405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581" y="1113622"/>
            <a:ext cx="1893167" cy="1943650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1BF25439-1E31-4B17-9DA5-8A92604E9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906836" y="1751902"/>
            <a:ext cx="3461043" cy="2236586"/>
          </a:xfrm>
          <a:prstGeom prst="rect">
            <a:avLst/>
          </a:prstGeom>
        </p:spPr>
      </p:pic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262267"/>
              </p:ext>
            </p:extLst>
          </p:nvPr>
        </p:nvGraphicFramePr>
        <p:xfrm>
          <a:off x="538164" y="148678"/>
          <a:ext cx="1111566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847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292015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690804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POLY.E.1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0.18um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N-channel gate extension beyond Active Area.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63852" y="822886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>
            <a:off x="10043486" y="5023808"/>
            <a:ext cx="478245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CB7140-3CBF-452E-8DC5-1D49B32798EA}"/>
              </a:ext>
            </a:extLst>
          </p:cNvPr>
          <p:cNvSpPr/>
          <p:nvPr/>
        </p:nvSpPr>
        <p:spPr>
          <a:xfrm>
            <a:off x="6689719" y="260795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A0C275A-7E7C-4DA1-9DD6-EFBB505040C1}"/>
              </a:ext>
            </a:extLst>
          </p:cNvPr>
          <p:cNvCxnSpPr>
            <a:cxnSpLocks/>
          </p:cNvCxnSpPr>
          <p:nvPr/>
        </p:nvCxnSpPr>
        <p:spPr>
          <a:xfrm>
            <a:off x="8732061" y="3057272"/>
            <a:ext cx="0" cy="2373917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48B14DF-B479-416F-88E3-87784B5768BC}"/>
              </a:ext>
            </a:extLst>
          </p:cNvPr>
          <p:cNvCxnSpPr>
            <a:cxnSpLocks/>
          </p:cNvCxnSpPr>
          <p:nvPr/>
        </p:nvCxnSpPr>
        <p:spPr>
          <a:xfrm>
            <a:off x="10521731" y="3090333"/>
            <a:ext cx="26855" cy="235504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05B40D6-6A81-4795-B378-A30330CAE05B}"/>
              </a:ext>
            </a:extLst>
          </p:cNvPr>
          <p:cNvCxnSpPr>
            <a:cxnSpLocks/>
          </p:cNvCxnSpPr>
          <p:nvPr/>
        </p:nvCxnSpPr>
        <p:spPr>
          <a:xfrm>
            <a:off x="7078502" y="2792619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94CE1E70-6E7F-412E-AB49-BBCCD901C5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93" y="3507205"/>
            <a:ext cx="4156643" cy="3144165"/>
          </a:xfrm>
          <a:prstGeom prst="rect">
            <a:avLst/>
          </a:prstGeom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5FF92BA-2540-4591-9123-447B2733A874}"/>
              </a:ext>
            </a:extLst>
          </p:cNvPr>
          <p:cNvCxnSpPr>
            <a:cxnSpLocks/>
          </p:cNvCxnSpPr>
          <p:nvPr/>
        </p:nvCxnSpPr>
        <p:spPr>
          <a:xfrm flipH="1">
            <a:off x="10007161" y="3738307"/>
            <a:ext cx="29633" cy="1758655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67E157F-7D23-4B0E-907B-6F472E0E4360}"/>
              </a:ext>
            </a:extLst>
          </p:cNvPr>
          <p:cNvCxnSpPr>
            <a:cxnSpLocks/>
          </p:cNvCxnSpPr>
          <p:nvPr/>
        </p:nvCxnSpPr>
        <p:spPr>
          <a:xfrm>
            <a:off x="9221230" y="3757357"/>
            <a:ext cx="0" cy="1672914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9181635" y="4838945"/>
            <a:ext cx="946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0.18um</a:t>
            </a:r>
            <a:endParaRPr lang="ko-KR" altLang="en-US" sz="1600" b="1" dirty="0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C4779D6-5955-4899-AA66-1B33F7AC120B}"/>
              </a:ext>
            </a:extLst>
          </p:cNvPr>
          <p:cNvCxnSpPr>
            <a:cxnSpLocks/>
          </p:cNvCxnSpPr>
          <p:nvPr/>
        </p:nvCxnSpPr>
        <p:spPr>
          <a:xfrm>
            <a:off x="8715618" y="5023045"/>
            <a:ext cx="478245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654946" y="807497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9A700E3-AFCB-414C-BC95-6569B78745EE}"/>
              </a:ext>
            </a:extLst>
          </p:cNvPr>
          <p:cNvSpPr/>
          <p:nvPr/>
        </p:nvSpPr>
        <p:spPr>
          <a:xfrm>
            <a:off x="7798802" y="5629474"/>
            <a:ext cx="370975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A233E5C-459F-47A1-807D-15139BE0680B}"/>
              </a:ext>
            </a:extLst>
          </p:cNvPr>
          <p:cNvSpPr/>
          <p:nvPr/>
        </p:nvSpPr>
        <p:spPr>
          <a:xfrm>
            <a:off x="8732061" y="5337138"/>
            <a:ext cx="1839121" cy="2887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AD6CBD8-17B7-481C-B79E-E7C674BD78D3}"/>
              </a:ext>
            </a:extLst>
          </p:cNvPr>
          <p:cNvSpPr/>
          <p:nvPr/>
        </p:nvSpPr>
        <p:spPr>
          <a:xfrm>
            <a:off x="9221231" y="5523572"/>
            <a:ext cx="785930" cy="14492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OXIDE</a:t>
            </a:r>
            <a:endParaRPr lang="ko-KR" altLang="en-US" sz="8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276FF0B-F762-46F0-B7D7-90B482F40F1B}"/>
              </a:ext>
            </a:extLst>
          </p:cNvPr>
          <p:cNvSpPr/>
          <p:nvPr/>
        </p:nvSpPr>
        <p:spPr>
          <a:xfrm>
            <a:off x="7798802" y="5619337"/>
            <a:ext cx="1422425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9AB9722-CFD3-4975-ABA9-190913B49F00}"/>
              </a:ext>
            </a:extLst>
          </p:cNvPr>
          <p:cNvSpPr/>
          <p:nvPr/>
        </p:nvSpPr>
        <p:spPr>
          <a:xfrm>
            <a:off x="10007161" y="5620664"/>
            <a:ext cx="1501400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1C91FCBD-518C-44A7-B993-D49348109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24318"/>
              </p:ext>
            </p:extLst>
          </p:nvPr>
        </p:nvGraphicFramePr>
        <p:xfrm>
          <a:off x="719289" y="2977285"/>
          <a:ext cx="5249138" cy="426769"/>
        </p:xfrm>
        <a:graphic>
          <a:graphicData uri="http://schemas.openxmlformats.org/drawingml/2006/table">
            <a:tbl>
              <a:tblPr/>
              <a:tblGrid>
                <a:gridCol w="5249138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42676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dirty="0"/>
                        <a:t>“</a:t>
                      </a:r>
                      <a:r>
                        <a:rPr lang="en-US" altLang="ko-KR" sz="1100" dirty="0"/>
                        <a:t>Gate Contact </a:t>
                      </a:r>
                      <a:r>
                        <a:rPr lang="ko-KR" altLang="en-US" sz="1100" dirty="0"/>
                        <a:t>배치 공간을 확보하고 </a:t>
                      </a:r>
                      <a:r>
                        <a:rPr lang="en-US" altLang="ko-KR" sz="1100" dirty="0"/>
                        <a:t>Overlay </a:t>
                      </a:r>
                      <a:r>
                        <a:rPr lang="ko-KR" altLang="en-US" sz="1100" dirty="0"/>
                        <a:t>오차를 보상하기 위해 </a:t>
                      </a:r>
                      <a:r>
                        <a:rPr lang="en-US" altLang="ko-KR" sz="1100" dirty="0"/>
                        <a:t>Gate Poly</a:t>
                      </a:r>
                      <a:r>
                        <a:rPr lang="ko-KR" altLang="en-US" sz="1100" dirty="0"/>
                        <a:t>를 </a:t>
                      </a:r>
                      <a:r>
                        <a:rPr lang="en-US" altLang="ko-KR" sz="1100" dirty="0"/>
                        <a:t>Active </a:t>
                      </a:r>
                      <a:r>
                        <a:rPr lang="ko-KR" altLang="en-US" sz="1100" dirty="0"/>
                        <a:t>밖으로 충분히 연장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8D86140-FE47-482D-A7EF-A0D396E09FAA}"/>
              </a:ext>
            </a:extLst>
          </p:cNvPr>
          <p:cNvCxnSpPr>
            <a:cxnSpLocks/>
          </p:cNvCxnSpPr>
          <p:nvPr/>
        </p:nvCxnSpPr>
        <p:spPr>
          <a:xfrm>
            <a:off x="3501190" y="4523874"/>
            <a:ext cx="0" cy="406996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1DF4568-547C-43C9-8603-78957CC3F8D3}"/>
              </a:ext>
            </a:extLst>
          </p:cNvPr>
          <p:cNvSpPr txBox="1"/>
          <p:nvPr/>
        </p:nvSpPr>
        <p:spPr>
          <a:xfrm>
            <a:off x="2735595" y="4985082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0.18um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957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9BB881B-B091-4EE7-B8D7-16809EFF4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995" y="1092341"/>
            <a:ext cx="2205046" cy="2303872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44E09EF6-BD45-4A76-ACF0-D991E1A1E6E5}"/>
              </a:ext>
            </a:extLst>
          </p:cNvPr>
          <p:cNvSpPr/>
          <p:nvPr/>
        </p:nvSpPr>
        <p:spPr>
          <a:xfrm>
            <a:off x="7626484" y="5287515"/>
            <a:ext cx="370975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475393E-78A3-4765-B3BE-EBD8624A70FA}"/>
              </a:ext>
            </a:extLst>
          </p:cNvPr>
          <p:cNvSpPr/>
          <p:nvPr/>
        </p:nvSpPr>
        <p:spPr>
          <a:xfrm>
            <a:off x="7848495" y="5308393"/>
            <a:ext cx="3200455" cy="448756"/>
          </a:xfrm>
          <a:prstGeom prst="rect">
            <a:avLst/>
          </a:prstGeom>
          <a:solidFill>
            <a:srgbClr val="CDACE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rgbClr val="7030A0"/>
                </a:solidFill>
              </a:rPr>
              <a:t>Nwell</a:t>
            </a:r>
            <a:endParaRPr lang="ko-KR" altLang="en-US" dirty="0">
              <a:solidFill>
                <a:srgbClr val="7030A0"/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918619CD-308B-45BC-9BE2-3A0FE7696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963905" y="1267286"/>
            <a:ext cx="2861826" cy="2770394"/>
          </a:xfrm>
          <a:prstGeom prst="rect">
            <a:avLst/>
          </a:prstGeom>
        </p:spPr>
      </p:pic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424699"/>
              </p:ext>
            </p:extLst>
          </p:nvPr>
        </p:nvGraphicFramePr>
        <p:xfrm>
          <a:off x="726099" y="130106"/>
          <a:ext cx="108647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9290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237874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537603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POLY.E.2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0.18um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P-channel gate extension beyond Active Area.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8933138" y="4223285"/>
            <a:ext cx="100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0.18um</a:t>
            </a:r>
            <a:endParaRPr lang="ko-KR" altLang="en-US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530032" y="883792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855757" y="868403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>
            <a:off x="8266146" y="4410942"/>
            <a:ext cx="543188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CB7140-3CBF-452E-8DC5-1D49B32798EA}"/>
              </a:ext>
            </a:extLst>
          </p:cNvPr>
          <p:cNvSpPr/>
          <p:nvPr/>
        </p:nvSpPr>
        <p:spPr>
          <a:xfrm>
            <a:off x="6689719" y="260795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A0C275A-7E7C-4DA1-9DD6-EFBB505040C1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8179951" y="2927141"/>
            <a:ext cx="0" cy="221241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48B14DF-B479-416F-88E3-87784B5768BC}"/>
              </a:ext>
            </a:extLst>
          </p:cNvPr>
          <p:cNvCxnSpPr>
            <a:cxnSpLocks/>
          </p:cNvCxnSpPr>
          <p:nvPr/>
        </p:nvCxnSpPr>
        <p:spPr>
          <a:xfrm>
            <a:off x="9876288" y="3899037"/>
            <a:ext cx="0" cy="1096142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05B40D6-6A81-4795-B378-A30330CAE05B}"/>
              </a:ext>
            </a:extLst>
          </p:cNvPr>
          <p:cNvCxnSpPr>
            <a:cxnSpLocks/>
          </p:cNvCxnSpPr>
          <p:nvPr/>
        </p:nvCxnSpPr>
        <p:spPr>
          <a:xfrm>
            <a:off x="7078502" y="2792619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577112B8-C5FE-4826-9148-D80A4302BA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17" y="3801217"/>
            <a:ext cx="4414293" cy="2893660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8536FD3-C685-4F8D-B50C-7FA3663DF9B8}"/>
              </a:ext>
            </a:extLst>
          </p:cNvPr>
          <p:cNvCxnSpPr>
            <a:cxnSpLocks/>
          </p:cNvCxnSpPr>
          <p:nvPr/>
        </p:nvCxnSpPr>
        <p:spPr>
          <a:xfrm>
            <a:off x="10520560" y="2947203"/>
            <a:ext cx="1" cy="204440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C64E159-41B6-47E5-B64A-E3D5CFE41048}"/>
              </a:ext>
            </a:extLst>
          </p:cNvPr>
          <p:cNvCxnSpPr>
            <a:cxnSpLocks/>
          </p:cNvCxnSpPr>
          <p:nvPr/>
        </p:nvCxnSpPr>
        <p:spPr>
          <a:xfrm>
            <a:off x="8841478" y="3915186"/>
            <a:ext cx="0" cy="107999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4D35C1A7-DAAD-4C06-B274-3680765AD6F9}"/>
              </a:ext>
            </a:extLst>
          </p:cNvPr>
          <p:cNvCxnSpPr>
            <a:cxnSpLocks/>
          </p:cNvCxnSpPr>
          <p:nvPr/>
        </p:nvCxnSpPr>
        <p:spPr>
          <a:xfrm>
            <a:off x="9934080" y="4404885"/>
            <a:ext cx="543188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AD25613-0753-415C-B2BE-19E073BE1212}"/>
              </a:ext>
            </a:extLst>
          </p:cNvPr>
          <p:cNvSpPr/>
          <p:nvPr/>
        </p:nvSpPr>
        <p:spPr>
          <a:xfrm>
            <a:off x="8179951" y="4995179"/>
            <a:ext cx="2347992" cy="2887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6C3AF26-9956-40C3-A5D1-160D66A1DBF4}"/>
              </a:ext>
            </a:extLst>
          </p:cNvPr>
          <p:cNvSpPr/>
          <p:nvPr/>
        </p:nvSpPr>
        <p:spPr>
          <a:xfrm>
            <a:off x="8841478" y="5181613"/>
            <a:ext cx="1034807" cy="13286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OXIDE</a:t>
            </a:r>
            <a:endParaRPr lang="ko-KR" altLang="en-US" sz="8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8AF81A4-67EF-4D3C-AF9D-2D2148EC9F06}"/>
              </a:ext>
            </a:extLst>
          </p:cNvPr>
          <p:cNvSpPr/>
          <p:nvPr/>
        </p:nvSpPr>
        <p:spPr>
          <a:xfrm>
            <a:off x="7626485" y="5277378"/>
            <a:ext cx="1207612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0952DD6-95F9-40CC-8272-14A694024F62}"/>
              </a:ext>
            </a:extLst>
          </p:cNvPr>
          <p:cNvSpPr/>
          <p:nvPr/>
        </p:nvSpPr>
        <p:spPr>
          <a:xfrm>
            <a:off x="9876287" y="5278705"/>
            <a:ext cx="1459955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EADF89BD-F43E-4A02-BF57-31020EF01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490458"/>
              </p:ext>
            </p:extLst>
          </p:nvPr>
        </p:nvGraphicFramePr>
        <p:xfrm>
          <a:off x="731986" y="3311543"/>
          <a:ext cx="5249138" cy="426769"/>
        </p:xfrm>
        <a:graphic>
          <a:graphicData uri="http://schemas.openxmlformats.org/drawingml/2006/table">
            <a:tbl>
              <a:tblPr/>
              <a:tblGrid>
                <a:gridCol w="5249138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42676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dirty="0"/>
                        <a:t>“</a:t>
                      </a:r>
                      <a:r>
                        <a:rPr lang="en-US" altLang="ko-KR" sz="1100" dirty="0"/>
                        <a:t>Gate Contact </a:t>
                      </a:r>
                      <a:r>
                        <a:rPr lang="ko-KR" altLang="en-US" sz="1100" dirty="0"/>
                        <a:t>배치 공간을 확보하고 </a:t>
                      </a:r>
                      <a:r>
                        <a:rPr lang="en-US" altLang="ko-KR" sz="1100" dirty="0"/>
                        <a:t>Overlay </a:t>
                      </a:r>
                      <a:r>
                        <a:rPr lang="ko-KR" altLang="en-US" sz="1100" dirty="0"/>
                        <a:t>오차를 보상하기 위해 </a:t>
                      </a:r>
                      <a:r>
                        <a:rPr lang="en-US" altLang="ko-KR" sz="1100" dirty="0"/>
                        <a:t>Gate Poly</a:t>
                      </a:r>
                      <a:r>
                        <a:rPr lang="ko-KR" altLang="en-US" sz="1100" dirty="0"/>
                        <a:t>를 </a:t>
                      </a:r>
                      <a:r>
                        <a:rPr lang="en-US" altLang="ko-KR" sz="1100" dirty="0"/>
                        <a:t>Active </a:t>
                      </a:r>
                      <a:r>
                        <a:rPr lang="ko-KR" altLang="en-US" sz="1100" dirty="0"/>
                        <a:t>밖으로 충분히 연장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31552F4-8638-4057-8E1B-037F3F6A6DF2}"/>
              </a:ext>
            </a:extLst>
          </p:cNvPr>
          <p:cNvCxnSpPr>
            <a:cxnSpLocks/>
          </p:cNvCxnSpPr>
          <p:nvPr/>
        </p:nvCxnSpPr>
        <p:spPr>
          <a:xfrm>
            <a:off x="3242511" y="4530396"/>
            <a:ext cx="0" cy="406996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1897FBA-8A89-4861-BFD0-4CC44F9ACAF1}"/>
              </a:ext>
            </a:extLst>
          </p:cNvPr>
          <p:cNvSpPr txBox="1"/>
          <p:nvPr/>
        </p:nvSpPr>
        <p:spPr>
          <a:xfrm>
            <a:off x="2476916" y="4991604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0.18um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973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9C3B537-DD46-4A65-8B20-3CA65C34E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279" y="1028707"/>
            <a:ext cx="2713788" cy="1588559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6F6AE622-9FD8-4748-AC3E-899AC3A64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376" y="1206475"/>
            <a:ext cx="2891012" cy="2625157"/>
          </a:xfrm>
          <a:prstGeom prst="rect">
            <a:avLst/>
          </a:prstGeom>
        </p:spPr>
      </p:pic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413112"/>
              </p:ext>
            </p:extLst>
          </p:nvPr>
        </p:nvGraphicFramePr>
        <p:xfrm>
          <a:off x="682101" y="175533"/>
          <a:ext cx="1121110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515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123573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7249014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POLY.E.3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0.2um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Active Area (source/drain) to gate enclosure.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70509" y="859684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751114" y="844041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 flipV="1">
            <a:off x="8909384" y="4268369"/>
            <a:ext cx="360948" cy="1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CB7140-3CBF-452E-8DC5-1D49B32798EA}"/>
              </a:ext>
            </a:extLst>
          </p:cNvPr>
          <p:cNvSpPr/>
          <p:nvPr/>
        </p:nvSpPr>
        <p:spPr>
          <a:xfrm>
            <a:off x="6613973" y="241832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A0C275A-7E7C-4DA1-9DD6-EFBB505040C1}"/>
              </a:ext>
            </a:extLst>
          </p:cNvPr>
          <p:cNvCxnSpPr>
            <a:cxnSpLocks/>
          </p:cNvCxnSpPr>
          <p:nvPr/>
        </p:nvCxnSpPr>
        <p:spPr>
          <a:xfrm>
            <a:off x="8843088" y="2835841"/>
            <a:ext cx="30527" cy="2334647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05B40D6-6A81-4795-B378-A30330CAE05B}"/>
              </a:ext>
            </a:extLst>
          </p:cNvPr>
          <p:cNvCxnSpPr>
            <a:cxnSpLocks/>
          </p:cNvCxnSpPr>
          <p:nvPr/>
        </p:nvCxnSpPr>
        <p:spPr>
          <a:xfrm>
            <a:off x="7105217" y="2609246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B27C1B4F-08F7-4185-AC4C-6D5328C520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017" y="3345411"/>
            <a:ext cx="3907591" cy="3163577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3381E34-B2CD-47D2-A141-F950A23B5CF6}"/>
              </a:ext>
            </a:extLst>
          </p:cNvPr>
          <p:cNvCxnSpPr>
            <a:cxnSpLocks/>
          </p:cNvCxnSpPr>
          <p:nvPr/>
        </p:nvCxnSpPr>
        <p:spPr>
          <a:xfrm>
            <a:off x="10027115" y="2822706"/>
            <a:ext cx="0" cy="235701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BB4E29B-B1C8-453C-94E0-38181E677266}"/>
              </a:ext>
            </a:extLst>
          </p:cNvPr>
          <p:cNvCxnSpPr>
            <a:cxnSpLocks/>
            <a:endCxn id="44" idx="1"/>
          </p:cNvCxnSpPr>
          <p:nvPr/>
        </p:nvCxnSpPr>
        <p:spPr>
          <a:xfrm flipH="1">
            <a:off x="9318238" y="3656960"/>
            <a:ext cx="2" cy="1449646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C9371C5-1732-4AE5-A639-E18AFDBEA6FD}"/>
              </a:ext>
            </a:extLst>
          </p:cNvPr>
          <p:cNvCxnSpPr>
            <a:cxnSpLocks/>
          </p:cNvCxnSpPr>
          <p:nvPr/>
        </p:nvCxnSpPr>
        <p:spPr>
          <a:xfrm>
            <a:off x="9551202" y="3678169"/>
            <a:ext cx="24631" cy="1386417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EF4FB76D-9DB4-4C20-910C-23A599D0D1A7}"/>
              </a:ext>
            </a:extLst>
          </p:cNvPr>
          <p:cNvCxnSpPr>
            <a:cxnSpLocks/>
          </p:cNvCxnSpPr>
          <p:nvPr/>
        </p:nvCxnSpPr>
        <p:spPr>
          <a:xfrm flipV="1">
            <a:off x="9632413" y="4268369"/>
            <a:ext cx="360948" cy="1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9040399" y="3921475"/>
            <a:ext cx="1184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0.2um</a:t>
            </a:r>
            <a:endParaRPr lang="ko-KR" altLang="en-US" sz="1600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349600C-56E2-47E1-B9BB-0908E4AF83FA}"/>
              </a:ext>
            </a:extLst>
          </p:cNvPr>
          <p:cNvSpPr/>
          <p:nvPr/>
        </p:nvSpPr>
        <p:spPr>
          <a:xfrm>
            <a:off x="7648887" y="5297760"/>
            <a:ext cx="370975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57B1972-FFDA-45E9-8915-B3838341EB40}"/>
              </a:ext>
            </a:extLst>
          </p:cNvPr>
          <p:cNvSpPr/>
          <p:nvPr/>
        </p:nvSpPr>
        <p:spPr>
          <a:xfrm>
            <a:off x="9318238" y="5017437"/>
            <a:ext cx="257592" cy="1783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5CACCA2-27D3-4779-9C7E-84966D86E6B1}"/>
              </a:ext>
            </a:extLst>
          </p:cNvPr>
          <p:cNvSpPr/>
          <p:nvPr/>
        </p:nvSpPr>
        <p:spPr>
          <a:xfrm>
            <a:off x="8867722" y="5191857"/>
            <a:ext cx="1182729" cy="12235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OXIDE</a:t>
            </a:r>
            <a:endParaRPr lang="ko-KR" altLang="en-US" sz="8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2D8E4A9-A5EE-4017-A037-B9E8A14FB88F}"/>
              </a:ext>
            </a:extLst>
          </p:cNvPr>
          <p:cNvSpPr/>
          <p:nvPr/>
        </p:nvSpPr>
        <p:spPr>
          <a:xfrm>
            <a:off x="7648886" y="5290627"/>
            <a:ext cx="1216600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98343CA-3D91-4E97-AF6B-7E46355D54CE}"/>
              </a:ext>
            </a:extLst>
          </p:cNvPr>
          <p:cNvSpPr/>
          <p:nvPr/>
        </p:nvSpPr>
        <p:spPr>
          <a:xfrm>
            <a:off x="8867721" y="5314234"/>
            <a:ext cx="433188" cy="12235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N+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E81BC24-30C8-4CF7-8880-09D4FBDC6CBE}"/>
              </a:ext>
            </a:extLst>
          </p:cNvPr>
          <p:cNvSpPr/>
          <p:nvPr/>
        </p:nvSpPr>
        <p:spPr>
          <a:xfrm>
            <a:off x="10050451" y="5288950"/>
            <a:ext cx="1308195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DD8B769-6492-44A6-9278-CE335177754E}"/>
              </a:ext>
            </a:extLst>
          </p:cNvPr>
          <p:cNvSpPr/>
          <p:nvPr/>
        </p:nvSpPr>
        <p:spPr>
          <a:xfrm>
            <a:off x="9566762" y="5309894"/>
            <a:ext cx="483690" cy="11021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N+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BD7F814E-A221-46D4-93D2-10CA4244E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958926"/>
              </p:ext>
            </p:extLst>
          </p:nvPr>
        </p:nvGraphicFramePr>
        <p:xfrm>
          <a:off x="753167" y="2738920"/>
          <a:ext cx="4831535" cy="426769"/>
        </p:xfrm>
        <a:graphic>
          <a:graphicData uri="http://schemas.openxmlformats.org/drawingml/2006/table">
            <a:tbl>
              <a:tblPr/>
              <a:tblGrid>
                <a:gridCol w="4831535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42676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dirty="0"/>
                        <a:t>“</a:t>
                      </a:r>
                      <a:r>
                        <a:rPr lang="en-US" altLang="ko-KR" sz="1100" dirty="0"/>
                        <a:t>Source/Drain</a:t>
                      </a:r>
                      <a:r>
                        <a:rPr lang="ko-KR" altLang="en-US" sz="1100" dirty="0"/>
                        <a:t>과 </a:t>
                      </a:r>
                      <a:r>
                        <a:rPr lang="en-US" altLang="ko-KR" sz="1100" dirty="0"/>
                        <a:t>Gate</a:t>
                      </a:r>
                      <a:r>
                        <a:rPr lang="ko-KR" altLang="en-US" sz="1100" dirty="0"/>
                        <a:t>의 정렬 오차를 보상하고 안정적인 채널 형성을 위해 충분한 </a:t>
                      </a:r>
                      <a:r>
                        <a:rPr lang="en-US" altLang="ko-KR" sz="1100" dirty="0"/>
                        <a:t>Active Enclosure</a:t>
                      </a:r>
                      <a:r>
                        <a:rPr lang="ko-KR" altLang="en-US" sz="1100" dirty="0"/>
                        <a:t>를 확보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E6A6728-0092-485E-939B-38D362024330}"/>
              </a:ext>
            </a:extLst>
          </p:cNvPr>
          <p:cNvCxnSpPr>
            <a:cxnSpLocks/>
          </p:cNvCxnSpPr>
          <p:nvPr/>
        </p:nvCxnSpPr>
        <p:spPr>
          <a:xfrm>
            <a:off x="2863516" y="4930870"/>
            <a:ext cx="397042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067D56C-02CE-4A30-88A4-55F0D1DA2D82}"/>
              </a:ext>
            </a:extLst>
          </p:cNvPr>
          <p:cNvSpPr txBox="1"/>
          <p:nvPr/>
        </p:nvSpPr>
        <p:spPr>
          <a:xfrm>
            <a:off x="2735595" y="4985082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0.2um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243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8882AAE-8818-4BE0-BCBB-4AF15358B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17" y="1351523"/>
            <a:ext cx="2649562" cy="1792175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3C4CB66-79B3-4B8F-A226-F88F6CCA4A79}"/>
              </a:ext>
            </a:extLst>
          </p:cNvPr>
          <p:cNvSpPr/>
          <p:nvPr/>
        </p:nvSpPr>
        <p:spPr>
          <a:xfrm>
            <a:off x="7342924" y="5201439"/>
            <a:ext cx="3976387" cy="10609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61C4BB2-A988-48B6-A56B-8D8620B55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145" y="2017926"/>
            <a:ext cx="3932046" cy="2251545"/>
          </a:xfrm>
          <a:prstGeom prst="rect">
            <a:avLst/>
          </a:prstGeom>
        </p:spPr>
      </p:pic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677722"/>
              </p:ext>
            </p:extLst>
          </p:nvPr>
        </p:nvGraphicFramePr>
        <p:xfrm>
          <a:off x="711237" y="232617"/>
          <a:ext cx="1104361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484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093495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719633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POLY.SE.1_2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0.1um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Poly interconnect to unrelated/related Active Area space.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9123230" y="4308425"/>
            <a:ext cx="1184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0.1um</a:t>
            </a:r>
            <a:endParaRPr lang="ko-KR" altLang="en-US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586106" y="1056934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793148" y="1041545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>
            <a:off x="8863620" y="4671444"/>
            <a:ext cx="224365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CB7140-3CBF-452E-8DC5-1D49B32798EA}"/>
              </a:ext>
            </a:extLst>
          </p:cNvPr>
          <p:cNvSpPr/>
          <p:nvPr/>
        </p:nvSpPr>
        <p:spPr>
          <a:xfrm>
            <a:off x="6744005" y="301702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A0C275A-7E7C-4DA1-9DD6-EFBB505040C1}"/>
              </a:ext>
            </a:extLst>
          </p:cNvPr>
          <p:cNvCxnSpPr>
            <a:cxnSpLocks/>
          </p:cNvCxnSpPr>
          <p:nvPr/>
        </p:nvCxnSpPr>
        <p:spPr>
          <a:xfrm>
            <a:off x="8039045" y="3483924"/>
            <a:ext cx="7383" cy="192035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48B14DF-B479-416F-88E3-87784B5768BC}"/>
              </a:ext>
            </a:extLst>
          </p:cNvPr>
          <p:cNvCxnSpPr>
            <a:cxnSpLocks/>
          </p:cNvCxnSpPr>
          <p:nvPr/>
        </p:nvCxnSpPr>
        <p:spPr>
          <a:xfrm>
            <a:off x="10439532" y="4037960"/>
            <a:ext cx="0" cy="1036477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05B40D6-6A81-4795-B378-A30330CAE05B}"/>
              </a:ext>
            </a:extLst>
          </p:cNvPr>
          <p:cNvCxnSpPr>
            <a:cxnSpLocks/>
          </p:cNvCxnSpPr>
          <p:nvPr/>
        </p:nvCxnSpPr>
        <p:spPr>
          <a:xfrm>
            <a:off x="7132788" y="3201693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C6A274A-7646-43D5-9EF6-076F255F2C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17" y="3429000"/>
            <a:ext cx="4627752" cy="3162401"/>
          </a:xfrm>
          <a:prstGeom prst="rect">
            <a:avLst/>
          </a:prstGeom>
        </p:spPr>
      </p:pic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AD796B2-A84F-4C39-AC80-1580BB4E798C}"/>
              </a:ext>
            </a:extLst>
          </p:cNvPr>
          <p:cNvCxnSpPr>
            <a:cxnSpLocks/>
          </p:cNvCxnSpPr>
          <p:nvPr/>
        </p:nvCxnSpPr>
        <p:spPr>
          <a:xfrm>
            <a:off x="10584525" y="3484041"/>
            <a:ext cx="7382" cy="1590396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A0E456E-AABD-46F2-8FAB-DBA4366AFA2C}"/>
              </a:ext>
            </a:extLst>
          </p:cNvPr>
          <p:cNvCxnSpPr>
            <a:cxnSpLocks/>
          </p:cNvCxnSpPr>
          <p:nvPr/>
        </p:nvCxnSpPr>
        <p:spPr>
          <a:xfrm>
            <a:off x="8799924" y="4037960"/>
            <a:ext cx="0" cy="1036477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70D4F72-34DA-456B-A224-F3879D54D458}"/>
              </a:ext>
            </a:extLst>
          </p:cNvPr>
          <p:cNvCxnSpPr>
            <a:cxnSpLocks/>
          </p:cNvCxnSpPr>
          <p:nvPr/>
        </p:nvCxnSpPr>
        <p:spPr>
          <a:xfrm>
            <a:off x="9087985" y="4037960"/>
            <a:ext cx="0" cy="1036477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947EE23-2A73-41B1-92EC-71C63F3C4CFD}"/>
              </a:ext>
            </a:extLst>
          </p:cNvPr>
          <p:cNvCxnSpPr>
            <a:cxnSpLocks/>
          </p:cNvCxnSpPr>
          <p:nvPr/>
        </p:nvCxnSpPr>
        <p:spPr>
          <a:xfrm>
            <a:off x="10233793" y="3433288"/>
            <a:ext cx="0" cy="248375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08DD262-6FF8-4275-8972-66ABD04E0F2F}"/>
              </a:ext>
            </a:extLst>
          </p:cNvPr>
          <p:cNvSpPr/>
          <p:nvPr/>
        </p:nvSpPr>
        <p:spPr>
          <a:xfrm>
            <a:off x="7346782" y="5191350"/>
            <a:ext cx="699646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8A686A9-A7CE-417C-852C-CBE45BF77FB5}"/>
              </a:ext>
            </a:extLst>
          </p:cNvPr>
          <p:cNvSpPr/>
          <p:nvPr/>
        </p:nvSpPr>
        <p:spPr>
          <a:xfrm>
            <a:off x="10609247" y="5183556"/>
            <a:ext cx="712644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C125195-8108-4695-9B9B-A98D8886A94E}"/>
              </a:ext>
            </a:extLst>
          </p:cNvPr>
          <p:cNvSpPr/>
          <p:nvPr/>
        </p:nvSpPr>
        <p:spPr>
          <a:xfrm>
            <a:off x="8056785" y="5184092"/>
            <a:ext cx="2549882" cy="1726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N+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A66D5F3-D1F0-4389-A5A0-4C7FC874648C}"/>
              </a:ext>
            </a:extLst>
          </p:cNvPr>
          <p:cNvSpPr/>
          <p:nvPr/>
        </p:nvSpPr>
        <p:spPr>
          <a:xfrm>
            <a:off x="8046428" y="5082721"/>
            <a:ext cx="2560235" cy="11871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OXIDE</a:t>
            </a:r>
            <a:endParaRPr lang="ko-KR" altLang="en-US" sz="8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A13FA7E-A6EF-46F6-AD62-0D1C51FED04D}"/>
              </a:ext>
            </a:extLst>
          </p:cNvPr>
          <p:cNvSpPr/>
          <p:nvPr/>
        </p:nvSpPr>
        <p:spPr>
          <a:xfrm>
            <a:off x="8807308" y="4873129"/>
            <a:ext cx="1632224" cy="2060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POLY / Gate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DEB93FE5-DD03-49E2-A76F-48A7111B0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025253"/>
              </p:ext>
            </p:extLst>
          </p:nvPr>
        </p:nvGraphicFramePr>
        <p:xfrm>
          <a:off x="2156048" y="2774973"/>
          <a:ext cx="3993402" cy="426720"/>
        </p:xfrm>
        <a:graphic>
          <a:graphicData uri="http://schemas.openxmlformats.org/drawingml/2006/table">
            <a:tbl>
              <a:tblPr/>
              <a:tblGrid>
                <a:gridCol w="3993402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dirty="0"/>
                        <a:t>“</a:t>
                      </a:r>
                      <a:r>
                        <a:rPr lang="ko-KR" altLang="en-US" sz="1100" dirty="0"/>
                        <a:t>의도하지 않은 </a:t>
                      </a:r>
                      <a:r>
                        <a:rPr lang="en-US" altLang="ko-KR" sz="1100" dirty="0"/>
                        <a:t>MOS </a:t>
                      </a:r>
                      <a:r>
                        <a:rPr lang="ko-KR" altLang="en-US" sz="1100" dirty="0"/>
                        <a:t>채널 형성과 단락을 방지하기 위해 </a:t>
                      </a:r>
                      <a:r>
                        <a:rPr lang="en-US" altLang="ko-KR" sz="1100" dirty="0"/>
                        <a:t>Poly</a:t>
                      </a:r>
                      <a:r>
                        <a:rPr lang="ko-KR" altLang="en-US" sz="1100" dirty="0"/>
                        <a:t>와 </a:t>
                      </a:r>
                      <a:r>
                        <a:rPr lang="en-US" altLang="ko-KR" sz="1100" dirty="0"/>
                        <a:t>Active </a:t>
                      </a:r>
                      <a:r>
                        <a:rPr lang="ko-KR" altLang="en-US" sz="1100" dirty="0"/>
                        <a:t>사이의 최소 간격을 유지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A7AAFBB-3E75-49F9-92FC-41E1AE4F3BF0}"/>
              </a:ext>
            </a:extLst>
          </p:cNvPr>
          <p:cNvCxnSpPr>
            <a:cxnSpLocks/>
          </p:cNvCxnSpPr>
          <p:nvPr/>
        </p:nvCxnSpPr>
        <p:spPr>
          <a:xfrm>
            <a:off x="3218448" y="4972370"/>
            <a:ext cx="252662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BB52AC4-AD2D-46C8-9EB6-5A2B2C4F749D}"/>
              </a:ext>
            </a:extLst>
          </p:cNvPr>
          <p:cNvSpPr txBox="1"/>
          <p:nvPr/>
        </p:nvSpPr>
        <p:spPr>
          <a:xfrm>
            <a:off x="3728273" y="4703852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0.1um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169A47C-C47D-4EEF-8717-2A854D945327}"/>
              </a:ext>
            </a:extLst>
          </p:cNvPr>
          <p:cNvCxnSpPr>
            <a:cxnSpLocks/>
          </p:cNvCxnSpPr>
          <p:nvPr/>
        </p:nvCxnSpPr>
        <p:spPr>
          <a:xfrm>
            <a:off x="3810001" y="5124770"/>
            <a:ext cx="0" cy="22422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063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504531"/>
              </p:ext>
            </p:extLst>
          </p:nvPr>
        </p:nvGraphicFramePr>
        <p:xfrm>
          <a:off x="806424" y="237809"/>
          <a:ext cx="1057915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502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1955132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410518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POLY.W.6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0.18um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bent Poly width.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39788" y="936650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834337" y="923169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A0C275A-7E7C-4DA1-9DD6-EFBB505040C1}"/>
              </a:ext>
            </a:extLst>
          </p:cNvPr>
          <p:cNvCxnSpPr>
            <a:cxnSpLocks/>
          </p:cNvCxnSpPr>
          <p:nvPr/>
        </p:nvCxnSpPr>
        <p:spPr>
          <a:xfrm>
            <a:off x="8888618" y="3683553"/>
            <a:ext cx="7383" cy="192035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48B14DF-B479-416F-88E3-87784B5768BC}"/>
              </a:ext>
            </a:extLst>
          </p:cNvPr>
          <p:cNvCxnSpPr>
            <a:cxnSpLocks/>
          </p:cNvCxnSpPr>
          <p:nvPr/>
        </p:nvCxnSpPr>
        <p:spPr>
          <a:xfrm>
            <a:off x="9401347" y="3307171"/>
            <a:ext cx="0" cy="225083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30EA029C-5904-428D-AAFE-B639D7177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453" y="3429000"/>
            <a:ext cx="3601394" cy="327470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2EAD021-AC87-4672-946D-660ECF172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35" y="1520474"/>
            <a:ext cx="1968902" cy="1556641"/>
          </a:xfrm>
          <a:prstGeom prst="rect">
            <a:avLst/>
          </a:prstGeom>
        </p:spPr>
      </p:pic>
      <p:sp>
        <p:nvSpPr>
          <p:cNvPr id="31" name="Google Shape;1592;p45">
            <a:extLst>
              <a:ext uri="{FF2B5EF4-FFF2-40B4-BE49-F238E27FC236}">
                <a16:creationId xmlns:a16="http://schemas.microsoft.com/office/drawing/2014/main" id="{88CEA0F9-590F-4D9C-A7B8-14CCAAB2AE13}"/>
              </a:ext>
            </a:extLst>
          </p:cNvPr>
          <p:cNvSpPr/>
          <p:nvPr/>
        </p:nvSpPr>
        <p:spPr>
          <a:xfrm rot="19430594">
            <a:off x="8347356" y="1975111"/>
            <a:ext cx="1598898" cy="1312155"/>
          </a:xfrm>
          <a:prstGeom prst="parallelogram">
            <a:avLst>
              <a:gd name="adj" fmla="val 73928"/>
            </a:avLst>
          </a:prstGeom>
          <a:solidFill>
            <a:srgbClr val="C4E0B2">
              <a:alpha val="80000"/>
            </a:srgbClr>
          </a:solidFill>
          <a:ln w="12700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1593;p45">
            <a:extLst>
              <a:ext uri="{FF2B5EF4-FFF2-40B4-BE49-F238E27FC236}">
                <a16:creationId xmlns:a16="http://schemas.microsoft.com/office/drawing/2014/main" id="{630C6164-B31A-4276-ABC8-33B2B3A7CB2B}"/>
              </a:ext>
            </a:extLst>
          </p:cNvPr>
          <p:cNvSpPr/>
          <p:nvPr/>
        </p:nvSpPr>
        <p:spPr>
          <a:xfrm rot="19430594">
            <a:off x="8928047" y="3413992"/>
            <a:ext cx="626931" cy="313267"/>
          </a:xfrm>
          <a:prstGeom prst="rect">
            <a:avLst/>
          </a:prstGeom>
          <a:solidFill>
            <a:srgbClr val="C4E0B2">
              <a:alpha val="80000"/>
            </a:srgbClr>
          </a:solidFill>
          <a:ln w="12700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1593;p45">
            <a:extLst>
              <a:ext uri="{FF2B5EF4-FFF2-40B4-BE49-F238E27FC236}">
                <a16:creationId xmlns:a16="http://schemas.microsoft.com/office/drawing/2014/main" id="{C9BF97E1-2EC6-40AB-AF94-DEED7DB87708}"/>
              </a:ext>
            </a:extLst>
          </p:cNvPr>
          <p:cNvSpPr/>
          <p:nvPr/>
        </p:nvSpPr>
        <p:spPr>
          <a:xfrm rot="19430594">
            <a:off x="8742374" y="1518906"/>
            <a:ext cx="626931" cy="313267"/>
          </a:xfrm>
          <a:prstGeom prst="rect">
            <a:avLst/>
          </a:prstGeom>
          <a:solidFill>
            <a:srgbClr val="C4E0B2">
              <a:alpha val="80000"/>
            </a:srgbClr>
          </a:solidFill>
          <a:ln w="12700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2C37E71-EA7B-4921-BA4C-5C7833F1592D}"/>
              </a:ext>
            </a:extLst>
          </p:cNvPr>
          <p:cNvSpPr/>
          <p:nvPr/>
        </p:nvSpPr>
        <p:spPr>
          <a:xfrm>
            <a:off x="7425302" y="4904847"/>
            <a:ext cx="3601399" cy="16591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576CDEB-019F-4228-B908-6520327B8E53}"/>
              </a:ext>
            </a:extLst>
          </p:cNvPr>
          <p:cNvSpPr/>
          <p:nvPr/>
        </p:nvSpPr>
        <p:spPr>
          <a:xfrm>
            <a:off x="7425302" y="4904847"/>
            <a:ext cx="3601395" cy="425417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8710332" y="2298795"/>
            <a:ext cx="1184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0.18um</a:t>
            </a:r>
            <a:endParaRPr lang="ko-KR" altLang="en-US" sz="1600" b="1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>
            <a:off x="8888618" y="2669801"/>
            <a:ext cx="505346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1CAFBFE-2592-41C0-BC77-3132F87582A2}"/>
              </a:ext>
            </a:extLst>
          </p:cNvPr>
          <p:cNvSpPr/>
          <p:nvPr/>
        </p:nvSpPr>
        <p:spPr>
          <a:xfrm>
            <a:off x="8896001" y="4503902"/>
            <a:ext cx="512128" cy="400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POLY / Gate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B24EFCFC-D54C-448F-92D5-91616FC9F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786506"/>
              </p:ext>
            </p:extLst>
          </p:nvPr>
        </p:nvGraphicFramePr>
        <p:xfrm>
          <a:off x="2422185" y="2085434"/>
          <a:ext cx="3756032" cy="426720"/>
        </p:xfrm>
        <a:graphic>
          <a:graphicData uri="http://schemas.openxmlformats.org/drawingml/2006/table">
            <a:tbl>
              <a:tblPr/>
              <a:tblGrid>
                <a:gridCol w="3756032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dirty="0"/>
                        <a:t>“</a:t>
                      </a:r>
                      <a:r>
                        <a:rPr lang="en-US" altLang="ko-KR" sz="1100" dirty="0"/>
                        <a:t>Corner Rounding</a:t>
                      </a:r>
                      <a:r>
                        <a:rPr lang="ko-KR" altLang="en-US" sz="1100" dirty="0"/>
                        <a:t>으로 인한 폭 감소와 단선을 방지하기 위해 </a:t>
                      </a:r>
                      <a:r>
                        <a:rPr lang="en-US" altLang="ko-KR" sz="1100" dirty="0"/>
                        <a:t>Bent Poly</a:t>
                      </a:r>
                      <a:r>
                        <a:rPr lang="ko-KR" altLang="en-US" sz="1100" dirty="0"/>
                        <a:t>의 최소 폭을 규정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BCE6831-015F-4670-90E5-5D82CF310A1A}"/>
              </a:ext>
            </a:extLst>
          </p:cNvPr>
          <p:cNvCxnSpPr>
            <a:cxnSpLocks/>
          </p:cNvCxnSpPr>
          <p:nvPr/>
        </p:nvCxnSpPr>
        <p:spPr>
          <a:xfrm>
            <a:off x="3355087" y="5399104"/>
            <a:ext cx="285580" cy="33532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7CB9D5A-2C58-4BCE-ADE5-2745380DC2C2}"/>
              </a:ext>
            </a:extLst>
          </p:cNvPr>
          <p:cNvSpPr txBox="1"/>
          <p:nvPr/>
        </p:nvSpPr>
        <p:spPr>
          <a:xfrm>
            <a:off x="2970211" y="5652835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0.18um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590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F9DC120A-248E-4B46-AB39-422D37881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9" y="1301168"/>
            <a:ext cx="2978303" cy="1568531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0E63C26-5582-4DDF-8E8F-28E19EF4A6ED}"/>
              </a:ext>
            </a:extLst>
          </p:cNvPr>
          <p:cNvCxnSpPr>
            <a:cxnSpLocks/>
          </p:cNvCxnSpPr>
          <p:nvPr/>
        </p:nvCxnSpPr>
        <p:spPr>
          <a:xfrm>
            <a:off x="9786853" y="3683553"/>
            <a:ext cx="7383" cy="192035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E2B43DC7-CAE9-4552-B130-E74B8570F232}"/>
              </a:ext>
            </a:extLst>
          </p:cNvPr>
          <p:cNvCxnSpPr>
            <a:cxnSpLocks/>
          </p:cNvCxnSpPr>
          <p:nvPr/>
        </p:nvCxnSpPr>
        <p:spPr>
          <a:xfrm>
            <a:off x="10299582" y="3307171"/>
            <a:ext cx="0" cy="225083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Google Shape;1593;p45">
            <a:extLst>
              <a:ext uri="{FF2B5EF4-FFF2-40B4-BE49-F238E27FC236}">
                <a16:creationId xmlns:a16="http://schemas.microsoft.com/office/drawing/2014/main" id="{6116B603-8D2A-49C8-945D-D9804CDFB3D1}"/>
              </a:ext>
            </a:extLst>
          </p:cNvPr>
          <p:cNvSpPr/>
          <p:nvPr/>
        </p:nvSpPr>
        <p:spPr>
          <a:xfrm rot="19430594">
            <a:off x="9826282" y="3413992"/>
            <a:ext cx="626931" cy="313267"/>
          </a:xfrm>
          <a:prstGeom prst="rect">
            <a:avLst/>
          </a:prstGeom>
          <a:solidFill>
            <a:srgbClr val="C4E0B2">
              <a:alpha val="80000"/>
            </a:srgbClr>
          </a:solidFill>
          <a:ln w="12700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1593;p45">
            <a:extLst>
              <a:ext uri="{FF2B5EF4-FFF2-40B4-BE49-F238E27FC236}">
                <a16:creationId xmlns:a16="http://schemas.microsoft.com/office/drawing/2014/main" id="{2A10696F-B855-4AFF-90E9-344B554C8115}"/>
              </a:ext>
            </a:extLst>
          </p:cNvPr>
          <p:cNvSpPr/>
          <p:nvPr/>
        </p:nvSpPr>
        <p:spPr>
          <a:xfrm rot="19430594">
            <a:off x="9640609" y="1518906"/>
            <a:ext cx="626931" cy="313267"/>
          </a:xfrm>
          <a:prstGeom prst="rect">
            <a:avLst/>
          </a:prstGeom>
          <a:solidFill>
            <a:srgbClr val="C4E0B2">
              <a:alpha val="80000"/>
            </a:srgbClr>
          </a:solidFill>
          <a:ln w="12700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0551114-B9E2-431B-8298-368325C33627}"/>
              </a:ext>
            </a:extLst>
          </p:cNvPr>
          <p:cNvSpPr/>
          <p:nvPr/>
        </p:nvSpPr>
        <p:spPr>
          <a:xfrm>
            <a:off x="9794236" y="4503902"/>
            <a:ext cx="512128" cy="400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POLY / Gate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164782"/>
              </p:ext>
            </p:extLst>
          </p:nvPr>
        </p:nvGraphicFramePr>
        <p:xfrm>
          <a:off x="767957" y="316664"/>
          <a:ext cx="1088587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032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334127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275713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POLY.SP.4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0.22um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bent Poly space.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63852" y="1007496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841881" y="994797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AF3167-266D-437D-A057-514878EE5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05" y="3165642"/>
            <a:ext cx="5438377" cy="3217707"/>
          </a:xfrm>
          <a:prstGeom prst="rect">
            <a:avLst/>
          </a:prstGeom>
        </p:spPr>
      </p:pic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A5802C7-CD0F-4183-A21B-CB4620E7A585}"/>
              </a:ext>
            </a:extLst>
          </p:cNvPr>
          <p:cNvCxnSpPr>
            <a:cxnSpLocks/>
          </p:cNvCxnSpPr>
          <p:nvPr/>
        </p:nvCxnSpPr>
        <p:spPr>
          <a:xfrm>
            <a:off x="8008608" y="3683553"/>
            <a:ext cx="7383" cy="192035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A586F68D-A5A2-49FC-B275-2E280724D278}"/>
              </a:ext>
            </a:extLst>
          </p:cNvPr>
          <p:cNvCxnSpPr>
            <a:cxnSpLocks/>
          </p:cNvCxnSpPr>
          <p:nvPr/>
        </p:nvCxnSpPr>
        <p:spPr>
          <a:xfrm>
            <a:off x="8521337" y="3307171"/>
            <a:ext cx="0" cy="225083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Google Shape;1592;p45">
            <a:extLst>
              <a:ext uri="{FF2B5EF4-FFF2-40B4-BE49-F238E27FC236}">
                <a16:creationId xmlns:a16="http://schemas.microsoft.com/office/drawing/2014/main" id="{DBDDC33D-1C43-4727-9E31-4AAA7BABAA26}"/>
              </a:ext>
            </a:extLst>
          </p:cNvPr>
          <p:cNvSpPr/>
          <p:nvPr/>
        </p:nvSpPr>
        <p:spPr>
          <a:xfrm rot="19430594">
            <a:off x="7461832" y="1976121"/>
            <a:ext cx="1598898" cy="1312155"/>
          </a:xfrm>
          <a:prstGeom prst="parallelogram">
            <a:avLst>
              <a:gd name="adj" fmla="val 73928"/>
            </a:avLst>
          </a:prstGeom>
          <a:solidFill>
            <a:srgbClr val="C4E0B2">
              <a:alpha val="80000"/>
            </a:srgbClr>
          </a:solidFill>
          <a:ln w="12700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" name="Google Shape;1593;p45">
            <a:extLst>
              <a:ext uri="{FF2B5EF4-FFF2-40B4-BE49-F238E27FC236}">
                <a16:creationId xmlns:a16="http://schemas.microsoft.com/office/drawing/2014/main" id="{CDBE93A1-70B2-488D-9F26-60C7E6C00F43}"/>
              </a:ext>
            </a:extLst>
          </p:cNvPr>
          <p:cNvSpPr/>
          <p:nvPr/>
        </p:nvSpPr>
        <p:spPr>
          <a:xfrm rot="19430594">
            <a:off x="8040645" y="3425790"/>
            <a:ext cx="626931" cy="313267"/>
          </a:xfrm>
          <a:prstGeom prst="rect">
            <a:avLst/>
          </a:prstGeom>
          <a:solidFill>
            <a:srgbClr val="C4E0B2">
              <a:alpha val="80000"/>
            </a:srgbClr>
          </a:solidFill>
          <a:ln w="12700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" name="Google Shape;1593;p45">
            <a:extLst>
              <a:ext uri="{FF2B5EF4-FFF2-40B4-BE49-F238E27FC236}">
                <a16:creationId xmlns:a16="http://schemas.microsoft.com/office/drawing/2014/main" id="{F0E79E99-568A-491D-96A2-1DC7D2B56010}"/>
              </a:ext>
            </a:extLst>
          </p:cNvPr>
          <p:cNvSpPr/>
          <p:nvPr/>
        </p:nvSpPr>
        <p:spPr>
          <a:xfrm rot="19430594">
            <a:off x="7862364" y="1518906"/>
            <a:ext cx="626931" cy="313267"/>
          </a:xfrm>
          <a:prstGeom prst="rect">
            <a:avLst/>
          </a:prstGeom>
          <a:solidFill>
            <a:srgbClr val="C4E0B2">
              <a:alpha val="80000"/>
            </a:srgbClr>
          </a:solidFill>
          <a:ln w="12700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E6E2362C-28A5-4724-9D06-271A8330B94B}"/>
              </a:ext>
            </a:extLst>
          </p:cNvPr>
          <p:cNvSpPr/>
          <p:nvPr/>
        </p:nvSpPr>
        <p:spPr>
          <a:xfrm>
            <a:off x="7425302" y="4904847"/>
            <a:ext cx="3601399" cy="16591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8CD09C2-0FF6-4BA1-B9B4-C50C872C0029}"/>
              </a:ext>
            </a:extLst>
          </p:cNvPr>
          <p:cNvSpPr/>
          <p:nvPr/>
        </p:nvSpPr>
        <p:spPr>
          <a:xfrm>
            <a:off x="7425302" y="4904847"/>
            <a:ext cx="3601395" cy="425417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A7EFE71-3D4B-43C2-913B-CC9F3C512A17}"/>
              </a:ext>
            </a:extLst>
          </p:cNvPr>
          <p:cNvSpPr txBox="1"/>
          <p:nvPr/>
        </p:nvSpPr>
        <p:spPr>
          <a:xfrm>
            <a:off x="7830322" y="2298795"/>
            <a:ext cx="1184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0.18um</a:t>
            </a:r>
            <a:endParaRPr lang="ko-KR" altLang="en-US" sz="1600" b="1" dirty="0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D4843676-FC40-4F10-B280-2D457A28F07B}"/>
              </a:ext>
            </a:extLst>
          </p:cNvPr>
          <p:cNvCxnSpPr>
            <a:cxnSpLocks/>
          </p:cNvCxnSpPr>
          <p:nvPr/>
        </p:nvCxnSpPr>
        <p:spPr>
          <a:xfrm>
            <a:off x="8008608" y="2669801"/>
            <a:ext cx="505346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366969B-607B-47BF-9E13-74F2A21F3EA4}"/>
              </a:ext>
            </a:extLst>
          </p:cNvPr>
          <p:cNvSpPr/>
          <p:nvPr/>
        </p:nvSpPr>
        <p:spPr>
          <a:xfrm>
            <a:off x="8015991" y="4503902"/>
            <a:ext cx="512128" cy="4009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POLY / Gate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1" name="Google Shape;1592;p45">
            <a:extLst>
              <a:ext uri="{FF2B5EF4-FFF2-40B4-BE49-F238E27FC236}">
                <a16:creationId xmlns:a16="http://schemas.microsoft.com/office/drawing/2014/main" id="{0A09D382-D7FF-4EC0-8501-F608E4797418}"/>
              </a:ext>
            </a:extLst>
          </p:cNvPr>
          <p:cNvSpPr/>
          <p:nvPr/>
        </p:nvSpPr>
        <p:spPr>
          <a:xfrm rot="19430594">
            <a:off x="9246862" y="1972187"/>
            <a:ext cx="1598898" cy="1312155"/>
          </a:xfrm>
          <a:prstGeom prst="parallelogram">
            <a:avLst>
              <a:gd name="adj" fmla="val 73928"/>
            </a:avLst>
          </a:prstGeom>
          <a:solidFill>
            <a:srgbClr val="C4E0B2">
              <a:alpha val="80000"/>
            </a:srgbClr>
          </a:solidFill>
          <a:ln w="12700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5CC813DB-FEBB-44F7-B881-EA1C32898D84}"/>
              </a:ext>
            </a:extLst>
          </p:cNvPr>
          <p:cNvCxnSpPr>
            <a:cxnSpLocks/>
          </p:cNvCxnSpPr>
          <p:nvPr/>
        </p:nvCxnSpPr>
        <p:spPr>
          <a:xfrm>
            <a:off x="9786853" y="2669801"/>
            <a:ext cx="505346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8088BB3-1E92-45C2-8E00-534C729A7C9D}"/>
              </a:ext>
            </a:extLst>
          </p:cNvPr>
          <p:cNvSpPr txBox="1"/>
          <p:nvPr/>
        </p:nvSpPr>
        <p:spPr>
          <a:xfrm>
            <a:off x="8777414" y="4363831"/>
            <a:ext cx="1184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0.22um</a:t>
            </a:r>
            <a:endParaRPr lang="ko-KR" altLang="en-US" sz="1600" b="1" dirty="0"/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236A59F8-C33E-4A05-BE57-504FC0F1CE14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8528119" y="4704374"/>
            <a:ext cx="1266117" cy="1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380FF2CA-A5F9-4A7A-B7BA-B861B4ED70D1}"/>
              </a:ext>
            </a:extLst>
          </p:cNvPr>
          <p:cNvSpPr txBox="1"/>
          <p:nvPr/>
        </p:nvSpPr>
        <p:spPr>
          <a:xfrm>
            <a:off x="9615954" y="2330253"/>
            <a:ext cx="1184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0.18um</a:t>
            </a:r>
            <a:endParaRPr lang="ko-KR" altLang="en-US" sz="1600" b="1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6F86DEB8-3FAF-4522-810E-E4E360832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671708"/>
              </p:ext>
            </p:extLst>
          </p:nvPr>
        </p:nvGraphicFramePr>
        <p:xfrm>
          <a:off x="2454861" y="2330253"/>
          <a:ext cx="3756032" cy="426720"/>
        </p:xfrm>
        <a:graphic>
          <a:graphicData uri="http://schemas.openxmlformats.org/drawingml/2006/table">
            <a:tbl>
              <a:tblPr/>
              <a:tblGrid>
                <a:gridCol w="3756032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dirty="0"/>
                        <a:t>“</a:t>
                      </a:r>
                      <a:r>
                        <a:rPr lang="en-US" altLang="ko-KR" sz="1100" dirty="0"/>
                        <a:t>Bent Poly</a:t>
                      </a:r>
                      <a:r>
                        <a:rPr lang="ko-KR" altLang="en-US" sz="1100" dirty="0"/>
                        <a:t>에서 발생하는 패턴 왜곡과 </a:t>
                      </a:r>
                      <a:r>
                        <a:rPr lang="ko-KR" altLang="en-US" sz="1100" dirty="0" err="1"/>
                        <a:t>브리징을</a:t>
                      </a:r>
                      <a:r>
                        <a:rPr lang="ko-KR" altLang="en-US" sz="1100" dirty="0"/>
                        <a:t> 방지하기 위해 최소 간격을 적용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3BAAE7A-15A4-4166-AA46-C37C626FD3BA}"/>
              </a:ext>
            </a:extLst>
          </p:cNvPr>
          <p:cNvCxnSpPr>
            <a:cxnSpLocks/>
          </p:cNvCxnSpPr>
          <p:nvPr/>
        </p:nvCxnSpPr>
        <p:spPr>
          <a:xfrm>
            <a:off x="3400520" y="4702385"/>
            <a:ext cx="487278" cy="461208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A8E8C7D-6CAC-4264-A4CA-CA2D5D88B78B}"/>
              </a:ext>
            </a:extLst>
          </p:cNvPr>
          <p:cNvSpPr txBox="1"/>
          <p:nvPr/>
        </p:nvSpPr>
        <p:spPr>
          <a:xfrm>
            <a:off x="2884737" y="5124197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0.22um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629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1A1311D-64C4-4229-9D53-F8824C613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259" y="1203813"/>
            <a:ext cx="2827959" cy="1544588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407128"/>
              </p:ext>
            </p:extLst>
          </p:nvPr>
        </p:nvGraphicFramePr>
        <p:xfrm>
          <a:off x="767957" y="316664"/>
          <a:ext cx="1088587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175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021305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534392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POLY.X.1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Bent gate is not allowed.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63852" y="1007496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793320" y="999807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B99530C-46CF-470C-AB35-A08BA9B40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61" y="3500709"/>
            <a:ext cx="4105304" cy="3109164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61ED8289-1AA2-4A5D-9182-BED7F57BB5F7}"/>
              </a:ext>
            </a:extLst>
          </p:cNvPr>
          <p:cNvSpPr/>
          <p:nvPr/>
        </p:nvSpPr>
        <p:spPr>
          <a:xfrm>
            <a:off x="7673005" y="5291103"/>
            <a:ext cx="370975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90E42CB1-A5BD-48D0-AC9B-7A5167088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970" y="1433212"/>
            <a:ext cx="2990755" cy="2265057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F49B3CC2-F882-4E70-80CF-F301A5054971}"/>
              </a:ext>
            </a:extLst>
          </p:cNvPr>
          <p:cNvSpPr/>
          <p:nvPr/>
        </p:nvSpPr>
        <p:spPr>
          <a:xfrm>
            <a:off x="6689719" y="260795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247960E2-9396-46F6-84E1-2842D3EF5E5B}"/>
              </a:ext>
            </a:extLst>
          </p:cNvPr>
          <p:cNvCxnSpPr>
            <a:cxnSpLocks/>
          </p:cNvCxnSpPr>
          <p:nvPr/>
        </p:nvCxnSpPr>
        <p:spPr>
          <a:xfrm>
            <a:off x="8744398" y="2900880"/>
            <a:ext cx="8964" cy="2408415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4E9C89D-B631-4F6D-8A21-0DFB0262DC85}"/>
              </a:ext>
            </a:extLst>
          </p:cNvPr>
          <p:cNvCxnSpPr>
            <a:cxnSpLocks/>
          </p:cNvCxnSpPr>
          <p:nvPr/>
        </p:nvCxnSpPr>
        <p:spPr>
          <a:xfrm flipH="1">
            <a:off x="9324557" y="3659055"/>
            <a:ext cx="6606" cy="150146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BEB522C-2C79-434B-AA41-803A2DAA3736}"/>
              </a:ext>
            </a:extLst>
          </p:cNvPr>
          <p:cNvCxnSpPr>
            <a:cxnSpLocks/>
          </p:cNvCxnSpPr>
          <p:nvPr/>
        </p:nvCxnSpPr>
        <p:spPr>
          <a:xfrm>
            <a:off x="10157198" y="2856219"/>
            <a:ext cx="8964" cy="242868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3168A77-6F6F-4853-88F0-37551CBAD669}"/>
              </a:ext>
            </a:extLst>
          </p:cNvPr>
          <p:cNvCxnSpPr>
            <a:cxnSpLocks/>
          </p:cNvCxnSpPr>
          <p:nvPr/>
        </p:nvCxnSpPr>
        <p:spPr>
          <a:xfrm>
            <a:off x="7078502" y="2792619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22FCD23-E0CE-47CE-A38F-C007348CAE5F}"/>
              </a:ext>
            </a:extLst>
          </p:cNvPr>
          <p:cNvCxnSpPr>
            <a:cxnSpLocks/>
          </p:cNvCxnSpPr>
          <p:nvPr/>
        </p:nvCxnSpPr>
        <p:spPr>
          <a:xfrm>
            <a:off x="9576696" y="3659054"/>
            <a:ext cx="9306" cy="150146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A3795BB-7176-4307-82FF-258968EA76DF}"/>
              </a:ext>
            </a:extLst>
          </p:cNvPr>
          <p:cNvSpPr txBox="1"/>
          <p:nvPr/>
        </p:nvSpPr>
        <p:spPr>
          <a:xfrm>
            <a:off x="10252438" y="4226800"/>
            <a:ext cx="1216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Bends==0</a:t>
            </a:r>
            <a:endParaRPr lang="ko-KR" altLang="en-US" sz="1600" b="1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071EF26-0FE1-4099-805C-DB1F23DFB8FA}"/>
              </a:ext>
            </a:extLst>
          </p:cNvPr>
          <p:cNvSpPr/>
          <p:nvPr/>
        </p:nvSpPr>
        <p:spPr>
          <a:xfrm>
            <a:off x="9316688" y="4998768"/>
            <a:ext cx="269313" cy="1788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8293C38-E4B0-4FB8-94D4-78337F3A5E17}"/>
              </a:ext>
            </a:extLst>
          </p:cNvPr>
          <p:cNvSpPr/>
          <p:nvPr/>
        </p:nvSpPr>
        <p:spPr>
          <a:xfrm>
            <a:off x="8753361" y="5185201"/>
            <a:ext cx="1403837" cy="10590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OXIDE</a:t>
            </a:r>
            <a:endParaRPr lang="ko-KR" altLang="en-US" sz="8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8AFB3C1-9686-4DFB-B9C3-43F10F78A33C}"/>
              </a:ext>
            </a:extLst>
          </p:cNvPr>
          <p:cNvSpPr/>
          <p:nvPr/>
        </p:nvSpPr>
        <p:spPr>
          <a:xfrm>
            <a:off x="7673005" y="5280966"/>
            <a:ext cx="1071393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AB8B388-DC95-47F9-9FFF-069F76169C0D}"/>
              </a:ext>
            </a:extLst>
          </p:cNvPr>
          <p:cNvSpPr/>
          <p:nvPr/>
        </p:nvSpPr>
        <p:spPr>
          <a:xfrm>
            <a:off x="8761853" y="5307577"/>
            <a:ext cx="563174" cy="1172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N+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F96333E-10A6-4ADB-BB9A-7B65F2BA11CE}"/>
              </a:ext>
            </a:extLst>
          </p:cNvPr>
          <p:cNvSpPr/>
          <p:nvPr/>
        </p:nvSpPr>
        <p:spPr>
          <a:xfrm>
            <a:off x="10166162" y="5282293"/>
            <a:ext cx="1216602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578E82C-518E-46B4-BBC4-FDA80709FC99}"/>
              </a:ext>
            </a:extLst>
          </p:cNvPr>
          <p:cNvSpPr/>
          <p:nvPr/>
        </p:nvSpPr>
        <p:spPr>
          <a:xfrm>
            <a:off x="9590879" y="5303237"/>
            <a:ext cx="580161" cy="11282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N+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7466737-3E46-4278-A8E6-AF9D55AB4CB1}"/>
              </a:ext>
            </a:extLst>
          </p:cNvPr>
          <p:cNvCxnSpPr>
            <a:cxnSpLocks/>
          </p:cNvCxnSpPr>
          <p:nvPr/>
        </p:nvCxnSpPr>
        <p:spPr>
          <a:xfrm>
            <a:off x="9462621" y="3500709"/>
            <a:ext cx="848442" cy="789466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B20435CE-F7BC-4C57-B02B-2964D6CD9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042710"/>
              </p:ext>
            </p:extLst>
          </p:nvPr>
        </p:nvGraphicFramePr>
        <p:xfrm>
          <a:off x="88201" y="2988116"/>
          <a:ext cx="6158687" cy="383275"/>
        </p:xfrm>
        <a:graphic>
          <a:graphicData uri="http://schemas.openxmlformats.org/drawingml/2006/table">
            <a:tbl>
              <a:tblPr/>
              <a:tblGrid>
                <a:gridCol w="6158687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dirty="0"/>
                        <a:t>“</a:t>
                      </a:r>
                      <a:r>
                        <a:rPr lang="ko-KR" altLang="en-US" sz="1100" dirty="0"/>
                        <a:t>균일한 채널 형성과 안정적인 소자 특성을 위해 </a:t>
                      </a:r>
                      <a:r>
                        <a:rPr lang="en-US" altLang="ko-KR" sz="1100" dirty="0"/>
                        <a:t>Bent Gate</a:t>
                      </a:r>
                      <a:r>
                        <a:rPr lang="ko-KR" altLang="en-US" sz="1100" dirty="0"/>
                        <a:t>를 금지</a:t>
                      </a:r>
                      <a:r>
                        <a:rPr lang="en-US" altLang="ko-KR" sz="1100" dirty="0"/>
                        <a:t>. </a:t>
                      </a:r>
                      <a:r>
                        <a:rPr lang="ko-KR" altLang="en-US" sz="1100" dirty="0"/>
                        <a:t>직선 구조만 사용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633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1A615F-0987-489F-B4F5-E869AA0B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941" y="1199571"/>
            <a:ext cx="2709504" cy="1441661"/>
          </a:xfrm>
          <a:prstGeom prst="rect">
            <a:avLst/>
          </a:prstGeom>
        </p:spPr>
      </p:pic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247960E2-9396-46F6-84E1-2842D3EF5E5B}"/>
              </a:ext>
            </a:extLst>
          </p:cNvPr>
          <p:cNvCxnSpPr>
            <a:cxnSpLocks/>
          </p:cNvCxnSpPr>
          <p:nvPr/>
        </p:nvCxnSpPr>
        <p:spPr>
          <a:xfrm>
            <a:off x="8777187" y="4099029"/>
            <a:ext cx="0" cy="134223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26015315-07AD-44B0-B5A3-2B0B72F95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972" y="1448025"/>
            <a:ext cx="2667207" cy="2803986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805286"/>
              </p:ext>
            </p:extLst>
          </p:nvPr>
        </p:nvGraphicFramePr>
        <p:xfrm>
          <a:off x="767957" y="316664"/>
          <a:ext cx="1088587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511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1991227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817134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POLY.X.2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Bent Poly resistor is not allowed.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63852" y="1007496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870727" y="1007496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1ED8289-1AA2-4A5D-9182-BED7F57BB5F7}"/>
              </a:ext>
            </a:extLst>
          </p:cNvPr>
          <p:cNvSpPr/>
          <p:nvPr/>
        </p:nvSpPr>
        <p:spPr>
          <a:xfrm>
            <a:off x="7673005" y="5291103"/>
            <a:ext cx="370975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49B3CC2-F882-4E70-80CF-F301A5054971}"/>
              </a:ext>
            </a:extLst>
          </p:cNvPr>
          <p:cNvSpPr/>
          <p:nvPr/>
        </p:nvSpPr>
        <p:spPr>
          <a:xfrm>
            <a:off x="6689719" y="260795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4E9C89D-B631-4F6D-8A21-0DFB0262DC85}"/>
              </a:ext>
            </a:extLst>
          </p:cNvPr>
          <p:cNvCxnSpPr>
            <a:cxnSpLocks/>
          </p:cNvCxnSpPr>
          <p:nvPr/>
        </p:nvCxnSpPr>
        <p:spPr>
          <a:xfrm flipH="1">
            <a:off x="9071247" y="3765644"/>
            <a:ext cx="6606" cy="150146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BEB522C-2C79-434B-AA41-803A2DAA3736}"/>
              </a:ext>
            </a:extLst>
          </p:cNvPr>
          <p:cNvCxnSpPr>
            <a:cxnSpLocks/>
          </p:cNvCxnSpPr>
          <p:nvPr/>
        </p:nvCxnSpPr>
        <p:spPr>
          <a:xfrm flipH="1">
            <a:off x="9741416" y="4100604"/>
            <a:ext cx="9306" cy="120190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3168A77-6F6F-4853-88F0-37551CBAD669}"/>
              </a:ext>
            </a:extLst>
          </p:cNvPr>
          <p:cNvCxnSpPr>
            <a:cxnSpLocks/>
          </p:cNvCxnSpPr>
          <p:nvPr/>
        </p:nvCxnSpPr>
        <p:spPr>
          <a:xfrm>
            <a:off x="7078502" y="2792619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22FCD23-E0CE-47CE-A38F-C007348CAE5F}"/>
              </a:ext>
            </a:extLst>
          </p:cNvPr>
          <p:cNvCxnSpPr>
            <a:cxnSpLocks/>
          </p:cNvCxnSpPr>
          <p:nvPr/>
        </p:nvCxnSpPr>
        <p:spPr>
          <a:xfrm>
            <a:off x="9480948" y="3784565"/>
            <a:ext cx="9306" cy="150146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A3795BB-7176-4307-82FF-258968EA76DF}"/>
              </a:ext>
            </a:extLst>
          </p:cNvPr>
          <p:cNvSpPr txBox="1"/>
          <p:nvPr/>
        </p:nvSpPr>
        <p:spPr>
          <a:xfrm>
            <a:off x="10252438" y="4226800"/>
            <a:ext cx="1216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Bends==0</a:t>
            </a:r>
            <a:endParaRPr lang="ko-KR" altLang="en-US" sz="1600" b="1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071EF26-0FE1-4099-805C-DB1F23DFB8FA}"/>
              </a:ext>
            </a:extLst>
          </p:cNvPr>
          <p:cNvSpPr/>
          <p:nvPr/>
        </p:nvSpPr>
        <p:spPr>
          <a:xfrm>
            <a:off x="9074567" y="5059278"/>
            <a:ext cx="422633" cy="2432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8AFB3C1-9686-4DFB-B9C3-43F10F78A33C}"/>
              </a:ext>
            </a:extLst>
          </p:cNvPr>
          <p:cNvSpPr/>
          <p:nvPr/>
        </p:nvSpPr>
        <p:spPr>
          <a:xfrm>
            <a:off x="7673005" y="5280966"/>
            <a:ext cx="3709757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7466737-3E46-4278-A8E6-AF9D55AB4CB1}"/>
              </a:ext>
            </a:extLst>
          </p:cNvPr>
          <p:cNvCxnSpPr>
            <a:cxnSpLocks/>
          </p:cNvCxnSpPr>
          <p:nvPr/>
        </p:nvCxnSpPr>
        <p:spPr>
          <a:xfrm>
            <a:off x="9462621" y="3500709"/>
            <a:ext cx="848442" cy="789466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7CDB896D-4A1B-4A1F-B5A4-487BEC4EF5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232" y="3062038"/>
            <a:ext cx="3979777" cy="3593748"/>
          </a:xfrm>
          <a:prstGeom prst="rect">
            <a:avLst/>
          </a:prstGeom>
        </p:spPr>
      </p:pic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A0B395D2-A182-49C3-9AA3-18EFF79FD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072663"/>
              </p:ext>
            </p:extLst>
          </p:nvPr>
        </p:nvGraphicFramePr>
        <p:xfrm>
          <a:off x="408052" y="2600981"/>
          <a:ext cx="5674479" cy="383275"/>
        </p:xfrm>
        <a:graphic>
          <a:graphicData uri="http://schemas.openxmlformats.org/drawingml/2006/table">
            <a:tbl>
              <a:tblPr/>
              <a:tblGrid>
                <a:gridCol w="5674479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dirty="0"/>
                        <a:t>“</a:t>
                      </a:r>
                      <a:r>
                        <a:rPr lang="en-US" altLang="ko-KR" sz="1100" dirty="0"/>
                        <a:t>Current Crowding</a:t>
                      </a:r>
                      <a:r>
                        <a:rPr lang="ko-KR" altLang="en-US" sz="1100" dirty="0"/>
                        <a:t>과 </a:t>
                      </a:r>
                      <a:r>
                        <a:rPr lang="ko-KR" altLang="en-US" sz="1100" dirty="0" err="1"/>
                        <a:t>저항값</a:t>
                      </a:r>
                      <a:r>
                        <a:rPr lang="ko-KR" altLang="en-US" sz="1100" dirty="0"/>
                        <a:t> 오차를 방지하기 위해 </a:t>
                      </a:r>
                      <a:r>
                        <a:rPr lang="en-US" altLang="ko-KR" sz="1100" dirty="0"/>
                        <a:t>Bent Poly Resistor</a:t>
                      </a:r>
                      <a:r>
                        <a:rPr lang="ko-KR" altLang="en-US" sz="1100" dirty="0"/>
                        <a:t>를 금지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792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48688"/>
              </p:ext>
            </p:extLst>
          </p:nvPr>
        </p:nvGraphicFramePr>
        <p:xfrm>
          <a:off x="432201" y="165139"/>
          <a:ext cx="1132759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173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261937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688488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POLY.D.1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Maximum Poly density across full chip.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313681" y="1051981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E60C92E-7712-4102-8DA7-F7C338404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225" y="1051981"/>
            <a:ext cx="5964714" cy="55332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A52EC77-B152-4394-9C12-B90C296A2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81" y="1970432"/>
            <a:ext cx="4864543" cy="2805101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EBCF3AC-1061-44FE-8FBC-EC9E5D4BB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136869"/>
              </p:ext>
            </p:extLst>
          </p:nvPr>
        </p:nvGraphicFramePr>
        <p:xfrm>
          <a:off x="387978" y="4883818"/>
          <a:ext cx="4524676" cy="383275"/>
        </p:xfrm>
        <a:graphic>
          <a:graphicData uri="http://schemas.openxmlformats.org/drawingml/2006/table">
            <a:tbl>
              <a:tblPr/>
              <a:tblGrid>
                <a:gridCol w="4524676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dirty="0"/>
                        <a:t>“</a:t>
                      </a:r>
                      <a:r>
                        <a:rPr lang="en-US" altLang="ko-KR" sz="1100" dirty="0"/>
                        <a:t>Poly Density Ratio</a:t>
                      </a:r>
                      <a:r>
                        <a:rPr lang="ko-KR" altLang="en-US" sz="1100" dirty="0"/>
                        <a:t>를 제한하여 </a:t>
                      </a:r>
                      <a:r>
                        <a:rPr lang="en-US" altLang="ko-KR" sz="1100" dirty="0"/>
                        <a:t>CMP</a:t>
                      </a:r>
                      <a:r>
                        <a:rPr lang="ko-KR" altLang="en-US" sz="1100" dirty="0"/>
                        <a:t>와 </a:t>
                      </a:r>
                      <a:r>
                        <a:rPr lang="ko-KR" altLang="en-US" sz="1100" dirty="0" err="1"/>
                        <a:t>식각</a:t>
                      </a:r>
                      <a:r>
                        <a:rPr lang="ko-KR" altLang="en-US" sz="1100" dirty="0"/>
                        <a:t> 공정의 균일성을 확보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620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723832"/>
              </p:ext>
            </p:extLst>
          </p:nvPr>
        </p:nvGraphicFramePr>
        <p:xfrm>
          <a:off x="432201" y="165139"/>
          <a:ext cx="1132759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7804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448427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261367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POLY.SE.3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25.0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Poly segment length (width &lt; 0.14) between two contacts.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313681" y="1051981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C90450C-E253-4F8C-91C9-DFEED7942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74" y="1618345"/>
            <a:ext cx="3865396" cy="26042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9375360-0F60-416E-A6E1-4A8079B9E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133" y="1570219"/>
            <a:ext cx="4142512" cy="27329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3188B5B-DA81-4EF0-8985-DDFE5DC04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01" y="5102031"/>
            <a:ext cx="11327598" cy="822300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CF5CC43-A7E1-4952-AAD0-E3C39DA39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709306"/>
              </p:ext>
            </p:extLst>
          </p:nvPr>
        </p:nvGraphicFramePr>
        <p:xfrm>
          <a:off x="3582362" y="4487031"/>
          <a:ext cx="4524676" cy="426720"/>
        </p:xfrm>
        <a:graphic>
          <a:graphicData uri="http://schemas.openxmlformats.org/drawingml/2006/table">
            <a:tbl>
              <a:tblPr/>
              <a:tblGrid>
                <a:gridCol w="4524676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dirty="0"/>
                        <a:t>“</a:t>
                      </a:r>
                      <a:r>
                        <a:rPr lang="ko-KR" altLang="en-US" sz="1100" dirty="0"/>
                        <a:t>좁고 긴 </a:t>
                      </a:r>
                      <a:r>
                        <a:rPr lang="en-US" altLang="ko-KR" sz="1100" dirty="0"/>
                        <a:t>Poly</a:t>
                      </a:r>
                      <a:r>
                        <a:rPr lang="ko-KR" altLang="en-US" sz="1100" dirty="0"/>
                        <a:t>의 높은 저항과 </a:t>
                      </a:r>
                      <a:r>
                        <a:rPr lang="en-US" altLang="ko-KR" sz="1100" dirty="0"/>
                        <a:t>IR Drop</a:t>
                      </a:r>
                      <a:r>
                        <a:rPr lang="ko-KR" altLang="en-US" sz="1100" dirty="0"/>
                        <a:t>을 방지하기 위해 최대 </a:t>
                      </a:r>
                      <a:r>
                        <a:rPr lang="en-US" altLang="ko-KR" sz="1100" dirty="0"/>
                        <a:t>Poly Segment Length</a:t>
                      </a:r>
                      <a:r>
                        <a:rPr lang="ko-KR" altLang="en-US" sz="1100" dirty="0"/>
                        <a:t>를 제한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6345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974493"/>
              </p:ext>
            </p:extLst>
          </p:nvPr>
        </p:nvGraphicFramePr>
        <p:xfrm>
          <a:off x="432201" y="165139"/>
          <a:ext cx="1132759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041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135605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483952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POLY.A.1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</a:rPr>
                        <a:t>Minimum area for Poly interconnect.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313681" y="1051981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53C90D-C631-4929-A31E-8AB76E25B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828" y="1110302"/>
            <a:ext cx="5840113" cy="54932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BB5D030-882D-4E32-9658-3646F2474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" y="2329924"/>
            <a:ext cx="3851044" cy="2717324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855048-A5E6-4F59-8019-88D732CEF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289312"/>
              </p:ext>
            </p:extLst>
          </p:nvPr>
        </p:nvGraphicFramePr>
        <p:xfrm>
          <a:off x="313681" y="5234920"/>
          <a:ext cx="4685440" cy="383275"/>
        </p:xfrm>
        <a:graphic>
          <a:graphicData uri="http://schemas.openxmlformats.org/drawingml/2006/table">
            <a:tbl>
              <a:tblPr/>
              <a:tblGrid>
                <a:gridCol w="4685440">
                  <a:extLst>
                    <a:ext uri="{9D8B030D-6E8A-4147-A177-3AD203B41FA5}">
                      <a16:colId xmlns:a16="http://schemas.microsoft.com/office/drawing/2014/main" val="1970244596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dirty="0"/>
                        <a:t>“</a:t>
                      </a:r>
                      <a:r>
                        <a:rPr lang="ko-KR" altLang="en-US" sz="1100" dirty="0"/>
                        <a:t>공정에서 안정적으로 패턴을 형성하기 위해 </a:t>
                      </a:r>
                      <a:r>
                        <a:rPr lang="en-US" altLang="ko-KR" sz="1100" dirty="0"/>
                        <a:t>Poly</a:t>
                      </a:r>
                      <a:r>
                        <a:rPr lang="ko-KR" altLang="en-US" sz="1100" dirty="0"/>
                        <a:t>의 최소 면적을 확보</a:t>
                      </a:r>
                      <a:r>
                        <a:rPr lang="en-US" altLang="ko-KR" sz="1100" b="0" dirty="0"/>
                        <a:t>”</a:t>
                      </a:r>
                      <a:endParaRPr lang="ko-KR" altLang="en-US" sz="11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624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122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945</Words>
  <Application>Microsoft Office PowerPoint</Application>
  <PresentationFormat>와이드스크린</PresentationFormat>
  <Paragraphs>286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맑은 고딕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fl25</dc:creator>
  <cp:lastModifiedBy>fl27</cp:lastModifiedBy>
  <cp:revision>222</cp:revision>
  <dcterms:created xsi:type="dcterms:W3CDTF">2026-07-24T02:17:51Z</dcterms:created>
  <dcterms:modified xsi:type="dcterms:W3CDTF">2026-07-28T04:55:28Z</dcterms:modified>
</cp:coreProperties>
</file>