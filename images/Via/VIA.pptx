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99" r:id="rId2"/>
    <p:sldId id="300" r:id="rId3"/>
    <p:sldId id="301" r:id="rId4"/>
    <p:sldId id="302" r:id="rId5"/>
    <p:sldId id="303" r:id="rId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93" autoAdjust="0"/>
    <p:restoredTop sz="94660"/>
  </p:normalViewPr>
  <p:slideViewPr>
    <p:cSldViewPr snapToGrid="0">
      <p:cViewPr varScale="1">
        <p:scale>
          <a:sx n="67" d="100"/>
          <a:sy n="67" d="100"/>
        </p:scale>
        <p:origin x="66" y="36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27283D6-1727-45A8-8CE9-4944202C59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CF367F7C-8290-4ACA-BB43-1130600D00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63729E9-F757-4728-9FC7-3FB1E75475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55DD0A-9800-4D7F-A1F4-07AFF294D751}" type="datetimeFigureOut">
              <a:rPr lang="ko-KR" altLang="en-US" smtClean="0"/>
              <a:t>2026-07-27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3CE257B-6790-475F-9E54-C2668A4508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6D58366-BECB-460E-9989-ED5FCBB7D2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2DD183-DD2C-4A58-8BE8-FFF0E49BDA3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118077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87DD2BD-353C-44E0-9650-BE16FD369C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47DE8E9-83C3-4236-8117-A81B2D556F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6186956-F942-485E-B538-DDFE502815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55DD0A-9800-4D7F-A1F4-07AFF294D751}" type="datetimeFigureOut">
              <a:rPr lang="ko-KR" altLang="en-US" smtClean="0"/>
              <a:t>2026-07-27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7C65DD6-3B92-4374-B252-2026697F3B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7056534-1365-432E-8039-002C5823A9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2DD183-DD2C-4A58-8BE8-FFF0E49BDA3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018832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826BBE1-E449-417A-A9B7-13FC580930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362BE09-C467-4F2C-8045-76066B4E6D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E2802A9-A92B-4CD0-AE65-D4FDB22DFF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55DD0A-9800-4D7F-A1F4-07AFF294D751}" type="datetimeFigureOut">
              <a:rPr lang="ko-KR" altLang="en-US" smtClean="0"/>
              <a:t>2026-07-27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792C215-0FC8-44A7-98F8-A7367D2884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97AC22A-1D51-4B45-9D54-3D4E140614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2DD183-DD2C-4A58-8BE8-FFF0E49BDA3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844821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60979B2-BD31-47CF-9851-DA309D89D7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D348A28-9188-444A-945B-13352DC2059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7604FF0-193D-460E-AC5F-77ECEB374A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C023BD4-6971-411A-9C21-7BE41A65E5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55DD0A-9800-4D7F-A1F4-07AFF294D751}" type="datetimeFigureOut">
              <a:rPr lang="ko-KR" altLang="en-US" smtClean="0"/>
              <a:t>2026-07-27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6F4D53C-37F4-462B-9AEF-865AB3FF41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ED39237-4573-4A9F-9845-ED9BBCF043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2DD183-DD2C-4A58-8BE8-FFF0E49BDA3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843922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34B755F-F715-4AA6-B19B-FC7771799F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4B6201F-009E-4837-B054-4B72052614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F8E06D3-BF54-405F-9ECF-822EAC2C88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79623F35-787A-43B2-B52E-12773BDC74E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EF2F74C5-968F-41A7-ACBE-8E607405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792FBD3C-F546-4C56-936C-B6E388CCC3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55DD0A-9800-4D7F-A1F4-07AFF294D751}" type="datetimeFigureOut">
              <a:rPr lang="ko-KR" altLang="en-US" smtClean="0"/>
              <a:t>2026-07-27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A4C5EB12-FBAB-4039-BF21-6E902DB611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F03BB1AF-DA38-49B3-BD38-EF02EE6588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2DD183-DD2C-4A58-8BE8-FFF0E49BDA3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72963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6E99EFB-B621-4465-922B-249357AB2C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DE5EEE7A-E28F-47BB-85E7-4CA7CFFC6D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55DD0A-9800-4D7F-A1F4-07AFF294D751}" type="datetimeFigureOut">
              <a:rPr lang="ko-KR" altLang="en-US" smtClean="0"/>
              <a:t>2026-07-27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E077676-B266-4692-BE88-3EC895B065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F51E871-E7B9-4FDC-A6A0-0DCA5018F8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2DD183-DD2C-4A58-8BE8-FFF0E49BDA3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298978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C593E96C-BACD-4169-9AB3-280FE54544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55DD0A-9800-4D7F-A1F4-07AFF294D751}" type="datetimeFigureOut">
              <a:rPr lang="ko-KR" altLang="en-US" smtClean="0"/>
              <a:t>2026-07-27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81D30B8E-78F8-4512-BA12-CA82E42E91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4BE6338-9414-4620-B312-01B80B021B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2DD183-DD2C-4A58-8BE8-FFF0E49BDA3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08091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112C242-E4ED-458A-A933-F0A5565A52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56F7DA3-9788-4179-BB33-F6DD312C41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846B39D-A4CE-4137-BAEE-90953D51E1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3E860B7-4E59-4444-9618-27C97ADDFE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55DD0A-9800-4D7F-A1F4-07AFF294D751}" type="datetimeFigureOut">
              <a:rPr lang="ko-KR" altLang="en-US" smtClean="0"/>
              <a:t>2026-07-27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0A52261-4516-4745-979D-B0FFBF8A1D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73523AA-E637-4E4D-9FF2-A36A92F846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2DD183-DD2C-4A58-8BE8-FFF0E49BDA3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404111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54E3B20-3BEE-47B6-AF35-B2DD870510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6C71CDF1-528A-4757-A97E-8DD481712AC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C965D39-6682-4D25-BB99-F086E5EEA0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203A30A-2625-4D5B-BBC8-8E0B4811E2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55DD0A-9800-4D7F-A1F4-07AFF294D751}" type="datetimeFigureOut">
              <a:rPr lang="ko-KR" altLang="en-US" smtClean="0"/>
              <a:t>2026-07-27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D8A3CE9-A253-4BF3-B74B-511F0E9B7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23B1311-95CF-464F-96BE-2C567C48D8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2DD183-DD2C-4A58-8BE8-FFF0E49BDA3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059587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041D027-CF0B-455D-91B8-66BB5B460C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67A80CF-A560-40E7-B914-4ED7EBD45F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A170672-FDC2-488B-827B-A48BBA77E4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55DD0A-9800-4D7F-A1F4-07AFF294D751}" type="datetimeFigureOut">
              <a:rPr lang="ko-KR" altLang="en-US" smtClean="0"/>
              <a:t>2026-07-27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2FA752D-0418-4352-8E52-FC316D0BD7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F3DFDAC-8E5F-46AF-A0C4-E209327EFF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2DD183-DD2C-4A58-8BE8-FFF0E49BDA3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219004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D15922A3-8945-42C6-95CF-6941CB5B549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3093DB4-AD7E-49E6-9886-0DFE9BC094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BD3C1B0-D96B-42DF-8FCE-606F91E6B1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55DD0A-9800-4D7F-A1F4-07AFF294D751}" type="datetimeFigureOut">
              <a:rPr lang="ko-KR" altLang="en-US" smtClean="0"/>
              <a:t>2026-07-27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1AA4474-C8AB-4CA7-A7B5-84BFBDE420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4BB173E-88C8-4C86-B182-CB2503D9A4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2DD183-DD2C-4A58-8BE8-FFF0E49BDA3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56147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26F7D7CF-B489-40E6-82FA-72ADF9BC6F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F76330B-B73B-48B8-AE2D-1534B16F5A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2D24A0E-1D97-4FD3-8801-055609BA02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55DD0A-9800-4D7F-A1F4-07AFF294D751}" type="datetimeFigureOut">
              <a:rPr lang="ko-KR" altLang="en-US" smtClean="0"/>
              <a:t>2026-07-27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5B9141D-9B18-41D9-99E4-6CEAB5ACE2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03F0FBE-FFC0-4CE1-BE38-1C5AEE45BF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2DD183-DD2C-4A58-8BE8-FFF0E49BDA3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465577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>
            <a:extLst>
              <a:ext uri="{FF2B5EF4-FFF2-40B4-BE49-F238E27FC236}">
                <a16:creationId xmlns:a16="http://schemas.microsoft.com/office/drawing/2014/main" id="{1EB4393F-4D5C-4D00-ADA2-599C4A9F95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13379" y="1262018"/>
            <a:ext cx="1626819" cy="1442916"/>
          </a:xfrm>
          <a:prstGeom prst="rect">
            <a:avLst/>
          </a:prstGeom>
        </p:spPr>
      </p:pic>
      <p:sp>
        <p:nvSpPr>
          <p:cNvPr id="33" name="직사각형 32">
            <a:extLst>
              <a:ext uri="{FF2B5EF4-FFF2-40B4-BE49-F238E27FC236}">
                <a16:creationId xmlns:a16="http://schemas.microsoft.com/office/drawing/2014/main" id="{4E63E01D-6A3E-456F-BA40-9082233BF4F7}"/>
              </a:ext>
            </a:extLst>
          </p:cNvPr>
          <p:cNvSpPr/>
          <p:nvPr/>
        </p:nvSpPr>
        <p:spPr>
          <a:xfrm>
            <a:off x="7673005" y="5291103"/>
            <a:ext cx="3709759" cy="1125889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Substrate</a:t>
            </a:r>
            <a:endParaRPr lang="ko-KR" altLang="en-US" dirty="0"/>
          </a:p>
        </p:txBody>
      </p:sp>
      <p:cxnSp>
        <p:nvCxnSpPr>
          <p:cNvPr id="41" name="직선 연결선 40">
            <a:extLst>
              <a:ext uri="{FF2B5EF4-FFF2-40B4-BE49-F238E27FC236}">
                <a16:creationId xmlns:a16="http://schemas.microsoft.com/office/drawing/2014/main" id="{238F5E85-37BE-4FD3-969B-986469085B45}"/>
              </a:ext>
            </a:extLst>
          </p:cNvPr>
          <p:cNvCxnSpPr>
            <a:cxnSpLocks/>
          </p:cNvCxnSpPr>
          <p:nvPr/>
        </p:nvCxnSpPr>
        <p:spPr>
          <a:xfrm>
            <a:off x="6223574" y="749390"/>
            <a:ext cx="0" cy="5668864"/>
          </a:xfrm>
          <a:prstGeom prst="line">
            <a:avLst/>
          </a:prstGeom>
          <a:ln w="158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0" name="표 19">
            <a:extLst>
              <a:ext uri="{FF2B5EF4-FFF2-40B4-BE49-F238E27FC236}">
                <a16:creationId xmlns:a16="http://schemas.microsoft.com/office/drawing/2014/main" id="{C7828834-3D4A-489D-B31F-CDF6EEA510E0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432201" y="165139"/>
          <a:ext cx="11327598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75866">
                  <a:extLst>
                    <a:ext uri="{9D8B030D-6E8A-4147-A177-3AD203B41FA5}">
                      <a16:colId xmlns:a16="http://schemas.microsoft.com/office/drawing/2014/main" val="3874033937"/>
                    </a:ext>
                  </a:extLst>
                </a:gridCol>
                <a:gridCol w="3775866">
                  <a:extLst>
                    <a:ext uri="{9D8B030D-6E8A-4147-A177-3AD203B41FA5}">
                      <a16:colId xmlns:a16="http://schemas.microsoft.com/office/drawing/2014/main" val="1105405848"/>
                    </a:ext>
                  </a:extLst>
                </a:gridCol>
                <a:gridCol w="3775866">
                  <a:extLst>
                    <a:ext uri="{9D8B030D-6E8A-4147-A177-3AD203B41FA5}">
                      <a16:colId xmlns:a16="http://schemas.microsoft.com/office/drawing/2014/main" val="2992235816"/>
                    </a:ext>
                  </a:extLst>
                </a:gridCol>
              </a:tblGrid>
              <a:tr h="33923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>
                          <a:solidFill>
                            <a:schemeClr val="tx1"/>
                          </a:solidFill>
                        </a:rPr>
                        <a:t>Rule Name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Value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1766925"/>
                  </a:ext>
                </a:extLst>
              </a:tr>
              <a:tr h="32923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VIAk.W.1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0.14um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Minimum and Maximum Via k width.</a:t>
                      </a:r>
                      <a:endParaRPr lang="ko-KR" altLang="en-US" sz="1000" b="1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5480813"/>
                  </a:ext>
                </a:extLst>
              </a:tr>
            </a:tbl>
          </a:graphicData>
        </a:graphic>
      </p:graphicFrame>
      <p:sp>
        <p:nvSpPr>
          <p:cNvPr id="32" name="TextBox 31">
            <a:extLst>
              <a:ext uri="{FF2B5EF4-FFF2-40B4-BE49-F238E27FC236}">
                <a16:creationId xmlns:a16="http://schemas.microsoft.com/office/drawing/2014/main" id="{91C5C929-8669-440E-BF5C-9FB66113EA81}"/>
              </a:ext>
            </a:extLst>
          </p:cNvPr>
          <p:cNvSpPr txBox="1"/>
          <p:nvPr/>
        </p:nvSpPr>
        <p:spPr>
          <a:xfrm>
            <a:off x="6451820" y="882704"/>
            <a:ext cx="480621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altLang="ko-KR" sz="1600" dirty="0"/>
              <a:t>Cadence Reproducing and vertical structure</a:t>
            </a:r>
            <a:endParaRPr lang="ko-KR" altLang="en-US" sz="1600" dirty="0"/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F449DACE-48BB-4606-AF0C-A4616B80C8C0}"/>
              </a:ext>
            </a:extLst>
          </p:cNvPr>
          <p:cNvSpPr/>
          <p:nvPr/>
        </p:nvSpPr>
        <p:spPr>
          <a:xfrm>
            <a:off x="281181" y="1047102"/>
            <a:ext cx="399340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altLang="ko-KR" dirty="0"/>
              <a:t>Schematic in Design Rule Manual</a:t>
            </a:r>
            <a:endParaRPr lang="ko-KR" altLang="en-US" dirty="0"/>
          </a:p>
        </p:txBody>
      </p:sp>
      <p:cxnSp>
        <p:nvCxnSpPr>
          <p:cNvPr id="35" name="직선 연결선 34">
            <a:extLst>
              <a:ext uri="{FF2B5EF4-FFF2-40B4-BE49-F238E27FC236}">
                <a16:creationId xmlns:a16="http://schemas.microsoft.com/office/drawing/2014/main" id="{25B80CA3-1924-4A81-9CDC-9C90BD983074}"/>
              </a:ext>
            </a:extLst>
          </p:cNvPr>
          <p:cNvCxnSpPr>
            <a:cxnSpLocks/>
          </p:cNvCxnSpPr>
          <p:nvPr/>
        </p:nvCxnSpPr>
        <p:spPr>
          <a:xfrm>
            <a:off x="9015252" y="3154341"/>
            <a:ext cx="812521" cy="0"/>
          </a:xfrm>
          <a:prstGeom prst="line">
            <a:avLst/>
          </a:prstGeom>
          <a:ln w="19050"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직선 연결선 27">
            <a:extLst>
              <a:ext uri="{FF2B5EF4-FFF2-40B4-BE49-F238E27FC236}">
                <a16:creationId xmlns:a16="http://schemas.microsoft.com/office/drawing/2014/main" id="{CA0C275A-7E7C-4DA1-9DD6-EFBB505040C1}"/>
              </a:ext>
            </a:extLst>
          </p:cNvPr>
          <p:cNvCxnSpPr>
            <a:cxnSpLocks/>
          </p:cNvCxnSpPr>
          <p:nvPr/>
        </p:nvCxnSpPr>
        <p:spPr>
          <a:xfrm>
            <a:off x="8966425" y="2440073"/>
            <a:ext cx="8964" cy="2408415"/>
          </a:xfrm>
          <a:prstGeom prst="line">
            <a:avLst/>
          </a:prstGeom>
          <a:ln w="158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직선 연결선 59">
            <a:extLst>
              <a:ext uri="{FF2B5EF4-FFF2-40B4-BE49-F238E27FC236}">
                <a16:creationId xmlns:a16="http://schemas.microsoft.com/office/drawing/2014/main" id="{E48B14DF-B479-416F-88E3-87784B5768BC}"/>
              </a:ext>
            </a:extLst>
          </p:cNvPr>
          <p:cNvCxnSpPr>
            <a:cxnSpLocks/>
          </p:cNvCxnSpPr>
          <p:nvPr/>
        </p:nvCxnSpPr>
        <p:spPr>
          <a:xfrm>
            <a:off x="9858154" y="2440073"/>
            <a:ext cx="8964" cy="2428683"/>
          </a:xfrm>
          <a:prstGeom prst="line">
            <a:avLst/>
          </a:prstGeom>
          <a:ln w="158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D6FBF2E5-3D52-4429-86EA-5DC8B5BB59B2}"/>
              </a:ext>
            </a:extLst>
          </p:cNvPr>
          <p:cNvSpPr txBox="1"/>
          <p:nvPr/>
        </p:nvSpPr>
        <p:spPr>
          <a:xfrm>
            <a:off x="8975389" y="2768959"/>
            <a:ext cx="99998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/>
              <a:t>0.14um</a:t>
            </a:r>
            <a:endParaRPr lang="ko-KR" altLang="en-US" sz="1600" b="1" dirty="0"/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4C086384-4A50-4F61-896B-D21A8A7149D3}"/>
              </a:ext>
            </a:extLst>
          </p:cNvPr>
          <p:cNvSpPr/>
          <p:nvPr/>
        </p:nvSpPr>
        <p:spPr>
          <a:xfrm>
            <a:off x="7664041" y="5410372"/>
            <a:ext cx="3709755" cy="330868"/>
          </a:xfrm>
          <a:prstGeom prst="rect">
            <a:avLst/>
          </a:prstGeom>
          <a:ln>
            <a:solidFill>
              <a:schemeClr val="accent5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STI</a:t>
            </a:r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DB07D08D-59A4-4E98-8420-3AF89B3C4AB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5142" y="4095070"/>
            <a:ext cx="2863813" cy="2540075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6A797740-1115-4994-B4BE-DF173BF462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000" y="1875112"/>
            <a:ext cx="2120585" cy="1034113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DC70DF37-EC25-431C-8EAB-FA884DC07C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94829" y="1469165"/>
            <a:ext cx="1979315" cy="1872805"/>
          </a:xfrm>
          <a:prstGeom prst="rect">
            <a:avLst/>
          </a:prstGeom>
        </p:spPr>
      </p:pic>
      <p:sp>
        <p:nvSpPr>
          <p:cNvPr id="30" name="직사각형 29">
            <a:extLst>
              <a:ext uri="{FF2B5EF4-FFF2-40B4-BE49-F238E27FC236}">
                <a16:creationId xmlns:a16="http://schemas.microsoft.com/office/drawing/2014/main" id="{4CDD4B53-DA31-4401-9133-87D6FCEEA7D3}"/>
              </a:ext>
            </a:extLst>
          </p:cNvPr>
          <p:cNvSpPr/>
          <p:nvPr/>
        </p:nvSpPr>
        <p:spPr>
          <a:xfrm>
            <a:off x="416946" y="3356406"/>
            <a:ext cx="563968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/>
              <a:t>Via7, Via8 Minimum and Maximum width = 0.36um</a:t>
            </a:r>
            <a:endParaRPr lang="ko-KR" altLang="en-US" dirty="0"/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4ADBC8A0-DA74-40EF-BE89-7A8004D567C6}"/>
              </a:ext>
            </a:extLst>
          </p:cNvPr>
          <p:cNvSpPr/>
          <p:nvPr/>
        </p:nvSpPr>
        <p:spPr>
          <a:xfrm>
            <a:off x="7673005" y="5003766"/>
            <a:ext cx="3718723" cy="424658"/>
          </a:xfrm>
          <a:prstGeom prst="rect">
            <a:avLst/>
          </a:prstGeom>
          <a:pattFill prst="pct5">
            <a:fgClr>
              <a:srgbClr val="0070C0"/>
            </a:fgClr>
            <a:bgClr>
              <a:schemeClr val="bg1"/>
            </a:bgClr>
          </a:patt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dirty="0">
                <a:solidFill>
                  <a:schemeClr val="tx1"/>
                </a:solidFill>
              </a:rPr>
              <a:t>ILD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A6CC5E54-4AD2-4882-9D56-C2EF635012A5}"/>
              </a:ext>
            </a:extLst>
          </p:cNvPr>
          <p:cNvSpPr/>
          <p:nvPr/>
        </p:nvSpPr>
        <p:spPr>
          <a:xfrm>
            <a:off x="416946" y="3725738"/>
            <a:ext cx="5500224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100" dirty="0"/>
              <a:t>“Via</a:t>
            </a:r>
            <a:r>
              <a:rPr lang="ko-KR" altLang="en-US" sz="1100" dirty="0"/>
              <a:t>의 폭을 적절한 범위로 제한하여 </a:t>
            </a:r>
            <a:r>
              <a:rPr lang="ko-KR" altLang="en-US" sz="1100" dirty="0" err="1"/>
              <a:t>금속층</a:t>
            </a:r>
            <a:r>
              <a:rPr lang="ko-KR" altLang="en-US" sz="1100" dirty="0"/>
              <a:t> 간 안정적인 연결과 공정 신뢰성을 확보</a:t>
            </a:r>
            <a:r>
              <a:rPr lang="en-US" altLang="ko-KR" sz="1100" dirty="0"/>
              <a:t>”</a:t>
            </a:r>
            <a:endParaRPr lang="ko-KR" altLang="en-US" sz="1100" dirty="0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A91809F0-2E3C-4D8A-BF40-49F4CC511A50}"/>
              </a:ext>
            </a:extLst>
          </p:cNvPr>
          <p:cNvSpPr/>
          <p:nvPr/>
        </p:nvSpPr>
        <p:spPr>
          <a:xfrm>
            <a:off x="8430094" y="4849087"/>
            <a:ext cx="1910104" cy="14970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metal1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1B53FEDE-1767-4D4A-814A-87FC61F0D186}"/>
              </a:ext>
            </a:extLst>
          </p:cNvPr>
          <p:cNvSpPr/>
          <p:nvPr/>
        </p:nvSpPr>
        <p:spPr>
          <a:xfrm>
            <a:off x="7681919" y="4512071"/>
            <a:ext cx="1474422" cy="330868"/>
          </a:xfrm>
          <a:prstGeom prst="rect">
            <a:avLst/>
          </a:prstGeom>
          <a:pattFill prst="ltDnDiag">
            <a:fgClr>
              <a:srgbClr val="0070C0"/>
            </a:fgClr>
            <a:bgClr>
              <a:schemeClr val="bg1"/>
            </a:bgClr>
          </a:patt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IMD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5C153430-A2B8-4487-AF3E-4A9FFBD3018E}"/>
              </a:ext>
            </a:extLst>
          </p:cNvPr>
          <p:cNvSpPr/>
          <p:nvPr/>
        </p:nvSpPr>
        <p:spPr>
          <a:xfrm>
            <a:off x="9692407" y="4513544"/>
            <a:ext cx="1698613" cy="330868"/>
          </a:xfrm>
          <a:prstGeom prst="rect">
            <a:avLst/>
          </a:prstGeom>
          <a:pattFill prst="ltDnDiag">
            <a:fgClr>
              <a:srgbClr val="0070C0"/>
            </a:fgClr>
            <a:bgClr>
              <a:schemeClr val="bg1"/>
            </a:bgClr>
          </a:patt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IMD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44" name="사다리꼴 43">
            <a:extLst>
              <a:ext uri="{FF2B5EF4-FFF2-40B4-BE49-F238E27FC236}">
                <a16:creationId xmlns:a16="http://schemas.microsoft.com/office/drawing/2014/main" id="{33B3F807-E19D-42C6-A045-BA0F91329912}"/>
              </a:ext>
            </a:extLst>
          </p:cNvPr>
          <p:cNvSpPr/>
          <p:nvPr/>
        </p:nvSpPr>
        <p:spPr>
          <a:xfrm flipV="1">
            <a:off x="8984353" y="4497906"/>
            <a:ext cx="882765" cy="338686"/>
          </a:xfrm>
          <a:prstGeom prst="trapezoid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533F1F5C-0B7A-470D-BFD4-975CF046F25D}"/>
              </a:ext>
            </a:extLst>
          </p:cNvPr>
          <p:cNvSpPr/>
          <p:nvPr/>
        </p:nvSpPr>
        <p:spPr>
          <a:xfrm>
            <a:off x="8774232" y="4382038"/>
            <a:ext cx="1332283" cy="12747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metal2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2546CFFA-AE53-43D4-BB82-400FB979685E}"/>
              </a:ext>
            </a:extLst>
          </p:cNvPr>
          <p:cNvSpPr/>
          <p:nvPr/>
        </p:nvSpPr>
        <p:spPr>
          <a:xfrm>
            <a:off x="7682058" y="4379051"/>
            <a:ext cx="1101227" cy="127471"/>
          </a:xfrm>
          <a:prstGeom prst="rect">
            <a:avLst/>
          </a:prstGeom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35ACD2E3-6D43-41F8-93D3-3E09D59E79BA}"/>
              </a:ext>
            </a:extLst>
          </p:cNvPr>
          <p:cNvSpPr/>
          <p:nvPr/>
        </p:nvSpPr>
        <p:spPr>
          <a:xfrm>
            <a:off x="10102378" y="4374218"/>
            <a:ext cx="1288642" cy="132304"/>
          </a:xfrm>
          <a:prstGeom prst="rect">
            <a:avLst/>
          </a:prstGeom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/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A2CDD20C-4739-41A7-BBBC-C7ABE74B31FC}"/>
              </a:ext>
            </a:extLst>
          </p:cNvPr>
          <p:cNvSpPr/>
          <p:nvPr/>
        </p:nvSpPr>
        <p:spPr>
          <a:xfrm>
            <a:off x="10340198" y="4836592"/>
            <a:ext cx="1050822" cy="160650"/>
          </a:xfrm>
          <a:prstGeom prst="rect">
            <a:avLst/>
          </a:prstGeom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/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B885C4B0-0137-447D-B947-3222B1763FFA}"/>
              </a:ext>
            </a:extLst>
          </p:cNvPr>
          <p:cNvSpPr/>
          <p:nvPr/>
        </p:nvSpPr>
        <p:spPr>
          <a:xfrm>
            <a:off x="7673005" y="4845358"/>
            <a:ext cx="746125" cy="159176"/>
          </a:xfrm>
          <a:prstGeom prst="rect">
            <a:avLst/>
          </a:prstGeom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/>
          </a:p>
        </p:txBody>
      </p:sp>
    </p:spTree>
    <p:extLst>
      <p:ext uri="{BB962C8B-B14F-4D97-AF65-F5344CB8AC3E}">
        <p14:creationId xmlns:p14="http://schemas.microsoft.com/office/powerpoint/2010/main" val="41443005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>
            <a:extLst>
              <a:ext uri="{FF2B5EF4-FFF2-40B4-BE49-F238E27FC236}">
                <a16:creationId xmlns:a16="http://schemas.microsoft.com/office/drawing/2014/main" id="{34BA1DCD-FB5D-464B-BA73-419E83B328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58153" y="1268086"/>
            <a:ext cx="2992977" cy="1363596"/>
          </a:xfrm>
          <a:prstGeom prst="rect">
            <a:avLst/>
          </a:prstGeom>
        </p:spPr>
      </p:pic>
      <p:cxnSp>
        <p:nvCxnSpPr>
          <p:cNvPr id="41" name="직선 연결선 40">
            <a:extLst>
              <a:ext uri="{FF2B5EF4-FFF2-40B4-BE49-F238E27FC236}">
                <a16:creationId xmlns:a16="http://schemas.microsoft.com/office/drawing/2014/main" id="{238F5E85-37BE-4FD3-969B-986469085B45}"/>
              </a:ext>
            </a:extLst>
          </p:cNvPr>
          <p:cNvCxnSpPr>
            <a:cxnSpLocks/>
          </p:cNvCxnSpPr>
          <p:nvPr/>
        </p:nvCxnSpPr>
        <p:spPr>
          <a:xfrm>
            <a:off x="6223574" y="749390"/>
            <a:ext cx="0" cy="5668864"/>
          </a:xfrm>
          <a:prstGeom prst="line">
            <a:avLst/>
          </a:prstGeom>
          <a:ln w="158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0" name="표 19">
            <a:extLst>
              <a:ext uri="{FF2B5EF4-FFF2-40B4-BE49-F238E27FC236}">
                <a16:creationId xmlns:a16="http://schemas.microsoft.com/office/drawing/2014/main" id="{C7828834-3D4A-489D-B31F-CDF6EEA510E0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432201" y="165139"/>
          <a:ext cx="11327598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75866">
                  <a:extLst>
                    <a:ext uri="{9D8B030D-6E8A-4147-A177-3AD203B41FA5}">
                      <a16:colId xmlns:a16="http://schemas.microsoft.com/office/drawing/2014/main" val="3874033937"/>
                    </a:ext>
                  </a:extLst>
                </a:gridCol>
                <a:gridCol w="3775866">
                  <a:extLst>
                    <a:ext uri="{9D8B030D-6E8A-4147-A177-3AD203B41FA5}">
                      <a16:colId xmlns:a16="http://schemas.microsoft.com/office/drawing/2014/main" val="1105405848"/>
                    </a:ext>
                  </a:extLst>
                </a:gridCol>
                <a:gridCol w="3775866">
                  <a:extLst>
                    <a:ext uri="{9D8B030D-6E8A-4147-A177-3AD203B41FA5}">
                      <a16:colId xmlns:a16="http://schemas.microsoft.com/office/drawing/2014/main" val="2992235816"/>
                    </a:ext>
                  </a:extLst>
                </a:gridCol>
              </a:tblGrid>
              <a:tr h="33923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>
                          <a:solidFill>
                            <a:schemeClr val="tx1"/>
                          </a:solidFill>
                        </a:rPr>
                        <a:t>Rule Name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Value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1766925"/>
                  </a:ext>
                </a:extLst>
              </a:tr>
              <a:tr h="32923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VIAk.SP.1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0.15um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Minimum Via k to Via k spacing.</a:t>
                      </a:r>
                      <a:endParaRPr lang="ko-KR" altLang="en-US" sz="1000" b="1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5480813"/>
                  </a:ext>
                </a:extLst>
              </a:tr>
            </a:tbl>
          </a:graphicData>
        </a:graphic>
      </p:graphicFrame>
      <p:sp>
        <p:nvSpPr>
          <p:cNvPr id="32" name="TextBox 31">
            <a:extLst>
              <a:ext uri="{FF2B5EF4-FFF2-40B4-BE49-F238E27FC236}">
                <a16:creationId xmlns:a16="http://schemas.microsoft.com/office/drawing/2014/main" id="{91C5C929-8669-440E-BF5C-9FB66113EA81}"/>
              </a:ext>
            </a:extLst>
          </p:cNvPr>
          <p:cNvSpPr txBox="1"/>
          <p:nvPr/>
        </p:nvSpPr>
        <p:spPr>
          <a:xfrm>
            <a:off x="6451820" y="882704"/>
            <a:ext cx="480621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altLang="ko-KR" sz="1600" dirty="0"/>
              <a:t>Cadence Reproducing and vertical structure</a:t>
            </a:r>
            <a:endParaRPr lang="ko-KR" altLang="en-US" sz="1600" dirty="0"/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F449DACE-48BB-4606-AF0C-A4616B80C8C0}"/>
              </a:ext>
            </a:extLst>
          </p:cNvPr>
          <p:cNvSpPr/>
          <p:nvPr/>
        </p:nvSpPr>
        <p:spPr>
          <a:xfrm>
            <a:off x="281181" y="1047102"/>
            <a:ext cx="399340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altLang="ko-KR" dirty="0"/>
              <a:t>Schematic in Design Rule Manual</a:t>
            </a:r>
            <a:endParaRPr lang="ko-KR" altLang="en-US" dirty="0"/>
          </a:p>
        </p:txBody>
      </p:sp>
      <p:cxnSp>
        <p:nvCxnSpPr>
          <p:cNvPr id="28" name="직선 연결선 27">
            <a:extLst>
              <a:ext uri="{FF2B5EF4-FFF2-40B4-BE49-F238E27FC236}">
                <a16:creationId xmlns:a16="http://schemas.microsoft.com/office/drawing/2014/main" id="{CA0C275A-7E7C-4DA1-9DD6-EFBB505040C1}"/>
              </a:ext>
            </a:extLst>
          </p:cNvPr>
          <p:cNvCxnSpPr>
            <a:cxnSpLocks/>
          </p:cNvCxnSpPr>
          <p:nvPr/>
        </p:nvCxnSpPr>
        <p:spPr>
          <a:xfrm>
            <a:off x="8111000" y="2327646"/>
            <a:ext cx="10758" cy="2605786"/>
          </a:xfrm>
          <a:prstGeom prst="line">
            <a:avLst/>
          </a:prstGeom>
          <a:ln w="158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4CDD4B53-DA31-4401-9133-87D6FCEEA7D3}"/>
              </a:ext>
            </a:extLst>
          </p:cNvPr>
          <p:cNvSpPr/>
          <p:nvPr/>
        </p:nvSpPr>
        <p:spPr>
          <a:xfrm>
            <a:off x="1486678" y="3261207"/>
            <a:ext cx="32335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/>
              <a:t>Via7, Via8 spacing = 0.36um</a:t>
            </a:r>
            <a:endParaRPr lang="ko-KR" altLang="en-US"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FB0F72EC-A500-460E-AC0E-E02C893627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201" y="1898423"/>
            <a:ext cx="2377169" cy="890174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579658C5-6F7A-42A6-8B0A-419A32E72A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35227" y="1464500"/>
            <a:ext cx="1271057" cy="1758021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D70A1024-C852-464B-A3E8-F7C0838F43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213" y="4167529"/>
            <a:ext cx="4932953" cy="2247447"/>
          </a:xfrm>
          <a:prstGeom prst="rect">
            <a:avLst/>
          </a:prstGeom>
        </p:spPr>
      </p:pic>
      <p:cxnSp>
        <p:nvCxnSpPr>
          <p:cNvPr id="26" name="직선 연결선 25">
            <a:extLst>
              <a:ext uri="{FF2B5EF4-FFF2-40B4-BE49-F238E27FC236}">
                <a16:creationId xmlns:a16="http://schemas.microsoft.com/office/drawing/2014/main" id="{2E91CCF0-2FDC-4541-8F9F-EB0BCCA9AE4F}"/>
              </a:ext>
            </a:extLst>
          </p:cNvPr>
          <p:cNvCxnSpPr>
            <a:cxnSpLocks/>
          </p:cNvCxnSpPr>
          <p:nvPr/>
        </p:nvCxnSpPr>
        <p:spPr>
          <a:xfrm>
            <a:off x="8799988" y="2327646"/>
            <a:ext cx="0" cy="2605786"/>
          </a:xfrm>
          <a:prstGeom prst="line">
            <a:avLst/>
          </a:prstGeom>
          <a:ln w="158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직선 연결선 28">
            <a:extLst>
              <a:ext uri="{FF2B5EF4-FFF2-40B4-BE49-F238E27FC236}">
                <a16:creationId xmlns:a16="http://schemas.microsoft.com/office/drawing/2014/main" id="{1C2BCCC4-AAD1-4E32-B41D-7271CD133CB0}"/>
              </a:ext>
            </a:extLst>
          </p:cNvPr>
          <p:cNvCxnSpPr>
            <a:cxnSpLocks/>
          </p:cNvCxnSpPr>
          <p:nvPr/>
        </p:nvCxnSpPr>
        <p:spPr>
          <a:xfrm>
            <a:off x="9527882" y="2314890"/>
            <a:ext cx="0" cy="2605786"/>
          </a:xfrm>
          <a:prstGeom prst="line">
            <a:avLst/>
          </a:prstGeom>
          <a:ln w="158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직선 연결선 30">
            <a:extLst>
              <a:ext uri="{FF2B5EF4-FFF2-40B4-BE49-F238E27FC236}">
                <a16:creationId xmlns:a16="http://schemas.microsoft.com/office/drawing/2014/main" id="{4BC48B4A-9B98-4C3E-8A24-8FCD95BFA47A}"/>
              </a:ext>
            </a:extLst>
          </p:cNvPr>
          <p:cNvCxnSpPr>
            <a:cxnSpLocks/>
          </p:cNvCxnSpPr>
          <p:nvPr/>
        </p:nvCxnSpPr>
        <p:spPr>
          <a:xfrm>
            <a:off x="10280149" y="2300082"/>
            <a:ext cx="0" cy="2660914"/>
          </a:xfrm>
          <a:prstGeom prst="line">
            <a:avLst/>
          </a:prstGeom>
          <a:ln w="158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04D00078-7B79-4C12-80AA-AFA1D1B541F3}"/>
              </a:ext>
            </a:extLst>
          </p:cNvPr>
          <p:cNvSpPr/>
          <p:nvPr/>
        </p:nvSpPr>
        <p:spPr>
          <a:xfrm>
            <a:off x="1089416" y="3596738"/>
            <a:ext cx="4159662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ko-KR" sz="1100" dirty="0"/>
              <a:t>“</a:t>
            </a:r>
            <a:r>
              <a:rPr lang="ko-KR" altLang="en-US" sz="1100" dirty="0"/>
              <a:t>인접한 </a:t>
            </a:r>
            <a:r>
              <a:rPr lang="en-US" altLang="ko-KR" sz="1100" dirty="0"/>
              <a:t>Via </a:t>
            </a:r>
            <a:r>
              <a:rPr lang="ko-KR" altLang="en-US" sz="1100" dirty="0"/>
              <a:t>사이의 최소 간격을 확보하여 </a:t>
            </a:r>
            <a:r>
              <a:rPr lang="ko-KR" altLang="en-US" sz="1100" dirty="0" err="1"/>
              <a:t>브리징을</a:t>
            </a:r>
            <a:r>
              <a:rPr lang="ko-KR" altLang="en-US" sz="1100" dirty="0"/>
              <a:t> 방지하고 공정 </a:t>
            </a:r>
            <a:r>
              <a:rPr lang="ko-KR" altLang="en-US" sz="1100" dirty="0" err="1"/>
              <a:t>수율</a:t>
            </a:r>
            <a:r>
              <a:rPr lang="ko-KR" altLang="en-US" sz="1100" dirty="0"/>
              <a:t> 및 전기적 신뢰성을 확보</a:t>
            </a:r>
            <a:r>
              <a:rPr lang="en-US" altLang="ko-KR" sz="1100" dirty="0"/>
              <a:t>”</a:t>
            </a:r>
            <a:endParaRPr lang="ko-KR" altLang="en-US" sz="1100" dirty="0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847DFC85-E972-4292-AAB3-22905BDE4247}"/>
              </a:ext>
            </a:extLst>
          </p:cNvPr>
          <p:cNvSpPr/>
          <p:nvPr/>
        </p:nvSpPr>
        <p:spPr>
          <a:xfrm>
            <a:off x="6459130" y="5589914"/>
            <a:ext cx="5407750" cy="1125889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Substrate</a:t>
            </a:r>
            <a:endParaRPr lang="ko-KR" altLang="en-US" dirty="0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C67CA22F-A8D3-432A-BC2B-9A2538597F12}"/>
              </a:ext>
            </a:extLst>
          </p:cNvPr>
          <p:cNvSpPr/>
          <p:nvPr/>
        </p:nvSpPr>
        <p:spPr>
          <a:xfrm>
            <a:off x="6450166" y="5709183"/>
            <a:ext cx="5416713" cy="330868"/>
          </a:xfrm>
          <a:prstGeom prst="rect">
            <a:avLst/>
          </a:prstGeom>
          <a:ln>
            <a:solidFill>
              <a:schemeClr val="accent5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STI</a:t>
            </a:r>
            <a:endParaRPr lang="ko-KR" altLang="en-US" dirty="0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8DEA67E9-2AFE-451C-9BCC-9B5ABC365DDC}"/>
              </a:ext>
            </a:extLst>
          </p:cNvPr>
          <p:cNvSpPr/>
          <p:nvPr/>
        </p:nvSpPr>
        <p:spPr>
          <a:xfrm>
            <a:off x="6459130" y="5302577"/>
            <a:ext cx="5407736" cy="424658"/>
          </a:xfrm>
          <a:prstGeom prst="rect">
            <a:avLst/>
          </a:prstGeom>
          <a:pattFill prst="pct5">
            <a:fgClr>
              <a:srgbClr val="0070C0"/>
            </a:fgClr>
            <a:bgClr>
              <a:schemeClr val="bg1"/>
            </a:bgClr>
          </a:patt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dirty="0">
                <a:solidFill>
                  <a:schemeClr val="tx1"/>
                </a:solidFill>
              </a:rPr>
              <a:t>ILD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6C6E084A-F29B-4BE8-ABF9-B8A3D8A31BEF}"/>
              </a:ext>
            </a:extLst>
          </p:cNvPr>
          <p:cNvSpPr/>
          <p:nvPr/>
        </p:nvSpPr>
        <p:spPr>
          <a:xfrm>
            <a:off x="7216218" y="5147897"/>
            <a:ext cx="3944519" cy="14833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metal1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B8DE9619-2E1D-47EC-BAC1-90E4BA7283A9}"/>
              </a:ext>
            </a:extLst>
          </p:cNvPr>
          <p:cNvSpPr/>
          <p:nvPr/>
        </p:nvSpPr>
        <p:spPr>
          <a:xfrm>
            <a:off x="6468043" y="4810882"/>
            <a:ext cx="1769167" cy="330868"/>
          </a:xfrm>
          <a:prstGeom prst="rect">
            <a:avLst/>
          </a:prstGeom>
          <a:pattFill prst="ltDnDiag">
            <a:fgClr>
              <a:srgbClr val="0070C0"/>
            </a:fgClr>
            <a:bgClr>
              <a:schemeClr val="bg1"/>
            </a:bgClr>
          </a:patt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IMD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A246DBB4-743E-432C-A87C-95CD8D6AA1A0}"/>
              </a:ext>
            </a:extLst>
          </p:cNvPr>
          <p:cNvSpPr/>
          <p:nvPr/>
        </p:nvSpPr>
        <p:spPr>
          <a:xfrm>
            <a:off x="8363060" y="4805333"/>
            <a:ext cx="1698613" cy="330868"/>
          </a:xfrm>
          <a:prstGeom prst="rect">
            <a:avLst/>
          </a:prstGeom>
          <a:pattFill prst="ltDnDiag">
            <a:fgClr>
              <a:srgbClr val="0070C0"/>
            </a:fgClr>
            <a:bgClr>
              <a:schemeClr val="bg1"/>
            </a:bgClr>
          </a:patt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IMD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43" name="사다리꼴 42">
            <a:extLst>
              <a:ext uri="{FF2B5EF4-FFF2-40B4-BE49-F238E27FC236}">
                <a16:creationId xmlns:a16="http://schemas.microsoft.com/office/drawing/2014/main" id="{FEB464DB-0FB1-4710-BD43-98B50A86B2F7}"/>
              </a:ext>
            </a:extLst>
          </p:cNvPr>
          <p:cNvSpPr/>
          <p:nvPr/>
        </p:nvSpPr>
        <p:spPr>
          <a:xfrm flipV="1">
            <a:off x="8133307" y="4811789"/>
            <a:ext cx="666681" cy="324948"/>
          </a:xfrm>
          <a:prstGeom prst="trapezoid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0F1CC7EB-D5A9-40CD-AF12-D5C9317EBF1A}"/>
              </a:ext>
            </a:extLst>
          </p:cNvPr>
          <p:cNvSpPr/>
          <p:nvPr/>
        </p:nvSpPr>
        <p:spPr>
          <a:xfrm>
            <a:off x="7560357" y="4676013"/>
            <a:ext cx="3007143" cy="13230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metal2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452A8DEB-E1D8-457B-BD93-7A579FBE4B50}"/>
              </a:ext>
            </a:extLst>
          </p:cNvPr>
          <p:cNvSpPr/>
          <p:nvPr/>
        </p:nvSpPr>
        <p:spPr>
          <a:xfrm>
            <a:off x="6468043" y="4661334"/>
            <a:ext cx="1101367" cy="143201"/>
          </a:xfrm>
          <a:prstGeom prst="rect">
            <a:avLst/>
          </a:prstGeom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/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80FE1955-0D5C-4555-B8BE-0CCFC4ECD206}"/>
              </a:ext>
            </a:extLst>
          </p:cNvPr>
          <p:cNvSpPr/>
          <p:nvPr/>
        </p:nvSpPr>
        <p:spPr>
          <a:xfrm>
            <a:off x="10576417" y="4661332"/>
            <a:ext cx="1288642" cy="146985"/>
          </a:xfrm>
          <a:prstGeom prst="rect">
            <a:avLst/>
          </a:prstGeom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/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5A25F4FC-00DF-4535-AFC0-39A2B21A86C5}"/>
              </a:ext>
            </a:extLst>
          </p:cNvPr>
          <p:cNvSpPr/>
          <p:nvPr/>
        </p:nvSpPr>
        <p:spPr>
          <a:xfrm>
            <a:off x="11160737" y="5141927"/>
            <a:ext cx="715041" cy="158408"/>
          </a:xfrm>
          <a:prstGeom prst="rect">
            <a:avLst/>
          </a:prstGeom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/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EFE1B25F-830B-41FC-8BBD-C9D6EBFFA8E7}"/>
              </a:ext>
            </a:extLst>
          </p:cNvPr>
          <p:cNvSpPr/>
          <p:nvPr/>
        </p:nvSpPr>
        <p:spPr>
          <a:xfrm>
            <a:off x="6459130" y="5144169"/>
            <a:ext cx="757074" cy="158408"/>
          </a:xfrm>
          <a:prstGeom prst="rect">
            <a:avLst/>
          </a:prstGeom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/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59C9518B-7011-485B-AD67-42B611F0CC85}"/>
              </a:ext>
            </a:extLst>
          </p:cNvPr>
          <p:cNvSpPr/>
          <p:nvPr/>
        </p:nvSpPr>
        <p:spPr>
          <a:xfrm>
            <a:off x="10073011" y="4805333"/>
            <a:ext cx="1793855" cy="330868"/>
          </a:xfrm>
          <a:prstGeom prst="rect">
            <a:avLst/>
          </a:prstGeom>
          <a:pattFill prst="ltDnDiag">
            <a:fgClr>
              <a:srgbClr val="0070C0"/>
            </a:fgClr>
            <a:bgClr>
              <a:schemeClr val="bg1"/>
            </a:bgClr>
          </a:patt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IMD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50" name="사다리꼴 49">
            <a:extLst>
              <a:ext uri="{FF2B5EF4-FFF2-40B4-BE49-F238E27FC236}">
                <a16:creationId xmlns:a16="http://schemas.microsoft.com/office/drawing/2014/main" id="{B1613BEC-06C9-457E-BE02-B206DADBAE46}"/>
              </a:ext>
            </a:extLst>
          </p:cNvPr>
          <p:cNvSpPr/>
          <p:nvPr/>
        </p:nvSpPr>
        <p:spPr>
          <a:xfrm flipV="1">
            <a:off x="9543431" y="4805333"/>
            <a:ext cx="729675" cy="339094"/>
          </a:xfrm>
          <a:prstGeom prst="trapezoid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52" name="직선 연결선 51">
            <a:extLst>
              <a:ext uri="{FF2B5EF4-FFF2-40B4-BE49-F238E27FC236}">
                <a16:creationId xmlns:a16="http://schemas.microsoft.com/office/drawing/2014/main" id="{4ADD80A1-24C2-4892-B9B6-96E38551AADD}"/>
              </a:ext>
            </a:extLst>
          </p:cNvPr>
          <p:cNvCxnSpPr>
            <a:cxnSpLocks/>
          </p:cNvCxnSpPr>
          <p:nvPr/>
        </p:nvCxnSpPr>
        <p:spPr>
          <a:xfrm>
            <a:off x="8849052" y="3596058"/>
            <a:ext cx="629167" cy="680"/>
          </a:xfrm>
          <a:prstGeom prst="line">
            <a:avLst/>
          </a:prstGeom>
          <a:ln w="19050"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7B362199-8AA4-4565-A057-BD876DDFE44F}"/>
              </a:ext>
            </a:extLst>
          </p:cNvPr>
          <p:cNvSpPr txBox="1"/>
          <p:nvPr/>
        </p:nvSpPr>
        <p:spPr>
          <a:xfrm>
            <a:off x="8712376" y="3211256"/>
            <a:ext cx="99998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/>
              <a:t>0.15um</a:t>
            </a:r>
            <a:endParaRPr lang="ko-KR" altLang="en-US" sz="1600" b="1" dirty="0"/>
          </a:p>
        </p:txBody>
      </p:sp>
    </p:spTree>
    <p:extLst>
      <p:ext uri="{BB962C8B-B14F-4D97-AF65-F5344CB8AC3E}">
        <p14:creationId xmlns:p14="http://schemas.microsoft.com/office/powerpoint/2010/main" val="35908698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>
            <a:extLst>
              <a:ext uri="{FF2B5EF4-FFF2-40B4-BE49-F238E27FC236}">
                <a16:creationId xmlns:a16="http://schemas.microsoft.com/office/drawing/2014/main" id="{7D1251F8-C3E8-4980-9A23-CDAE3EEDEF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428" y="1255758"/>
            <a:ext cx="2859459" cy="1284523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BAE0902F-84F3-424A-89F7-7E22908104E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89580" y="1270617"/>
            <a:ext cx="2971873" cy="2971873"/>
          </a:xfrm>
          <a:prstGeom prst="rect">
            <a:avLst/>
          </a:prstGeom>
        </p:spPr>
      </p:pic>
      <p:cxnSp>
        <p:nvCxnSpPr>
          <p:cNvPr id="41" name="직선 연결선 40">
            <a:extLst>
              <a:ext uri="{FF2B5EF4-FFF2-40B4-BE49-F238E27FC236}">
                <a16:creationId xmlns:a16="http://schemas.microsoft.com/office/drawing/2014/main" id="{238F5E85-37BE-4FD3-969B-986469085B45}"/>
              </a:ext>
            </a:extLst>
          </p:cNvPr>
          <p:cNvCxnSpPr>
            <a:cxnSpLocks/>
          </p:cNvCxnSpPr>
          <p:nvPr/>
        </p:nvCxnSpPr>
        <p:spPr>
          <a:xfrm>
            <a:off x="6223574" y="749390"/>
            <a:ext cx="0" cy="5668864"/>
          </a:xfrm>
          <a:prstGeom prst="line">
            <a:avLst/>
          </a:prstGeom>
          <a:ln w="158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0" name="표 19">
            <a:extLst>
              <a:ext uri="{FF2B5EF4-FFF2-40B4-BE49-F238E27FC236}">
                <a16:creationId xmlns:a16="http://schemas.microsoft.com/office/drawing/2014/main" id="{C7828834-3D4A-489D-B31F-CDF6EEA510E0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432201" y="165139"/>
          <a:ext cx="11327598" cy="76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2025">
                  <a:extLst>
                    <a:ext uri="{9D8B030D-6E8A-4147-A177-3AD203B41FA5}">
                      <a16:colId xmlns:a16="http://schemas.microsoft.com/office/drawing/2014/main" val="3874033937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1105405848"/>
                    </a:ext>
                  </a:extLst>
                </a:gridCol>
                <a:gridCol w="6110973">
                  <a:extLst>
                    <a:ext uri="{9D8B030D-6E8A-4147-A177-3AD203B41FA5}">
                      <a16:colId xmlns:a16="http://schemas.microsoft.com/office/drawing/2014/main" val="2992235816"/>
                    </a:ext>
                  </a:extLst>
                </a:gridCol>
              </a:tblGrid>
              <a:tr h="33923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>
                          <a:solidFill>
                            <a:schemeClr val="tx1"/>
                          </a:solidFill>
                        </a:rPr>
                        <a:t>Rule Name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Value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1766925"/>
                  </a:ext>
                </a:extLst>
              </a:tr>
              <a:tr h="32923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VIAk.SP.2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0.20um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Minimum Via k to Via k spacing when the Via </a:t>
                      </a:r>
                      <a:r>
                        <a:rPr lang="en-US" altLang="ko-KR" sz="1000" dirty="0" err="1"/>
                        <a:t>ks</a:t>
                      </a:r>
                      <a:r>
                        <a:rPr lang="en-US" altLang="ko-KR" sz="1000" dirty="0"/>
                        <a:t> are in a 3x3 or larger array (minimum dimension on one side of array is 3). Via </a:t>
                      </a:r>
                      <a:r>
                        <a:rPr lang="en-US" altLang="ko-KR" sz="1000" dirty="0" err="1"/>
                        <a:t>ks</a:t>
                      </a:r>
                      <a:r>
                        <a:rPr lang="en-US" altLang="ko-KR" sz="1000" dirty="0"/>
                        <a:t> spaced less than 0.21um should be considered for array spacing check.</a:t>
                      </a:r>
                      <a:endParaRPr lang="ko-KR" altLang="en-US" sz="1000" b="1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5480813"/>
                  </a:ext>
                </a:extLst>
              </a:tr>
            </a:tbl>
          </a:graphicData>
        </a:graphic>
      </p:graphicFrame>
      <p:sp>
        <p:nvSpPr>
          <p:cNvPr id="32" name="TextBox 31">
            <a:extLst>
              <a:ext uri="{FF2B5EF4-FFF2-40B4-BE49-F238E27FC236}">
                <a16:creationId xmlns:a16="http://schemas.microsoft.com/office/drawing/2014/main" id="{91C5C929-8669-440E-BF5C-9FB66113EA81}"/>
              </a:ext>
            </a:extLst>
          </p:cNvPr>
          <p:cNvSpPr txBox="1"/>
          <p:nvPr/>
        </p:nvSpPr>
        <p:spPr>
          <a:xfrm>
            <a:off x="6544588" y="917204"/>
            <a:ext cx="480621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altLang="ko-KR" sz="1600" dirty="0"/>
              <a:t>Cadence Reproducing and vertical structure</a:t>
            </a:r>
            <a:endParaRPr lang="ko-KR" altLang="en-US" sz="1600" dirty="0"/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F449DACE-48BB-4606-AF0C-A4616B80C8C0}"/>
              </a:ext>
            </a:extLst>
          </p:cNvPr>
          <p:cNvSpPr/>
          <p:nvPr/>
        </p:nvSpPr>
        <p:spPr>
          <a:xfrm>
            <a:off x="352977" y="901285"/>
            <a:ext cx="399340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altLang="ko-KR" dirty="0"/>
              <a:t>Schematic in Design Rule Manual</a:t>
            </a:r>
            <a:endParaRPr lang="ko-KR" altLang="en-US" dirty="0"/>
          </a:p>
        </p:txBody>
      </p:sp>
      <p:cxnSp>
        <p:nvCxnSpPr>
          <p:cNvPr id="35" name="직선 연결선 34">
            <a:extLst>
              <a:ext uri="{FF2B5EF4-FFF2-40B4-BE49-F238E27FC236}">
                <a16:creationId xmlns:a16="http://schemas.microsoft.com/office/drawing/2014/main" id="{25B80CA3-1924-4A81-9CDC-9C90BD983074}"/>
              </a:ext>
            </a:extLst>
          </p:cNvPr>
          <p:cNvCxnSpPr>
            <a:cxnSpLocks/>
          </p:cNvCxnSpPr>
          <p:nvPr/>
        </p:nvCxnSpPr>
        <p:spPr>
          <a:xfrm>
            <a:off x="8256312" y="4412355"/>
            <a:ext cx="585079" cy="0"/>
          </a:xfrm>
          <a:prstGeom prst="line">
            <a:avLst/>
          </a:prstGeom>
          <a:ln w="19050"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직선 연결선 27">
            <a:extLst>
              <a:ext uri="{FF2B5EF4-FFF2-40B4-BE49-F238E27FC236}">
                <a16:creationId xmlns:a16="http://schemas.microsoft.com/office/drawing/2014/main" id="{CA0C275A-7E7C-4DA1-9DD6-EFBB505040C1}"/>
              </a:ext>
            </a:extLst>
          </p:cNvPr>
          <p:cNvCxnSpPr>
            <a:cxnSpLocks/>
          </p:cNvCxnSpPr>
          <p:nvPr/>
        </p:nvCxnSpPr>
        <p:spPr>
          <a:xfrm>
            <a:off x="7803912" y="4101086"/>
            <a:ext cx="0" cy="652281"/>
          </a:xfrm>
          <a:prstGeom prst="line">
            <a:avLst/>
          </a:prstGeom>
          <a:ln w="158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그림 4">
            <a:extLst>
              <a:ext uri="{FF2B5EF4-FFF2-40B4-BE49-F238E27FC236}">
                <a16:creationId xmlns:a16="http://schemas.microsoft.com/office/drawing/2014/main" id="{657CEEE5-FF05-45B8-B4CC-0E5B98647CB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599" y="3342434"/>
            <a:ext cx="3245585" cy="3245585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80ADDB0D-31A8-4282-8EAE-B49CC6659C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2449" y="1202157"/>
            <a:ext cx="1880659" cy="1951963"/>
          </a:xfrm>
          <a:prstGeom prst="rect">
            <a:avLst/>
          </a:prstGeom>
        </p:spPr>
      </p:pic>
      <p:cxnSp>
        <p:nvCxnSpPr>
          <p:cNvPr id="37" name="직선 연결선 36">
            <a:extLst>
              <a:ext uri="{FF2B5EF4-FFF2-40B4-BE49-F238E27FC236}">
                <a16:creationId xmlns:a16="http://schemas.microsoft.com/office/drawing/2014/main" id="{737C668D-FC17-4743-8B48-C25E9D6B1D61}"/>
              </a:ext>
            </a:extLst>
          </p:cNvPr>
          <p:cNvCxnSpPr>
            <a:cxnSpLocks/>
          </p:cNvCxnSpPr>
          <p:nvPr/>
        </p:nvCxnSpPr>
        <p:spPr>
          <a:xfrm>
            <a:off x="8233039" y="4101086"/>
            <a:ext cx="0" cy="652281"/>
          </a:xfrm>
          <a:prstGeom prst="line">
            <a:avLst/>
          </a:prstGeom>
          <a:ln w="158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직선 연결선 41">
            <a:extLst>
              <a:ext uri="{FF2B5EF4-FFF2-40B4-BE49-F238E27FC236}">
                <a16:creationId xmlns:a16="http://schemas.microsoft.com/office/drawing/2014/main" id="{5B2161EE-0F65-437B-8A6F-1B986674C1C4}"/>
              </a:ext>
            </a:extLst>
          </p:cNvPr>
          <p:cNvCxnSpPr>
            <a:cxnSpLocks/>
          </p:cNvCxnSpPr>
          <p:nvPr/>
        </p:nvCxnSpPr>
        <p:spPr>
          <a:xfrm>
            <a:off x="8857438" y="4101086"/>
            <a:ext cx="0" cy="652281"/>
          </a:xfrm>
          <a:prstGeom prst="line">
            <a:avLst/>
          </a:prstGeom>
          <a:ln w="158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직선 연결선 42">
            <a:extLst>
              <a:ext uri="{FF2B5EF4-FFF2-40B4-BE49-F238E27FC236}">
                <a16:creationId xmlns:a16="http://schemas.microsoft.com/office/drawing/2014/main" id="{E419399C-7A76-49A0-AB5D-8B23632DE97A}"/>
              </a:ext>
            </a:extLst>
          </p:cNvPr>
          <p:cNvCxnSpPr>
            <a:cxnSpLocks/>
          </p:cNvCxnSpPr>
          <p:nvPr/>
        </p:nvCxnSpPr>
        <p:spPr>
          <a:xfrm>
            <a:off x="9315881" y="4101086"/>
            <a:ext cx="0" cy="652281"/>
          </a:xfrm>
          <a:prstGeom prst="line">
            <a:avLst/>
          </a:prstGeom>
          <a:ln w="158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직선 연결선 44">
            <a:extLst>
              <a:ext uri="{FF2B5EF4-FFF2-40B4-BE49-F238E27FC236}">
                <a16:creationId xmlns:a16="http://schemas.microsoft.com/office/drawing/2014/main" id="{F23D4780-3E2D-4141-94F7-C3834CE55B00}"/>
              </a:ext>
            </a:extLst>
          </p:cNvPr>
          <p:cNvCxnSpPr>
            <a:cxnSpLocks/>
          </p:cNvCxnSpPr>
          <p:nvPr/>
        </p:nvCxnSpPr>
        <p:spPr>
          <a:xfrm>
            <a:off x="9965586" y="4101086"/>
            <a:ext cx="0" cy="652281"/>
          </a:xfrm>
          <a:prstGeom prst="line">
            <a:avLst/>
          </a:prstGeom>
          <a:ln w="158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직선 연결선 45">
            <a:extLst>
              <a:ext uri="{FF2B5EF4-FFF2-40B4-BE49-F238E27FC236}">
                <a16:creationId xmlns:a16="http://schemas.microsoft.com/office/drawing/2014/main" id="{0E629375-4469-4E64-AA9B-3B22512B9158}"/>
              </a:ext>
            </a:extLst>
          </p:cNvPr>
          <p:cNvCxnSpPr>
            <a:cxnSpLocks/>
          </p:cNvCxnSpPr>
          <p:nvPr/>
        </p:nvCxnSpPr>
        <p:spPr>
          <a:xfrm>
            <a:off x="10392707" y="4101085"/>
            <a:ext cx="0" cy="652281"/>
          </a:xfrm>
          <a:prstGeom prst="line">
            <a:avLst/>
          </a:prstGeom>
          <a:ln w="158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직선 연결선 48">
            <a:extLst>
              <a:ext uri="{FF2B5EF4-FFF2-40B4-BE49-F238E27FC236}">
                <a16:creationId xmlns:a16="http://schemas.microsoft.com/office/drawing/2014/main" id="{AA445D13-EBF6-4A7B-8A29-40476911A735}"/>
              </a:ext>
            </a:extLst>
          </p:cNvPr>
          <p:cNvCxnSpPr>
            <a:cxnSpLocks/>
          </p:cNvCxnSpPr>
          <p:nvPr/>
        </p:nvCxnSpPr>
        <p:spPr>
          <a:xfrm>
            <a:off x="9344196" y="4412355"/>
            <a:ext cx="585079" cy="0"/>
          </a:xfrm>
          <a:prstGeom prst="line">
            <a:avLst/>
          </a:prstGeom>
          <a:ln w="19050"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D6FBF2E5-3D52-4429-86EA-5DC8B5BB59B2}"/>
              </a:ext>
            </a:extLst>
          </p:cNvPr>
          <p:cNvSpPr txBox="1"/>
          <p:nvPr/>
        </p:nvSpPr>
        <p:spPr>
          <a:xfrm>
            <a:off x="8706400" y="4198468"/>
            <a:ext cx="99998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/>
              <a:t>0.2um</a:t>
            </a:r>
            <a:endParaRPr lang="ko-KR" altLang="en-US" sz="1600" b="1" dirty="0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39AE6B23-0BBB-465E-AA3B-DC7C215F5D55}"/>
              </a:ext>
            </a:extLst>
          </p:cNvPr>
          <p:cNvSpPr/>
          <p:nvPr/>
        </p:nvSpPr>
        <p:spPr>
          <a:xfrm>
            <a:off x="3649100" y="4175912"/>
            <a:ext cx="2432401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ko-KR" sz="1100" dirty="0"/>
              <a:t>“3×3 </a:t>
            </a:r>
            <a:r>
              <a:rPr lang="ko-KR" altLang="en-US" sz="1100" dirty="0"/>
              <a:t>이상의 </a:t>
            </a:r>
            <a:r>
              <a:rPr lang="en-US" altLang="ko-KR" sz="1100" dirty="0"/>
              <a:t>Via Array</a:t>
            </a:r>
            <a:r>
              <a:rPr lang="ko-KR" altLang="en-US" sz="1100" dirty="0"/>
              <a:t>에서는 </a:t>
            </a:r>
            <a:r>
              <a:rPr lang="en-US" altLang="ko-KR" sz="1100" dirty="0"/>
              <a:t>Via</a:t>
            </a:r>
            <a:r>
              <a:rPr lang="ko-KR" altLang="en-US" sz="1100" dirty="0"/>
              <a:t>가 밀집되면서 </a:t>
            </a:r>
            <a:r>
              <a:rPr lang="ko-KR" altLang="en-US" sz="1100" dirty="0" err="1"/>
              <a:t>식각</a:t>
            </a:r>
            <a:r>
              <a:rPr lang="ko-KR" altLang="en-US" sz="1100" dirty="0"/>
              <a:t> 및 금속 매립 공정의 균일성이 저하되어 </a:t>
            </a:r>
            <a:r>
              <a:rPr lang="en-US" altLang="ko-KR" sz="1100" dirty="0"/>
              <a:t>Void, </a:t>
            </a:r>
            <a:r>
              <a:rPr lang="ko-KR" altLang="en-US" sz="1100" dirty="0" err="1"/>
              <a:t>브리징</a:t>
            </a:r>
            <a:r>
              <a:rPr lang="ko-KR" altLang="en-US" sz="1100" dirty="0"/>
              <a:t> 등의 결함이 발생할 수 있으므로</a:t>
            </a:r>
            <a:r>
              <a:rPr lang="en-US" altLang="ko-KR" sz="1100" dirty="0"/>
              <a:t>, </a:t>
            </a:r>
            <a:r>
              <a:rPr lang="ko-KR" altLang="en-US" sz="1100" dirty="0"/>
              <a:t>공정 신뢰성과 </a:t>
            </a:r>
            <a:r>
              <a:rPr lang="ko-KR" altLang="en-US" sz="1100" dirty="0" err="1"/>
              <a:t>수율을</a:t>
            </a:r>
            <a:r>
              <a:rPr lang="ko-KR" altLang="en-US" sz="1100" dirty="0"/>
              <a:t> 확보하기 위해 더 큰 최소 간격을 적용</a:t>
            </a:r>
            <a:r>
              <a:rPr lang="en-US" altLang="ko-KR" sz="1100" dirty="0"/>
              <a:t>”</a:t>
            </a:r>
            <a:endParaRPr lang="ko-KR" altLang="en-US" sz="1100" dirty="0"/>
          </a:p>
        </p:txBody>
      </p:sp>
      <p:sp>
        <p:nvSpPr>
          <p:cNvPr id="72" name="직사각형 71">
            <a:extLst>
              <a:ext uri="{FF2B5EF4-FFF2-40B4-BE49-F238E27FC236}">
                <a16:creationId xmlns:a16="http://schemas.microsoft.com/office/drawing/2014/main" id="{1D70E15F-427C-4296-93D2-3B568D322381}"/>
              </a:ext>
            </a:extLst>
          </p:cNvPr>
          <p:cNvSpPr/>
          <p:nvPr/>
        </p:nvSpPr>
        <p:spPr>
          <a:xfrm>
            <a:off x="6459130" y="5589914"/>
            <a:ext cx="5407750" cy="1125889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Substrate</a:t>
            </a:r>
            <a:endParaRPr lang="ko-KR" altLang="en-US" dirty="0"/>
          </a:p>
        </p:txBody>
      </p:sp>
      <p:sp>
        <p:nvSpPr>
          <p:cNvPr id="73" name="직사각형 72">
            <a:extLst>
              <a:ext uri="{FF2B5EF4-FFF2-40B4-BE49-F238E27FC236}">
                <a16:creationId xmlns:a16="http://schemas.microsoft.com/office/drawing/2014/main" id="{C627D389-7ED4-4A85-9163-1C9134D3985E}"/>
              </a:ext>
            </a:extLst>
          </p:cNvPr>
          <p:cNvSpPr/>
          <p:nvPr/>
        </p:nvSpPr>
        <p:spPr>
          <a:xfrm>
            <a:off x="6450166" y="5709183"/>
            <a:ext cx="5416713" cy="330868"/>
          </a:xfrm>
          <a:prstGeom prst="rect">
            <a:avLst/>
          </a:prstGeom>
          <a:ln>
            <a:solidFill>
              <a:schemeClr val="accent5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STI</a:t>
            </a:r>
            <a:endParaRPr lang="ko-KR" altLang="en-US" dirty="0"/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DFEC0C87-6240-440E-B54C-1F748EB050C6}"/>
              </a:ext>
            </a:extLst>
          </p:cNvPr>
          <p:cNvSpPr/>
          <p:nvPr/>
        </p:nvSpPr>
        <p:spPr>
          <a:xfrm>
            <a:off x="6459130" y="5302577"/>
            <a:ext cx="5407736" cy="424658"/>
          </a:xfrm>
          <a:prstGeom prst="rect">
            <a:avLst/>
          </a:prstGeom>
          <a:pattFill prst="pct5">
            <a:fgClr>
              <a:srgbClr val="0070C0"/>
            </a:fgClr>
            <a:bgClr>
              <a:schemeClr val="bg1"/>
            </a:bgClr>
          </a:patt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dirty="0">
                <a:solidFill>
                  <a:schemeClr val="tx1"/>
                </a:solidFill>
              </a:rPr>
              <a:t>ILD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75" name="직사각형 74">
            <a:extLst>
              <a:ext uri="{FF2B5EF4-FFF2-40B4-BE49-F238E27FC236}">
                <a16:creationId xmlns:a16="http://schemas.microsoft.com/office/drawing/2014/main" id="{F16EB512-2B75-44A8-BF03-DEB4E2F58D8D}"/>
              </a:ext>
            </a:extLst>
          </p:cNvPr>
          <p:cNvSpPr/>
          <p:nvPr/>
        </p:nvSpPr>
        <p:spPr>
          <a:xfrm>
            <a:off x="7216218" y="5147897"/>
            <a:ext cx="3944519" cy="14833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metal1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217CCBFE-D1AB-4790-8688-BBF0348AB22C}"/>
              </a:ext>
            </a:extLst>
          </p:cNvPr>
          <p:cNvSpPr/>
          <p:nvPr/>
        </p:nvSpPr>
        <p:spPr>
          <a:xfrm>
            <a:off x="6468043" y="4810882"/>
            <a:ext cx="1769167" cy="330868"/>
          </a:xfrm>
          <a:prstGeom prst="rect">
            <a:avLst/>
          </a:prstGeom>
          <a:pattFill prst="ltDnDiag">
            <a:fgClr>
              <a:srgbClr val="0070C0"/>
            </a:fgClr>
            <a:bgClr>
              <a:schemeClr val="bg1"/>
            </a:bgClr>
          </a:patt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IMD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77" name="직사각형 76">
            <a:extLst>
              <a:ext uri="{FF2B5EF4-FFF2-40B4-BE49-F238E27FC236}">
                <a16:creationId xmlns:a16="http://schemas.microsoft.com/office/drawing/2014/main" id="{471DDC7F-88D6-4941-9D84-DF0E8F97F8DF}"/>
              </a:ext>
            </a:extLst>
          </p:cNvPr>
          <p:cNvSpPr/>
          <p:nvPr/>
        </p:nvSpPr>
        <p:spPr>
          <a:xfrm>
            <a:off x="9199881" y="4805333"/>
            <a:ext cx="861792" cy="330868"/>
          </a:xfrm>
          <a:prstGeom prst="rect">
            <a:avLst/>
          </a:prstGeom>
          <a:pattFill prst="ltDnDiag">
            <a:fgClr>
              <a:srgbClr val="0070C0"/>
            </a:fgClr>
            <a:bgClr>
              <a:schemeClr val="bg1"/>
            </a:bgClr>
          </a:patt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IMD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79" name="직사각형 78">
            <a:extLst>
              <a:ext uri="{FF2B5EF4-FFF2-40B4-BE49-F238E27FC236}">
                <a16:creationId xmlns:a16="http://schemas.microsoft.com/office/drawing/2014/main" id="{BE71C326-B016-46C7-AA52-A2ED96FBE99E}"/>
              </a:ext>
            </a:extLst>
          </p:cNvPr>
          <p:cNvSpPr/>
          <p:nvPr/>
        </p:nvSpPr>
        <p:spPr>
          <a:xfrm>
            <a:off x="7560357" y="4676013"/>
            <a:ext cx="3007143" cy="13230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metal2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80" name="직사각형 79">
            <a:extLst>
              <a:ext uri="{FF2B5EF4-FFF2-40B4-BE49-F238E27FC236}">
                <a16:creationId xmlns:a16="http://schemas.microsoft.com/office/drawing/2014/main" id="{AB8B84C9-25D9-4BF4-9D93-1CF2A525EEAD}"/>
              </a:ext>
            </a:extLst>
          </p:cNvPr>
          <p:cNvSpPr/>
          <p:nvPr/>
        </p:nvSpPr>
        <p:spPr>
          <a:xfrm>
            <a:off x="6468043" y="4661334"/>
            <a:ext cx="1101367" cy="143201"/>
          </a:xfrm>
          <a:prstGeom prst="rect">
            <a:avLst/>
          </a:prstGeom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/>
          </a:p>
        </p:txBody>
      </p:sp>
      <p:sp>
        <p:nvSpPr>
          <p:cNvPr id="81" name="직사각형 80">
            <a:extLst>
              <a:ext uri="{FF2B5EF4-FFF2-40B4-BE49-F238E27FC236}">
                <a16:creationId xmlns:a16="http://schemas.microsoft.com/office/drawing/2014/main" id="{CEE10336-D33C-47B6-BB33-D40E3ABA2762}"/>
              </a:ext>
            </a:extLst>
          </p:cNvPr>
          <p:cNvSpPr/>
          <p:nvPr/>
        </p:nvSpPr>
        <p:spPr>
          <a:xfrm>
            <a:off x="10576417" y="4661332"/>
            <a:ext cx="1288642" cy="146985"/>
          </a:xfrm>
          <a:prstGeom prst="rect">
            <a:avLst/>
          </a:prstGeom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/>
          </a:p>
        </p:txBody>
      </p:sp>
      <p:sp>
        <p:nvSpPr>
          <p:cNvPr id="82" name="직사각형 81">
            <a:extLst>
              <a:ext uri="{FF2B5EF4-FFF2-40B4-BE49-F238E27FC236}">
                <a16:creationId xmlns:a16="http://schemas.microsoft.com/office/drawing/2014/main" id="{75C11D0C-D0B6-4A1E-A22A-0D44F8F92926}"/>
              </a:ext>
            </a:extLst>
          </p:cNvPr>
          <p:cNvSpPr/>
          <p:nvPr/>
        </p:nvSpPr>
        <p:spPr>
          <a:xfrm>
            <a:off x="11160737" y="5141927"/>
            <a:ext cx="715041" cy="158408"/>
          </a:xfrm>
          <a:prstGeom prst="rect">
            <a:avLst/>
          </a:prstGeom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/>
          </a:p>
        </p:txBody>
      </p:sp>
      <p:sp>
        <p:nvSpPr>
          <p:cNvPr id="83" name="직사각형 82">
            <a:extLst>
              <a:ext uri="{FF2B5EF4-FFF2-40B4-BE49-F238E27FC236}">
                <a16:creationId xmlns:a16="http://schemas.microsoft.com/office/drawing/2014/main" id="{D4A91888-FF36-4007-9F10-2A9E5004ECBB}"/>
              </a:ext>
            </a:extLst>
          </p:cNvPr>
          <p:cNvSpPr/>
          <p:nvPr/>
        </p:nvSpPr>
        <p:spPr>
          <a:xfrm>
            <a:off x="6459130" y="5144169"/>
            <a:ext cx="757074" cy="158408"/>
          </a:xfrm>
          <a:prstGeom prst="rect">
            <a:avLst/>
          </a:prstGeom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/>
          </a:p>
        </p:txBody>
      </p:sp>
      <p:sp>
        <p:nvSpPr>
          <p:cNvPr id="84" name="직사각형 83">
            <a:extLst>
              <a:ext uri="{FF2B5EF4-FFF2-40B4-BE49-F238E27FC236}">
                <a16:creationId xmlns:a16="http://schemas.microsoft.com/office/drawing/2014/main" id="{4DDFF448-6C87-473D-BC7E-E8F75261360E}"/>
              </a:ext>
            </a:extLst>
          </p:cNvPr>
          <p:cNvSpPr/>
          <p:nvPr/>
        </p:nvSpPr>
        <p:spPr>
          <a:xfrm>
            <a:off x="10073011" y="4805333"/>
            <a:ext cx="1793855" cy="330868"/>
          </a:xfrm>
          <a:prstGeom prst="rect">
            <a:avLst/>
          </a:prstGeom>
          <a:pattFill prst="ltDnDiag">
            <a:fgClr>
              <a:srgbClr val="0070C0"/>
            </a:fgClr>
            <a:bgClr>
              <a:schemeClr val="bg1"/>
            </a:bgClr>
          </a:patt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IMD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85" name="사다리꼴 84">
            <a:extLst>
              <a:ext uri="{FF2B5EF4-FFF2-40B4-BE49-F238E27FC236}">
                <a16:creationId xmlns:a16="http://schemas.microsoft.com/office/drawing/2014/main" id="{1AC1D9F7-E57B-4D04-9114-FF2D6F058744}"/>
              </a:ext>
            </a:extLst>
          </p:cNvPr>
          <p:cNvSpPr/>
          <p:nvPr/>
        </p:nvSpPr>
        <p:spPr>
          <a:xfrm flipV="1">
            <a:off x="9965586" y="4801228"/>
            <a:ext cx="427121" cy="328629"/>
          </a:xfrm>
          <a:prstGeom prst="trapezoid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8" name="직사각형 87">
            <a:extLst>
              <a:ext uri="{FF2B5EF4-FFF2-40B4-BE49-F238E27FC236}">
                <a16:creationId xmlns:a16="http://schemas.microsoft.com/office/drawing/2014/main" id="{E722044C-453B-49DE-B70F-29029C569160}"/>
              </a:ext>
            </a:extLst>
          </p:cNvPr>
          <p:cNvSpPr/>
          <p:nvPr/>
        </p:nvSpPr>
        <p:spPr>
          <a:xfrm>
            <a:off x="8090059" y="4814861"/>
            <a:ext cx="861792" cy="330868"/>
          </a:xfrm>
          <a:prstGeom prst="rect">
            <a:avLst/>
          </a:prstGeom>
          <a:pattFill prst="ltDnDiag">
            <a:fgClr>
              <a:srgbClr val="0070C0"/>
            </a:fgClr>
            <a:bgClr>
              <a:schemeClr val="bg1"/>
            </a:bgClr>
          </a:patt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IMD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86" name="사다리꼴 85">
            <a:extLst>
              <a:ext uri="{FF2B5EF4-FFF2-40B4-BE49-F238E27FC236}">
                <a16:creationId xmlns:a16="http://schemas.microsoft.com/office/drawing/2014/main" id="{1FFAA23A-EE0A-4BAC-B0F1-4C3D938C30AE}"/>
              </a:ext>
            </a:extLst>
          </p:cNvPr>
          <p:cNvSpPr/>
          <p:nvPr/>
        </p:nvSpPr>
        <p:spPr>
          <a:xfrm flipV="1">
            <a:off x="8877422" y="4815163"/>
            <a:ext cx="427121" cy="328629"/>
          </a:xfrm>
          <a:prstGeom prst="trapezoid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7" name="사다리꼴 86">
            <a:extLst>
              <a:ext uri="{FF2B5EF4-FFF2-40B4-BE49-F238E27FC236}">
                <a16:creationId xmlns:a16="http://schemas.microsoft.com/office/drawing/2014/main" id="{2F82F8C7-B994-47D5-BB70-21392CCD445E}"/>
              </a:ext>
            </a:extLst>
          </p:cNvPr>
          <p:cNvSpPr/>
          <p:nvPr/>
        </p:nvSpPr>
        <p:spPr>
          <a:xfrm flipV="1">
            <a:off x="7805918" y="4815981"/>
            <a:ext cx="427121" cy="328629"/>
          </a:xfrm>
          <a:prstGeom prst="trapezoid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309535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그림 26">
            <a:extLst>
              <a:ext uri="{FF2B5EF4-FFF2-40B4-BE49-F238E27FC236}">
                <a16:creationId xmlns:a16="http://schemas.microsoft.com/office/drawing/2014/main" id="{C9069518-9848-4685-8FCD-F5466200D6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82389" y="1368528"/>
            <a:ext cx="2544503" cy="2388441"/>
          </a:xfrm>
          <a:prstGeom prst="rect">
            <a:avLst/>
          </a:prstGeom>
        </p:spPr>
      </p:pic>
      <p:sp>
        <p:nvSpPr>
          <p:cNvPr id="33" name="직사각형 32">
            <a:extLst>
              <a:ext uri="{FF2B5EF4-FFF2-40B4-BE49-F238E27FC236}">
                <a16:creationId xmlns:a16="http://schemas.microsoft.com/office/drawing/2014/main" id="{4E63E01D-6A3E-456F-BA40-9082233BF4F7}"/>
              </a:ext>
            </a:extLst>
          </p:cNvPr>
          <p:cNvSpPr/>
          <p:nvPr/>
        </p:nvSpPr>
        <p:spPr>
          <a:xfrm>
            <a:off x="7371829" y="5613885"/>
            <a:ext cx="3709759" cy="1125889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Substrate</a:t>
            </a:r>
            <a:endParaRPr lang="ko-KR" altLang="en-US" dirty="0"/>
          </a:p>
        </p:txBody>
      </p:sp>
      <p:cxnSp>
        <p:nvCxnSpPr>
          <p:cNvPr id="41" name="직선 연결선 40">
            <a:extLst>
              <a:ext uri="{FF2B5EF4-FFF2-40B4-BE49-F238E27FC236}">
                <a16:creationId xmlns:a16="http://schemas.microsoft.com/office/drawing/2014/main" id="{238F5E85-37BE-4FD3-969B-986469085B45}"/>
              </a:ext>
            </a:extLst>
          </p:cNvPr>
          <p:cNvCxnSpPr>
            <a:cxnSpLocks/>
          </p:cNvCxnSpPr>
          <p:nvPr/>
        </p:nvCxnSpPr>
        <p:spPr>
          <a:xfrm>
            <a:off x="6223574" y="749390"/>
            <a:ext cx="0" cy="5668864"/>
          </a:xfrm>
          <a:prstGeom prst="line">
            <a:avLst/>
          </a:prstGeom>
          <a:ln w="158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0" name="표 19">
            <a:extLst>
              <a:ext uri="{FF2B5EF4-FFF2-40B4-BE49-F238E27FC236}">
                <a16:creationId xmlns:a16="http://schemas.microsoft.com/office/drawing/2014/main" id="{C7828834-3D4A-489D-B31F-CDF6EEA510E0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432201" y="165139"/>
          <a:ext cx="11327598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75866">
                  <a:extLst>
                    <a:ext uri="{9D8B030D-6E8A-4147-A177-3AD203B41FA5}">
                      <a16:colId xmlns:a16="http://schemas.microsoft.com/office/drawing/2014/main" val="3874033937"/>
                    </a:ext>
                  </a:extLst>
                </a:gridCol>
                <a:gridCol w="3077054">
                  <a:extLst>
                    <a:ext uri="{9D8B030D-6E8A-4147-A177-3AD203B41FA5}">
                      <a16:colId xmlns:a16="http://schemas.microsoft.com/office/drawing/2014/main" val="1105405848"/>
                    </a:ext>
                  </a:extLst>
                </a:gridCol>
                <a:gridCol w="4474678">
                  <a:extLst>
                    <a:ext uri="{9D8B030D-6E8A-4147-A177-3AD203B41FA5}">
                      <a16:colId xmlns:a16="http://schemas.microsoft.com/office/drawing/2014/main" val="2992235816"/>
                    </a:ext>
                  </a:extLst>
                </a:gridCol>
              </a:tblGrid>
              <a:tr h="33923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>
                          <a:solidFill>
                            <a:schemeClr val="tx1"/>
                          </a:solidFill>
                        </a:rPr>
                        <a:t>Rule Name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Value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1766925"/>
                  </a:ext>
                </a:extLst>
              </a:tr>
              <a:tr h="32923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VIAk.E.1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0.005um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Minimum Metal k to Via k enclosure.</a:t>
                      </a:r>
                      <a:endParaRPr lang="ko-KR" altLang="en-US" sz="1000" b="1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5480813"/>
                  </a:ext>
                </a:extLst>
              </a:tr>
            </a:tbl>
          </a:graphicData>
        </a:graphic>
      </p:graphicFrame>
      <p:sp>
        <p:nvSpPr>
          <p:cNvPr id="32" name="TextBox 31">
            <a:extLst>
              <a:ext uri="{FF2B5EF4-FFF2-40B4-BE49-F238E27FC236}">
                <a16:creationId xmlns:a16="http://schemas.microsoft.com/office/drawing/2014/main" id="{91C5C929-8669-440E-BF5C-9FB66113EA81}"/>
              </a:ext>
            </a:extLst>
          </p:cNvPr>
          <p:cNvSpPr txBox="1"/>
          <p:nvPr/>
        </p:nvSpPr>
        <p:spPr>
          <a:xfrm>
            <a:off x="6522407" y="960684"/>
            <a:ext cx="480621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altLang="ko-KR" sz="1600" dirty="0"/>
              <a:t>Cadence Reproducing and vertical structure</a:t>
            </a:r>
            <a:endParaRPr lang="ko-KR" altLang="en-US" sz="1600" dirty="0"/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F449DACE-48BB-4606-AF0C-A4616B80C8C0}"/>
              </a:ext>
            </a:extLst>
          </p:cNvPr>
          <p:cNvSpPr/>
          <p:nvPr/>
        </p:nvSpPr>
        <p:spPr>
          <a:xfrm>
            <a:off x="372980" y="945295"/>
            <a:ext cx="399340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altLang="ko-KR" dirty="0"/>
              <a:t>Schematic in Design Rule Manual</a:t>
            </a:r>
            <a:endParaRPr lang="ko-KR" altLang="en-US" dirty="0"/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4C086384-4A50-4F61-896B-D21A8A7149D3}"/>
              </a:ext>
            </a:extLst>
          </p:cNvPr>
          <p:cNvSpPr/>
          <p:nvPr/>
        </p:nvSpPr>
        <p:spPr>
          <a:xfrm>
            <a:off x="7371829" y="5603748"/>
            <a:ext cx="3709755" cy="330868"/>
          </a:xfrm>
          <a:prstGeom prst="rect">
            <a:avLst/>
          </a:prstGeom>
          <a:ln>
            <a:solidFill>
              <a:schemeClr val="accent5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STI</a:t>
            </a:r>
            <a:endParaRPr lang="ko-KR" altLang="en-US" dirty="0"/>
          </a:p>
        </p:txBody>
      </p:sp>
      <p:cxnSp>
        <p:nvCxnSpPr>
          <p:cNvPr id="26" name="직선 연결선 25">
            <a:extLst>
              <a:ext uri="{FF2B5EF4-FFF2-40B4-BE49-F238E27FC236}">
                <a16:creationId xmlns:a16="http://schemas.microsoft.com/office/drawing/2014/main" id="{2E91CCF0-2FDC-4541-8F9F-EB0BCCA9AE4F}"/>
              </a:ext>
            </a:extLst>
          </p:cNvPr>
          <p:cNvCxnSpPr>
            <a:cxnSpLocks/>
          </p:cNvCxnSpPr>
          <p:nvPr/>
        </p:nvCxnSpPr>
        <p:spPr>
          <a:xfrm>
            <a:off x="9900640" y="3756969"/>
            <a:ext cx="0" cy="1534284"/>
          </a:xfrm>
          <a:prstGeom prst="line">
            <a:avLst/>
          </a:prstGeom>
          <a:ln w="158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직선 연결선 30">
            <a:extLst>
              <a:ext uri="{FF2B5EF4-FFF2-40B4-BE49-F238E27FC236}">
                <a16:creationId xmlns:a16="http://schemas.microsoft.com/office/drawing/2014/main" id="{4BC48B4A-9B98-4C3E-8A24-8FCD95BFA47A}"/>
              </a:ext>
            </a:extLst>
          </p:cNvPr>
          <p:cNvCxnSpPr>
            <a:cxnSpLocks/>
          </p:cNvCxnSpPr>
          <p:nvPr/>
        </p:nvCxnSpPr>
        <p:spPr>
          <a:xfrm>
            <a:off x="10073330" y="3756969"/>
            <a:ext cx="0" cy="1534284"/>
          </a:xfrm>
          <a:prstGeom prst="line">
            <a:avLst/>
          </a:prstGeom>
          <a:ln w="158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D6FBF2E5-3D52-4429-86EA-5DC8B5BB59B2}"/>
              </a:ext>
            </a:extLst>
          </p:cNvPr>
          <p:cNvSpPr txBox="1"/>
          <p:nvPr/>
        </p:nvSpPr>
        <p:spPr>
          <a:xfrm>
            <a:off x="10444240" y="3826259"/>
            <a:ext cx="117354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/>
              <a:t>0.005um</a:t>
            </a:r>
            <a:endParaRPr lang="ko-KR" altLang="en-US" sz="1600" b="1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B134E466-91D5-4AC8-A0AF-429DB4E97A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1160" y="3230387"/>
            <a:ext cx="3664156" cy="3439422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7B3044CA-6ED8-4D25-8FE3-8FA3073C93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5314" y="1363263"/>
            <a:ext cx="2422920" cy="1567062"/>
          </a:xfrm>
          <a:prstGeom prst="rect">
            <a:avLst/>
          </a:prstGeom>
        </p:spPr>
      </p:pic>
      <p:sp>
        <p:nvSpPr>
          <p:cNvPr id="25" name="직사각형 24">
            <a:extLst>
              <a:ext uri="{FF2B5EF4-FFF2-40B4-BE49-F238E27FC236}">
                <a16:creationId xmlns:a16="http://schemas.microsoft.com/office/drawing/2014/main" id="{0BA7BFA8-BD57-49D8-BB7F-C5A0B48AF106}"/>
              </a:ext>
            </a:extLst>
          </p:cNvPr>
          <p:cNvSpPr/>
          <p:nvPr/>
        </p:nvSpPr>
        <p:spPr>
          <a:xfrm>
            <a:off x="2063912" y="2732515"/>
            <a:ext cx="4159662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ko-KR" sz="1100" dirty="0"/>
              <a:t>“Via</a:t>
            </a:r>
            <a:r>
              <a:rPr lang="ko-KR" altLang="en-US" sz="1100" dirty="0"/>
              <a:t>를 네 방향에서 충분히 감싸 안정적인 </a:t>
            </a:r>
            <a:r>
              <a:rPr lang="ko-KR" altLang="en-US" sz="1100" dirty="0" err="1"/>
              <a:t>금속층</a:t>
            </a:r>
            <a:r>
              <a:rPr lang="ko-KR" altLang="en-US" sz="1100" dirty="0"/>
              <a:t> 연결과 공정 신뢰성을 확보</a:t>
            </a:r>
            <a:r>
              <a:rPr lang="en-US" altLang="ko-KR" sz="1100" dirty="0"/>
              <a:t>”</a:t>
            </a:r>
            <a:r>
              <a:rPr lang="ko-KR" altLang="en-US" sz="1100" dirty="0"/>
              <a:t> </a:t>
            </a:r>
            <a:r>
              <a:rPr lang="en-US" altLang="ko-KR" sz="1100" dirty="0"/>
              <a:t>(</a:t>
            </a:r>
            <a:r>
              <a:rPr lang="ko-KR" altLang="en-US" sz="1100" dirty="0"/>
              <a:t>각 면당 최소 </a:t>
            </a:r>
            <a:r>
              <a:rPr lang="en-US" altLang="ko-KR" sz="1100" dirty="0"/>
              <a:t>0.005um</a:t>
            </a:r>
            <a:r>
              <a:rPr lang="ko-KR" altLang="en-US" sz="1100" dirty="0"/>
              <a:t> 이상 권장</a:t>
            </a:r>
            <a:r>
              <a:rPr lang="en-US" altLang="ko-KR" sz="1100" dirty="0"/>
              <a:t>)</a:t>
            </a:r>
            <a:endParaRPr lang="ko-KR" altLang="en-US" sz="1100" dirty="0"/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2B3EA26A-E1B6-47F8-8DE6-1BA205CF920F}"/>
              </a:ext>
            </a:extLst>
          </p:cNvPr>
          <p:cNvSpPr/>
          <p:nvPr/>
        </p:nvSpPr>
        <p:spPr>
          <a:xfrm>
            <a:off x="9302748" y="4763058"/>
            <a:ext cx="1778828" cy="330868"/>
          </a:xfrm>
          <a:prstGeom prst="rect">
            <a:avLst/>
          </a:prstGeom>
          <a:pattFill prst="ltDnDiag">
            <a:fgClr>
              <a:srgbClr val="0070C0"/>
            </a:fgClr>
            <a:bgClr>
              <a:schemeClr val="bg1"/>
            </a:bgClr>
          </a:patt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IMD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A1122D37-E711-4F37-A119-8BAA0B455BD6}"/>
              </a:ext>
            </a:extLst>
          </p:cNvPr>
          <p:cNvSpPr/>
          <p:nvPr/>
        </p:nvSpPr>
        <p:spPr>
          <a:xfrm>
            <a:off x="7371820" y="5277949"/>
            <a:ext cx="3709762" cy="330868"/>
          </a:xfrm>
          <a:prstGeom prst="rect">
            <a:avLst/>
          </a:prstGeom>
          <a:pattFill prst="pct5">
            <a:fgClr>
              <a:srgbClr val="0070C0"/>
            </a:fgClr>
            <a:bgClr>
              <a:schemeClr val="bg1"/>
            </a:bgClr>
          </a:patt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cxnSp>
        <p:nvCxnSpPr>
          <p:cNvPr id="35" name="직선 연결선 34">
            <a:extLst>
              <a:ext uri="{FF2B5EF4-FFF2-40B4-BE49-F238E27FC236}">
                <a16:creationId xmlns:a16="http://schemas.microsoft.com/office/drawing/2014/main" id="{25B80CA3-1924-4A81-9CDC-9C90BD983074}"/>
              </a:ext>
            </a:extLst>
          </p:cNvPr>
          <p:cNvCxnSpPr>
            <a:cxnSpLocks/>
          </p:cNvCxnSpPr>
          <p:nvPr/>
        </p:nvCxnSpPr>
        <p:spPr>
          <a:xfrm flipH="1">
            <a:off x="9983095" y="4129429"/>
            <a:ext cx="543797" cy="610369"/>
          </a:xfrm>
          <a:prstGeom prst="line">
            <a:avLst/>
          </a:prstGeom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1" name="순서도: 수동 입력 20">
            <a:extLst>
              <a:ext uri="{FF2B5EF4-FFF2-40B4-BE49-F238E27FC236}">
                <a16:creationId xmlns:a16="http://schemas.microsoft.com/office/drawing/2014/main" id="{663509C2-6EDE-4431-A9FF-CA99AEC45F66}"/>
              </a:ext>
            </a:extLst>
          </p:cNvPr>
          <p:cNvSpPr/>
          <p:nvPr/>
        </p:nvSpPr>
        <p:spPr>
          <a:xfrm rot="5400000" flipH="1">
            <a:off x="8470788" y="3664090"/>
            <a:ext cx="330870" cy="2528807"/>
          </a:xfrm>
          <a:prstGeom prst="flowChartManualInpu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E868F334-1AF6-4773-B987-75A366E2C7EA}"/>
              </a:ext>
            </a:extLst>
          </p:cNvPr>
          <p:cNvSpPr/>
          <p:nvPr/>
        </p:nvSpPr>
        <p:spPr>
          <a:xfrm>
            <a:off x="7371820" y="5100399"/>
            <a:ext cx="2713530" cy="16310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METAL1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B6F7C470-F66B-47DB-9A75-D274C428994C}"/>
              </a:ext>
            </a:extLst>
          </p:cNvPr>
          <p:cNvSpPr/>
          <p:nvPr/>
        </p:nvSpPr>
        <p:spPr>
          <a:xfrm>
            <a:off x="10073323" y="5093927"/>
            <a:ext cx="1008254" cy="178954"/>
          </a:xfrm>
          <a:prstGeom prst="rect">
            <a:avLst/>
          </a:prstGeom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/>
          </a:p>
        </p:txBody>
      </p:sp>
    </p:spTree>
    <p:extLst>
      <p:ext uri="{BB962C8B-B14F-4D97-AF65-F5344CB8AC3E}">
        <p14:creationId xmlns:p14="http://schemas.microsoft.com/office/powerpoint/2010/main" val="9961031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그림 21">
            <a:extLst>
              <a:ext uri="{FF2B5EF4-FFF2-40B4-BE49-F238E27FC236}">
                <a16:creationId xmlns:a16="http://schemas.microsoft.com/office/drawing/2014/main" id="{73F4644B-5A3E-46A6-88F2-1A23D908E71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82884" y="1480742"/>
            <a:ext cx="2774826" cy="2622452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A930C3DA-C8D8-48EF-8638-0558775673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155" y="1480742"/>
            <a:ext cx="2515921" cy="1694396"/>
          </a:xfrm>
          <a:prstGeom prst="rect">
            <a:avLst/>
          </a:prstGeom>
        </p:spPr>
      </p:pic>
      <p:sp>
        <p:nvSpPr>
          <p:cNvPr id="33" name="직사각형 32">
            <a:extLst>
              <a:ext uri="{FF2B5EF4-FFF2-40B4-BE49-F238E27FC236}">
                <a16:creationId xmlns:a16="http://schemas.microsoft.com/office/drawing/2014/main" id="{4E63E01D-6A3E-456F-BA40-9082233BF4F7}"/>
              </a:ext>
            </a:extLst>
          </p:cNvPr>
          <p:cNvSpPr/>
          <p:nvPr/>
        </p:nvSpPr>
        <p:spPr>
          <a:xfrm>
            <a:off x="7371829" y="5594539"/>
            <a:ext cx="3709759" cy="1125889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Substrate</a:t>
            </a:r>
            <a:endParaRPr lang="ko-KR" altLang="en-US" dirty="0"/>
          </a:p>
        </p:txBody>
      </p:sp>
      <p:cxnSp>
        <p:nvCxnSpPr>
          <p:cNvPr id="41" name="직선 연결선 40">
            <a:extLst>
              <a:ext uri="{FF2B5EF4-FFF2-40B4-BE49-F238E27FC236}">
                <a16:creationId xmlns:a16="http://schemas.microsoft.com/office/drawing/2014/main" id="{238F5E85-37BE-4FD3-969B-986469085B45}"/>
              </a:ext>
            </a:extLst>
          </p:cNvPr>
          <p:cNvCxnSpPr>
            <a:cxnSpLocks/>
          </p:cNvCxnSpPr>
          <p:nvPr/>
        </p:nvCxnSpPr>
        <p:spPr>
          <a:xfrm>
            <a:off x="6223574" y="749390"/>
            <a:ext cx="0" cy="5668864"/>
          </a:xfrm>
          <a:prstGeom prst="line">
            <a:avLst/>
          </a:prstGeom>
          <a:ln w="158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91C5C929-8669-440E-BF5C-9FB66113EA81}"/>
              </a:ext>
            </a:extLst>
          </p:cNvPr>
          <p:cNvSpPr txBox="1"/>
          <p:nvPr/>
        </p:nvSpPr>
        <p:spPr>
          <a:xfrm>
            <a:off x="6564518" y="1126799"/>
            <a:ext cx="480621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altLang="ko-KR" sz="1600" dirty="0"/>
              <a:t>Cadence Reproducing and vertical structure</a:t>
            </a:r>
            <a:endParaRPr lang="ko-KR" altLang="en-US" sz="1600" dirty="0"/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F449DACE-48BB-4606-AF0C-A4616B80C8C0}"/>
              </a:ext>
            </a:extLst>
          </p:cNvPr>
          <p:cNvSpPr/>
          <p:nvPr/>
        </p:nvSpPr>
        <p:spPr>
          <a:xfrm>
            <a:off x="486343" y="1111410"/>
            <a:ext cx="399340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altLang="ko-KR" dirty="0"/>
              <a:t>Schematic in Design Rule Manual</a:t>
            </a:r>
            <a:endParaRPr lang="ko-KR" altLang="en-US" dirty="0"/>
          </a:p>
        </p:txBody>
      </p:sp>
      <p:cxnSp>
        <p:nvCxnSpPr>
          <p:cNvPr id="35" name="직선 연결선 34">
            <a:extLst>
              <a:ext uri="{FF2B5EF4-FFF2-40B4-BE49-F238E27FC236}">
                <a16:creationId xmlns:a16="http://schemas.microsoft.com/office/drawing/2014/main" id="{25B80CA3-1924-4A81-9CDC-9C90BD983074}"/>
              </a:ext>
            </a:extLst>
          </p:cNvPr>
          <p:cNvCxnSpPr>
            <a:cxnSpLocks/>
          </p:cNvCxnSpPr>
          <p:nvPr/>
        </p:nvCxnSpPr>
        <p:spPr>
          <a:xfrm>
            <a:off x="8225190" y="4278122"/>
            <a:ext cx="452731" cy="0"/>
          </a:xfrm>
          <a:prstGeom prst="line">
            <a:avLst/>
          </a:prstGeom>
          <a:ln w="19050"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직선 연결선 27">
            <a:extLst>
              <a:ext uri="{FF2B5EF4-FFF2-40B4-BE49-F238E27FC236}">
                <a16:creationId xmlns:a16="http://schemas.microsoft.com/office/drawing/2014/main" id="{CA0C275A-7E7C-4DA1-9DD6-EFBB505040C1}"/>
              </a:ext>
            </a:extLst>
          </p:cNvPr>
          <p:cNvCxnSpPr>
            <a:cxnSpLocks/>
          </p:cNvCxnSpPr>
          <p:nvPr/>
        </p:nvCxnSpPr>
        <p:spPr>
          <a:xfrm>
            <a:off x="8243784" y="3754222"/>
            <a:ext cx="3485" cy="1692328"/>
          </a:xfrm>
          <a:prstGeom prst="line">
            <a:avLst/>
          </a:prstGeom>
          <a:ln w="158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연결선 25">
            <a:extLst>
              <a:ext uri="{FF2B5EF4-FFF2-40B4-BE49-F238E27FC236}">
                <a16:creationId xmlns:a16="http://schemas.microsoft.com/office/drawing/2014/main" id="{2E91CCF0-2FDC-4541-8F9F-EB0BCCA9AE4F}"/>
              </a:ext>
            </a:extLst>
          </p:cNvPr>
          <p:cNvCxnSpPr>
            <a:cxnSpLocks/>
          </p:cNvCxnSpPr>
          <p:nvPr/>
        </p:nvCxnSpPr>
        <p:spPr>
          <a:xfrm>
            <a:off x="8679673" y="3331558"/>
            <a:ext cx="0" cy="2010463"/>
          </a:xfrm>
          <a:prstGeom prst="line">
            <a:avLst/>
          </a:prstGeom>
          <a:ln w="158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직선 연결선 28">
            <a:extLst>
              <a:ext uri="{FF2B5EF4-FFF2-40B4-BE49-F238E27FC236}">
                <a16:creationId xmlns:a16="http://schemas.microsoft.com/office/drawing/2014/main" id="{1C2BCCC4-AAD1-4E32-B41D-7271CD133CB0}"/>
              </a:ext>
            </a:extLst>
          </p:cNvPr>
          <p:cNvCxnSpPr>
            <a:cxnSpLocks/>
          </p:cNvCxnSpPr>
          <p:nvPr/>
        </p:nvCxnSpPr>
        <p:spPr>
          <a:xfrm>
            <a:off x="9660230" y="3331558"/>
            <a:ext cx="0" cy="2010463"/>
          </a:xfrm>
          <a:prstGeom prst="line">
            <a:avLst/>
          </a:prstGeom>
          <a:ln w="158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직선 연결선 30">
            <a:extLst>
              <a:ext uri="{FF2B5EF4-FFF2-40B4-BE49-F238E27FC236}">
                <a16:creationId xmlns:a16="http://schemas.microsoft.com/office/drawing/2014/main" id="{4BC48B4A-9B98-4C3E-8A24-8FCD95BFA47A}"/>
              </a:ext>
            </a:extLst>
          </p:cNvPr>
          <p:cNvCxnSpPr>
            <a:cxnSpLocks/>
          </p:cNvCxnSpPr>
          <p:nvPr/>
        </p:nvCxnSpPr>
        <p:spPr>
          <a:xfrm>
            <a:off x="10085362" y="3754222"/>
            <a:ext cx="0" cy="1798352"/>
          </a:xfrm>
          <a:prstGeom prst="line">
            <a:avLst/>
          </a:prstGeom>
          <a:ln w="158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D6FBF2E5-3D52-4429-86EA-5DC8B5BB59B2}"/>
              </a:ext>
            </a:extLst>
          </p:cNvPr>
          <p:cNvSpPr txBox="1"/>
          <p:nvPr/>
        </p:nvSpPr>
        <p:spPr>
          <a:xfrm>
            <a:off x="8717310" y="4072381"/>
            <a:ext cx="99998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/>
              <a:t>0.06um</a:t>
            </a:r>
            <a:endParaRPr lang="ko-KR" altLang="en-US" sz="1600" b="1" dirty="0"/>
          </a:p>
        </p:txBody>
      </p:sp>
      <p:graphicFrame>
        <p:nvGraphicFramePr>
          <p:cNvPr id="24" name="표 23">
            <a:extLst>
              <a:ext uri="{FF2B5EF4-FFF2-40B4-BE49-F238E27FC236}">
                <a16:creationId xmlns:a16="http://schemas.microsoft.com/office/drawing/2014/main" id="{C7B1721B-27F8-4993-B16F-3B6885001B3D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486343" y="262031"/>
          <a:ext cx="11327598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75866">
                  <a:extLst>
                    <a:ext uri="{9D8B030D-6E8A-4147-A177-3AD203B41FA5}">
                      <a16:colId xmlns:a16="http://schemas.microsoft.com/office/drawing/2014/main" val="3874033937"/>
                    </a:ext>
                  </a:extLst>
                </a:gridCol>
                <a:gridCol w="2740170">
                  <a:extLst>
                    <a:ext uri="{9D8B030D-6E8A-4147-A177-3AD203B41FA5}">
                      <a16:colId xmlns:a16="http://schemas.microsoft.com/office/drawing/2014/main" val="1105405848"/>
                    </a:ext>
                  </a:extLst>
                </a:gridCol>
                <a:gridCol w="4811562">
                  <a:extLst>
                    <a:ext uri="{9D8B030D-6E8A-4147-A177-3AD203B41FA5}">
                      <a16:colId xmlns:a16="http://schemas.microsoft.com/office/drawing/2014/main" val="2992235816"/>
                    </a:ext>
                  </a:extLst>
                </a:gridCol>
              </a:tblGrid>
              <a:tr h="33923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>
                          <a:solidFill>
                            <a:schemeClr val="tx1"/>
                          </a:solidFill>
                        </a:rPr>
                        <a:t>Rule Name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Value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1766925"/>
                  </a:ext>
                </a:extLst>
              </a:tr>
              <a:tr h="32923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VIAk.E.2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0.06um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Minimum Metal k to Via k enclosure on at least two opposite sides of Via k.</a:t>
                      </a:r>
                      <a:endParaRPr lang="ko-KR" altLang="en-US" sz="1000" b="1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5480813"/>
                  </a:ext>
                </a:extLst>
              </a:tr>
            </a:tbl>
          </a:graphicData>
        </a:graphic>
      </p:graphicFrame>
      <p:pic>
        <p:nvPicPr>
          <p:cNvPr id="6" name="그림 5">
            <a:extLst>
              <a:ext uri="{FF2B5EF4-FFF2-40B4-BE49-F238E27FC236}">
                <a16:creationId xmlns:a16="http://schemas.microsoft.com/office/drawing/2014/main" id="{B5BC2B22-A85E-4D73-85E5-8863BE8F19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7046" y="3282395"/>
            <a:ext cx="3480439" cy="3289318"/>
          </a:xfrm>
          <a:prstGeom prst="rect">
            <a:avLst/>
          </a:prstGeom>
        </p:spPr>
      </p:pic>
      <p:sp>
        <p:nvSpPr>
          <p:cNvPr id="21" name="직사각형 20">
            <a:extLst>
              <a:ext uri="{FF2B5EF4-FFF2-40B4-BE49-F238E27FC236}">
                <a16:creationId xmlns:a16="http://schemas.microsoft.com/office/drawing/2014/main" id="{3535121F-152B-4AEB-8662-65959AB8A2D0}"/>
              </a:ext>
            </a:extLst>
          </p:cNvPr>
          <p:cNvSpPr/>
          <p:nvPr/>
        </p:nvSpPr>
        <p:spPr>
          <a:xfrm>
            <a:off x="2063912" y="2792672"/>
            <a:ext cx="4159662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ko-KR" sz="1100" dirty="0"/>
              <a:t>“Via</a:t>
            </a:r>
            <a:r>
              <a:rPr lang="ko-KR" altLang="en-US" sz="1100" dirty="0"/>
              <a:t>의 마주보는 두 방향에서 충분한 </a:t>
            </a:r>
            <a:r>
              <a:rPr lang="en-US" altLang="ko-KR" sz="1100" dirty="0"/>
              <a:t>Enclosure</a:t>
            </a:r>
            <a:r>
              <a:rPr lang="ko-KR" altLang="en-US" sz="1100" dirty="0"/>
              <a:t>를 확보하여 </a:t>
            </a:r>
            <a:r>
              <a:rPr lang="en-US" altLang="ko-KR" sz="1100" dirty="0"/>
              <a:t>Overlay </a:t>
            </a:r>
            <a:r>
              <a:rPr lang="ko-KR" altLang="en-US" sz="1100" dirty="0"/>
              <a:t>오차에도 안정적인 접촉을 보장</a:t>
            </a:r>
            <a:r>
              <a:rPr lang="en-US" altLang="ko-KR" sz="1100" dirty="0"/>
              <a:t>”</a:t>
            </a:r>
            <a:endParaRPr lang="ko-KR" altLang="en-US" sz="1100" dirty="0"/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4C086384-4A50-4F61-896B-D21A8A7149D3}"/>
              </a:ext>
            </a:extLst>
          </p:cNvPr>
          <p:cNvSpPr/>
          <p:nvPr/>
        </p:nvSpPr>
        <p:spPr>
          <a:xfrm>
            <a:off x="7371833" y="5594539"/>
            <a:ext cx="3709755" cy="330868"/>
          </a:xfrm>
          <a:prstGeom prst="rect">
            <a:avLst/>
          </a:prstGeom>
          <a:ln>
            <a:solidFill>
              <a:schemeClr val="accent5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STI</a:t>
            </a:r>
            <a:endParaRPr lang="ko-KR" altLang="en-US" dirty="0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A9A712A8-99F7-49A0-A9FF-6EA4C1705571}"/>
              </a:ext>
            </a:extLst>
          </p:cNvPr>
          <p:cNvSpPr/>
          <p:nvPr/>
        </p:nvSpPr>
        <p:spPr>
          <a:xfrm>
            <a:off x="7367402" y="4598213"/>
            <a:ext cx="1519847" cy="330868"/>
          </a:xfrm>
          <a:prstGeom prst="rect">
            <a:avLst/>
          </a:prstGeom>
          <a:pattFill prst="ltDnDiag">
            <a:fgClr>
              <a:srgbClr val="0070C0"/>
            </a:fgClr>
            <a:bgClr>
              <a:schemeClr val="bg1"/>
            </a:bgClr>
          </a:patt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IMD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B0956BF7-774E-4356-8816-F91ED393DE28}"/>
              </a:ext>
            </a:extLst>
          </p:cNvPr>
          <p:cNvSpPr/>
          <p:nvPr/>
        </p:nvSpPr>
        <p:spPr>
          <a:xfrm>
            <a:off x="8240300" y="4924287"/>
            <a:ext cx="1845059" cy="33086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METAL1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4A91FC3F-D518-4374-A731-E69A181DA1A4}"/>
              </a:ext>
            </a:extLst>
          </p:cNvPr>
          <p:cNvSpPr/>
          <p:nvPr/>
        </p:nvSpPr>
        <p:spPr>
          <a:xfrm>
            <a:off x="9561742" y="4589641"/>
            <a:ext cx="1519852" cy="330868"/>
          </a:xfrm>
          <a:prstGeom prst="rect">
            <a:avLst/>
          </a:prstGeom>
          <a:pattFill prst="ltDnDiag">
            <a:fgClr>
              <a:srgbClr val="0070C0"/>
            </a:fgClr>
            <a:bgClr>
              <a:schemeClr val="bg1"/>
            </a:bgClr>
          </a:patt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IMD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2B0708C6-76C8-4CD5-A43A-981C3D13EF18}"/>
              </a:ext>
            </a:extLst>
          </p:cNvPr>
          <p:cNvSpPr/>
          <p:nvPr/>
        </p:nvSpPr>
        <p:spPr>
          <a:xfrm>
            <a:off x="7371834" y="5256266"/>
            <a:ext cx="3709751" cy="330868"/>
          </a:xfrm>
          <a:prstGeom prst="rect">
            <a:avLst/>
          </a:prstGeom>
          <a:pattFill prst="pct5">
            <a:fgClr>
              <a:srgbClr val="0070C0"/>
            </a:fgClr>
            <a:bgClr>
              <a:schemeClr val="bg1"/>
            </a:bgClr>
          </a:patt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dirty="0">
                <a:solidFill>
                  <a:schemeClr val="tx1"/>
                </a:solidFill>
              </a:rPr>
              <a:t>ILD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44" name="사다리꼴 43">
            <a:extLst>
              <a:ext uri="{FF2B5EF4-FFF2-40B4-BE49-F238E27FC236}">
                <a16:creationId xmlns:a16="http://schemas.microsoft.com/office/drawing/2014/main" id="{33B3F807-E19D-42C6-A045-BA0F91329912}"/>
              </a:ext>
            </a:extLst>
          </p:cNvPr>
          <p:cNvSpPr/>
          <p:nvPr/>
        </p:nvSpPr>
        <p:spPr>
          <a:xfrm flipV="1">
            <a:off x="8717317" y="4585863"/>
            <a:ext cx="942914" cy="347533"/>
          </a:xfrm>
          <a:prstGeom prst="trapezoid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45" name="직선 연결선 44">
            <a:extLst>
              <a:ext uri="{FF2B5EF4-FFF2-40B4-BE49-F238E27FC236}">
                <a16:creationId xmlns:a16="http://schemas.microsoft.com/office/drawing/2014/main" id="{ADF2CA0E-1359-4EB6-B368-8E002ED7143A}"/>
              </a:ext>
            </a:extLst>
          </p:cNvPr>
          <p:cNvCxnSpPr>
            <a:cxnSpLocks/>
          </p:cNvCxnSpPr>
          <p:nvPr/>
        </p:nvCxnSpPr>
        <p:spPr>
          <a:xfrm>
            <a:off x="9613090" y="4362339"/>
            <a:ext cx="452731" cy="0"/>
          </a:xfrm>
          <a:prstGeom prst="line">
            <a:avLst/>
          </a:prstGeom>
          <a:ln w="19050"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A9915F3C-BF47-4A48-A554-96B1AA791ECA}"/>
              </a:ext>
            </a:extLst>
          </p:cNvPr>
          <p:cNvSpPr/>
          <p:nvPr/>
        </p:nvSpPr>
        <p:spPr>
          <a:xfrm>
            <a:off x="10073322" y="4927914"/>
            <a:ext cx="1008257" cy="329117"/>
          </a:xfrm>
          <a:prstGeom prst="rect">
            <a:avLst/>
          </a:prstGeom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/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990D5D42-D53D-4BEC-888A-DB21F63A1BA7}"/>
              </a:ext>
            </a:extLst>
          </p:cNvPr>
          <p:cNvSpPr/>
          <p:nvPr/>
        </p:nvSpPr>
        <p:spPr>
          <a:xfrm>
            <a:off x="7361716" y="4918970"/>
            <a:ext cx="881508" cy="338554"/>
          </a:xfrm>
          <a:prstGeom prst="rect">
            <a:avLst/>
          </a:prstGeom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/>
          </a:p>
        </p:txBody>
      </p:sp>
    </p:spTree>
    <p:extLst>
      <p:ext uri="{BB962C8B-B14F-4D97-AF65-F5344CB8AC3E}">
        <p14:creationId xmlns:p14="http://schemas.microsoft.com/office/powerpoint/2010/main" val="29367510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342</Words>
  <Application>Microsoft Office PowerPoint</Application>
  <PresentationFormat>와이드스크린</PresentationFormat>
  <Paragraphs>86</Paragraphs>
  <Slides>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9" baseType="lpstr">
      <vt:lpstr>맑은 고딕</vt:lpstr>
      <vt:lpstr>Arial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fl27</dc:creator>
  <cp:lastModifiedBy>fl27</cp:lastModifiedBy>
  <cp:revision>1</cp:revision>
  <dcterms:created xsi:type="dcterms:W3CDTF">2026-07-27T08:43:41Z</dcterms:created>
  <dcterms:modified xsi:type="dcterms:W3CDTF">2026-07-27T08:44:15Z</dcterms:modified>
</cp:coreProperties>
</file>